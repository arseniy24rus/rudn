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5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8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9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352" r:id="rId2"/>
    <p:sldId id="276" r:id="rId3"/>
    <p:sldId id="457" r:id="rId4"/>
    <p:sldId id="469" r:id="rId5"/>
    <p:sldId id="277" r:id="rId6"/>
    <p:sldId id="456" r:id="rId7"/>
    <p:sldId id="455" r:id="rId8"/>
    <p:sldId id="465" r:id="rId9"/>
    <p:sldId id="470" r:id="rId10"/>
    <p:sldId id="326" r:id="rId11"/>
    <p:sldId id="327" r:id="rId12"/>
    <p:sldId id="259" r:id="rId13"/>
    <p:sldId id="320" r:id="rId14"/>
    <p:sldId id="321" r:id="rId15"/>
    <p:sldId id="311" r:id="rId16"/>
    <p:sldId id="312" r:id="rId17"/>
    <p:sldId id="313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328" r:id="rId27"/>
    <p:sldId id="280" r:id="rId28"/>
    <p:sldId id="466" r:id="rId29"/>
    <p:sldId id="467" r:id="rId30"/>
    <p:sldId id="468" r:id="rId31"/>
    <p:sldId id="269" r:id="rId32"/>
    <p:sldId id="283" r:id="rId33"/>
    <p:sldId id="284" r:id="rId34"/>
    <p:sldId id="351" r:id="rId35"/>
    <p:sldId id="286" r:id="rId36"/>
    <p:sldId id="287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Лекция 3" id="{5A69A6C1-6E3B-436E-91A3-DB90C6298E5D}">
          <p14:sldIdLst>
            <p14:sldId id="352"/>
            <p14:sldId id="276"/>
            <p14:sldId id="457"/>
            <p14:sldId id="469"/>
            <p14:sldId id="277"/>
            <p14:sldId id="456"/>
            <p14:sldId id="455"/>
            <p14:sldId id="465"/>
            <p14:sldId id="470"/>
            <p14:sldId id="326"/>
            <p14:sldId id="327"/>
            <p14:sldId id="259"/>
            <p14:sldId id="320"/>
            <p14:sldId id="321"/>
            <p14:sldId id="311"/>
            <p14:sldId id="312"/>
            <p14:sldId id="313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328"/>
            <p14:sldId id="280"/>
            <p14:sldId id="466"/>
            <p14:sldId id="467"/>
            <p14:sldId id="468"/>
            <p14:sldId id="269"/>
            <p14:sldId id="283"/>
            <p14:sldId id="284"/>
            <p14:sldId id="351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2E3092"/>
    <a:srgbClr val="FFFFFF"/>
    <a:srgbClr val="B3FF80"/>
    <a:srgbClr val="FFD280"/>
    <a:srgbClr val="78F9FF"/>
    <a:srgbClr val="FF8481"/>
    <a:srgbClr val="B1F940"/>
    <a:srgbClr val="EE2C45"/>
    <a:srgbClr val="E100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25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AB98E4-A38C-410F-BCC0-0CBA9D989257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AA05D1A-CEB1-4F4E-B4C5-A61E3D7C93CD}">
      <dgm:prSet/>
      <dgm:spPr/>
      <dgm:t>
        <a:bodyPr/>
        <a:lstStyle/>
        <a:p>
          <a:r>
            <a:rPr lang="ru-RU" b="1" dirty="0"/>
            <a:t>Опорный каркас расселения </a:t>
          </a:r>
          <a:r>
            <a:rPr lang="ru-RU" dirty="0"/>
            <a:t>– это сеть наиболее значительных поселений определённой территории и соединяющих их </a:t>
          </a:r>
          <a:r>
            <a:rPr lang="ru-RU" dirty="0" err="1"/>
            <a:t>транспорных</a:t>
          </a:r>
          <a:r>
            <a:rPr lang="ru-RU" dirty="0"/>
            <a:t> коммуникаций. </a:t>
          </a:r>
          <a:endParaRPr lang="en-US" dirty="0"/>
        </a:p>
      </dgm:t>
    </dgm:pt>
    <dgm:pt modelId="{0A52BA12-0D4D-42E7-94DC-F5EDB799E12D}" type="parTrans" cxnId="{C4C0AEE3-9E30-448B-B50E-EA90D0B2B551}">
      <dgm:prSet/>
      <dgm:spPr/>
      <dgm:t>
        <a:bodyPr/>
        <a:lstStyle/>
        <a:p>
          <a:endParaRPr lang="en-US"/>
        </a:p>
      </dgm:t>
    </dgm:pt>
    <dgm:pt modelId="{F899D2E8-0942-4091-9263-2499E8E16C9C}" type="sibTrans" cxnId="{C4C0AEE3-9E30-448B-B50E-EA90D0B2B551}">
      <dgm:prSet/>
      <dgm:spPr/>
      <dgm:t>
        <a:bodyPr/>
        <a:lstStyle/>
        <a:p>
          <a:endParaRPr lang="en-US"/>
        </a:p>
      </dgm:t>
    </dgm:pt>
    <dgm:pt modelId="{46100FE6-9677-4E15-8CD8-9ED37E0A03AD}">
      <dgm:prSet/>
      <dgm:spPr/>
      <dgm:t>
        <a:bodyPr/>
        <a:lstStyle/>
        <a:p>
          <a:r>
            <a:rPr lang="ru-RU" dirty="0"/>
            <a:t>Узловые элементы О. к. р.- </a:t>
          </a:r>
          <a:r>
            <a:rPr lang="ru-RU" b="1" dirty="0"/>
            <a:t>опорные центры расселения</a:t>
          </a:r>
          <a:r>
            <a:rPr lang="ru-RU" dirty="0"/>
            <a:t>, выполняют функции центральных поселений в региональных системах расселения определённого иерархического уровня и в свою очередь являются структурными</a:t>
          </a:r>
          <a:r>
            <a:rPr lang="ru-RU" i="1" dirty="0"/>
            <a:t> элементами систем расселения более высокого ранга</a:t>
          </a:r>
          <a:r>
            <a:rPr lang="ru-RU" dirty="0"/>
            <a:t>. </a:t>
          </a:r>
          <a:endParaRPr lang="en-US" dirty="0"/>
        </a:p>
      </dgm:t>
    </dgm:pt>
    <dgm:pt modelId="{F9D2594C-DEF0-47B8-9483-754A5891F6C8}" type="parTrans" cxnId="{714BEBB8-9B84-4105-9CD7-42162A1B9BF8}">
      <dgm:prSet/>
      <dgm:spPr/>
      <dgm:t>
        <a:bodyPr/>
        <a:lstStyle/>
        <a:p>
          <a:endParaRPr lang="en-US"/>
        </a:p>
      </dgm:t>
    </dgm:pt>
    <dgm:pt modelId="{A7D4DFAC-70E4-4B58-8C66-7BA5370E37B5}" type="sibTrans" cxnId="{714BEBB8-9B84-4105-9CD7-42162A1B9BF8}">
      <dgm:prSet/>
      <dgm:spPr/>
      <dgm:t>
        <a:bodyPr/>
        <a:lstStyle/>
        <a:p>
          <a:endParaRPr lang="en-US"/>
        </a:p>
      </dgm:t>
    </dgm:pt>
    <dgm:pt modelId="{A55DC067-9330-4698-B6CE-266DEA9A28B2}">
      <dgm:prSet/>
      <dgm:spPr/>
      <dgm:t>
        <a:bodyPr/>
        <a:lstStyle/>
        <a:p>
          <a:r>
            <a:rPr lang="ru-RU" dirty="0"/>
            <a:t>Узловые элементы О. к. р. стран и регионов - это, как правило, крупные города и городские агломерации, сочетающие функции </a:t>
          </a:r>
          <a:r>
            <a:rPr lang="ru-RU" i="1" dirty="0"/>
            <a:t>организации и всестороннего обслуживания окружающих территорий</a:t>
          </a:r>
          <a:r>
            <a:rPr lang="ru-RU" dirty="0"/>
            <a:t> и главных специализированных отраслевых центров страны (различных отраслей промышленности, науки, курортно-оздоровительные и др.). </a:t>
          </a:r>
          <a:endParaRPr lang="en-US" dirty="0"/>
        </a:p>
      </dgm:t>
    </dgm:pt>
    <dgm:pt modelId="{F4BEF0D4-74B4-47DA-A095-E9261EE58FD5}" type="parTrans" cxnId="{32825EEC-F4C5-4912-9583-992881914CF8}">
      <dgm:prSet/>
      <dgm:spPr/>
      <dgm:t>
        <a:bodyPr/>
        <a:lstStyle/>
        <a:p>
          <a:endParaRPr lang="en-US"/>
        </a:p>
      </dgm:t>
    </dgm:pt>
    <dgm:pt modelId="{5BED8793-6A88-4F1B-9D97-990AD979FFCA}" type="sibTrans" cxnId="{32825EEC-F4C5-4912-9583-992881914CF8}">
      <dgm:prSet/>
      <dgm:spPr/>
      <dgm:t>
        <a:bodyPr/>
        <a:lstStyle/>
        <a:p>
          <a:endParaRPr lang="en-US"/>
        </a:p>
      </dgm:t>
    </dgm:pt>
    <dgm:pt modelId="{E39C40C6-E3CE-472C-989B-2CCB305326AB}">
      <dgm:prSet/>
      <dgm:spPr/>
      <dgm:t>
        <a:bodyPr/>
        <a:lstStyle/>
        <a:p>
          <a:r>
            <a:rPr lang="ru-RU" dirty="0"/>
            <a:t>Узловыми элементами О. к. р. более дробных территорий могут служить и </a:t>
          </a:r>
          <a:r>
            <a:rPr lang="ru-RU" i="1" dirty="0"/>
            <a:t>относительно небольшие поселения </a:t>
          </a:r>
          <a:r>
            <a:rPr lang="ru-RU" dirty="0"/>
            <a:t>(например, в О. к. р. на уровне сел, низовых политико-административных районов СССР - центры усадьбы колхозов и совхозов, и т. п.).</a:t>
          </a:r>
          <a:endParaRPr lang="en-US" dirty="0"/>
        </a:p>
      </dgm:t>
    </dgm:pt>
    <dgm:pt modelId="{2FA403DD-2AAA-4424-AE27-A8B58C5B96C5}" type="parTrans" cxnId="{B6C8B1BF-2A55-4A50-87A4-4AE387591CC1}">
      <dgm:prSet/>
      <dgm:spPr/>
      <dgm:t>
        <a:bodyPr/>
        <a:lstStyle/>
        <a:p>
          <a:endParaRPr lang="en-US"/>
        </a:p>
      </dgm:t>
    </dgm:pt>
    <dgm:pt modelId="{04B2994B-0B31-403F-B414-1D1C4EB2D2AD}" type="sibTrans" cxnId="{B6C8B1BF-2A55-4A50-87A4-4AE387591CC1}">
      <dgm:prSet/>
      <dgm:spPr/>
      <dgm:t>
        <a:bodyPr/>
        <a:lstStyle/>
        <a:p>
          <a:endParaRPr lang="en-US"/>
        </a:p>
      </dgm:t>
    </dgm:pt>
    <dgm:pt modelId="{28BDA2A5-2774-4E93-8386-4ECA5EAA1A01}" type="pres">
      <dgm:prSet presAssocID="{B6AB98E4-A38C-410F-BCC0-0CBA9D989257}" presName="linear" presStyleCnt="0">
        <dgm:presLayoutVars>
          <dgm:animLvl val="lvl"/>
          <dgm:resizeHandles val="exact"/>
        </dgm:presLayoutVars>
      </dgm:prSet>
      <dgm:spPr/>
    </dgm:pt>
    <dgm:pt modelId="{A68198E6-76F3-4A5E-99B2-B29C0CAAF125}" type="pres">
      <dgm:prSet presAssocID="{4AA05D1A-CEB1-4F4E-B4C5-A61E3D7C93C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8EC2EBD-3CAB-45C5-B43F-F3C5304B7DE6}" type="pres">
      <dgm:prSet presAssocID="{F899D2E8-0942-4091-9263-2499E8E16C9C}" presName="spacer" presStyleCnt="0"/>
      <dgm:spPr/>
    </dgm:pt>
    <dgm:pt modelId="{EBA72B0D-F93E-4D91-8EBD-A75D5A119A03}" type="pres">
      <dgm:prSet presAssocID="{46100FE6-9677-4E15-8CD8-9ED37E0A03A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4017095-DF46-4A30-BB74-EBB489FFD121}" type="pres">
      <dgm:prSet presAssocID="{A7D4DFAC-70E4-4B58-8C66-7BA5370E37B5}" presName="spacer" presStyleCnt="0"/>
      <dgm:spPr/>
    </dgm:pt>
    <dgm:pt modelId="{B7CC99C3-8A80-4E0A-B8A8-024D4E61728B}" type="pres">
      <dgm:prSet presAssocID="{A55DC067-9330-4698-B6CE-266DEA9A28B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7742339-F34D-4C17-A7D4-8DA4B33B37B1}" type="pres">
      <dgm:prSet presAssocID="{5BED8793-6A88-4F1B-9D97-990AD979FFCA}" presName="spacer" presStyleCnt="0"/>
      <dgm:spPr/>
    </dgm:pt>
    <dgm:pt modelId="{46CDFD78-0ABB-48C5-B81D-BA1D6D5EB395}" type="pres">
      <dgm:prSet presAssocID="{E39C40C6-E3CE-472C-989B-2CCB305326A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1FA0B0E-81F6-47C6-8D86-CEF31BEC7994}" type="presOf" srcId="{B6AB98E4-A38C-410F-BCC0-0CBA9D989257}" destId="{28BDA2A5-2774-4E93-8386-4ECA5EAA1A01}" srcOrd="0" destOrd="0" presId="urn:microsoft.com/office/officeart/2005/8/layout/vList2"/>
    <dgm:cxn modelId="{5FE6151C-11A0-45F1-89A9-AA577F88533E}" type="presOf" srcId="{4AA05D1A-CEB1-4F4E-B4C5-A61E3D7C93CD}" destId="{A68198E6-76F3-4A5E-99B2-B29C0CAAF125}" srcOrd="0" destOrd="0" presId="urn:microsoft.com/office/officeart/2005/8/layout/vList2"/>
    <dgm:cxn modelId="{6F49773F-7FDB-4100-A6CC-A1EEEA8E61D0}" type="presOf" srcId="{A55DC067-9330-4698-B6CE-266DEA9A28B2}" destId="{B7CC99C3-8A80-4E0A-B8A8-024D4E61728B}" srcOrd="0" destOrd="0" presId="urn:microsoft.com/office/officeart/2005/8/layout/vList2"/>
    <dgm:cxn modelId="{8C388E94-1254-48D0-8935-957BEC60F0D0}" type="presOf" srcId="{46100FE6-9677-4E15-8CD8-9ED37E0A03AD}" destId="{EBA72B0D-F93E-4D91-8EBD-A75D5A119A03}" srcOrd="0" destOrd="0" presId="urn:microsoft.com/office/officeart/2005/8/layout/vList2"/>
    <dgm:cxn modelId="{62B2589B-03DE-4DFD-9007-3819EB694698}" type="presOf" srcId="{E39C40C6-E3CE-472C-989B-2CCB305326AB}" destId="{46CDFD78-0ABB-48C5-B81D-BA1D6D5EB395}" srcOrd="0" destOrd="0" presId="urn:microsoft.com/office/officeart/2005/8/layout/vList2"/>
    <dgm:cxn modelId="{714BEBB8-9B84-4105-9CD7-42162A1B9BF8}" srcId="{B6AB98E4-A38C-410F-BCC0-0CBA9D989257}" destId="{46100FE6-9677-4E15-8CD8-9ED37E0A03AD}" srcOrd="1" destOrd="0" parTransId="{F9D2594C-DEF0-47B8-9483-754A5891F6C8}" sibTransId="{A7D4DFAC-70E4-4B58-8C66-7BA5370E37B5}"/>
    <dgm:cxn modelId="{B6C8B1BF-2A55-4A50-87A4-4AE387591CC1}" srcId="{B6AB98E4-A38C-410F-BCC0-0CBA9D989257}" destId="{E39C40C6-E3CE-472C-989B-2CCB305326AB}" srcOrd="3" destOrd="0" parTransId="{2FA403DD-2AAA-4424-AE27-A8B58C5B96C5}" sibTransId="{04B2994B-0B31-403F-B414-1D1C4EB2D2AD}"/>
    <dgm:cxn modelId="{C4C0AEE3-9E30-448B-B50E-EA90D0B2B551}" srcId="{B6AB98E4-A38C-410F-BCC0-0CBA9D989257}" destId="{4AA05D1A-CEB1-4F4E-B4C5-A61E3D7C93CD}" srcOrd="0" destOrd="0" parTransId="{0A52BA12-0D4D-42E7-94DC-F5EDB799E12D}" sibTransId="{F899D2E8-0942-4091-9263-2499E8E16C9C}"/>
    <dgm:cxn modelId="{32825EEC-F4C5-4912-9583-992881914CF8}" srcId="{B6AB98E4-A38C-410F-BCC0-0CBA9D989257}" destId="{A55DC067-9330-4698-B6CE-266DEA9A28B2}" srcOrd="2" destOrd="0" parTransId="{F4BEF0D4-74B4-47DA-A095-E9261EE58FD5}" sibTransId="{5BED8793-6A88-4F1B-9D97-990AD979FFCA}"/>
    <dgm:cxn modelId="{A01648D1-FF46-445F-B62C-144C2EA065D8}" type="presParOf" srcId="{28BDA2A5-2774-4E93-8386-4ECA5EAA1A01}" destId="{A68198E6-76F3-4A5E-99B2-B29C0CAAF125}" srcOrd="0" destOrd="0" presId="urn:microsoft.com/office/officeart/2005/8/layout/vList2"/>
    <dgm:cxn modelId="{531C8DA1-244F-4112-8F85-CE1A138ED47B}" type="presParOf" srcId="{28BDA2A5-2774-4E93-8386-4ECA5EAA1A01}" destId="{A8EC2EBD-3CAB-45C5-B43F-F3C5304B7DE6}" srcOrd="1" destOrd="0" presId="urn:microsoft.com/office/officeart/2005/8/layout/vList2"/>
    <dgm:cxn modelId="{013749A0-6D6C-4845-9CBF-F154330A4256}" type="presParOf" srcId="{28BDA2A5-2774-4E93-8386-4ECA5EAA1A01}" destId="{EBA72B0D-F93E-4D91-8EBD-A75D5A119A03}" srcOrd="2" destOrd="0" presId="urn:microsoft.com/office/officeart/2005/8/layout/vList2"/>
    <dgm:cxn modelId="{D49591EF-BF40-41D2-906F-CB498F82AF0D}" type="presParOf" srcId="{28BDA2A5-2774-4E93-8386-4ECA5EAA1A01}" destId="{84017095-DF46-4A30-BB74-EBB489FFD121}" srcOrd="3" destOrd="0" presId="urn:microsoft.com/office/officeart/2005/8/layout/vList2"/>
    <dgm:cxn modelId="{55A0D68B-2260-4F6E-96EA-D465A181639E}" type="presParOf" srcId="{28BDA2A5-2774-4E93-8386-4ECA5EAA1A01}" destId="{B7CC99C3-8A80-4E0A-B8A8-024D4E61728B}" srcOrd="4" destOrd="0" presId="urn:microsoft.com/office/officeart/2005/8/layout/vList2"/>
    <dgm:cxn modelId="{FD79EBDE-31A7-4305-AFC0-1A885B747838}" type="presParOf" srcId="{28BDA2A5-2774-4E93-8386-4ECA5EAA1A01}" destId="{C7742339-F34D-4C17-A7D4-8DA4B33B37B1}" srcOrd="5" destOrd="0" presId="urn:microsoft.com/office/officeart/2005/8/layout/vList2"/>
    <dgm:cxn modelId="{DCF8BD00-EFC7-4B3E-8F22-FA4B90E2BA48}" type="presParOf" srcId="{28BDA2A5-2774-4E93-8386-4ECA5EAA1A01}" destId="{46CDFD78-0ABB-48C5-B81D-BA1D6D5EB3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CC8390-D8FD-4687-80C6-07B582B8DC84}" type="doc">
      <dgm:prSet loTypeId="urn:microsoft.com/office/officeart/2005/8/layout/h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FE75D8B6-A179-4B56-85C8-1E527F19EB02}">
      <dgm:prSet phldrT="[Текст]"/>
      <dgm:spPr>
        <a:solidFill>
          <a:srgbClr val="00B050"/>
        </a:solidFill>
      </dgm:spPr>
      <dgm:t>
        <a:bodyPr/>
        <a:lstStyle/>
        <a:p>
          <a:r>
            <a:rPr lang="ru-RU" b="1" dirty="0">
              <a:solidFill>
                <a:schemeClr val="bg1"/>
              </a:solidFill>
            </a:rPr>
            <a:t>Плюсы</a:t>
          </a:r>
          <a:endParaRPr lang="en-US" b="1" dirty="0">
            <a:solidFill>
              <a:schemeClr val="bg1"/>
            </a:solidFill>
          </a:endParaRPr>
        </a:p>
      </dgm:t>
    </dgm:pt>
    <dgm:pt modelId="{75ADB5F9-AC32-4CED-A17F-5BD8AF2D2CFF}" type="parTrans" cxnId="{2B14751C-76B2-45F7-8D2B-7962D9B354FB}">
      <dgm:prSet/>
      <dgm:spPr/>
      <dgm:t>
        <a:bodyPr/>
        <a:lstStyle/>
        <a:p>
          <a:endParaRPr lang="en-US"/>
        </a:p>
      </dgm:t>
    </dgm:pt>
    <dgm:pt modelId="{5163B14C-AA61-4D71-9C8E-84B45FE3075C}" type="sibTrans" cxnId="{2B14751C-76B2-45F7-8D2B-7962D9B354FB}">
      <dgm:prSet/>
      <dgm:spPr/>
      <dgm:t>
        <a:bodyPr/>
        <a:lstStyle/>
        <a:p>
          <a:endParaRPr lang="en-US"/>
        </a:p>
      </dgm:t>
    </dgm:pt>
    <dgm:pt modelId="{24EAD460-E739-4E3A-8A45-F9056166327E}">
      <dgm:prSet phldrT="[Текст]"/>
      <dgm:spPr/>
      <dgm:t>
        <a:bodyPr/>
        <a:lstStyle/>
        <a:p>
          <a:r>
            <a:rPr lang="ru-RU" dirty="0"/>
            <a:t>Возрастающие качество и условия жизни для большинства населения территории</a:t>
          </a:r>
          <a:endParaRPr lang="en-US" dirty="0"/>
        </a:p>
      </dgm:t>
    </dgm:pt>
    <dgm:pt modelId="{64830204-F748-4432-9BAB-60CFC3943093}" type="parTrans" cxnId="{D35017D1-C147-4497-9AC0-1EF43A5718CD}">
      <dgm:prSet/>
      <dgm:spPr/>
      <dgm:t>
        <a:bodyPr/>
        <a:lstStyle/>
        <a:p>
          <a:endParaRPr lang="en-US"/>
        </a:p>
      </dgm:t>
    </dgm:pt>
    <dgm:pt modelId="{5134699C-01DB-4F65-99E6-BA6B79FE966A}" type="sibTrans" cxnId="{D35017D1-C147-4497-9AC0-1EF43A5718CD}">
      <dgm:prSet/>
      <dgm:spPr/>
      <dgm:t>
        <a:bodyPr/>
        <a:lstStyle/>
        <a:p>
          <a:endParaRPr lang="en-US"/>
        </a:p>
      </dgm:t>
    </dgm:pt>
    <dgm:pt modelId="{41B77625-810D-4D23-B5A3-42149F9F6DD3}">
      <dgm:prSet phldrT="[Текст]"/>
      <dgm:spPr/>
      <dgm:t>
        <a:bodyPr/>
        <a:lstStyle/>
        <a:p>
          <a:r>
            <a:rPr lang="ru-RU" dirty="0"/>
            <a:t>Потенциал саморазвития территорий </a:t>
          </a:r>
          <a:endParaRPr lang="en-US" dirty="0"/>
        </a:p>
      </dgm:t>
    </dgm:pt>
    <dgm:pt modelId="{C760F247-2E2F-4D6B-907B-A6C87B9684DA}" type="parTrans" cxnId="{E09636F2-1B79-4AEC-8A57-0333CDD85885}">
      <dgm:prSet/>
      <dgm:spPr/>
      <dgm:t>
        <a:bodyPr/>
        <a:lstStyle/>
        <a:p>
          <a:endParaRPr lang="en-US"/>
        </a:p>
      </dgm:t>
    </dgm:pt>
    <dgm:pt modelId="{2D9C9650-CE72-46EB-AC7F-DB271DF892FF}" type="sibTrans" cxnId="{E09636F2-1B79-4AEC-8A57-0333CDD85885}">
      <dgm:prSet/>
      <dgm:spPr/>
      <dgm:t>
        <a:bodyPr/>
        <a:lstStyle/>
        <a:p>
          <a:endParaRPr lang="en-US"/>
        </a:p>
      </dgm:t>
    </dgm:pt>
    <dgm:pt modelId="{A458F25D-B22F-4B38-A719-B18033D404CB}">
      <dgm:prSet phldrT="[Текст]"/>
      <dgm:spPr>
        <a:solidFill>
          <a:srgbClr val="FF0000"/>
        </a:solidFill>
      </dgm:spPr>
      <dgm:t>
        <a:bodyPr/>
        <a:lstStyle/>
        <a:p>
          <a:r>
            <a:rPr lang="ru-RU" b="1" dirty="0">
              <a:solidFill>
                <a:schemeClr val="bg1"/>
              </a:solidFill>
            </a:rPr>
            <a:t>Минусы</a:t>
          </a:r>
          <a:endParaRPr lang="en-US" b="1" dirty="0">
            <a:solidFill>
              <a:schemeClr val="bg1"/>
            </a:solidFill>
          </a:endParaRPr>
        </a:p>
      </dgm:t>
    </dgm:pt>
    <dgm:pt modelId="{747B8F89-5B77-40B2-9AD8-E4844A2B49C8}" type="parTrans" cxnId="{ED23DF11-FBCF-4E21-9A71-39F7DC75CEB0}">
      <dgm:prSet/>
      <dgm:spPr/>
      <dgm:t>
        <a:bodyPr/>
        <a:lstStyle/>
        <a:p>
          <a:endParaRPr lang="en-US"/>
        </a:p>
      </dgm:t>
    </dgm:pt>
    <dgm:pt modelId="{89594C59-8FCA-4383-8D5D-DB9ADCFB6250}" type="sibTrans" cxnId="{ED23DF11-FBCF-4E21-9A71-39F7DC75CEB0}">
      <dgm:prSet/>
      <dgm:spPr/>
      <dgm:t>
        <a:bodyPr/>
        <a:lstStyle/>
        <a:p>
          <a:endParaRPr lang="en-US"/>
        </a:p>
      </dgm:t>
    </dgm:pt>
    <dgm:pt modelId="{792D3A00-2130-4E69-8993-A0C3C703C09A}">
      <dgm:prSet phldrT="[Текст]"/>
      <dgm:spPr/>
      <dgm:t>
        <a:bodyPr/>
        <a:lstStyle/>
        <a:p>
          <a:r>
            <a:rPr lang="ru-RU" dirty="0"/>
            <a:t>Сокращение финансирования части территорий</a:t>
          </a:r>
          <a:endParaRPr lang="en-US" dirty="0"/>
        </a:p>
      </dgm:t>
    </dgm:pt>
    <dgm:pt modelId="{ABADB526-4745-4022-8172-B0525F097108}" type="parTrans" cxnId="{0A16C04E-94C6-45BF-AC30-001D1E8ED8EE}">
      <dgm:prSet/>
      <dgm:spPr/>
      <dgm:t>
        <a:bodyPr/>
        <a:lstStyle/>
        <a:p>
          <a:endParaRPr lang="en-US"/>
        </a:p>
      </dgm:t>
    </dgm:pt>
    <dgm:pt modelId="{76ABFC70-3B29-46A4-A337-8762219F749B}" type="sibTrans" cxnId="{0A16C04E-94C6-45BF-AC30-001D1E8ED8EE}">
      <dgm:prSet/>
      <dgm:spPr/>
      <dgm:t>
        <a:bodyPr/>
        <a:lstStyle/>
        <a:p>
          <a:endParaRPr lang="en-US"/>
        </a:p>
      </dgm:t>
    </dgm:pt>
    <dgm:pt modelId="{5F55F044-138C-4793-8983-DD822352FFB1}">
      <dgm:prSet phldrT="[Текст]"/>
      <dgm:spPr/>
      <dgm:t>
        <a:bodyPr/>
        <a:lstStyle/>
        <a:p>
          <a:r>
            <a:rPr lang="ru-RU" dirty="0"/>
            <a:t>Запустевание и вымирание части территорий</a:t>
          </a:r>
          <a:endParaRPr lang="en-US" dirty="0"/>
        </a:p>
      </dgm:t>
    </dgm:pt>
    <dgm:pt modelId="{968A5F72-2AD7-46DC-9800-D8E2CF1F2B55}" type="parTrans" cxnId="{EE6E1C90-5408-42FC-9F9A-9E18334231D7}">
      <dgm:prSet/>
      <dgm:spPr/>
      <dgm:t>
        <a:bodyPr/>
        <a:lstStyle/>
        <a:p>
          <a:endParaRPr lang="en-US"/>
        </a:p>
      </dgm:t>
    </dgm:pt>
    <dgm:pt modelId="{332B05AE-81CE-4DEF-BD71-631F83409224}" type="sibTrans" cxnId="{EE6E1C90-5408-42FC-9F9A-9E18334231D7}">
      <dgm:prSet/>
      <dgm:spPr/>
      <dgm:t>
        <a:bodyPr/>
        <a:lstStyle/>
        <a:p>
          <a:endParaRPr lang="en-US"/>
        </a:p>
      </dgm:t>
    </dgm:pt>
    <dgm:pt modelId="{BD882FAA-22F7-4022-B11A-4444EBE681E8}">
      <dgm:prSet phldrT="[Текст]"/>
      <dgm:spPr/>
      <dgm:t>
        <a:bodyPr/>
        <a:lstStyle/>
        <a:p>
          <a:r>
            <a:rPr lang="ru-RU" dirty="0"/>
            <a:t>Сложность управления и вопросы подчинения </a:t>
          </a:r>
          <a:endParaRPr lang="en-US" dirty="0"/>
        </a:p>
      </dgm:t>
    </dgm:pt>
    <dgm:pt modelId="{6AA8C24B-1853-457F-B5A7-281A5D901EF8}" type="parTrans" cxnId="{81E63E61-3B50-465E-9801-E14D5A7B6AF2}">
      <dgm:prSet/>
      <dgm:spPr/>
      <dgm:t>
        <a:bodyPr/>
        <a:lstStyle/>
        <a:p>
          <a:endParaRPr lang="en-US"/>
        </a:p>
      </dgm:t>
    </dgm:pt>
    <dgm:pt modelId="{B5EE1EF1-3149-4468-9EF2-E57E20B78AA7}" type="sibTrans" cxnId="{81E63E61-3B50-465E-9801-E14D5A7B6AF2}">
      <dgm:prSet/>
      <dgm:spPr/>
      <dgm:t>
        <a:bodyPr/>
        <a:lstStyle/>
        <a:p>
          <a:endParaRPr lang="en-US"/>
        </a:p>
      </dgm:t>
    </dgm:pt>
    <dgm:pt modelId="{C11EF6E1-D496-49C2-9FAA-38C91CBD5CAE}">
      <dgm:prSet phldrT="[Текст]"/>
      <dgm:spPr/>
      <dgm:t>
        <a:bodyPr/>
        <a:lstStyle/>
        <a:p>
          <a:r>
            <a:rPr lang="ru-RU" dirty="0"/>
            <a:t>Повышение мобильности населения </a:t>
          </a:r>
          <a:endParaRPr lang="en-US" dirty="0"/>
        </a:p>
      </dgm:t>
    </dgm:pt>
    <dgm:pt modelId="{C94BBA06-735F-40F6-90AF-A92CBC59A477}" type="parTrans" cxnId="{03091BB3-DA87-4215-BC29-ABCF41947804}">
      <dgm:prSet/>
      <dgm:spPr/>
      <dgm:t>
        <a:bodyPr/>
        <a:lstStyle/>
        <a:p>
          <a:endParaRPr lang="en-US"/>
        </a:p>
      </dgm:t>
    </dgm:pt>
    <dgm:pt modelId="{0A6B02EC-9C22-49C8-B2B7-D3BE89DFDBF4}" type="sibTrans" cxnId="{03091BB3-DA87-4215-BC29-ABCF41947804}">
      <dgm:prSet/>
      <dgm:spPr/>
      <dgm:t>
        <a:bodyPr/>
        <a:lstStyle/>
        <a:p>
          <a:endParaRPr lang="en-US"/>
        </a:p>
      </dgm:t>
    </dgm:pt>
    <dgm:pt modelId="{960145DE-7A75-41C2-A5DB-54104606EBB4}" type="pres">
      <dgm:prSet presAssocID="{97CC8390-D8FD-4687-80C6-07B582B8DC84}" presName="Name0" presStyleCnt="0">
        <dgm:presLayoutVars>
          <dgm:dir/>
          <dgm:animLvl val="lvl"/>
          <dgm:resizeHandles val="exact"/>
        </dgm:presLayoutVars>
      </dgm:prSet>
      <dgm:spPr/>
    </dgm:pt>
    <dgm:pt modelId="{7E8CF0FE-97C8-43B0-AD38-1B80E351C4BF}" type="pres">
      <dgm:prSet presAssocID="{FE75D8B6-A179-4B56-85C8-1E527F19EB02}" presName="composite" presStyleCnt="0"/>
      <dgm:spPr/>
    </dgm:pt>
    <dgm:pt modelId="{BCA02987-DF68-4C2D-9AB0-F878747F7FE9}" type="pres">
      <dgm:prSet presAssocID="{FE75D8B6-A179-4B56-85C8-1E527F19EB0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5DB448D-0947-46B5-B41C-4D16B3537C4F}" type="pres">
      <dgm:prSet presAssocID="{FE75D8B6-A179-4B56-85C8-1E527F19EB02}" presName="desTx" presStyleLbl="alignAccFollowNode1" presStyleIdx="0" presStyleCnt="2">
        <dgm:presLayoutVars>
          <dgm:bulletEnabled val="1"/>
        </dgm:presLayoutVars>
      </dgm:prSet>
      <dgm:spPr/>
    </dgm:pt>
    <dgm:pt modelId="{E8C2DC19-F849-41BB-9750-55992892459A}" type="pres">
      <dgm:prSet presAssocID="{5163B14C-AA61-4D71-9C8E-84B45FE3075C}" presName="space" presStyleCnt="0"/>
      <dgm:spPr/>
    </dgm:pt>
    <dgm:pt modelId="{436500CB-D38B-4C6A-BA7F-4E2ECEDC0019}" type="pres">
      <dgm:prSet presAssocID="{A458F25D-B22F-4B38-A719-B18033D404CB}" presName="composite" presStyleCnt="0"/>
      <dgm:spPr/>
    </dgm:pt>
    <dgm:pt modelId="{D8B7145E-7445-4E5C-868E-56ECC016AB68}" type="pres">
      <dgm:prSet presAssocID="{A458F25D-B22F-4B38-A719-B18033D404C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4DDB5355-2D8B-4848-B0B8-B86BC80DD9B6}" type="pres">
      <dgm:prSet presAssocID="{A458F25D-B22F-4B38-A719-B18033D404CB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467A00A-F8CF-4A49-A41F-B6510D980BA3}" type="presOf" srcId="{FE75D8B6-A179-4B56-85C8-1E527F19EB02}" destId="{BCA02987-DF68-4C2D-9AB0-F878747F7FE9}" srcOrd="0" destOrd="0" presId="urn:microsoft.com/office/officeart/2005/8/layout/hList1"/>
    <dgm:cxn modelId="{ED23DF11-FBCF-4E21-9A71-39F7DC75CEB0}" srcId="{97CC8390-D8FD-4687-80C6-07B582B8DC84}" destId="{A458F25D-B22F-4B38-A719-B18033D404CB}" srcOrd="1" destOrd="0" parTransId="{747B8F89-5B77-40B2-9AD8-E4844A2B49C8}" sibTransId="{89594C59-8FCA-4383-8D5D-DB9ADCFB6250}"/>
    <dgm:cxn modelId="{2B14751C-76B2-45F7-8D2B-7962D9B354FB}" srcId="{97CC8390-D8FD-4687-80C6-07B582B8DC84}" destId="{FE75D8B6-A179-4B56-85C8-1E527F19EB02}" srcOrd="0" destOrd="0" parTransId="{75ADB5F9-AC32-4CED-A17F-5BD8AF2D2CFF}" sibTransId="{5163B14C-AA61-4D71-9C8E-84B45FE3075C}"/>
    <dgm:cxn modelId="{A3F4AB1F-85D3-46D8-AB8C-BFD86169F616}" type="presOf" srcId="{5F55F044-138C-4793-8983-DD822352FFB1}" destId="{4DDB5355-2D8B-4848-B0B8-B86BC80DD9B6}" srcOrd="0" destOrd="1" presId="urn:microsoft.com/office/officeart/2005/8/layout/hList1"/>
    <dgm:cxn modelId="{EB66132E-116C-4EB4-8B28-6B70C8B45D76}" type="presOf" srcId="{C11EF6E1-D496-49C2-9FAA-38C91CBD5CAE}" destId="{25DB448D-0947-46B5-B41C-4D16B3537C4F}" srcOrd="0" destOrd="2" presId="urn:microsoft.com/office/officeart/2005/8/layout/hList1"/>
    <dgm:cxn modelId="{81E63E61-3B50-465E-9801-E14D5A7B6AF2}" srcId="{A458F25D-B22F-4B38-A719-B18033D404CB}" destId="{BD882FAA-22F7-4022-B11A-4444EBE681E8}" srcOrd="2" destOrd="0" parTransId="{6AA8C24B-1853-457F-B5A7-281A5D901EF8}" sibTransId="{B5EE1EF1-3149-4468-9EF2-E57E20B78AA7}"/>
    <dgm:cxn modelId="{0A16C04E-94C6-45BF-AC30-001D1E8ED8EE}" srcId="{A458F25D-B22F-4B38-A719-B18033D404CB}" destId="{792D3A00-2130-4E69-8993-A0C3C703C09A}" srcOrd="0" destOrd="0" parTransId="{ABADB526-4745-4022-8172-B0525F097108}" sibTransId="{76ABFC70-3B29-46A4-A337-8762219F749B}"/>
    <dgm:cxn modelId="{D3C80153-7330-40F9-8764-93FF184ECD79}" type="presOf" srcId="{24EAD460-E739-4E3A-8A45-F9056166327E}" destId="{25DB448D-0947-46B5-B41C-4D16B3537C4F}" srcOrd="0" destOrd="0" presId="urn:microsoft.com/office/officeart/2005/8/layout/hList1"/>
    <dgm:cxn modelId="{BC109F5A-3734-4B68-A454-8D1D629C8221}" type="presOf" srcId="{BD882FAA-22F7-4022-B11A-4444EBE681E8}" destId="{4DDB5355-2D8B-4848-B0B8-B86BC80DD9B6}" srcOrd="0" destOrd="2" presId="urn:microsoft.com/office/officeart/2005/8/layout/hList1"/>
    <dgm:cxn modelId="{3BFC7984-1BBD-4FC4-BCCD-E89364C1F959}" type="presOf" srcId="{A458F25D-B22F-4B38-A719-B18033D404CB}" destId="{D8B7145E-7445-4E5C-868E-56ECC016AB68}" srcOrd="0" destOrd="0" presId="urn:microsoft.com/office/officeart/2005/8/layout/hList1"/>
    <dgm:cxn modelId="{EE6E1C90-5408-42FC-9F9A-9E18334231D7}" srcId="{A458F25D-B22F-4B38-A719-B18033D404CB}" destId="{5F55F044-138C-4793-8983-DD822352FFB1}" srcOrd="1" destOrd="0" parTransId="{968A5F72-2AD7-46DC-9800-D8E2CF1F2B55}" sibTransId="{332B05AE-81CE-4DEF-BD71-631F83409224}"/>
    <dgm:cxn modelId="{03091BB3-DA87-4215-BC29-ABCF41947804}" srcId="{FE75D8B6-A179-4B56-85C8-1E527F19EB02}" destId="{C11EF6E1-D496-49C2-9FAA-38C91CBD5CAE}" srcOrd="2" destOrd="0" parTransId="{C94BBA06-735F-40F6-90AF-A92CBC59A477}" sibTransId="{0A6B02EC-9C22-49C8-B2B7-D3BE89DFDBF4}"/>
    <dgm:cxn modelId="{DF95BDBA-2EA2-4D2B-80F0-0163817B64EC}" type="presOf" srcId="{97CC8390-D8FD-4687-80C6-07B582B8DC84}" destId="{960145DE-7A75-41C2-A5DB-54104606EBB4}" srcOrd="0" destOrd="0" presId="urn:microsoft.com/office/officeart/2005/8/layout/hList1"/>
    <dgm:cxn modelId="{D35017D1-C147-4497-9AC0-1EF43A5718CD}" srcId="{FE75D8B6-A179-4B56-85C8-1E527F19EB02}" destId="{24EAD460-E739-4E3A-8A45-F9056166327E}" srcOrd="0" destOrd="0" parTransId="{64830204-F748-4432-9BAB-60CFC3943093}" sibTransId="{5134699C-01DB-4F65-99E6-BA6B79FE966A}"/>
    <dgm:cxn modelId="{F2FF6DEF-201D-4481-9C63-F14861A3546A}" type="presOf" srcId="{41B77625-810D-4D23-B5A3-42149F9F6DD3}" destId="{25DB448D-0947-46B5-B41C-4D16B3537C4F}" srcOrd="0" destOrd="1" presId="urn:microsoft.com/office/officeart/2005/8/layout/hList1"/>
    <dgm:cxn modelId="{E09636F2-1B79-4AEC-8A57-0333CDD85885}" srcId="{FE75D8B6-A179-4B56-85C8-1E527F19EB02}" destId="{41B77625-810D-4D23-B5A3-42149F9F6DD3}" srcOrd="1" destOrd="0" parTransId="{C760F247-2E2F-4D6B-907B-A6C87B9684DA}" sibTransId="{2D9C9650-CE72-46EB-AC7F-DB271DF892FF}"/>
    <dgm:cxn modelId="{A74587FC-C78D-479B-A89A-F014551F3B21}" type="presOf" srcId="{792D3A00-2130-4E69-8993-A0C3C703C09A}" destId="{4DDB5355-2D8B-4848-B0B8-B86BC80DD9B6}" srcOrd="0" destOrd="0" presId="urn:microsoft.com/office/officeart/2005/8/layout/hList1"/>
    <dgm:cxn modelId="{ED279677-28E3-4234-8170-E06796D549CD}" type="presParOf" srcId="{960145DE-7A75-41C2-A5DB-54104606EBB4}" destId="{7E8CF0FE-97C8-43B0-AD38-1B80E351C4BF}" srcOrd="0" destOrd="0" presId="urn:microsoft.com/office/officeart/2005/8/layout/hList1"/>
    <dgm:cxn modelId="{3C58177A-3BF4-4D9E-83C7-14055B58D8CB}" type="presParOf" srcId="{7E8CF0FE-97C8-43B0-AD38-1B80E351C4BF}" destId="{BCA02987-DF68-4C2D-9AB0-F878747F7FE9}" srcOrd="0" destOrd="0" presId="urn:microsoft.com/office/officeart/2005/8/layout/hList1"/>
    <dgm:cxn modelId="{029E886E-1768-4685-871B-EA4D653FA221}" type="presParOf" srcId="{7E8CF0FE-97C8-43B0-AD38-1B80E351C4BF}" destId="{25DB448D-0947-46B5-B41C-4D16B3537C4F}" srcOrd="1" destOrd="0" presId="urn:microsoft.com/office/officeart/2005/8/layout/hList1"/>
    <dgm:cxn modelId="{28D70471-EF68-4CB0-9C9A-BAD300C7CAE4}" type="presParOf" srcId="{960145DE-7A75-41C2-A5DB-54104606EBB4}" destId="{E8C2DC19-F849-41BB-9750-55992892459A}" srcOrd="1" destOrd="0" presId="urn:microsoft.com/office/officeart/2005/8/layout/hList1"/>
    <dgm:cxn modelId="{8FD9E67D-4F8B-45B1-B046-15E3D97236FC}" type="presParOf" srcId="{960145DE-7A75-41C2-A5DB-54104606EBB4}" destId="{436500CB-D38B-4C6A-BA7F-4E2ECEDC0019}" srcOrd="2" destOrd="0" presId="urn:microsoft.com/office/officeart/2005/8/layout/hList1"/>
    <dgm:cxn modelId="{5ACA2101-7EA8-4816-BC68-6227B9722FAA}" type="presParOf" srcId="{436500CB-D38B-4C6A-BA7F-4E2ECEDC0019}" destId="{D8B7145E-7445-4E5C-868E-56ECC016AB68}" srcOrd="0" destOrd="0" presId="urn:microsoft.com/office/officeart/2005/8/layout/hList1"/>
    <dgm:cxn modelId="{77BE2318-9C35-4483-8BB3-9C2C939E4CE3}" type="presParOf" srcId="{436500CB-D38B-4C6A-BA7F-4E2ECEDC0019}" destId="{4DDB5355-2D8B-4848-B0B8-B86BC80DD9B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D01361-3D6D-4697-88FA-8186B2E0A275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BF3B6DE4-5DA8-4EB6-8391-8C14AE97E953}">
      <dgm:prSet/>
      <dgm:spPr/>
      <dgm:t>
        <a:bodyPr/>
        <a:lstStyle/>
        <a:p>
          <a:r>
            <a:rPr lang="ru-RU" dirty="0"/>
            <a:t>Аграрная политика СССР в 1960-х - сер. 1980-х гг., основанная на огосударствлении, централизации и концентрации сельскохозяйственного производства, привела к </a:t>
          </a:r>
          <a:r>
            <a:rPr lang="ru-RU" i="1" dirty="0"/>
            <a:t>окончательному отчуждению крестьян от земли</a:t>
          </a:r>
          <a:r>
            <a:rPr lang="ru-RU" dirty="0"/>
            <a:t>, превращению их в наемных рабочих. </a:t>
          </a:r>
          <a:endParaRPr lang="en-US" dirty="0"/>
        </a:p>
      </dgm:t>
    </dgm:pt>
    <dgm:pt modelId="{8FF18B02-E29E-46A9-BE7C-4F473CD199A1}" type="parTrans" cxnId="{9DE08CD5-ABDE-4CEE-9969-7ADED11B8025}">
      <dgm:prSet/>
      <dgm:spPr/>
      <dgm:t>
        <a:bodyPr/>
        <a:lstStyle/>
        <a:p>
          <a:endParaRPr lang="en-US"/>
        </a:p>
      </dgm:t>
    </dgm:pt>
    <dgm:pt modelId="{1B28EA28-5474-455F-AE4D-8B5B822DA5BE}" type="sibTrans" cxnId="{9DE08CD5-ABDE-4CEE-9969-7ADED11B8025}">
      <dgm:prSet/>
      <dgm:spPr/>
      <dgm:t>
        <a:bodyPr/>
        <a:lstStyle/>
        <a:p>
          <a:endParaRPr lang="en-US"/>
        </a:p>
      </dgm:t>
    </dgm:pt>
    <dgm:pt modelId="{CC23819B-896C-4225-9AF2-40F3C3AFD8B7}">
      <dgm:prSet/>
      <dgm:spPr/>
      <dgm:t>
        <a:bodyPr/>
        <a:lstStyle/>
        <a:p>
          <a:r>
            <a:rPr lang="ru-RU"/>
            <a:t>Развернувшиеся же в 50 - 70-е гг. прошлого века процессы укрупнения колхозов, преобразования колхозов в совхозы, сселения «</a:t>
          </a:r>
          <a:r>
            <a:rPr lang="ru-RU" b="1" i="1"/>
            <a:t>неперспективных</a:t>
          </a:r>
          <a:r>
            <a:rPr lang="ru-RU"/>
            <a:t>» деревень </a:t>
          </a:r>
          <a:r>
            <a:rPr lang="ru-RU" i="1"/>
            <a:t>ускорили трагедию раскрестьянивания</a:t>
          </a:r>
          <a:r>
            <a:rPr lang="ru-RU"/>
            <a:t>. </a:t>
          </a:r>
          <a:endParaRPr lang="en-US"/>
        </a:p>
      </dgm:t>
    </dgm:pt>
    <dgm:pt modelId="{4539DE59-EF72-4E4F-9ACD-03D9CD997828}" type="parTrans" cxnId="{DD63B17A-78E4-45B8-B4FB-621273843CBD}">
      <dgm:prSet/>
      <dgm:spPr/>
      <dgm:t>
        <a:bodyPr/>
        <a:lstStyle/>
        <a:p>
          <a:endParaRPr lang="en-US"/>
        </a:p>
      </dgm:t>
    </dgm:pt>
    <dgm:pt modelId="{314561D3-7CAE-4E8E-B1B3-5E2C9048085E}" type="sibTrans" cxnId="{DD63B17A-78E4-45B8-B4FB-621273843CBD}">
      <dgm:prSet/>
      <dgm:spPr/>
      <dgm:t>
        <a:bodyPr/>
        <a:lstStyle/>
        <a:p>
          <a:endParaRPr lang="en-US"/>
        </a:p>
      </dgm:t>
    </dgm:pt>
    <dgm:pt modelId="{0486202D-FFC9-4B2C-8CC5-F2F1D7E7ED83}">
      <dgm:prSet/>
      <dgm:spPr/>
      <dgm:t>
        <a:bodyPr/>
        <a:lstStyle/>
        <a:p>
          <a:r>
            <a:rPr lang="ru-RU"/>
            <a:t>Причем, если резко активизировавшаяся, в связи с начавшейся с конца 1950-х гг. раздачей паспортов, закономерная в условиях индустриального общества сельская миграция в города являлась «</a:t>
          </a:r>
          <a:r>
            <a:rPr lang="ru-RU" i="1"/>
            <a:t>внутренним» фактором </a:t>
          </a:r>
          <a:r>
            <a:rPr lang="ru-RU"/>
            <a:t>данного процесса, то изменения в расселении выделены как «</a:t>
          </a:r>
          <a:r>
            <a:rPr lang="ru-RU" i="1"/>
            <a:t>внешний» фактор </a:t>
          </a:r>
          <a:r>
            <a:rPr lang="ru-RU"/>
            <a:t>раскрестьянивания.</a:t>
          </a:r>
          <a:endParaRPr lang="en-US"/>
        </a:p>
      </dgm:t>
    </dgm:pt>
    <dgm:pt modelId="{465A9F9E-7D01-4A0A-9E19-E57FCD8A9880}" type="parTrans" cxnId="{99EAE34E-A9DA-4944-A4A6-B165961BC9D7}">
      <dgm:prSet/>
      <dgm:spPr/>
      <dgm:t>
        <a:bodyPr/>
        <a:lstStyle/>
        <a:p>
          <a:endParaRPr lang="en-US"/>
        </a:p>
      </dgm:t>
    </dgm:pt>
    <dgm:pt modelId="{A9494E79-1E1C-4C6E-ADF6-296CCB13A949}" type="sibTrans" cxnId="{99EAE34E-A9DA-4944-A4A6-B165961BC9D7}">
      <dgm:prSet/>
      <dgm:spPr/>
      <dgm:t>
        <a:bodyPr/>
        <a:lstStyle/>
        <a:p>
          <a:endParaRPr lang="en-US"/>
        </a:p>
      </dgm:t>
    </dgm:pt>
    <dgm:pt modelId="{74898B4E-91F3-49E4-8965-EA25624FDA6B}">
      <dgm:prSet/>
      <dgm:spPr/>
      <dgm:t>
        <a:bodyPr/>
        <a:lstStyle/>
        <a:p>
          <a:r>
            <a:rPr lang="ru-RU" dirty="0"/>
            <a:t>Курс партии на все большую </a:t>
          </a:r>
          <a:r>
            <a:rPr lang="ru-RU" b="1" dirty="0"/>
            <a:t>концентрацию сельскохозяйственного производства</a:t>
          </a:r>
          <a:r>
            <a:rPr lang="ru-RU" dirty="0"/>
            <a:t>, начатый еще в 1950-е гг., получил в 1960-е - начале 1980-х гг. дальнейшее развитие в </a:t>
          </a:r>
          <a:r>
            <a:rPr lang="ru-RU" i="1" dirty="0"/>
            <a:t>ликвидации «</a:t>
          </a:r>
          <a:r>
            <a:rPr lang="ru-RU" b="1" i="1" dirty="0"/>
            <a:t>неперспективных</a:t>
          </a:r>
          <a:r>
            <a:rPr lang="ru-RU" i="1" dirty="0"/>
            <a:t>» сел и деревень</a:t>
          </a:r>
          <a:r>
            <a:rPr lang="ru-RU" dirty="0"/>
            <a:t>. </a:t>
          </a:r>
          <a:endParaRPr lang="en-US" dirty="0"/>
        </a:p>
      </dgm:t>
    </dgm:pt>
    <dgm:pt modelId="{7251BC65-7EFB-40B3-8D47-1288548060D2}" type="parTrans" cxnId="{3E264231-2EAA-494E-AE30-361C53F3C09A}">
      <dgm:prSet/>
      <dgm:spPr/>
      <dgm:t>
        <a:bodyPr/>
        <a:lstStyle/>
        <a:p>
          <a:endParaRPr lang="en-US"/>
        </a:p>
      </dgm:t>
    </dgm:pt>
    <dgm:pt modelId="{DF7DDC33-7202-493A-BBA4-22A05297F845}" type="sibTrans" cxnId="{3E264231-2EAA-494E-AE30-361C53F3C09A}">
      <dgm:prSet/>
      <dgm:spPr/>
      <dgm:t>
        <a:bodyPr/>
        <a:lstStyle/>
        <a:p>
          <a:endParaRPr lang="en-US"/>
        </a:p>
      </dgm:t>
    </dgm:pt>
    <dgm:pt modelId="{119691E3-4362-4551-9B08-69C149C9617C}">
      <dgm:prSet/>
      <dgm:spPr/>
      <dgm:t>
        <a:bodyPr/>
        <a:lstStyle/>
        <a:p>
          <a:r>
            <a:rPr lang="ru-RU"/>
            <a:t>Начало этой кампании связано с утверждением в 1960 г. НИИ Сельхозстроем Министерства сельского хозяйства СССР «</a:t>
          </a:r>
          <a:r>
            <a:rPr lang="ru-RU" i="1"/>
            <a:t>Правил застройки сельских населенных пунктов РСФСР</a:t>
          </a:r>
          <a:r>
            <a:rPr lang="ru-RU"/>
            <a:t>», в которых впервые и появился термин «</a:t>
          </a:r>
          <a:r>
            <a:rPr lang="ru-RU" b="1" i="1"/>
            <a:t>неперспективная деревня</a:t>
          </a:r>
          <a:r>
            <a:rPr lang="ru-RU"/>
            <a:t>». </a:t>
          </a:r>
          <a:endParaRPr lang="en-US"/>
        </a:p>
      </dgm:t>
    </dgm:pt>
    <dgm:pt modelId="{F0AC78EE-F635-4AA9-8A6A-C4FEAFF35747}" type="parTrans" cxnId="{45316ABD-230A-4BE0-8F69-DC83B52ADB4B}">
      <dgm:prSet/>
      <dgm:spPr/>
      <dgm:t>
        <a:bodyPr/>
        <a:lstStyle/>
        <a:p>
          <a:endParaRPr lang="en-US"/>
        </a:p>
      </dgm:t>
    </dgm:pt>
    <dgm:pt modelId="{B8C8CFD1-3942-4826-8909-3ED5CCB575BB}" type="sibTrans" cxnId="{45316ABD-230A-4BE0-8F69-DC83B52ADB4B}">
      <dgm:prSet/>
      <dgm:spPr/>
      <dgm:t>
        <a:bodyPr/>
        <a:lstStyle/>
        <a:p>
          <a:endParaRPr lang="en-US"/>
        </a:p>
      </dgm:t>
    </dgm:pt>
    <dgm:pt modelId="{23DC0941-6371-43D0-85A4-7E8EABD83C95}">
      <dgm:prSet/>
      <dgm:spPr/>
      <dgm:t>
        <a:bodyPr/>
        <a:lstStyle/>
        <a:p>
          <a:r>
            <a:rPr lang="ru-RU" dirty="0"/>
            <a:t>Те же идеи лежали и в основе известного Постановления ЦК КПСС и Совета Министров СССР «</a:t>
          </a:r>
          <a:r>
            <a:rPr lang="ru-RU" i="1" dirty="0"/>
            <a:t>О мерах по дальнейшему развитию сельского хозяйства Нечерноземной зоны РСФСР</a:t>
          </a:r>
          <a:r>
            <a:rPr lang="ru-RU" dirty="0"/>
            <a:t>» (март 1974 г.), намечавшего </a:t>
          </a:r>
          <a:r>
            <a:rPr lang="ru-RU" u="sng" dirty="0"/>
            <a:t>укрупнение сел и ликвидацию</a:t>
          </a:r>
          <a:r>
            <a:rPr lang="ru-RU" dirty="0"/>
            <a:t> </a:t>
          </a:r>
          <a:r>
            <a:rPr lang="ru-RU" b="1" dirty="0"/>
            <a:t>114 тыс. населенных пунктов из 143 тыс. </a:t>
          </a:r>
          <a:endParaRPr lang="en-US" dirty="0"/>
        </a:p>
      </dgm:t>
    </dgm:pt>
    <dgm:pt modelId="{0CC2FAD0-1BAB-4AAB-A2CD-1B3E06D4FCC1}" type="parTrans" cxnId="{789A913B-3200-4464-B0AA-E553EC1B3E97}">
      <dgm:prSet/>
      <dgm:spPr/>
      <dgm:t>
        <a:bodyPr/>
        <a:lstStyle/>
        <a:p>
          <a:endParaRPr lang="en-US"/>
        </a:p>
      </dgm:t>
    </dgm:pt>
    <dgm:pt modelId="{28FF369A-CDE7-4B5B-8E03-2CD3E483267B}" type="sibTrans" cxnId="{789A913B-3200-4464-B0AA-E553EC1B3E97}">
      <dgm:prSet/>
      <dgm:spPr/>
      <dgm:t>
        <a:bodyPr/>
        <a:lstStyle/>
        <a:p>
          <a:endParaRPr lang="en-US"/>
        </a:p>
      </dgm:t>
    </dgm:pt>
    <dgm:pt modelId="{C5C29C97-A716-4BFD-8701-22BB4BA7B1ED}" type="pres">
      <dgm:prSet presAssocID="{2AD01361-3D6D-4697-88FA-8186B2E0A275}" presName="linear" presStyleCnt="0">
        <dgm:presLayoutVars>
          <dgm:animLvl val="lvl"/>
          <dgm:resizeHandles val="exact"/>
        </dgm:presLayoutVars>
      </dgm:prSet>
      <dgm:spPr/>
    </dgm:pt>
    <dgm:pt modelId="{8B087A47-0DE0-4EC9-9DA3-DC19BD452CAB}" type="pres">
      <dgm:prSet presAssocID="{BF3B6DE4-5DA8-4EB6-8391-8C14AE97E95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FD98F34-7649-4366-809F-05FDF71C1653}" type="pres">
      <dgm:prSet presAssocID="{1B28EA28-5474-455F-AE4D-8B5B822DA5BE}" presName="spacer" presStyleCnt="0"/>
      <dgm:spPr/>
    </dgm:pt>
    <dgm:pt modelId="{2063C6F6-FF0E-46F8-8917-3ECFFFCDEC11}" type="pres">
      <dgm:prSet presAssocID="{CC23819B-896C-4225-9AF2-40F3C3AFD8B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8A94A41-AB5B-43FA-B240-54B869115BD6}" type="pres">
      <dgm:prSet presAssocID="{314561D3-7CAE-4E8E-B1B3-5E2C9048085E}" presName="spacer" presStyleCnt="0"/>
      <dgm:spPr/>
    </dgm:pt>
    <dgm:pt modelId="{A387B4E3-3F5D-4A8A-9F42-3BF3113A7DF8}" type="pres">
      <dgm:prSet presAssocID="{0486202D-FFC9-4B2C-8CC5-F2F1D7E7ED8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A4E57B0-CDB6-4F2C-810E-8D778FDF6E26}" type="pres">
      <dgm:prSet presAssocID="{A9494E79-1E1C-4C6E-ADF6-296CCB13A949}" presName="spacer" presStyleCnt="0"/>
      <dgm:spPr/>
    </dgm:pt>
    <dgm:pt modelId="{AE3A84F7-F1B0-40D9-A5C7-C0DD8BA9E1C3}" type="pres">
      <dgm:prSet presAssocID="{74898B4E-91F3-49E4-8965-EA25624FDA6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79443E0-4116-4B3F-B928-C26409B09B45}" type="pres">
      <dgm:prSet presAssocID="{DF7DDC33-7202-493A-BBA4-22A05297F845}" presName="spacer" presStyleCnt="0"/>
      <dgm:spPr/>
    </dgm:pt>
    <dgm:pt modelId="{91807D0D-A5D9-437E-B0B0-6199F0330FAE}" type="pres">
      <dgm:prSet presAssocID="{119691E3-4362-4551-9B08-69C149C9617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9F02B3E-9A6B-4791-9181-5A93D306A118}" type="pres">
      <dgm:prSet presAssocID="{B8C8CFD1-3942-4826-8909-3ED5CCB575BB}" presName="spacer" presStyleCnt="0"/>
      <dgm:spPr/>
    </dgm:pt>
    <dgm:pt modelId="{3228D039-D114-4ACA-BBA2-FBAA571EFAB1}" type="pres">
      <dgm:prSet presAssocID="{23DC0941-6371-43D0-85A4-7E8EABD83C9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52FA916-6403-49E8-8CD3-7E949781BBA5}" type="presOf" srcId="{2AD01361-3D6D-4697-88FA-8186B2E0A275}" destId="{C5C29C97-A716-4BFD-8701-22BB4BA7B1ED}" srcOrd="0" destOrd="0" presId="urn:microsoft.com/office/officeart/2005/8/layout/vList2"/>
    <dgm:cxn modelId="{FB52CB22-7B92-476B-9A3A-9A6FC3B3A8AE}" type="presOf" srcId="{74898B4E-91F3-49E4-8965-EA25624FDA6B}" destId="{AE3A84F7-F1B0-40D9-A5C7-C0DD8BA9E1C3}" srcOrd="0" destOrd="0" presId="urn:microsoft.com/office/officeart/2005/8/layout/vList2"/>
    <dgm:cxn modelId="{7173362B-536F-4587-B19F-27A91A3F91BD}" type="presOf" srcId="{119691E3-4362-4551-9B08-69C149C9617C}" destId="{91807D0D-A5D9-437E-B0B0-6199F0330FAE}" srcOrd="0" destOrd="0" presId="urn:microsoft.com/office/officeart/2005/8/layout/vList2"/>
    <dgm:cxn modelId="{3E264231-2EAA-494E-AE30-361C53F3C09A}" srcId="{2AD01361-3D6D-4697-88FA-8186B2E0A275}" destId="{74898B4E-91F3-49E4-8965-EA25624FDA6B}" srcOrd="3" destOrd="0" parTransId="{7251BC65-7EFB-40B3-8D47-1288548060D2}" sibTransId="{DF7DDC33-7202-493A-BBA4-22A05297F845}"/>
    <dgm:cxn modelId="{789A913B-3200-4464-B0AA-E553EC1B3E97}" srcId="{2AD01361-3D6D-4697-88FA-8186B2E0A275}" destId="{23DC0941-6371-43D0-85A4-7E8EABD83C95}" srcOrd="5" destOrd="0" parTransId="{0CC2FAD0-1BAB-4AAB-A2CD-1B3E06D4FCC1}" sibTransId="{28FF369A-CDE7-4B5B-8E03-2CD3E483267B}"/>
    <dgm:cxn modelId="{99EAE34E-A9DA-4944-A4A6-B165961BC9D7}" srcId="{2AD01361-3D6D-4697-88FA-8186B2E0A275}" destId="{0486202D-FFC9-4B2C-8CC5-F2F1D7E7ED83}" srcOrd="2" destOrd="0" parTransId="{465A9F9E-7D01-4A0A-9E19-E57FCD8A9880}" sibTransId="{A9494E79-1E1C-4C6E-ADF6-296CCB13A949}"/>
    <dgm:cxn modelId="{C7802153-08EE-4F07-8913-C9A46C2B2EE2}" type="presOf" srcId="{23DC0941-6371-43D0-85A4-7E8EABD83C95}" destId="{3228D039-D114-4ACA-BBA2-FBAA571EFAB1}" srcOrd="0" destOrd="0" presId="urn:microsoft.com/office/officeart/2005/8/layout/vList2"/>
    <dgm:cxn modelId="{DD63B17A-78E4-45B8-B4FB-621273843CBD}" srcId="{2AD01361-3D6D-4697-88FA-8186B2E0A275}" destId="{CC23819B-896C-4225-9AF2-40F3C3AFD8B7}" srcOrd="1" destOrd="0" parTransId="{4539DE59-EF72-4E4F-9ACD-03D9CD997828}" sibTransId="{314561D3-7CAE-4E8E-B1B3-5E2C9048085E}"/>
    <dgm:cxn modelId="{BAB35E9F-403A-423C-9BA5-350A181D6AD0}" type="presOf" srcId="{CC23819B-896C-4225-9AF2-40F3C3AFD8B7}" destId="{2063C6F6-FF0E-46F8-8917-3ECFFFCDEC11}" srcOrd="0" destOrd="0" presId="urn:microsoft.com/office/officeart/2005/8/layout/vList2"/>
    <dgm:cxn modelId="{474822BB-29E8-4083-8781-7E7B5FD0F5DA}" type="presOf" srcId="{0486202D-FFC9-4B2C-8CC5-F2F1D7E7ED83}" destId="{A387B4E3-3F5D-4A8A-9F42-3BF3113A7DF8}" srcOrd="0" destOrd="0" presId="urn:microsoft.com/office/officeart/2005/8/layout/vList2"/>
    <dgm:cxn modelId="{45316ABD-230A-4BE0-8F69-DC83B52ADB4B}" srcId="{2AD01361-3D6D-4697-88FA-8186B2E0A275}" destId="{119691E3-4362-4551-9B08-69C149C9617C}" srcOrd="4" destOrd="0" parTransId="{F0AC78EE-F635-4AA9-8A6A-C4FEAFF35747}" sibTransId="{B8C8CFD1-3942-4826-8909-3ED5CCB575BB}"/>
    <dgm:cxn modelId="{9DE08CD5-ABDE-4CEE-9969-7ADED11B8025}" srcId="{2AD01361-3D6D-4697-88FA-8186B2E0A275}" destId="{BF3B6DE4-5DA8-4EB6-8391-8C14AE97E953}" srcOrd="0" destOrd="0" parTransId="{8FF18B02-E29E-46A9-BE7C-4F473CD199A1}" sibTransId="{1B28EA28-5474-455F-AE4D-8B5B822DA5BE}"/>
    <dgm:cxn modelId="{4E40F7E2-6305-4F40-9B9E-461CD1C84FEC}" type="presOf" srcId="{BF3B6DE4-5DA8-4EB6-8391-8C14AE97E953}" destId="{8B087A47-0DE0-4EC9-9DA3-DC19BD452CAB}" srcOrd="0" destOrd="0" presId="urn:microsoft.com/office/officeart/2005/8/layout/vList2"/>
    <dgm:cxn modelId="{7B027390-F722-47AB-8F66-E8FA157D5BD4}" type="presParOf" srcId="{C5C29C97-A716-4BFD-8701-22BB4BA7B1ED}" destId="{8B087A47-0DE0-4EC9-9DA3-DC19BD452CAB}" srcOrd="0" destOrd="0" presId="urn:microsoft.com/office/officeart/2005/8/layout/vList2"/>
    <dgm:cxn modelId="{21F0A951-4C0F-4694-825C-C38CC0B0FF34}" type="presParOf" srcId="{C5C29C97-A716-4BFD-8701-22BB4BA7B1ED}" destId="{0FD98F34-7649-4366-809F-05FDF71C1653}" srcOrd="1" destOrd="0" presId="urn:microsoft.com/office/officeart/2005/8/layout/vList2"/>
    <dgm:cxn modelId="{25AE4EC5-2CE3-46D3-9FCA-57829C97A67D}" type="presParOf" srcId="{C5C29C97-A716-4BFD-8701-22BB4BA7B1ED}" destId="{2063C6F6-FF0E-46F8-8917-3ECFFFCDEC11}" srcOrd="2" destOrd="0" presId="urn:microsoft.com/office/officeart/2005/8/layout/vList2"/>
    <dgm:cxn modelId="{382E9ECE-A81D-4A17-A95B-1D8C68F4E9C3}" type="presParOf" srcId="{C5C29C97-A716-4BFD-8701-22BB4BA7B1ED}" destId="{88A94A41-AB5B-43FA-B240-54B869115BD6}" srcOrd="3" destOrd="0" presId="urn:microsoft.com/office/officeart/2005/8/layout/vList2"/>
    <dgm:cxn modelId="{9F0CE774-7692-4E33-8C95-62518000E246}" type="presParOf" srcId="{C5C29C97-A716-4BFD-8701-22BB4BA7B1ED}" destId="{A387B4E3-3F5D-4A8A-9F42-3BF3113A7DF8}" srcOrd="4" destOrd="0" presId="urn:microsoft.com/office/officeart/2005/8/layout/vList2"/>
    <dgm:cxn modelId="{A1BD96D1-4258-4DF6-B8EE-522C5DE5218B}" type="presParOf" srcId="{C5C29C97-A716-4BFD-8701-22BB4BA7B1ED}" destId="{7A4E57B0-CDB6-4F2C-810E-8D778FDF6E26}" srcOrd="5" destOrd="0" presId="urn:microsoft.com/office/officeart/2005/8/layout/vList2"/>
    <dgm:cxn modelId="{77E23F25-7BA7-4DCE-95A3-BA305B48A8E6}" type="presParOf" srcId="{C5C29C97-A716-4BFD-8701-22BB4BA7B1ED}" destId="{AE3A84F7-F1B0-40D9-A5C7-C0DD8BA9E1C3}" srcOrd="6" destOrd="0" presId="urn:microsoft.com/office/officeart/2005/8/layout/vList2"/>
    <dgm:cxn modelId="{8339DC97-36A0-4891-B013-DCA03241BB45}" type="presParOf" srcId="{C5C29C97-A716-4BFD-8701-22BB4BA7B1ED}" destId="{C79443E0-4116-4B3F-B928-C26409B09B45}" srcOrd="7" destOrd="0" presId="urn:microsoft.com/office/officeart/2005/8/layout/vList2"/>
    <dgm:cxn modelId="{23BAC092-6DAC-4B5C-B08D-FAE0EB4E222C}" type="presParOf" srcId="{C5C29C97-A716-4BFD-8701-22BB4BA7B1ED}" destId="{91807D0D-A5D9-437E-B0B0-6199F0330FAE}" srcOrd="8" destOrd="0" presId="urn:microsoft.com/office/officeart/2005/8/layout/vList2"/>
    <dgm:cxn modelId="{D7F6C10C-D606-4B5C-9E40-227507414037}" type="presParOf" srcId="{C5C29C97-A716-4BFD-8701-22BB4BA7B1ED}" destId="{E9F02B3E-9A6B-4791-9181-5A93D306A118}" srcOrd="9" destOrd="0" presId="urn:microsoft.com/office/officeart/2005/8/layout/vList2"/>
    <dgm:cxn modelId="{3CAD48F4-BA20-488B-A22A-496039282B83}" type="presParOf" srcId="{C5C29C97-A716-4BFD-8701-22BB4BA7B1ED}" destId="{3228D039-D114-4ACA-BBA2-FBAA571EFAB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6B1C3F-638D-4F58-BF8E-28F4C2199BF6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09A44E9-137B-4452-9221-E8193BBAFDCE}">
      <dgm:prSet/>
      <dgm:spPr/>
      <dgm:t>
        <a:bodyPr/>
        <a:lstStyle/>
        <a:p>
          <a:r>
            <a:rPr lang="ru-RU" dirty="0"/>
            <a:t>–– </a:t>
          </a:r>
          <a:r>
            <a:rPr lang="ru-RU" b="1" dirty="0"/>
            <a:t>целевые программы регионального развития </a:t>
          </a:r>
          <a:r>
            <a:rPr lang="ru-RU" dirty="0"/>
            <a:t>(с определением приоритетных направлений и региональных проблем, требующих концентрации совместных усилий государства и региональных органов власти, включая организационные вопросы и финансирование);</a:t>
          </a:r>
          <a:endParaRPr lang="en-US" dirty="0"/>
        </a:p>
      </dgm:t>
    </dgm:pt>
    <dgm:pt modelId="{1D8E24FC-3567-4924-BCDF-BDB6B9E7451A}" type="parTrans" cxnId="{50DBA2A5-636A-47B8-9FB5-5B879E421CDE}">
      <dgm:prSet/>
      <dgm:spPr/>
      <dgm:t>
        <a:bodyPr/>
        <a:lstStyle/>
        <a:p>
          <a:endParaRPr lang="en-US"/>
        </a:p>
      </dgm:t>
    </dgm:pt>
    <dgm:pt modelId="{A17B9776-20D1-4D3B-A2BA-A222B5EC655E}" type="sibTrans" cxnId="{50DBA2A5-636A-47B8-9FB5-5B879E421CDE}">
      <dgm:prSet/>
      <dgm:spPr/>
      <dgm:t>
        <a:bodyPr/>
        <a:lstStyle/>
        <a:p>
          <a:endParaRPr lang="en-US"/>
        </a:p>
      </dgm:t>
    </dgm:pt>
    <dgm:pt modelId="{C8ED8566-A5FE-4D36-BAFD-A8F903E82B21}">
      <dgm:prSet/>
      <dgm:spPr/>
      <dgm:t>
        <a:bodyPr/>
        <a:lstStyle/>
        <a:p>
          <a:r>
            <a:rPr lang="ru-RU" dirty="0"/>
            <a:t>–– </a:t>
          </a:r>
          <a:r>
            <a:rPr lang="ru-RU" b="1" dirty="0"/>
            <a:t>бюджетно-налоговую систему </a:t>
          </a:r>
          <a:r>
            <a:rPr lang="ru-RU" dirty="0"/>
            <a:t>(целевые трансферты с центрального уровня; перераспределение бюджетных средств между регионами; установление налоговых льгот для отдельных регионов и видов предпринимательской деятельности, а иногда и полное освобождение от них на определенный период и др.);</a:t>
          </a:r>
          <a:endParaRPr lang="en-US" dirty="0"/>
        </a:p>
      </dgm:t>
    </dgm:pt>
    <dgm:pt modelId="{6028DBFC-6748-492D-AD9E-278C612BDD5B}" type="parTrans" cxnId="{6B533D3A-2A53-43B7-BC8B-EBD8977B9880}">
      <dgm:prSet/>
      <dgm:spPr/>
      <dgm:t>
        <a:bodyPr/>
        <a:lstStyle/>
        <a:p>
          <a:endParaRPr lang="en-US"/>
        </a:p>
      </dgm:t>
    </dgm:pt>
    <dgm:pt modelId="{0A8CCE35-0F49-49BF-8703-C3FD372F3687}" type="sibTrans" cxnId="{6B533D3A-2A53-43B7-BC8B-EBD8977B9880}">
      <dgm:prSet/>
      <dgm:spPr/>
      <dgm:t>
        <a:bodyPr/>
        <a:lstStyle/>
        <a:p>
          <a:endParaRPr lang="en-US"/>
        </a:p>
      </dgm:t>
    </dgm:pt>
    <dgm:pt modelId="{6ED6C1C5-AA3D-44F3-B4F5-04837D631B43}">
      <dgm:prSet/>
      <dgm:spPr/>
      <dgm:t>
        <a:bodyPr/>
        <a:lstStyle/>
        <a:p>
          <a:r>
            <a:rPr lang="ru-RU" dirty="0"/>
            <a:t>–– </a:t>
          </a:r>
          <a:r>
            <a:rPr lang="ru-RU" b="1" dirty="0"/>
            <a:t>иные экономические регуляторы </a:t>
          </a:r>
          <a:r>
            <a:rPr lang="ru-RU" dirty="0"/>
            <a:t>(льготное кредитование и субсидирование фирм, создающих свои предприятия в проблемных регионах; предоставление безвозвратных ссуд на капитальное строительство или расширение действующих предприятий; финансовое покрытие расходов, связанных с подготовкой квалифицированных кадров; тарифное регулирование (снижение тарифов на транспорт, электроэнергию и т. п.); установление различного рода надбавок для закрепления людей на «сложных» территориях).</a:t>
          </a:r>
          <a:endParaRPr lang="en-US" dirty="0"/>
        </a:p>
      </dgm:t>
    </dgm:pt>
    <dgm:pt modelId="{9B198F41-AC44-4991-9349-B2C1AF168F81}" type="parTrans" cxnId="{FC25A4EB-EA76-41FE-991A-048CF4E3056D}">
      <dgm:prSet/>
      <dgm:spPr/>
      <dgm:t>
        <a:bodyPr/>
        <a:lstStyle/>
        <a:p>
          <a:endParaRPr lang="en-US"/>
        </a:p>
      </dgm:t>
    </dgm:pt>
    <dgm:pt modelId="{63ED6CB0-78DF-432E-98EC-D45BE2492270}" type="sibTrans" cxnId="{FC25A4EB-EA76-41FE-991A-048CF4E3056D}">
      <dgm:prSet/>
      <dgm:spPr/>
      <dgm:t>
        <a:bodyPr/>
        <a:lstStyle/>
        <a:p>
          <a:endParaRPr lang="en-US"/>
        </a:p>
      </dgm:t>
    </dgm:pt>
    <dgm:pt modelId="{DC13E3A7-3FDA-4BA4-96DF-99C4917A999B}" type="pres">
      <dgm:prSet presAssocID="{A86B1C3F-638D-4F58-BF8E-28F4C2199BF6}" presName="linear" presStyleCnt="0">
        <dgm:presLayoutVars>
          <dgm:animLvl val="lvl"/>
          <dgm:resizeHandles val="exact"/>
        </dgm:presLayoutVars>
      </dgm:prSet>
      <dgm:spPr/>
    </dgm:pt>
    <dgm:pt modelId="{144C6730-B004-4927-A525-5ED27ECEA950}" type="pres">
      <dgm:prSet presAssocID="{709A44E9-137B-4452-9221-E8193BBAFDCE}" presName="parentText" presStyleLbl="node1" presStyleIdx="0" presStyleCnt="3" custScaleY="100001" custLinFactY="-60860" custLinFactNeighborY="-100000">
        <dgm:presLayoutVars>
          <dgm:chMax val="0"/>
          <dgm:bulletEnabled val="1"/>
        </dgm:presLayoutVars>
      </dgm:prSet>
      <dgm:spPr/>
    </dgm:pt>
    <dgm:pt modelId="{9876E796-923D-444C-B601-2847728BBBEF}" type="pres">
      <dgm:prSet presAssocID="{A17B9776-20D1-4D3B-A2BA-A222B5EC655E}" presName="spacer" presStyleCnt="0"/>
      <dgm:spPr/>
    </dgm:pt>
    <dgm:pt modelId="{B2ACFABE-4CDE-4B5C-AF73-66C0087E0DDB}" type="pres">
      <dgm:prSet presAssocID="{C8ED8566-A5FE-4D36-BAFD-A8F903E82B21}" presName="parentText" presStyleLbl="node1" presStyleIdx="1" presStyleCnt="3" custLinFactY="-6000" custLinFactNeighborY="-100000">
        <dgm:presLayoutVars>
          <dgm:chMax val="0"/>
          <dgm:bulletEnabled val="1"/>
        </dgm:presLayoutVars>
      </dgm:prSet>
      <dgm:spPr/>
    </dgm:pt>
    <dgm:pt modelId="{4F8D137D-191D-4F55-913E-D33D32A99C84}" type="pres">
      <dgm:prSet presAssocID="{0A8CCE35-0F49-49BF-8703-C3FD372F3687}" presName="spacer" presStyleCnt="0"/>
      <dgm:spPr/>
    </dgm:pt>
    <dgm:pt modelId="{9C943493-0F8A-4ADF-96A4-321F70E62D08}" type="pres">
      <dgm:prSet presAssocID="{6ED6C1C5-AA3D-44F3-B4F5-04837D631B4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EA88207-8476-4D25-80A3-8263121F53A0}" type="presOf" srcId="{709A44E9-137B-4452-9221-E8193BBAFDCE}" destId="{144C6730-B004-4927-A525-5ED27ECEA950}" srcOrd="0" destOrd="0" presId="urn:microsoft.com/office/officeart/2005/8/layout/vList2"/>
    <dgm:cxn modelId="{6B533D3A-2A53-43B7-BC8B-EBD8977B9880}" srcId="{A86B1C3F-638D-4F58-BF8E-28F4C2199BF6}" destId="{C8ED8566-A5FE-4D36-BAFD-A8F903E82B21}" srcOrd="1" destOrd="0" parTransId="{6028DBFC-6748-492D-AD9E-278C612BDD5B}" sibTransId="{0A8CCE35-0F49-49BF-8703-C3FD372F3687}"/>
    <dgm:cxn modelId="{1FBFD6A3-59C4-4D2E-A8A3-965C679AFFEB}" type="presOf" srcId="{6ED6C1C5-AA3D-44F3-B4F5-04837D631B43}" destId="{9C943493-0F8A-4ADF-96A4-321F70E62D08}" srcOrd="0" destOrd="0" presId="urn:microsoft.com/office/officeart/2005/8/layout/vList2"/>
    <dgm:cxn modelId="{50DBA2A5-636A-47B8-9FB5-5B879E421CDE}" srcId="{A86B1C3F-638D-4F58-BF8E-28F4C2199BF6}" destId="{709A44E9-137B-4452-9221-E8193BBAFDCE}" srcOrd="0" destOrd="0" parTransId="{1D8E24FC-3567-4924-BCDF-BDB6B9E7451A}" sibTransId="{A17B9776-20D1-4D3B-A2BA-A222B5EC655E}"/>
    <dgm:cxn modelId="{344059C7-4F00-46C3-AE72-275FBDFAEC06}" type="presOf" srcId="{A86B1C3F-638D-4F58-BF8E-28F4C2199BF6}" destId="{DC13E3A7-3FDA-4BA4-96DF-99C4917A999B}" srcOrd="0" destOrd="0" presId="urn:microsoft.com/office/officeart/2005/8/layout/vList2"/>
    <dgm:cxn modelId="{4E2979CD-EF21-4E7B-997D-34DF992772FB}" type="presOf" srcId="{C8ED8566-A5FE-4D36-BAFD-A8F903E82B21}" destId="{B2ACFABE-4CDE-4B5C-AF73-66C0087E0DDB}" srcOrd="0" destOrd="0" presId="urn:microsoft.com/office/officeart/2005/8/layout/vList2"/>
    <dgm:cxn modelId="{FC25A4EB-EA76-41FE-991A-048CF4E3056D}" srcId="{A86B1C3F-638D-4F58-BF8E-28F4C2199BF6}" destId="{6ED6C1C5-AA3D-44F3-B4F5-04837D631B43}" srcOrd="2" destOrd="0" parTransId="{9B198F41-AC44-4991-9349-B2C1AF168F81}" sibTransId="{63ED6CB0-78DF-432E-98EC-D45BE2492270}"/>
    <dgm:cxn modelId="{0ADA1707-9424-4CB3-A415-9E61D4D168FC}" type="presParOf" srcId="{DC13E3A7-3FDA-4BA4-96DF-99C4917A999B}" destId="{144C6730-B004-4927-A525-5ED27ECEA950}" srcOrd="0" destOrd="0" presId="urn:microsoft.com/office/officeart/2005/8/layout/vList2"/>
    <dgm:cxn modelId="{4F4E1BEB-9268-4B9A-A6BC-26CEB38914C8}" type="presParOf" srcId="{DC13E3A7-3FDA-4BA4-96DF-99C4917A999B}" destId="{9876E796-923D-444C-B601-2847728BBBEF}" srcOrd="1" destOrd="0" presId="urn:microsoft.com/office/officeart/2005/8/layout/vList2"/>
    <dgm:cxn modelId="{8DF68D85-E17B-4B1C-AFD6-60FB80BE341F}" type="presParOf" srcId="{DC13E3A7-3FDA-4BA4-96DF-99C4917A999B}" destId="{B2ACFABE-4CDE-4B5C-AF73-66C0087E0DDB}" srcOrd="2" destOrd="0" presId="urn:microsoft.com/office/officeart/2005/8/layout/vList2"/>
    <dgm:cxn modelId="{92EBA359-42FD-411B-AAC1-242DAFA72D65}" type="presParOf" srcId="{DC13E3A7-3FDA-4BA4-96DF-99C4917A999B}" destId="{4F8D137D-191D-4F55-913E-D33D32A99C84}" srcOrd="3" destOrd="0" presId="urn:microsoft.com/office/officeart/2005/8/layout/vList2"/>
    <dgm:cxn modelId="{2A1D0914-EDED-4153-A1A1-040E495F9996}" type="presParOf" srcId="{DC13E3A7-3FDA-4BA4-96DF-99C4917A999B}" destId="{9C943493-0F8A-4ADF-96A4-321F70E62D0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894D3B6-7F0B-4BF9-A2D6-250EB74E5969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9C51BFA9-FF2B-4F58-9A10-D1E4BB57E23A}">
      <dgm:prSet phldrT=""/>
      <dgm:spPr bwMode="auto"/>
      <dgm:t>
        <a:bodyPr/>
        <a:lstStyle/>
        <a:p>
          <a:pPr>
            <a:defRPr/>
          </a:pPr>
          <a:r>
            <a:rPr lang="ru-RU" dirty="0"/>
            <a:t>Если расстояние между опорными населенными пунктами по дорогам общего пользования составляет менее 50 км, субъекту Российской Федерации рекомендуется определить один опорный населенный пункт.</a:t>
          </a:r>
          <a:endParaRPr dirty="0"/>
        </a:p>
      </dgm:t>
    </dgm:pt>
    <dgm:pt modelId="{8EE8F242-00AA-4CEF-B5BC-B0B2B71CC616}" type="parTrans" cxnId="{C37ADDF3-2CB7-4173-84E6-EB1CE31ED60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714B851-5E51-4E1B-97F2-CEBE686F596D}" type="sibTrans" cxnId="{C37ADDF3-2CB7-4173-84E6-EB1CE31ED60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7B5987D-3C7C-4DF3-92B9-3296359684CE}">
      <dgm:prSet phldrT=""/>
      <dgm:spPr bwMode="auto"/>
      <dgm:t>
        <a:bodyPr/>
        <a:lstStyle/>
        <a:p>
          <a:pPr>
            <a:defRPr/>
          </a:pPr>
          <a:r>
            <a:rPr lang="ru-RU" dirty="0"/>
            <a:t>Для территорий с высокой или низкой плотностью населения, определяемой в соответствии с законодательством Российской Федерации, а также в случае отсутствия круглогодичной связи между прилегающими территориями и опорным населенным пунктом допускается отклонение от критериев, обозначенных в настоящих методических рекомендациях.</a:t>
          </a:r>
          <a:endParaRPr dirty="0"/>
        </a:p>
      </dgm:t>
    </dgm:pt>
    <dgm:pt modelId="{77D36D8E-0635-4629-B675-CCAFFCA1D846}" type="parTrans" cxnId="{6F8B3EB7-CF2A-4629-BFAC-863B069CD23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81BF5DE6-652A-4158-B5BC-CC9A057A06D5}" type="sibTrans" cxnId="{6F8B3EB7-CF2A-4629-BFAC-863B069CD23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FF931947-B46F-4370-98F3-C33DEF8C2A37}" type="pres">
      <dgm:prSet presAssocID="{5894D3B6-7F0B-4BF9-A2D6-250EB74E5969}" presName="linear" presStyleCnt="0">
        <dgm:presLayoutVars>
          <dgm:animLvl val="lvl"/>
          <dgm:resizeHandles val="exact"/>
        </dgm:presLayoutVars>
      </dgm:prSet>
      <dgm:spPr bwMode="auto"/>
    </dgm:pt>
    <dgm:pt modelId="{E586ABF5-5607-43D4-B8BE-62968DC962B4}" type="pres">
      <dgm:prSet presAssocID="{9C51BFA9-FF2B-4F58-9A10-D1E4BB57E23A}" presName="parentText" presStyleLbl="node1" presStyleIdx="0" presStyleCnt="2" custScaleY="75132">
        <dgm:presLayoutVars>
          <dgm:chMax val="0"/>
          <dgm:bulletEnabled val="1"/>
        </dgm:presLayoutVars>
      </dgm:prSet>
      <dgm:spPr bwMode="auto"/>
    </dgm:pt>
    <dgm:pt modelId="{F585605A-AFD8-4B7E-8CE6-494377041E46}" type="pres">
      <dgm:prSet presAssocID="{7714B851-5E51-4E1B-97F2-CEBE686F596D}" presName="spacer" presStyleCnt="0"/>
      <dgm:spPr bwMode="auto"/>
    </dgm:pt>
    <dgm:pt modelId="{03791A8E-B848-4B4D-AEB7-3D5F45EF6CB7}" type="pres">
      <dgm:prSet presAssocID="{07B5987D-3C7C-4DF3-92B9-3296359684CE}" presName="parentText" presStyleLbl="node1" presStyleIdx="1" presStyleCnt="2">
        <dgm:presLayoutVars>
          <dgm:chMax val="0"/>
          <dgm:bulletEnabled val="1"/>
        </dgm:presLayoutVars>
      </dgm:prSet>
      <dgm:spPr bwMode="auto"/>
    </dgm:pt>
  </dgm:ptLst>
  <dgm:cxnLst>
    <dgm:cxn modelId="{B784AC5E-FB15-4054-AC1D-7F331931C900}" type="presOf" srcId="{9C51BFA9-FF2B-4F58-9A10-D1E4BB57E23A}" destId="{E586ABF5-5607-43D4-B8BE-62968DC962B4}" srcOrd="0" destOrd="0" presId="urn:microsoft.com/office/officeart/2005/8/layout/vList2"/>
    <dgm:cxn modelId="{C1CF4166-FC94-4919-9C32-5687410C3555}" type="presOf" srcId="{5894D3B6-7F0B-4BF9-A2D6-250EB74E5969}" destId="{FF931947-B46F-4370-98F3-C33DEF8C2A37}" srcOrd="0" destOrd="0" presId="urn:microsoft.com/office/officeart/2005/8/layout/vList2"/>
    <dgm:cxn modelId="{47676876-3CE1-48F4-A190-331A5CD0E52C}" type="presOf" srcId="{07B5987D-3C7C-4DF3-92B9-3296359684CE}" destId="{03791A8E-B848-4B4D-AEB7-3D5F45EF6CB7}" srcOrd="0" destOrd="0" presId="urn:microsoft.com/office/officeart/2005/8/layout/vList2"/>
    <dgm:cxn modelId="{6F8B3EB7-CF2A-4629-BFAC-863B069CD232}" srcId="{5894D3B6-7F0B-4BF9-A2D6-250EB74E5969}" destId="{07B5987D-3C7C-4DF3-92B9-3296359684CE}" srcOrd="1" destOrd="0" parTransId="{77D36D8E-0635-4629-B675-CCAFFCA1D846}" sibTransId="{81BF5DE6-652A-4158-B5BC-CC9A057A06D5}"/>
    <dgm:cxn modelId="{C37ADDF3-2CB7-4173-84E6-EB1CE31ED607}" srcId="{5894D3B6-7F0B-4BF9-A2D6-250EB74E5969}" destId="{9C51BFA9-FF2B-4F58-9A10-D1E4BB57E23A}" srcOrd="0" destOrd="0" parTransId="{8EE8F242-00AA-4CEF-B5BC-B0B2B71CC616}" sibTransId="{7714B851-5E51-4E1B-97F2-CEBE686F596D}"/>
    <dgm:cxn modelId="{186A9763-A1B2-4408-AFA0-A9BB89995950}" type="presParOf" srcId="{FF931947-B46F-4370-98F3-C33DEF8C2A37}" destId="{E586ABF5-5607-43D4-B8BE-62968DC962B4}" srcOrd="0" destOrd="0" presId="urn:microsoft.com/office/officeart/2005/8/layout/vList2"/>
    <dgm:cxn modelId="{477A262F-ABD3-4717-95AF-4889A98335CD}" type="presParOf" srcId="{FF931947-B46F-4370-98F3-C33DEF8C2A37}" destId="{F585605A-AFD8-4B7E-8CE6-494377041E46}" srcOrd="1" destOrd="0" presId="urn:microsoft.com/office/officeart/2005/8/layout/vList2"/>
    <dgm:cxn modelId="{0DAE18A1-4D1D-4928-B179-5AC39C971F8C}" type="presParOf" srcId="{FF931947-B46F-4370-98F3-C33DEF8C2A37}" destId="{03791A8E-B848-4B4D-AEB7-3D5F45EF6CB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0FC353-84CB-40C8-A697-50376A56917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D1C4936F-445D-417A-B615-9D0C7ACEAD74}">
      <dgm:prSet/>
      <dgm:spPr/>
      <dgm:t>
        <a:bodyPr/>
        <a:lstStyle/>
        <a:p>
          <a:r>
            <a:rPr lang="ru-RU" b="0" i="0" dirty="0"/>
            <a:t>Коммунальное хозяйство и инфраструктура</a:t>
          </a:r>
          <a:endParaRPr lang="ru-RU" dirty="0"/>
        </a:p>
      </dgm:t>
    </dgm:pt>
    <dgm:pt modelId="{B94F4DFE-AC01-4C5F-B80B-B42C948CC622}" type="parTrans" cxnId="{4996BB16-E889-41AF-B565-75EDE47E6F6F}">
      <dgm:prSet/>
      <dgm:spPr/>
      <dgm:t>
        <a:bodyPr/>
        <a:lstStyle/>
        <a:p>
          <a:endParaRPr lang="ru-RU"/>
        </a:p>
      </dgm:t>
    </dgm:pt>
    <dgm:pt modelId="{49903127-9158-4250-8D07-F0A97E146FB4}" type="sibTrans" cxnId="{4996BB16-E889-41AF-B565-75EDE47E6F6F}">
      <dgm:prSet/>
      <dgm:spPr/>
      <dgm:t>
        <a:bodyPr/>
        <a:lstStyle/>
        <a:p>
          <a:endParaRPr lang="ru-RU"/>
        </a:p>
      </dgm:t>
    </dgm:pt>
    <dgm:pt modelId="{3F8735A0-6202-4C7D-8BC4-AB4758BCFC8D}">
      <dgm:prSet/>
      <dgm:spPr/>
      <dgm:t>
        <a:bodyPr/>
        <a:lstStyle/>
        <a:p>
          <a:r>
            <a:rPr lang="ru-RU" b="0" i="0"/>
            <a:t>Транспорт и связь</a:t>
          </a:r>
          <a:endParaRPr lang="ru-RU"/>
        </a:p>
      </dgm:t>
    </dgm:pt>
    <dgm:pt modelId="{122F8832-8486-4C55-BF40-9C0422167944}" type="parTrans" cxnId="{A24856D7-7715-4D8A-AEFF-A0F8CF3CB18E}">
      <dgm:prSet/>
      <dgm:spPr/>
      <dgm:t>
        <a:bodyPr/>
        <a:lstStyle/>
        <a:p>
          <a:endParaRPr lang="ru-RU"/>
        </a:p>
      </dgm:t>
    </dgm:pt>
    <dgm:pt modelId="{0C1581E8-CC8F-4876-B3B7-8895FD5E91E4}" type="sibTrans" cxnId="{A24856D7-7715-4D8A-AEFF-A0F8CF3CB18E}">
      <dgm:prSet/>
      <dgm:spPr/>
      <dgm:t>
        <a:bodyPr/>
        <a:lstStyle/>
        <a:p>
          <a:endParaRPr lang="ru-RU"/>
        </a:p>
      </dgm:t>
    </dgm:pt>
    <dgm:pt modelId="{927B78E2-D0E0-4B74-86CB-199306A6387E}">
      <dgm:prSet/>
      <dgm:spPr/>
      <dgm:t>
        <a:bodyPr/>
        <a:lstStyle/>
        <a:p>
          <a:r>
            <a:rPr lang="ru-RU" b="0" i="0" dirty="0"/>
            <a:t>Образование</a:t>
          </a:r>
          <a:endParaRPr lang="ru-RU" dirty="0"/>
        </a:p>
      </dgm:t>
    </dgm:pt>
    <dgm:pt modelId="{EEE09CAB-A96A-4E09-B1B6-C9E7910802A7}" type="parTrans" cxnId="{0C6C42A9-AC3E-43C1-ABDD-377BC17FB4AE}">
      <dgm:prSet/>
      <dgm:spPr/>
      <dgm:t>
        <a:bodyPr/>
        <a:lstStyle/>
        <a:p>
          <a:endParaRPr lang="ru-RU"/>
        </a:p>
      </dgm:t>
    </dgm:pt>
    <dgm:pt modelId="{141CE447-89CF-4E7A-949F-F9AB17B4A330}" type="sibTrans" cxnId="{0C6C42A9-AC3E-43C1-ABDD-377BC17FB4AE}">
      <dgm:prSet/>
      <dgm:spPr/>
      <dgm:t>
        <a:bodyPr/>
        <a:lstStyle/>
        <a:p>
          <a:endParaRPr lang="ru-RU"/>
        </a:p>
      </dgm:t>
    </dgm:pt>
    <dgm:pt modelId="{93F26B4B-4753-4092-8133-AC5B775E7A3F}">
      <dgm:prSet/>
      <dgm:spPr/>
      <dgm:t>
        <a:bodyPr/>
        <a:lstStyle/>
        <a:p>
          <a:r>
            <a:rPr lang="ru-RU" b="0" i="0"/>
            <a:t>Здравоохранение</a:t>
          </a:r>
          <a:endParaRPr lang="ru-RU"/>
        </a:p>
      </dgm:t>
    </dgm:pt>
    <dgm:pt modelId="{9ACA46EB-7E85-4F5B-908F-2E726F7E3320}" type="parTrans" cxnId="{50F1C13A-E08D-4C96-A421-14989FFDBE79}">
      <dgm:prSet/>
      <dgm:spPr/>
      <dgm:t>
        <a:bodyPr/>
        <a:lstStyle/>
        <a:p>
          <a:endParaRPr lang="ru-RU"/>
        </a:p>
      </dgm:t>
    </dgm:pt>
    <dgm:pt modelId="{6197742B-10A1-4BD3-8E79-EB4189B85909}" type="sibTrans" cxnId="{50F1C13A-E08D-4C96-A421-14989FFDBE79}">
      <dgm:prSet/>
      <dgm:spPr/>
      <dgm:t>
        <a:bodyPr/>
        <a:lstStyle/>
        <a:p>
          <a:endParaRPr lang="ru-RU"/>
        </a:p>
      </dgm:t>
    </dgm:pt>
    <dgm:pt modelId="{CA8881AF-5C37-4C86-A0B9-E9D77B791A16}">
      <dgm:prSet/>
      <dgm:spPr/>
      <dgm:t>
        <a:bodyPr/>
        <a:lstStyle/>
        <a:p>
          <a:r>
            <a:rPr lang="ru-RU" b="0" i="0" dirty="0"/>
            <a:t>Социальная защита</a:t>
          </a:r>
          <a:endParaRPr lang="ru-RU" dirty="0"/>
        </a:p>
      </dgm:t>
    </dgm:pt>
    <dgm:pt modelId="{2C89C777-3CCF-4934-B9FF-E07946F41141}" type="parTrans" cxnId="{174B57A8-5943-46E7-A3D6-95B6FE118070}">
      <dgm:prSet/>
      <dgm:spPr/>
      <dgm:t>
        <a:bodyPr/>
        <a:lstStyle/>
        <a:p>
          <a:endParaRPr lang="ru-RU"/>
        </a:p>
      </dgm:t>
    </dgm:pt>
    <dgm:pt modelId="{4C146B9D-3EC8-462E-B4DE-E14C6485AEFC}" type="sibTrans" cxnId="{174B57A8-5943-46E7-A3D6-95B6FE118070}">
      <dgm:prSet/>
      <dgm:spPr/>
      <dgm:t>
        <a:bodyPr/>
        <a:lstStyle/>
        <a:p>
          <a:endParaRPr lang="ru-RU"/>
        </a:p>
      </dgm:t>
    </dgm:pt>
    <dgm:pt modelId="{E0A4462F-7092-4356-A648-EBB6E9C74D32}">
      <dgm:prSet/>
      <dgm:spPr/>
      <dgm:t>
        <a:bodyPr/>
        <a:lstStyle/>
        <a:p>
          <a:r>
            <a:rPr lang="ru-RU" b="0" i="0" dirty="0"/>
            <a:t>Культура</a:t>
          </a:r>
          <a:endParaRPr lang="ru-RU" dirty="0"/>
        </a:p>
      </dgm:t>
    </dgm:pt>
    <dgm:pt modelId="{75EB50A2-B3C0-4B63-BAD2-8AAE93680F45}" type="parTrans" cxnId="{1F14789C-5F30-4228-A99B-C9EEE490F2EC}">
      <dgm:prSet/>
      <dgm:spPr/>
      <dgm:t>
        <a:bodyPr/>
        <a:lstStyle/>
        <a:p>
          <a:endParaRPr lang="ru-RU"/>
        </a:p>
      </dgm:t>
    </dgm:pt>
    <dgm:pt modelId="{22AD9B21-386E-4549-AD7A-E501593CD47F}" type="sibTrans" cxnId="{1F14789C-5F30-4228-A99B-C9EEE490F2EC}">
      <dgm:prSet/>
      <dgm:spPr/>
      <dgm:t>
        <a:bodyPr/>
        <a:lstStyle/>
        <a:p>
          <a:endParaRPr lang="ru-RU"/>
        </a:p>
      </dgm:t>
    </dgm:pt>
    <dgm:pt modelId="{46A3B041-F7E2-454B-8472-20B72E518B77}">
      <dgm:prSet/>
      <dgm:spPr/>
      <dgm:t>
        <a:bodyPr/>
        <a:lstStyle/>
        <a:p>
          <a:r>
            <a:rPr lang="ru-RU" b="0" i="0" dirty="0"/>
            <a:t>Спорт</a:t>
          </a:r>
          <a:endParaRPr lang="ru-RU" dirty="0"/>
        </a:p>
      </dgm:t>
    </dgm:pt>
    <dgm:pt modelId="{5878156A-389B-42D0-98CA-8C38668226C4}" type="parTrans" cxnId="{6F98F93D-05E4-4203-9981-E4B782D6A9EF}">
      <dgm:prSet/>
      <dgm:spPr/>
      <dgm:t>
        <a:bodyPr/>
        <a:lstStyle/>
        <a:p>
          <a:endParaRPr lang="ru-RU"/>
        </a:p>
      </dgm:t>
    </dgm:pt>
    <dgm:pt modelId="{34526300-AED1-4732-B577-60755F13209D}" type="sibTrans" cxnId="{6F98F93D-05E4-4203-9981-E4B782D6A9EF}">
      <dgm:prSet/>
      <dgm:spPr/>
      <dgm:t>
        <a:bodyPr/>
        <a:lstStyle/>
        <a:p>
          <a:endParaRPr lang="ru-RU"/>
        </a:p>
      </dgm:t>
    </dgm:pt>
    <dgm:pt modelId="{C13B1AEC-FBF2-4ED6-BF25-E47EF8D70CD2}" type="pres">
      <dgm:prSet presAssocID="{400FC353-84CB-40C8-A697-50376A569178}" presName="diagram" presStyleCnt="0">
        <dgm:presLayoutVars>
          <dgm:dir/>
          <dgm:resizeHandles val="exact"/>
        </dgm:presLayoutVars>
      </dgm:prSet>
      <dgm:spPr/>
    </dgm:pt>
    <dgm:pt modelId="{66FD6D9B-61E4-4B23-8605-64A5A0F1C4BA}" type="pres">
      <dgm:prSet presAssocID="{D1C4936F-445D-417A-B615-9D0C7ACEAD74}" presName="node" presStyleLbl="node1" presStyleIdx="0" presStyleCnt="7">
        <dgm:presLayoutVars>
          <dgm:bulletEnabled val="1"/>
        </dgm:presLayoutVars>
      </dgm:prSet>
      <dgm:spPr/>
    </dgm:pt>
    <dgm:pt modelId="{5EB8037F-F666-4F5C-9901-19E6AA1C0870}" type="pres">
      <dgm:prSet presAssocID="{49903127-9158-4250-8D07-F0A97E146FB4}" presName="sibTrans" presStyleCnt="0"/>
      <dgm:spPr/>
    </dgm:pt>
    <dgm:pt modelId="{FEF03543-68A6-4D04-8FEF-CDC008BAA98F}" type="pres">
      <dgm:prSet presAssocID="{3F8735A0-6202-4C7D-8BC4-AB4758BCFC8D}" presName="node" presStyleLbl="node1" presStyleIdx="1" presStyleCnt="7">
        <dgm:presLayoutVars>
          <dgm:bulletEnabled val="1"/>
        </dgm:presLayoutVars>
      </dgm:prSet>
      <dgm:spPr/>
    </dgm:pt>
    <dgm:pt modelId="{1BA36242-B508-4573-9BC2-F501697DB18F}" type="pres">
      <dgm:prSet presAssocID="{0C1581E8-CC8F-4876-B3B7-8895FD5E91E4}" presName="sibTrans" presStyleCnt="0"/>
      <dgm:spPr/>
    </dgm:pt>
    <dgm:pt modelId="{F7292E9C-D1E1-4EFE-9F9D-48F25D1548C9}" type="pres">
      <dgm:prSet presAssocID="{927B78E2-D0E0-4B74-86CB-199306A6387E}" presName="node" presStyleLbl="node1" presStyleIdx="2" presStyleCnt="7">
        <dgm:presLayoutVars>
          <dgm:bulletEnabled val="1"/>
        </dgm:presLayoutVars>
      </dgm:prSet>
      <dgm:spPr/>
    </dgm:pt>
    <dgm:pt modelId="{AB5BE668-48F2-4085-B099-B5140E5B6B70}" type="pres">
      <dgm:prSet presAssocID="{141CE447-89CF-4E7A-949F-F9AB17B4A330}" presName="sibTrans" presStyleCnt="0"/>
      <dgm:spPr/>
    </dgm:pt>
    <dgm:pt modelId="{DDBF6CC0-F8C6-44A7-8542-E41DCC35AA87}" type="pres">
      <dgm:prSet presAssocID="{93F26B4B-4753-4092-8133-AC5B775E7A3F}" presName="node" presStyleLbl="node1" presStyleIdx="3" presStyleCnt="7">
        <dgm:presLayoutVars>
          <dgm:bulletEnabled val="1"/>
        </dgm:presLayoutVars>
      </dgm:prSet>
      <dgm:spPr/>
    </dgm:pt>
    <dgm:pt modelId="{5C84EF5D-1C7B-4FF2-A868-EB6EE11F8A1E}" type="pres">
      <dgm:prSet presAssocID="{6197742B-10A1-4BD3-8E79-EB4189B85909}" presName="sibTrans" presStyleCnt="0"/>
      <dgm:spPr/>
    </dgm:pt>
    <dgm:pt modelId="{C04BA1DF-03B5-486D-A860-679315E71A9A}" type="pres">
      <dgm:prSet presAssocID="{CA8881AF-5C37-4C86-A0B9-E9D77B791A16}" presName="node" presStyleLbl="node1" presStyleIdx="4" presStyleCnt="7">
        <dgm:presLayoutVars>
          <dgm:bulletEnabled val="1"/>
        </dgm:presLayoutVars>
      </dgm:prSet>
      <dgm:spPr/>
    </dgm:pt>
    <dgm:pt modelId="{AC7E8B10-501F-453B-9FC1-8D6195F6B737}" type="pres">
      <dgm:prSet presAssocID="{4C146B9D-3EC8-462E-B4DE-E14C6485AEFC}" presName="sibTrans" presStyleCnt="0"/>
      <dgm:spPr/>
    </dgm:pt>
    <dgm:pt modelId="{6F369F21-F62C-40E7-998C-0647017A83E6}" type="pres">
      <dgm:prSet presAssocID="{E0A4462F-7092-4356-A648-EBB6E9C74D32}" presName="node" presStyleLbl="node1" presStyleIdx="5" presStyleCnt="7">
        <dgm:presLayoutVars>
          <dgm:bulletEnabled val="1"/>
        </dgm:presLayoutVars>
      </dgm:prSet>
      <dgm:spPr/>
    </dgm:pt>
    <dgm:pt modelId="{F84B53FB-4136-4603-8051-9126C4A61BCD}" type="pres">
      <dgm:prSet presAssocID="{22AD9B21-386E-4549-AD7A-E501593CD47F}" presName="sibTrans" presStyleCnt="0"/>
      <dgm:spPr/>
    </dgm:pt>
    <dgm:pt modelId="{7325E2EC-E958-4139-8D31-14B8DF547CE6}" type="pres">
      <dgm:prSet presAssocID="{46A3B041-F7E2-454B-8472-20B72E518B77}" presName="node" presStyleLbl="node1" presStyleIdx="6" presStyleCnt="7">
        <dgm:presLayoutVars>
          <dgm:bulletEnabled val="1"/>
        </dgm:presLayoutVars>
      </dgm:prSet>
      <dgm:spPr/>
    </dgm:pt>
  </dgm:ptLst>
  <dgm:cxnLst>
    <dgm:cxn modelId="{4996BB16-E889-41AF-B565-75EDE47E6F6F}" srcId="{400FC353-84CB-40C8-A697-50376A569178}" destId="{D1C4936F-445D-417A-B615-9D0C7ACEAD74}" srcOrd="0" destOrd="0" parTransId="{B94F4DFE-AC01-4C5F-B80B-B42C948CC622}" sibTransId="{49903127-9158-4250-8D07-F0A97E146FB4}"/>
    <dgm:cxn modelId="{50F1C13A-E08D-4C96-A421-14989FFDBE79}" srcId="{400FC353-84CB-40C8-A697-50376A569178}" destId="{93F26B4B-4753-4092-8133-AC5B775E7A3F}" srcOrd="3" destOrd="0" parTransId="{9ACA46EB-7E85-4F5B-908F-2E726F7E3320}" sibTransId="{6197742B-10A1-4BD3-8E79-EB4189B85909}"/>
    <dgm:cxn modelId="{6F98F93D-05E4-4203-9981-E4B782D6A9EF}" srcId="{400FC353-84CB-40C8-A697-50376A569178}" destId="{46A3B041-F7E2-454B-8472-20B72E518B77}" srcOrd="6" destOrd="0" parTransId="{5878156A-389B-42D0-98CA-8C38668226C4}" sibTransId="{34526300-AED1-4732-B577-60755F13209D}"/>
    <dgm:cxn modelId="{5A794F4B-1516-4848-9066-D615DBE7F616}" type="presOf" srcId="{CA8881AF-5C37-4C86-A0B9-E9D77B791A16}" destId="{C04BA1DF-03B5-486D-A860-679315E71A9A}" srcOrd="0" destOrd="0" presId="urn:microsoft.com/office/officeart/2005/8/layout/default"/>
    <dgm:cxn modelId="{31AA1C96-107C-4065-8E55-D7B2A32C2723}" type="presOf" srcId="{927B78E2-D0E0-4B74-86CB-199306A6387E}" destId="{F7292E9C-D1E1-4EFE-9F9D-48F25D1548C9}" srcOrd="0" destOrd="0" presId="urn:microsoft.com/office/officeart/2005/8/layout/default"/>
    <dgm:cxn modelId="{1F14789C-5F30-4228-A99B-C9EEE490F2EC}" srcId="{400FC353-84CB-40C8-A697-50376A569178}" destId="{E0A4462F-7092-4356-A648-EBB6E9C74D32}" srcOrd="5" destOrd="0" parTransId="{75EB50A2-B3C0-4B63-BAD2-8AAE93680F45}" sibTransId="{22AD9B21-386E-4549-AD7A-E501593CD47F}"/>
    <dgm:cxn modelId="{6FA67E9C-4D54-479C-980D-DD47A6B54A40}" type="presOf" srcId="{46A3B041-F7E2-454B-8472-20B72E518B77}" destId="{7325E2EC-E958-4139-8D31-14B8DF547CE6}" srcOrd="0" destOrd="0" presId="urn:microsoft.com/office/officeart/2005/8/layout/default"/>
    <dgm:cxn modelId="{174B57A8-5943-46E7-A3D6-95B6FE118070}" srcId="{400FC353-84CB-40C8-A697-50376A569178}" destId="{CA8881AF-5C37-4C86-A0B9-E9D77B791A16}" srcOrd="4" destOrd="0" parTransId="{2C89C777-3CCF-4934-B9FF-E07946F41141}" sibTransId="{4C146B9D-3EC8-462E-B4DE-E14C6485AEFC}"/>
    <dgm:cxn modelId="{0C6C42A9-AC3E-43C1-ABDD-377BC17FB4AE}" srcId="{400FC353-84CB-40C8-A697-50376A569178}" destId="{927B78E2-D0E0-4B74-86CB-199306A6387E}" srcOrd="2" destOrd="0" parTransId="{EEE09CAB-A96A-4E09-B1B6-C9E7910802A7}" sibTransId="{141CE447-89CF-4E7A-949F-F9AB17B4A330}"/>
    <dgm:cxn modelId="{5FDCC2B8-5438-45C1-8FCE-D005E0B4CDB2}" type="presOf" srcId="{93F26B4B-4753-4092-8133-AC5B775E7A3F}" destId="{DDBF6CC0-F8C6-44A7-8542-E41DCC35AA87}" srcOrd="0" destOrd="0" presId="urn:microsoft.com/office/officeart/2005/8/layout/default"/>
    <dgm:cxn modelId="{25A397B9-1928-4A2A-8A1F-B2BF984F2BD6}" type="presOf" srcId="{E0A4462F-7092-4356-A648-EBB6E9C74D32}" destId="{6F369F21-F62C-40E7-998C-0647017A83E6}" srcOrd="0" destOrd="0" presId="urn:microsoft.com/office/officeart/2005/8/layout/default"/>
    <dgm:cxn modelId="{A24856D7-7715-4D8A-AEFF-A0F8CF3CB18E}" srcId="{400FC353-84CB-40C8-A697-50376A569178}" destId="{3F8735A0-6202-4C7D-8BC4-AB4758BCFC8D}" srcOrd="1" destOrd="0" parTransId="{122F8832-8486-4C55-BF40-9C0422167944}" sibTransId="{0C1581E8-CC8F-4876-B3B7-8895FD5E91E4}"/>
    <dgm:cxn modelId="{2A5C84E5-C135-4536-B374-6155AFD6EF83}" type="presOf" srcId="{3F8735A0-6202-4C7D-8BC4-AB4758BCFC8D}" destId="{FEF03543-68A6-4D04-8FEF-CDC008BAA98F}" srcOrd="0" destOrd="0" presId="urn:microsoft.com/office/officeart/2005/8/layout/default"/>
    <dgm:cxn modelId="{7F71A7E6-9683-48C4-B6D3-1743404AB84B}" type="presOf" srcId="{D1C4936F-445D-417A-B615-9D0C7ACEAD74}" destId="{66FD6D9B-61E4-4B23-8605-64A5A0F1C4BA}" srcOrd="0" destOrd="0" presId="urn:microsoft.com/office/officeart/2005/8/layout/default"/>
    <dgm:cxn modelId="{C58FC3FE-8C9E-4D11-8662-D21F7ADF13D3}" type="presOf" srcId="{400FC353-84CB-40C8-A697-50376A569178}" destId="{C13B1AEC-FBF2-4ED6-BF25-E47EF8D70CD2}" srcOrd="0" destOrd="0" presId="urn:microsoft.com/office/officeart/2005/8/layout/default"/>
    <dgm:cxn modelId="{E99DBEDF-CF21-490E-9CAD-84E8E8F9A1B2}" type="presParOf" srcId="{C13B1AEC-FBF2-4ED6-BF25-E47EF8D70CD2}" destId="{66FD6D9B-61E4-4B23-8605-64A5A0F1C4BA}" srcOrd="0" destOrd="0" presId="urn:microsoft.com/office/officeart/2005/8/layout/default"/>
    <dgm:cxn modelId="{B6836BBF-0779-4951-AE2E-295878C510F1}" type="presParOf" srcId="{C13B1AEC-FBF2-4ED6-BF25-E47EF8D70CD2}" destId="{5EB8037F-F666-4F5C-9901-19E6AA1C0870}" srcOrd="1" destOrd="0" presId="urn:microsoft.com/office/officeart/2005/8/layout/default"/>
    <dgm:cxn modelId="{59B7FE6D-6F4A-4B83-ABDA-12CFE32C327B}" type="presParOf" srcId="{C13B1AEC-FBF2-4ED6-BF25-E47EF8D70CD2}" destId="{FEF03543-68A6-4D04-8FEF-CDC008BAA98F}" srcOrd="2" destOrd="0" presId="urn:microsoft.com/office/officeart/2005/8/layout/default"/>
    <dgm:cxn modelId="{B7FC590D-5BEF-410D-8FD4-593E2DA01FE4}" type="presParOf" srcId="{C13B1AEC-FBF2-4ED6-BF25-E47EF8D70CD2}" destId="{1BA36242-B508-4573-9BC2-F501697DB18F}" srcOrd="3" destOrd="0" presId="urn:microsoft.com/office/officeart/2005/8/layout/default"/>
    <dgm:cxn modelId="{08841B18-F0AB-45AA-9C4B-A18E477FFF78}" type="presParOf" srcId="{C13B1AEC-FBF2-4ED6-BF25-E47EF8D70CD2}" destId="{F7292E9C-D1E1-4EFE-9F9D-48F25D1548C9}" srcOrd="4" destOrd="0" presId="urn:microsoft.com/office/officeart/2005/8/layout/default"/>
    <dgm:cxn modelId="{15F1A0DB-354C-48CE-8AF0-AA79804DD4D7}" type="presParOf" srcId="{C13B1AEC-FBF2-4ED6-BF25-E47EF8D70CD2}" destId="{AB5BE668-48F2-4085-B099-B5140E5B6B70}" srcOrd="5" destOrd="0" presId="urn:microsoft.com/office/officeart/2005/8/layout/default"/>
    <dgm:cxn modelId="{4356CFB3-3F32-4A1A-9029-6B75D99AA49D}" type="presParOf" srcId="{C13B1AEC-FBF2-4ED6-BF25-E47EF8D70CD2}" destId="{DDBF6CC0-F8C6-44A7-8542-E41DCC35AA87}" srcOrd="6" destOrd="0" presId="urn:microsoft.com/office/officeart/2005/8/layout/default"/>
    <dgm:cxn modelId="{C65CC70B-D99F-49DB-8B17-BA81721853B5}" type="presParOf" srcId="{C13B1AEC-FBF2-4ED6-BF25-E47EF8D70CD2}" destId="{5C84EF5D-1C7B-4FF2-A868-EB6EE11F8A1E}" srcOrd="7" destOrd="0" presId="urn:microsoft.com/office/officeart/2005/8/layout/default"/>
    <dgm:cxn modelId="{F550CAC8-7CD4-49A6-8E02-3498C0566884}" type="presParOf" srcId="{C13B1AEC-FBF2-4ED6-BF25-E47EF8D70CD2}" destId="{C04BA1DF-03B5-486D-A860-679315E71A9A}" srcOrd="8" destOrd="0" presId="urn:microsoft.com/office/officeart/2005/8/layout/default"/>
    <dgm:cxn modelId="{D7419DE3-75F5-438B-AE2D-C176CAE95F59}" type="presParOf" srcId="{C13B1AEC-FBF2-4ED6-BF25-E47EF8D70CD2}" destId="{AC7E8B10-501F-453B-9FC1-8D6195F6B737}" srcOrd="9" destOrd="0" presId="urn:microsoft.com/office/officeart/2005/8/layout/default"/>
    <dgm:cxn modelId="{4CFBE782-B27B-4C14-998F-BBC0817E58A0}" type="presParOf" srcId="{C13B1AEC-FBF2-4ED6-BF25-E47EF8D70CD2}" destId="{6F369F21-F62C-40E7-998C-0647017A83E6}" srcOrd="10" destOrd="0" presId="urn:microsoft.com/office/officeart/2005/8/layout/default"/>
    <dgm:cxn modelId="{A790C0D7-1350-4198-A787-F1092B73C99A}" type="presParOf" srcId="{C13B1AEC-FBF2-4ED6-BF25-E47EF8D70CD2}" destId="{F84B53FB-4136-4603-8051-9126C4A61BCD}" srcOrd="11" destOrd="0" presId="urn:microsoft.com/office/officeart/2005/8/layout/default"/>
    <dgm:cxn modelId="{1071B300-B76B-44E9-85CC-892D1108890C}" type="presParOf" srcId="{C13B1AEC-FBF2-4ED6-BF25-E47EF8D70CD2}" destId="{7325E2EC-E958-4139-8D31-14B8DF547CE6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F80D5D1-1056-469E-A24B-460B4BCEF766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A0AF56CF-EC9A-45C0-92CC-BCF3F28560F4}">
      <dgm:prSet custT="1"/>
      <dgm:spPr/>
      <dgm:t>
        <a:bodyPr/>
        <a:lstStyle/>
        <a:p>
          <a:r>
            <a:rPr lang="ru-RU" sz="2000" b="0" i="0" dirty="0"/>
            <a:t>Объемно-пространственное решение:</a:t>
          </a:r>
          <a:endParaRPr lang="ru-RU" sz="2000" dirty="0"/>
        </a:p>
      </dgm:t>
    </dgm:pt>
    <dgm:pt modelId="{BD952B2C-0352-402A-A262-655667668205}" type="parTrans" cxnId="{1801D763-0297-41FA-A39C-AEB69D141964}">
      <dgm:prSet/>
      <dgm:spPr/>
      <dgm:t>
        <a:bodyPr/>
        <a:lstStyle/>
        <a:p>
          <a:endParaRPr lang="ru-RU"/>
        </a:p>
      </dgm:t>
    </dgm:pt>
    <dgm:pt modelId="{EDA347B0-8236-4E50-976C-CFB6310DD9E0}" type="sibTrans" cxnId="{1801D763-0297-41FA-A39C-AEB69D141964}">
      <dgm:prSet/>
      <dgm:spPr/>
      <dgm:t>
        <a:bodyPr/>
        <a:lstStyle/>
        <a:p>
          <a:endParaRPr lang="ru-RU"/>
        </a:p>
      </dgm:t>
    </dgm:pt>
    <dgm:pt modelId="{53C32AEB-98D6-4038-929F-737DDBCBB170}">
      <dgm:prSet custT="1"/>
      <dgm:spPr/>
      <dgm:t>
        <a:bodyPr/>
        <a:lstStyle/>
        <a:p>
          <a:pPr marL="0" indent="0" algn="just"/>
          <a:r>
            <a:rPr lang="ru-RU" sz="1600" b="1" i="0" dirty="0"/>
            <a:t>Центры «под одной крышей»</a:t>
          </a:r>
          <a:r>
            <a:rPr lang="ru-RU" sz="1600" b="0" i="0" dirty="0"/>
            <a:t>, в которых все сложно взаимосвязанные функции собираются в один сложносочиненный объем.</a:t>
          </a:r>
          <a:endParaRPr lang="ru-RU" sz="1600" dirty="0"/>
        </a:p>
      </dgm:t>
    </dgm:pt>
    <dgm:pt modelId="{FF39DBEE-C46E-4D9B-B6B1-0DCF52C6769F}" type="parTrans" cxnId="{A27FE7C1-794E-4A55-9093-CAF20F54D6F1}">
      <dgm:prSet/>
      <dgm:spPr/>
      <dgm:t>
        <a:bodyPr/>
        <a:lstStyle/>
        <a:p>
          <a:endParaRPr lang="ru-RU"/>
        </a:p>
      </dgm:t>
    </dgm:pt>
    <dgm:pt modelId="{E7FEF2D7-C418-4B34-BE33-DFB572CC2998}" type="sibTrans" cxnId="{A27FE7C1-794E-4A55-9093-CAF20F54D6F1}">
      <dgm:prSet/>
      <dgm:spPr/>
      <dgm:t>
        <a:bodyPr/>
        <a:lstStyle/>
        <a:p>
          <a:endParaRPr lang="ru-RU"/>
        </a:p>
      </dgm:t>
    </dgm:pt>
    <dgm:pt modelId="{76B6E5C6-49C9-4577-BB3A-253F37D8AFA7}">
      <dgm:prSet custT="1"/>
      <dgm:spPr/>
      <dgm:t>
        <a:bodyPr/>
        <a:lstStyle/>
        <a:p>
          <a:pPr marL="0" indent="0" algn="just"/>
          <a:r>
            <a:rPr lang="ru-RU" sz="1600" b="1" i="0" dirty="0"/>
            <a:t>Пространственные центры</a:t>
          </a:r>
          <a:r>
            <a:rPr lang="ru-RU" sz="1600" b="0" i="0" dirty="0"/>
            <a:t>, состоящие из двух или более отдельно стоящих строений, функционально связанных открытыми общественными пространствами (площади, скверы и т.п.).</a:t>
          </a:r>
          <a:endParaRPr lang="ru-RU" sz="1600" dirty="0"/>
        </a:p>
      </dgm:t>
    </dgm:pt>
    <dgm:pt modelId="{07AEE9C5-FDC6-41BE-9B05-D2AA4E337F36}" type="parTrans" cxnId="{76C404A9-0832-4E74-9F79-9B8C0438AAE3}">
      <dgm:prSet/>
      <dgm:spPr/>
      <dgm:t>
        <a:bodyPr/>
        <a:lstStyle/>
        <a:p>
          <a:endParaRPr lang="ru-RU"/>
        </a:p>
      </dgm:t>
    </dgm:pt>
    <dgm:pt modelId="{AF8B2BE0-FC03-4723-B705-29105386A93D}" type="sibTrans" cxnId="{76C404A9-0832-4E74-9F79-9B8C0438AAE3}">
      <dgm:prSet/>
      <dgm:spPr/>
      <dgm:t>
        <a:bodyPr/>
        <a:lstStyle/>
        <a:p>
          <a:endParaRPr lang="ru-RU"/>
        </a:p>
      </dgm:t>
    </dgm:pt>
    <dgm:pt modelId="{BAE61AE8-672E-4F36-A543-4F5171DC0848}" type="pres">
      <dgm:prSet presAssocID="{0F80D5D1-1056-469E-A24B-460B4BCEF766}" presName="linear" presStyleCnt="0">
        <dgm:presLayoutVars>
          <dgm:animLvl val="lvl"/>
          <dgm:resizeHandles val="exact"/>
        </dgm:presLayoutVars>
      </dgm:prSet>
      <dgm:spPr/>
    </dgm:pt>
    <dgm:pt modelId="{FB8DCBF6-89EE-4205-AA3D-19749E9491C2}" type="pres">
      <dgm:prSet presAssocID="{A0AF56CF-EC9A-45C0-92CC-BCF3F28560F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135B0D4-2E86-4BE3-9D89-4E1730C11A66}" type="pres">
      <dgm:prSet presAssocID="{A0AF56CF-EC9A-45C0-92CC-BCF3F28560F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C95BA11-84C3-43DD-A4C8-019491FCECEE}" type="presOf" srcId="{0F80D5D1-1056-469E-A24B-460B4BCEF766}" destId="{BAE61AE8-672E-4F36-A543-4F5171DC0848}" srcOrd="0" destOrd="0" presId="urn:microsoft.com/office/officeart/2005/8/layout/vList2"/>
    <dgm:cxn modelId="{B7B6115C-86F4-484D-8E64-61757B496963}" type="presOf" srcId="{A0AF56CF-EC9A-45C0-92CC-BCF3F28560F4}" destId="{FB8DCBF6-89EE-4205-AA3D-19749E9491C2}" srcOrd="0" destOrd="0" presId="urn:microsoft.com/office/officeart/2005/8/layout/vList2"/>
    <dgm:cxn modelId="{1801D763-0297-41FA-A39C-AEB69D141964}" srcId="{0F80D5D1-1056-469E-A24B-460B4BCEF766}" destId="{A0AF56CF-EC9A-45C0-92CC-BCF3F28560F4}" srcOrd="0" destOrd="0" parTransId="{BD952B2C-0352-402A-A262-655667668205}" sibTransId="{EDA347B0-8236-4E50-976C-CFB6310DD9E0}"/>
    <dgm:cxn modelId="{76C404A9-0832-4E74-9F79-9B8C0438AAE3}" srcId="{A0AF56CF-EC9A-45C0-92CC-BCF3F28560F4}" destId="{76B6E5C6-49C9-4577-BB3A-253F37D8AFA7}" srcOrd="1" destOrd="0" parTransId="{07AEE9C5-FDC6-41BE-9B05-D2AA4E337F36}" sibTransId="{AF8B2BE0-FC03-4723-B705-29105386A93D}"/>
    <dgm:cxn modelId="{A27FE7C1-794E-4A55-9093-CAF20F54D6F1}" srcId="{A0AF56CF-EC9A-45C0-92CC-BCF3F28560F4}" destId="{53C32AEB-98D6-4038-929F-737DDBCBB170}" srcOrd="0" destOrd="0" parTransId="{FF39DBEE-C46E-4D9B-B6B1-0DCF52C6769F}" sibTransId="{E7FEF2D7-C418-4B34-BE33-DFB572CC2998}"/>
    <dgm:cxn modelId="{6B4402C4-FD62-4E5F-A621-F10AA33C5540}" type="presOf" srcId="{76B6E5C6-49C9-4577-BB3A-253F37D8AFA7}" destId="{B135B0D4-2E86-4BE3-9D89-4E1730C11A66}" srcOrd="0" destOrd="1" presId="urn:microsoft.com/office/officeart/2005/8/layout/vList2"/>
    <dgm:cxn modelId="{16806CF7-9F8F-4B5A-BCC7-29A3C7EB5973}" type="presOf" srcId="{53C32AEB-98D6-4038-929F-737DDBCBB170}" destId="{B135B0D4-2E86-4BE3-9D89-4E1730C11A66}" srcOrd="0" destOrd="0" presId="urn:microsoft.com/office/officeart/2005/8/layout/vList2"/>
    <dgm:cxn modelId="{406A0EBC-CF84-4B93-BF27-B528DBFB7DEF}" type="presParOf" srcId="{BAE61AE8-672E-4F36-A543-4F5171DC0848}" destId="{FB8DCBF6-89EE-4205-AA3D-19749E9491C2}" srcOrd="0" destOrd="0" presId="urn:microsoft.com/office/officeart/2005/8/layout/vList2"/>
    <dgm:cxn modelId="{FA71C7D0-DD73-4EAC-996F-CAE496661CF2}" type="presParOf" srcId="{BAE61AE8-672E-4F36-A543-4F5171DC0848}" destId="{B135B0D4-2E86-4BE3-9D89-4E1730C11A6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13F7776-16BB-40D7-8D61-E6E052BE1FE5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ru-RU"/>
        </a:p>
      </dgm:t>
    </dgm:pt>
    <dgm:pt modelId="{020074A3-D23D-4B22-BE31-89B5EDBC5673}">
      <dgm:prSet custT="1"/>
      <dgm:spPr/>
      <dgm:t>
        <a:bodyPr/>
        <a:lstStyle/>
        <a:p>
          <a:r>
            <a:rPr lang="ru-RU" sz="2000" b="0" i="0" dirty="0"/>
            <a:t>Функциональная насыщенность (базовая функция):</a:t>
          </a:r>
          <a:endParaRPr lang="ru-RU" sz="2000" dirty="0"/>
        </a:p>
      </dgm:t>
    </dgm:pt>
    <dgm:pt modelId="{1A5D76A7-C1E4-4805-B434-E701796B1FD6}" type="parTrans" cxnId="{9B5E9746-B504-43B5-8643-9612A1DFCCE0}">
      <dgm:prSet/>
      <dgm:spPr/>
      <dgm:t>
        <a:bodyPr/>
        <a:lstStyle/>
        <a:p>
          <a:endParaRPr lang="ru-RU"/>
        </a:p>
      </dgm:t>
    </dgm:pt>
    <dgm:pt modelId="{A315E7CA-FEED-448D-903D-A6FF3FA63473}" type="sibTrans" cxnId="{9B5E9746-B504-43B5-8643-9612A1DFCCE0}">
      <dgm:prSet/>
      <dgm:spPr/>
      <dgm:t>
        <a:bodyPr/>
        <a:lstStyle/>
        <a:p>
          <a:endParaRPr lang="ru-RU"/>
        </a:p>
      </dgm:t>
    </dgm:pt>
    <dgm:pt modelId="{2FCFE5A6-6A9F-4880-BBAC-B2092241B1CE}" type="pres">
      <dgm:prSet presAssocID="{213F7776-16BB-40D7-8D61-E6E052BE1FE5}" presName="linear" presStyleCnt="0">
        <dgm:presLayoutVars>
          <dgm:animLvl val="lvl"/>
          <dgm:resizeHandles val="exact"/>
        </dgm:presLayoutVars>
      </dgm:prSet>
      <dgm:spPr/>
    </dgm:pt>
    <dgm:pt modelId="{6629C1A6-AC4E-4244-9F39-51AD4CA47D03}" type="pres">
      <dgm:prSet presAssocID="{020074A3-D23D-4B22-BE31-89B5EDBC567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B5E9746-B504-43B5-8643-9612A1DFCCE0}" srcId="{213F7776-16BB-40D7-8D61-E6E052BE1FE5}" destId="{020074A3-D23D-4B22-BE31-89B5EDBC5673}" srcOrd="0" destOrd="0" parTransId="{1A5D76A7-C1E4-4805-B434-E701796B1FD6}" sibTransId="{A315E7CA-FEED-448D-903D-A6FF3FA63473}"/>
    <dgm:cxn modelId="{0968A750-7C48-443E-9B94-E5886EF5C658}" type="presOf" srcId="{020074A3-D23D-4B22-BE31-89B5EDBC5673}" destId="{6629C1A6-AC4E-4244-9F39-51AD4CA47D03}" srcOrd="0" destOrd="0" presId="urn:microsoft.com/office/officeart/2005/8/layout/vList2"/>
    <dgm:cxn modelId="{8A620FFF-F866-494F-AAD8-592F43789EC3}" type="presOf" srcId="{213F7776-16BB-40D7-8D61-E6E052BE1FE5}" destId="{2FCFE5A6-6A9F-4880-BBAC-B2092241B1CE}" srcOrd="0" destOrd="0" presId="urn:microsoft.com/office/officeart/2005/8/layout/vList2"/>
    <dgm:cxn modelId="{628E0A67-9EBF-4898-9F18-DF895D679CAB}" type="presParOf" srcId="{2FCFE5A6-6A9F-4880-BBAC-B2092241B1CE}" destId="{6629C1A6-AC4E-4244-9F39-51AD4CA47D0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6CFB3A1-F9F2-4064-A640-91F6ABB2B965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ru-RU"/>
        </a:p>
      </dgm:t>
    </dgm:pt>
    <dgm:pt modelId="{776BF026-826A-4E94-B486-7F4CFFF6EEB9}">
      <dgm:prSet/>
      <dgm:spPr/>
      <dgm:t>
        <a:bodyPr/>
        <a:lstStyle/>
        <a:p>
          <a:r>
            <a:rPr lang="ru-RU" b="0" i="0" dirty="0"/>
            <a:t>Особенности расположения:</a:t>
          </a:r>
          <a:endParaRPr lang="ru-RU" dirty="0"/>
        </a:p>
      </dgm:t>
    </dgm:pt>
    <dgm:pt modelId="{864D0E54-9F8A-442B-9450-995B343E7D80}" type="parTrans" cxnId="{1469959C-DFD7-4B88-AD6F-E4F0865EB43D}">
      <dgm:prSet/>
      <dgm:spPr/>
      <dgm:t>
        <a:bodyPr/>
        <a:lstStyle/>
        <a:p>
          <a:endParaRPr lang="ru-RU"/>
        </a:p>
      </dgm:t>
    </dgm:pt>
    <dgm:pt modelId="{EF124751-0FA7-40C3-8A62-CA8FA2474DE2}" type="sibTrans" cxnId="{1469959C-DFD7-4B88-AD6F-E4F0865EB43D}">
      <dgm:prSet/>
      <dgm:spPr/>
      <dgm:t>
        <a:bodyPr/>
        <a:lstStyle/>
        <a:p>
          <a:endParaRPr lang="ru-RU"/>
        </a:p>
      </dgm:t>
    </dgm:pt>
    <dgm:pt modelId="{27655022-803A-4882-AC0B-796BB5BDD1ED}" type="pres">
      <dgm:prSet presAssocID="{16CFB3A1-F9F2-4064-A640-91F6ABB2B965}" presName="linear" presStyleCnt="0">
        <dgm:presLayoutVars>
          <dgm:animLvl val="lvl"/>
          <dgm:resizeHandles val="exact"/>
        </dgm:presLayoutVars>
      </dgm:prSet>
      <dgm:spPr/>
    </dgm:pt>
    <dgm:pt modelId="{AA7F2FC6-6E85-43B0-8DDB-D801A72093E7}" type="pres">
      <dgm:prSet presAssocID="{776BF026-826A-4E94-B486-7F4CFFF6EEB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DECDD58-462C-4993-B624-3E2EEF9CEC16}" type="presOf" srcId="{16CFB3A1-F9F2-4064-A640-91F6ABB2B965}" destId="{27655022-803A-4882-AC0B-796BB5BDD1ED}" srcOrd="0" destOrd="0" presId="urn:microsoft.com/office/officeart/2005/8/layout/vList2"/>
    <dgm:cxn modelId="{1469959C-DFD7-4B88-AD6F-E4F0865EB43D}" srcId="{16CFB3A1-F9F2-4064-A640-91F6ABB2B965}" destId="{776BF026-826A-4E94-B486-7F4CFFF6EEB9}" srcOrd="0" destOrd="0" parTransId="{864D0E54-9F8A-442B-9450-995B343E7D80}" sibTransId="{EF124751-0FA7-40C3-8A62-CA8FA2474DE2}"/>
    <dgm:cxn modelId="{359C14C5-E47A-4388-BE6B-E980BBC6FEB7}" type="presOf" srcId="{776BF026-826A-4E94-B486-7F4CFFF6EEB9}" destId="{AA7F2FC6-6E85-43B0-8DDB-D801A72093E7}" srcOrd="0" destOrd="0" presId="urn:microsoft.com/office/officeart/2005/8/layout/vList2"/>
    <dgm:cxn modelId="{B4B6A9FF-2CC0-4A7D-95A7-3DAB3D8FE6C2}" type="presParOf" srcId="{27655022-803A-4882-AC0B-796BB5BDD1ED}" destId="{AA7F2FC6-6E85-43B0-8DDB-D801A72093E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F53A8C4-B450-4C79-95F7-8E1563D9470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FCA145B-D9BD-4332-9725-966B409F0555}">
      <dgm:prSet/>
      <dgm:spPr/>
      <dgm:t>
        <a:bodyPr/>
        <a:lstStyle/>
        <a:p>
          <a:r>
            <a:rPr lang="ru-RU" b="0" i="0" dirty="0"/>
            <a:t>образование</a:t>
          </a:r>
          <a:endParaRPr lang="ru-RU" dirty="0"/>
        </a:p>
      </dgm:t>
    </dgm:pt>
    <dgm:pt modelId="{841D18CD-2267-4EDA-BA39-92CEFD7EDD89}" type="parTrans" cxnId="{55C27757-974D-4A4C-9730-AE2460BE1A4E}">
      <dgm:prSet/>
      <dgm:spPr/>
      <dgm:t>
        <a:bodyPr/>
        <a:lstStyle/>
        <a:p>
          <a:endParaRPr lang="ru-RU"/>
        </a:p>
      </dgm:t>
    </dgm:pt>
    <dgm:pt modelId="{7649A9F1-E8AA-4479-AF2D-A0FAAA79FD2B}" type="sibTrans" cxnId="{55C27757-974D-4A4C-9730-AE2460BE1A4E}">
      <dgm:prSet/>
      <dgm:spPr/>
      <dgm:t>
        <a:bodyPr/>
        <a:lstStyle/>
        <a:p>
          <a:endParaRPr lang="ru-RU"/>
        </a:p>
      </dgm:t>
    </dgm:pt>
    <dgm:pt modelId="{D78708F5-572A-4E5F-9471-C7BD2CEF76CC}">
      <dgm:prSet/>
      <dgm:spPr/>
      <dgm:t>
        <a:bodyPr/>
        <a:lstStyle/>
        <a:p>
          <a:r>
            <a:rPr lang="ru-RU" b="0" i="0" dirty="0"/>
            <a:t>спорт</a:t>
          </a:r>
          <a:endParaRPr lang="ru-RU" dirty="0"/>
        </a:p>
      </dgm:t>
    </dgm:pt>
    <dgm:pt modelId="{164D81FC-4531-4F75-9D63-67B233DCFE0E}" type="parTrans" cxnId="{A7B4D407-333C-4D37-9A36-98B4DBDA9DB6}">
      <dgm:prSet/>
      <dgm:spPr/>
      <dgm:t>
        <a:bodyPr/>
        <a:lstStyle/>
        <a:p>
          <a:endParaRPr lang="ru-RU"/>
        </a:p>
      </dgm:t>
    </dgm:pt>
    <dgm:pt modelId="{9243DE6C-2642-44B1-BE41-004F5D0772BE}" type="sibTrans" cxnId="{A7B4D407-333C-4D37-9A36-98B4DBDA9DB6}">
      <dgm:prSet/>
      <dgm:spPr/>
      <dgm:t>
        <a:bodyPr/>
        <a:lstStyle/>
        <a:p>
          <a:endParaRPr lang="ru-RU"/>
        </a:p>
      </dgm:t>
    </dgm:pt>
    <dgm:pt modelId="{398273D9-0C04-4A52-A915-D310567A7CCD}">
      <dgm:prSet/>
      <dgm:spPr/>
      <dgm:t>
        <a:bodyPr/>
        <a:lstStyle/>
        <a:p>
          <a:r>
            <a:rPr lang="ru-RU" b="0" i="0" dirty="0"/>
            <a:t>дом культуры</a:t>
          </a:r>
          <a:endParaRPr lang="ru-RU" dirty="0"/>
        </a:p>
      </dgm:t>
    </dgm:pt>
    <dgm:pt modelId="{87379857-1A23-4BF9-9C05-2DC70393DD14}" type="parTrans" cxnId="{5F620490-1E79-4094-A2CA-5D6EDE518C84}">
      <dgm:prSet/>
      <dgm:spPr/>
      <dgm:t>
        <a:bodyPr/>
        <a:lstStyle/>
        <a:p>
          <a:endParaRPr lang="ru-RU"/>
        </a:p>
      </dgm:t>
    </dgm:pt>
    <dgm:pt modelId="{69B8F094-30B7-4693-AE51-6D1CA8E73517}" type="sibTrans" cxnId="{5F620490-1E79-4094-A2CA-5D6EDE518C84}">
      <dgm:prSet/>
      <dgm:spPr/>
      <dgm:t>
        <a:bodyPr/>
        <a:lstStyle/>
        <a:p>
          <a:endParaRPr lang="ru-RU"/>
        </a:p>
      </dgm:t>
    </dgm:pt>
    <dgm:pt modelId="{44627C3D-7480-47B7-8A04-6FBAB960216B}">
      <dgm:prSet/>
      <dgm:spPr/>
      <dgm:t>
        <a:bodyPr/>
        <a:lstStyle/>
        <a:p>
          <a:r>
            <a:rPr lang="ru-RU" b="0" i="0" dirty="0"/>
            <a:t>досуговый центр</a:t>
          </a:r>
          <a:endParaRPr lang="ru-RU" dirty="0"/>
        </a:p>
      </dgm:t>
    </dgm:pt>
    <dgm:pt modelId="{40026893-2989-4554-AAFB-C131EAE33B96}" type="parTrans" cxnId="{4E072F7F-A367-41B7-911A-A09CBDFB8F58}">
      <dgm:prSet/>
      <dgm:spPr/>
      <dgm:t>
        <a:bodyPr/>
        <a:lstStyle/>
        <a:p>
          <a:endParaRPr lang="ru-RU"/>
        </a:p>
      </dgm:t>
    </dgm:pt>
    <dgm:pt modelId="{051FBB13-168D-466C-9D11-41F1BE0849BF}" type="sibTrans" cxnId="{4E072F7F-A367-41B7-911A-A09CBDFB8F58}">
      <dgm:prSet/>
      <dgm:spPr/>
      <dgm:t>
        <a:bodyPr/>
        <a:lstStyle/>
        <a:p>
          <a:endParaRPr lang="ru-RU"/>
        </a:p>
      </dgm:t>
    </dgm:pt>
    <dgm:pt modelId="{6F8F084D-F8F6-42DB-B689-C503D42D9BE3}">
      <dgm:prSet/>
      <dgm:spPr/>
      <dgm:t>
        <a:bodyPr/>
        <a:lstStyle/>
        <a:p>
          <a:r>
            <a:rPr lang="ru-RU" b="0" i="0" dirty="0"/>
            <a:t>общественное пространство</a:t>
          </a:r>
          <a:endParaRPr lang="ru-RU" dirty="0"/>
        </a:p>
      </dgm:t>
    </dgm:pt>
    <dgm:pt modelId="{9F131F67-72A5-4DDD-8618-A0B031849D6B}" type="parTrans" cxnId="{5C6A698C-BA78-4C77-A263-F33DB292B583}">
      <dgm:prSet/>
      <dgm:spPr/>
      <dgm:t>
        <a:bodyPr/>
        <a:lstStyle/>
        <a:p>
          <a:endParaRPr lang="ru-RU"/>
        </a:p>
      </dgm:t>
    </dgm:pt>
    <dgm:pt modelId="{7FD39FDC-6547-4A9D-A6A5-8846E9A5C65B}" type="sibTrans" cxnId="{5C6A698C-BA78-4C77-A263-F33DB292B583}">
      <dgm:prSet/>
      <dgm:spPr/>
      <dgm:t>
        <a:bodyPr/>
        <a:lstStyle/>
        <a:p>
          <a:endParaRPr lang="ru-RU"/>
        </a:p>
      </dgm:t>
    </dgm:pt>
    <dgm:pt modelId="{170D0143-F50D-49CF-BF32-1C3D2CCD5359}" type="pres">
      <dgm:prSet presAssocID="{9F53A8C4-B450-4C79-95F7-8E1563D94707}" presName="diagram" presStyleCnt="0">
        <dgm:presLayoutVars>
          <dgm:dir/>
          <dgm:resizeHandles val="exact"/>
        </dgm:presLayoutVars>
      </dgm:prSet>
      <dgm:spPr/>
    </dgm:pt>
    <dgm:pt modelId="{1CF5BFC6-DB39-44FE-BB61-260C4A8F0130}" type="pres">
      <dgm:prSet presAssocID="{DFCA145B-D9BD-4332-9725-966B409F0555}" presName="node" presStyleLbl="node1" presStyleIdx="0" presStyleCnt="5" custScaleY="68302">
        <dgm:presLayoutVars>
          <dgm:bulletEnabled val="1"/>
        </dgm:presLayoutVars>
      </dgm:prSet>
      <dgm:spPr/>
    </dgm:pt>
    <dgm:pt modelId="{C93406C2-8950-4BDC-BEB3-39F58B9BB72F}" type="pres">
      <dgm:prSet presAssocID="{7649A9F1-E8AA-4479-AF2D-A0FAAA79FD2B}" presName="sibTrans" presStyleCnt="0"/>
      <dgm:spPr/>
    </dgm:pt>
    <dgm:pt modelId="{E9020498-92BE-42B3-9DF0-0156C1B9ED02}" type="pres">
      <dgm:prSet presAssocID="{D78708F5-572A-4E5F-9471-C7BD2CEF76CC}" presName="node" presStyleLbl="node1" presStyleIdx="1" presStyleCnt="5" custScaleY="68302">
        <dgm:presLayoutVars>
          <dgm:bulletEnabled val="1"/>
        </dgm:presLayoutVars>
      </dgm:prSet>
      <dgm:spPr/>
    </dgm:pt>
    <dgm:pt modelId="{8976CDC9-3171-4CEB-8B90-7201A7420DBF}" type="pres">
      <dgm:prSet presAssocID="{9243DE6C-2642-44B1-BE41-004F5D0772BE}" presName="sibTrans" presStyleCnt="0"/>
      <dgm:spPr/>
    </dgm:pt>
    <dgm:pt modelId="{4151969A-28DD-40D6-A892-A44E006CF0E6}" type="pres">
      <dgm:prSet presAssocID="{398273D9-0C04-4A52-A915-D310567A7CCD}" presName="node" presStyleLbl="node1" presStyleIdx="2" presStyleCnt="5" custScaleY="68302">
        <dgm:presLayoutVars>
          <dgm:bulletEnabled val="1"/>
        </dgm:presLayoutVars>
      </dgm:prSet>
      <dgm:spPr/>
    </dgm:pt>
    <dgm:pt modelId="{F6A18738-DADD-4B47-B654-45526BB7AAB4}" type="pres">
      <dgm:prSet presAssocID="{69B8F094-30B7-4693-AE51-6D1CA8E73517}" presName="sibTrans" presStyleCnt="0"/>
      <dgm:spPr/>
    </dgm:pt>
    <dgm:pt modelId="{32A46529-61D5-4B7E-B213-B284D80DBEC1}" type="pres">
      <dgm:prSet presAssocID="{44627C3D-7480-47B7-8A04-6FBAB960216B}" presName="node" presStyleLbl="node1" presStyleIdx="3" presStyleCnt="5" custScaleY="68302">
        <dgm:presLayoutVars>
          <dgm:bulletEnabled val="1"/>
        </dgm:presLayoutVars>
      </dgm:prSet>
      <dgm:spPr/>
    </dgm:pt>
    <dgm:pt modelId="{B50D266C-6D35-4768-9847-920AC02FEF48}" type="pres">
      <dgm:prSet presAssocID="{051FBB13-168D-466C-9D11-41F1BE0849BF}" presName="sibTrans" presStyleCnt="0"/>
      <dgm:spPr/>
    </dgm:pt>
    <dgm:pt modelId="{659AE735-1B23-418C-A194-AD7D3398C0C2}" type="pres">
      <dgm:prSet presAssocID="{6F8F084D-F8F6-42DB-B689-C503D42D9BE3}" presName="node" presStyleLbl="node1" presStyleIdx="4" presStyleCnt="5" custScaleY="68302">
        <dgm:presLayoutVars>
          <dgm:bulletEnabled val="1"/>
        </dgm:presLayoutVars>
      </dgm:prSet>
      <dgm:spPr/>
    </dgm:pt>
  </dgm:ptLst>
  <dgm:cxnLst>
    <dgm:cxn modelId="{A7B4D407-333C-4D37-9A36-98B4DBDA9DB6}" srcId="{9F53A8C4-B450-4C79-95F7-8E1563D94707}" destId="{D78708F5-572A-4E5F-9471-C7BD2CEF76CC}" srcOrd="1" destOrd="0" parTransId="{164D81FC-4531-4F75-9D63-67B233DCFE0E}" sibTransId="{9243DE6C-2642-44B1-BE41-004F5D0772BE}"/>
    <dgm:cxn modelId="{7CA8D227-C10A-4A23-8C6F-BCF23E0253C4}" type="presOf" srcId="{DFCA145B-D9BD-4332-9725-966B409F0555}" destId="{1CF5BFC6-DB39-44FE-BB61-260C4A8F0130}" srcOrd="0" destOrd="0" presId="urn:microsoft.com/office/officeart/2005/8/layout/default"/>
    <dgm:cxn modelId="{E2D1F239-BFFE-4D05-9FC8-0CDB77F4FF29}" type="presOf" srcId="{D78708F5-572A-4E5F-9471-C7BD2CEF76CC}" destId="{E9020498-92BE-42B3-9DF0-0156C1B9ED02}" srcOrd="0" destOrd="0" presId="urn:microsoft.com/office/officeart/2005/8/layout/default"/>
    <dgm:cxn modelId="{070E3B49-0CF7-4252-A390-AA3B7607E4D0}" type="presOf" srcId="{9F53A8C4-B450-4C79-95F7-8E1563D94707}" destId="{170D0143-F50D-49CF-BF32-1C3D2CCD5359}" srcOrd="0" destOrd="0" presId="urn:microsoft.com/office/officeart/2005/8/layout/default"/>
    <dgm:cxn modelId="{55C27757-974D-4A4C-9730-AE2460BE1A4E}" srcId="{9F53A8C4-B450-4C79-95F7-8E1563D94707}" destId="{DFCA145B-D9BD-4332-9725-966B409F0555}" srcOrd="0" destOrd="0" parTransId="{841D18CD-2267-4EDA-BA39-92CEFD7EDD89}" sibTransId="{7649A9F1-E8AA-4479-AF2D-A0FAAA79FD2B}"/>
    <dgm:cxn modelId="{4E072F7F-A367-41B7-911A-A09CBDFB8F58}" srcId="{9F53A8C4-B450-4C79-95F7-8E1563D94707}" destId="{44627C3D-7480-47B7-8A04-6FBAB960216B}" srcOrd="3" destOrd="0" parTransId="{40026893-2989-4554-AAFB-C131EAE33B96}" sibTransId="{051FBB13-168D-466C-9D11-41F1BE0849BF}"/>
    <dgm:cxn modelId="{5C6A698C-BA78-4C77-A263-F33DB292B583}" srcId="{9F53A8C4-B450-4C79-95F7-8E1563D94707}" destId="{6F8F084D-F8F6-42DB-B689-C503D42D9BE3}" srcOrd="4" destOrd="0" parTransId="{9F131F67-72A5-4DDD-8618-A0B031849D6B}" sibTransId="{7FD39FDC-6547-4A9D-A6A5-8846E9A5C65B}"/>
    <dgm:cxn modelId="{5F620490-1E79-4094-A2CA-5D6EDE518C84}" srcId="{9F53A8C4-B450-4C79-95F7-8E1563D94707}" destId="{398273D9-0C04-4A52-A915-D310567A7CCD}" srcOrd="2" destOrd="0" parTransId="{87379857-1A23-4BF9-9C05-2DC70393DD14}" sibTransId="{69B8F094-30B7-4693-AE51-6D1CA8E73517}"/>
    <dgm:cxn modelId="{2A9BEEBF-9BDC-4428-89B1-11D8CC200674}" type="presOf" srcId="{398273D9-0C04-4A52-A915-D310567A7CCD}" destId="{4151969A-28DD-40D6-A892-A44E006CF0E6}" srcOrd="0" destOrd="0" presId="urn:microsoft.com/office/officeart/2005/8/layout/default"/>
    <dgm:cxn modelId="{81BD86DA-0B46-4F7E-9733-4F53E1FCF2A8}" type="presOf" srcId="{6F8F084D-F8F6-42DB-B689-C503D42D9BE3}" destId="{659AE735-1B23-418C-A194-AD7D3398C0C2}" srcOrd="0" destOrd="0" presId="urn:microsoft.com/office/officeart/2005/8/layout/default"/>
    <dgm:cxn modelId="{BC6D42FF-3C04-4F4A-AADE-A824E3F34702}" type="presOf" srcId="{44627C3D-7480-47B7-8A04-6FBAB960216B}" destId="{32A46529-61D5-4B7E-B213-B284D80DBEC1}" srcOrd="0" destOrd="0" presId="urn:microsoft.com/office/officeart/2005/8/layout/default"/>
    <dgm:cxn modelId="{CF8FE5B2-5CE1-4097-9353-55ACB7BE93BF}" type="presParOf" srcId="{170D0143-F50D-49CF-BF32-1C3D2CCD5359}" destId="{1CF5BFC6-DB39-44FE-BB61-260C4A8F0130}" srcOrd="0" destOrd="0" presId="urn:microsoft.com/office/officeart/2005/8/layout/default"/>
    <dgm:cxn modelId="{E2DC57C3-D46F-4C32-BC4A-71D26E9882EA}" type="presParOf" srcId="{170D0143-F50D-49CF-BF32-1C3D2CCD5359}" destId="{C93406C2-8950-4BDC-BEB3-39F58B9BB72F}" srcOrd="1" destOrd="0" presId="urn:microsoft.com/office/officeart/2005/8/layout/default"/>
    <dgm:cxn modelId="{211AC9FF-EDF8-4598-943A-76785A8A77AC}" type="presParOf" srcId="{170D0143-F50D-49CF-BF32-1C3D2CCD5359}" destId="{E9020498-92BE-42B3-9DF0-0156C1B9ED02}" srcOrd="2" destOrd="0" presId="urn:microsoft.com/office/officeart/2005/8/layout/default"/>
    <dgm:cxn modelId="{5092D58A-BAB5-45E2-9467-EBD3354CCB74}" type="presParOf" srcId="{170D0143-F50D-49CF-BF32-1C3D2CCD5359}" destId="{8976CDC9-3171-4CEB-8B90-7201A7420DBF}" srcOrd="3" destOrd="0" presId="urn:microsoft.com/office/officeart/2005/8/layout/default"/>
    <dgm:cxn modelId="{08D703ED-409F-4DD1-82A9-18DD30C17402}" type="presParOf" srcId="{170D0143-F50D-49CF-BF32-1C3D2CCD5359}" destId="{4151969A-28DD-40D6-A892-A44E006CF0E6}" srcOrd="4" destOrd="0" presId="urn:microsoft.com/office/officeart/2005/8/layout/default"/>
    <dgm:cxn modelId="{CFE2CB15-0307-4ADF-8822-D97D2D86C1A2}" type="presParOf" srcId="{170D0143-F50D-49CF-BF32-1C3D2CCD5359}" destId="{F6A18738-DADD-4B47-B654-45526BB7AAB4}" srcOrd="5" destOrd="0" presId="urn:microsoft.com/office/officeart/2005/8/layout/default"/>
    <dgm:cxn modelId="{805C02E2-395F-4AB8-84D8-B0F71C3A7571}" type="presParOf" srcId="{170D0143-F50D-49CF-BF32-1C3D2CCD5359}" destId="{32A46529-61D5-4B7E-B213-B284D80DBEC1}" srcOrd="6" destOrd="0" presId="urn:microsoft.com/office/officeart/2005/8/layout/default"/>
    <dgm:cxn modelId="{24A426B4-A22A-4E31-B5FA-CE17838C3D24}" type="presParOf" srcId="{170D0143-F50D-49CF-BF32-1C3D2CCD5359}" destId="{B50D266C-6D35-4768-9847-920AC02FEF48}" srcOrd="7" destOrd="0" presId="urn:microsoft.com/office/officeart/2005/8/layout/default"/>
    <dgm:cxn modelId="{08B457D4-063B-4544-AA82-A6EF65F07CB2}" type="presParOf" srcId="{170D0143-F50D-49CF-BF32-1C3D2CCD5359}" destId="{659AE735-1B23-418C-A194-AD7D3398C0C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3FB3F97-C2FD-4194-B487-0AB841262F4F}" type="doc">
      <dgm:prSet loTypeId="urn:microsoft.com/office/officeart/2005/8/layout/default" loCatId="list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B3E01046-20F1-4305-AAC6-A636C463784F}">
      <dgm:prSet/>
      <dgm:spPr/>
      <dgm:t>
        <a:bodyPr/>
        <a:lstStyle/>
        <a:p>
          <a:r>
            <a:rPr lang="ru-RU" b="0" i="0" dirty="0"/>
            <a:t>В центре поселения</a:t>
          </a:r>
          <a:endParaRPr lang="ru-RU" dirty="0"/>
        </a:p>
      </dgm:t>
    </dgm:pt>
    <dgm:pt modelId="{29894589-E3B7-40C9-971D-2A413222EE50}" type="parTrans" cxnId="{ECC7FA86-D6C0-4007-BCFD-7D96E0A2A32D}">
      <dgm:prSet/>
      <dgm:spPr/>
      <dgm:t>
        <a:bodyPr/>
        <a:lstStyle/>
        <a:p>
          <a:endParaRPr lang="ru-RU"/>
        </a:p>
      </dgm:t>
    </dgm:pt>
    <dgm:pt modelId="{AE5E7DC4-AA1F-4D17-AD38-83F6F4B937CD}" type="sibTrans" cxnId="{ECC7FA86-D6C0-4007-BCFD-7D96E0A2A32D}">
      <dgm:prSet/>
      <dgm:spPr/>
      <dgm:t>
        <a:bodyPr/>
        <a:lstStyle/>
        <a:p>
          <a:endParaRPr lang="ru-RU"/>
        </a:p>
      </dgm:t>
    </dgm:pt>
    <dgm:pt modelId="{09BC7D86-32CE-48C2-8EA2-AF274E196506}">
      <dgm:prSet/>
      <dgm:spPr/>
      <dgm:t>
        <a:bodyPr/>
        <a:lstStyle/>
        <a:p>
          <a:r>
            <a:rPr lang="ru-RU" b="0" i="0" dirty="0"/>
            <a:t>На окраине поселения</a:t>
          </a:r>
          <a:endParaRPr lang="ru-RU" dirty="0"/>
        </a:p>
      </dgm:t>
    </dgm:pt>
    <dgm:pt modelId="{1C43F425-55A5-48A3-8147-1CA3C9CE49CF}" type="parTrans" cxnId="{B6E158E6-8401-49C3-AC43-0A00A7C16A24}">
      <dgm:prSet/>
      <dgm:spPr/>
      <dgm:t>
        <a:bodyPr/>
        <a:lstStyle/>
        <a:p>
          <a:endParaRPr lang="ru-RU"/>
        </a:p>
      </dgm:t>
    </dgm:pt>
    <dgm:pt modelId="{CF34439C-B8A5-41C3-A672-DB83237E092A}" type="sibTrans" cxnId="{B6E158E6-8401-49C3-AC43-0A00A7C16A24}">
      <dgm:prSet/>
      <dgm:spPr/>
      <dgm:t>
        <a:bodyPr/>
        <a:lstStyle/>
        <a:p>
          <a:endParaRPr lang="ru-RU"/>
        </a:p>
      </dgm:t>
    </dgm:pt>
    <dgm:pt modelId="{35AE832F-F340-453B-8690-B0749F38198F}">
      <dgm:prSet/>
      <dgm:spPr>
        <a:ln>
          <a:solidFill>
            <a:schemeClr val="accent4">
              <a:lumMod val="75000"/>
            </a:schemeClr>
          </a:solidFill>
        </a:ln>
      </dgm:spPr>
      <dgm:t>
        <a:bodyPr/>
        <a:lstStyle/>
        <a:p>
          <a:r>
            <a:rPr lang="ru-RU" b="0" i="0" dirty="0"/>
            <a:t>Межпоселковые общественные центры</a:t>
          </a:r>
          <a:endParaRPr lang="ru-RU" dirty="0"/>
        </a:p>
      </dgm:t>
    </dgm:pt>
    <dgm:pt modelId="{2A17CD20-6412-445E-A2AC-DAF52EDDF294}" type="parTrans" cxnId="{E87E09F7-DD9E-4A7C-A05F-7EBBB9A5D732}">
      <dgm:prSet/>
      <dgm:spPr/>
      <dgm:t>
        <a:bodyPr/>
        <a:lstStyle/>
        <a:p>
          <a:endParaRPr lang="ru-RU"/>
        </a:p>
      </dgm:t>
    </dgm:pt>
    <dgm:pt modelId="{A0FFA304-5725-4469-A31D-1AA90433726C}" type="sibTrans" cxnId="{E87E09F7-DD9E-4A7C-A05F-7EBBB9A5D732}">
      <dgm:prSet/>
      <dgm:spPr/>
      <dgm:t>
        <a:bodyPr/>
        <a:lstStyle/>
        <a:p>
          <a:endParaRPr lang="ru-RU"/>
        </a:p>
      </dgm:t>
    </dgm:pt>
    <dgm:pt modelId="{BAC5B4C3-A031-4F8C-9DFB-EBC55EE67BB7}" type="pres">
      <dgm:prSet presAssocID="{33FB3F97-C2FD-4194-B487-0AB841262F4F}" presName="diagram" presStyleCnt="0">
        <dgm:presLayoutVars>
          <dgm:dir/>
          <dgm:resizeHandles val="exact"/>
        </dgm:presLayoutVars>
      </dgm:prSet>
      <dgm:spPr/>
    </dgm:pt>
    <dgm:pt modelId="{F9D109B5-D1E7-4DD0-91B8-6B58D0E634BE}" type="pres">
      <dgm:prSet presAssocID="{B3E01046-20F1-4305-AAC6-A636C463784F}" presName="node" presStyleLbl="node1" presStyleIdx="0" presStyleCnt="3" custScaleX="235795">
        <dgm:presLayoutVars>
          <dgm:bulletEnabled val="1"/>
        </dgm:presLayoutVars>
      </dgm:prSet>
      <dgm:spPr>
        <a:prstGeom prst="roundRect">
          <a:avLst/>
        </a:prstGeom>
      </dgm:spPr>
    </dgm:pt>
    <dgm:pt modelId="{17DB102F-5E8E-44B9-879B-570744E2DD71}" type="pres">
      <dgm:prSet presAssocID="{AE5E7DC4-AA1F-4D17-AD38-83F6F4B937CD}" presName="sibTrans" presStyleCnt="0"/>
      <dgm:spPr/>
    </dgm:pt>
    <dgm:pt modelId="{C6FC2437-D48F-416F-A1D4-572FB69A1953}" type="pres">
      <dgm:prSet presAssocID="{09BC7D86-32CE-48C2-8EA2-AF274E196506}" presName="node" presStyleLbl="node1" presStyleIdx="1" presStyleCnt="3" custScaleX="235795">
        <dgm:presLayoutVars>
          <dgm:bulletEnabled val="1"/>
        </dgm:presLayoutVars>
      </dgm:prSet>
      <dgm:spPr>
        <a:prstGeom prst="roundRect">
          <a:avLst/>
        </a:prstGeom>
      </dgm:spPr>
    </dgm:pt>
    <dgm:pt modelId="{12FBDE64-1B68-42F6-B1D6-DC9516DB5D6A}" type="pres">
      <dgm:prSet presAssocID="{CF34439C-B8A5-41C3-A672-DB83237E092A}" presName="sibTrans" presStyleCnt="0"/>
      <dgm:spPr/>
    </dgm:pt>
    <dgm:pt modelId="{6A77F664-46C9-49C6-A3A0-C2E61B669939}" type="pres">
      <dgm:prSet presAssocID="{35AE832F-F340-453B-8690-B0749F38198F}" presName="node" presStyleLbl="node1" presStyleIdx="2" presStyleCnt="3" custScaleX="235795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81075C73-7DB0-41B3-8E1F-3F2FED91B86F}" type="presOf" srcId="{33FB3F97-C2FD-4194-B487-0AB841262F4F}" destId="{BAC5B4C3-A031-4F8C-9DFB-EBC55EE67BB7}" srcOrd="0" destOrd="0" presId="urn:microsoft.com/office/officeart/2005/8/layout/default"/>
    <dgm:cxn modelId="{AB8B7684-F932-466F-9034-08F7977D7120}" type="presOf" srcId="{B3E01046-20F1-4305-AAC6-A636C463784F}" destId="{F9D109B5-D1E7-4DD0-91B8-6B58D0E634BE}" srcOrd="0" destOrd="0" presId="urn:microsoft.com/office/officeart/2005/8/layout/default"/>
    <dgm:cxn modelId="{ECC7FA86-D6C0-4007-BCFD-7D96E0A2A32D}" srcId="{33FB3F97-C2FD-4194-B487-0AB841262F4F}" destId="{B3E01046-20F1-4305-AAC6-A636C463784F}" srcOrd="0" destOrd="0" parTransId="{29894589-E3B7-40C9-971D-2A413222EE50}" sibTransId="{AE5E7DC4-AA1F-4D17-AD38-83F6F4B937CD}"/>
    <dgm:cxn modelId="{4ACB57C8-6882-4397-AD75-7EC81A6225B8}" type="presOf" srcId="{09BC7D86-32CE-48C2-8EA2-AF274E196506}" destId="{C6FC2437-D48F-416F-A1D4-572FB69A1953}" srcOrd="0" destOrd="0" presId="urn:microsoft.com/office/officeart/2005/8/layout/default"/>
    <dgm:cxn modelId="{B6E158E6-8401-49C3-AC43-0A00A7C16A24}" srcId="{33FB3F97-C2FD-4194-B487-0AB841262F4F}" destId="{09BC7D86-32CE-48C2-8EA2-AF274E196506}" srcOrd="1" destOrd="0" parTransId="{1C43F425-55A5-48A3-8147-1CA3C9CE49CF}" sibTransId="{CF34439C-B8A5-41C3-A672-DB83237E092A}"/>
    <dgm:cxn modelId="{E87E09F7-DD9E-4A7C-A05F-7EBBB9A5D732}" srcId="{33FB3F97-C2FD-4194-B487-0AB841262F4F}" destId="{35AE832F-F340-453B-8690-B0749F38198F}" srcOrd="2" destOrd="0" parTransId="{2A17CD20-6412-445E-A2AC-DAF52EDDF294}" sibTransId="{A0FFA304-5725-4469-A31D-1AA90433726C}"/>
    <dgm:cxn modelId="{70FA96FA-917A-4C4F-9B9C-79F1A1F41980}" type="presOf" srcId="{35AE832F-F340-453B-8690-B0749F38198F}" destId="{6A77F664-46C9-49C6-A3A0-C2E61B669939}" srcOrd="0" destOrd="0" presId="urn:microsoft.com/office/officeart/2005/8/layout/default"/>
    <dgm:cxn modelId="{8EB2F275-9E2A-42B0-98EC-7D5976ECEDAA}" type="presParOf" srcId="{BAC5B4C3-A031-4F8C-9DFB-EBC55EE67BB7}" destId="{F9D109B5-D1E7-4DD0-91B8-6B58D0E634BE}" srcOrd="0" destOrd="0" presId="urn:microsoft.com/office/officeart/2005/8/layout/default"/>
    <dgm:cxn modelId="{92BAD63E-266F-4EA2-9DA0-F13983320FE7}" type="presParOf" srcId="{BAC5B4C3-A031-4F8C-9DFB-EBC55EE67BB7}" destId="{17DB102F-5E8E-44B9-879B-570744E2DD71}" srcOrd="1" destOrd="0" presId="urn:microsoft.com/office/officeart/2005/8/layout/default"/>
    <dgm:cxn modelId="{941F1533-4DEF-4897-AA98-F264D62DF146}" type="presParOf" srcId="{BAC5B4C3-A031-4F8C-9DFB-EBC55EE67BB7}" destId="{C6FC2437-D48F-416F-A1D4-572FB69A1953}" srcOrd="2" destOrd="0" presId="urn:microsoft.com/office/officeart/2005/8/layout/default"/>
    <dgm:cxn modelId="{3B0F8008-717D-4190-AECA-6DC352369ED3}" type="presParOf" srcId="{BAC5B4C3-A031-4F8C-9DFB-EBC55EE67BB7}" destId="{12FBDE64-1B68-42F6-B1D6-DC9516DB5D6A}" srcOrd="3" destOrd="0" presId="urn:microsoft.com/office/officeart/2005/8/layout/default"/>
    <dgm:cxn modelId="{47E4DFD4-FB4C-4858-BCC3-BC35705F1E97}" type="presParOf" srcId="{BAC5B4C3-A031-4F8C-9DFB-EBC55EE67BB7}" destId="{6A77F664-46C9-49C6-A3A0-C2E61B669939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6CFB3A1-F9F2-4064-A640-91F6ABB2B965}" type="doc">
      <dgm:prSet loTypeId="urn:microsoft.com/office/officeart/2008/layout/Lin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776BF026-826A-4E94-B486-7F4CFFF6EEB9}">
      <dgm:prSet custT="1"/>
      <dgm:spPr/>
      <dgm:t>
        <a:bodyPr/>
        <a:lstStyle/>
        <a:p>
          <a:pPr algn="r"/>
          <a:r>
            <a:rPr lang="ru-RU" sz="1100" b="0" i="0" dirty="0">
              <a:latin typeface="+mn-lt"/>
            </a:rPr>
            <a:t>ОСОБЕННОСТИ РАСПОЛОЖЕНИЯ:</a:t>
          </a:r>
          <a:endParaRPr lang="ru-RU" sz="1100" dirty="0">
            <a:latin typeface="+mn-lt"/>
          </a:endParaRPr>
        </a:p>
      </dgm:t>
    </dgm:pt>
    <dgm:pt modelId="{864D0E54-9F8A-442B-9450-995B343E7D80}" type="parTrans" cxnId="{1469959C-DFD7-4B88-AD6F-E4F0865EB43D}">
      <dgm:prSet/>
      <dgm:spPr/>
      <dgm:t>
        <a:bodyPr/>
        <a:lstStyle/>
        <a:p>
          <a:pPr algn="r"/>
          <a:endParaRPr lang="ru-RU" sz="1100">
            <a:latin typeface="Century Gothic" panose="020B0502020202020204" pitchFamily="34" charset="0"/>
          </a:endParaRPr>
        </a:p>
      </dgm:t>
    </dgm:pt>
    <dgm:pt modelId="{EF124751-0FA7-40C3-8A62-CA8FA2474DE2}" type="sibTrans" cxnId="{1469959C-DFD7-4B88-AD6F-E4F0865EB43D}">
      <dgm:prSet/>
      <dgm:spPr/>
      <dgm:t>
        <a:bodyPr/>
        <a:lstStyle/>
        <a:p>
          <a:pPr algn="r"/>
          <a:endParaRPr lang="ru-RU" sz="1100">
            <a:latin typeface="Century Gothic" panose="020B0502020202020204" pitchFamily="34" charset="0"/>
          </a:endParaRPr>
        </a:p>
      </dgm:t>
    </dgm:pt>
    <dgm:pt modelId="{A8D6E49D-128D-4EEA-A3E0-922C43DB4AB0}" type="pres">
      <dgm:prSet presAssocID="{16CFB3A1-F9F2-4064-A640-91F6ABB2B965}" presName="vert0" presStyleCnt="0">
        <dgm:presLayoutVars>
          <dgm:dir/>
          <dgm:animOne val="branch"/>
          <dgm:animLvl val="lvl"/>
        </dgm:presLayoutVars>
      </dgm:prSet>
      <dgm:spPr/>
    </dgm:pt>
    <dgm:pt modelId="{3A816BDC-65FE-4B1A-AF56-4AA5C10F1BE0}" type="pres">
      <dgm:prSet presAssocID="{776BF026-826A-4E94-B486-7F4CFFF6EEB9}" presName="thickLine" presStyleLbl="alignNode1" presStyleIdx="0" presStyleCnt="1"/>
      <dgm:spPr>
        <a:ln>
          <a:solidFill>
            <a:srgbClr val="EF8600"/>
          </a:solidFill>
        </a:ln>
      </dgm:spPr>
    </dgm:pt>
    <dgm:pt modelId="{0C6F524B-2601-425B-B26A-77280456C0CE}" type="pres">
      <dgm:prSet presAssocID="{776BF026-826A-4E94-B486-7F4CFFF6EEB9}" presName="horz1" presStyleCnt="0"/>
      <dgm:spPr/>
    </dgm:pt>
    <dgm:pt modelId="{8EB72E0B-B909-41A1-9C57-D96F7C7AAFB8}" type="pres">
      <dgm:prSet presAssocID="{776BF026-826A-4E94-B486-7F4CFFF6EEB9}" presName="tx1" presStyleLbl="revTx" presStyleIdx="0" presStyleCnt="1" custLinFactNeighborX="-3931" custLinFactNeighborY="41557"/>
      <dgm:spPr/>
    </dgm:pt>
    <dgm:pt modelId="{1510FDEB-B503-4D1A-BC2E-F15D38190FDC}" type="pres">
      <dgm:prSet presAssocID="{776BF026-826A-4E94-B486-7F4CFFF6EEB9}" presName="vert1" presStyleCnt="0"/>
      <dgm:spPr/>
    </dgm:pt>
  </dgm:ptLst>
  <dgm:cxnLst>
    <dgm:cxn modelId="{1469959C-DFD7-4B88-AD6F-E4F0865EB43D}" srcId="{16CFB3A1-F9F2-4064-A640-91F6ABB2B965}" destId="{776BF026-826A-4E94-B486-7F4CFFF6EEB9}" srcOrd="0" destOrd="0" parTransId="{864D0E54-9F8A-442B-9450-995B343E7D80}" sibTransId="{EF124751-0FA7-40C3-8A62-CA8FA2474DE2}"/>
    <dgm:cxn modelId="{CD6912A2-649E-41DF-88D7-AE1760F34376}" type="presOf" srcId="{776BF026-826A-4E94-B486-7F4CFFF6EEB9}" destId="{8EB72E0B-B909-41A1-9C57-D96F7C7AAFB8}" srcOrd="0" destOrd="0" presId="urn:microsoft.com/office/officeart/2008/layout/LinedList"/>
    <dgm:cxn modelId="{669717BE-0035-43C1-9EE9-F23FD792551A}" type="presOf" srcId="{16CFB3A1-F9F2-4064-A640-91F6ABB2B965}" destId="{A8D6E49D-128D-4EEA-A3E0-922C43DB4AB0}" srcOrd="0" destOrd="0" presId="urn:microsoft.com/office/officeart/2008/layout/LinedList"/>
    <dgm:cxn modelId="{3490C19F-F024-49F4-9AC9-4A215115DC10}" type="presParOf" srcId="{A8D6E49D-128D-4EEA-A3E0-922C43DB4AB0}" destId="{3A816BDC-65FE-4B1A-AF56-4AA5C10F1BE0}" srcOrd="0" destOrd="0" presId="urn:microsoft.com/office/officeart/2008/layout/LinedList"/>
    <dgm:cxn modelId="{7544031E-B478-4135-9777-CD19F881B185}" type="presParOf" srcId="{A8D6E49D-128D-4EEA-A3E0-922C43DB4AB0}" destId="{0C6F524B-2601-425B-B26A-77280456C0CE}" srcOrd="1" destOrd="0" presId="urn:microsoft.com/office/officeart/2008/layout/LinedList"/>
    <dgm:cxn modelId="{53FBA202-5A90-4C41-A263-BAA862A80562}" type="presParOf" srcId="{0C6F524B-2601-425B-B26A-77280456C0CE}" destId="{8EB72E0B-B909-41A1-9C57-D96F7C7AAFB8}" srcOrd="0" destOrd="0" presId="urn:microsoft.com/office/officeart/2008/layout/LinedList"/>
    <dgm:cxn modelId="{C0F8521D-14D2-4E84-8B64-363ACDDE5FC1}" type="presParOf" srcId="{0C6F524B-2601-425B-B26A-77280456C0CE}" destId="{1510FDEB-B503-4D1A-BC2E-F15D38190FD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6CFB3A1-F9F2-4064-A640-91F6ABB2B965}" type="doc">
      <dgm:prSet loTypeId="urn:microsoft.com/office/officeart/2008/layout/Lin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776BF026-826A-4E94-B486-7F4CFFF6EEB9}">
      <dgm:prSet custT="1"/>
      <dgm:spPr/>
      <dgm:t>
        <a:bodyPr/>
        <a:lstStyle/>
        <a:p>
          <a:pPr algn="l"/>
          <a:r>
            <a:rPr lang="ru-RU" sz="1100" b="0" i="0" dirty="0">
              <a:latin typeface="+mn-lt"/>
            </a:rPr>
            <a:t>БАЗОВАЯ ФУНКЦИЯ ЗАРУБЕЖНЫХ ОБЩЕСТВЕННЫХ ЦЕНТРОВ </a:t>
          </a:r>
          <a:br>
            <a:rPr lang="ru-RU" sz="1100" b="0" i="0" dirty="0">
              <a:latin typeface="+mn-lt"/>
            </a:rPr>
          </a:br>
          <a:r>
            <a:rPr lang="ru-RU" sz="1100" b="0" i="0" dirty="0">
              <a:latin typeface="+mn-lt"/>
            </a:rPr>
            <a:t>В СЕЛЬСКОЙ МЕСТНОСТИ:</a:t>
          </a:r>
          <a:endParaRPr lang="ru-RU" sz="1100" dirty="0">
            <a:latin typeface="+mn-lt"/>
          </a:endParaRPr>
        </a:p>
      </dgm:t>
    </dgm:pt>
    <dgm:pt modelId="{864D0E54-9F8A-442B-9450-995B343E7D80}" type="parTrans" cxnId="{1469959C-DFD7-4B88-AD6F-E4F0865EB43D}">
      <dgm:prSet/>
      <dgm:spPr/>
      <dgm:t>
        <a:bodyPr/>
        <a:lstStyle/>
        <a:p>
          <a:pPr algn="r"/>
          <a:endParaRPr lang="ru-RU" sz="1100">
            <a:latin typeface="Century Gothic" panose="020B0502020202020204" pitchFamily="34" charset="0"/>
          </a:endParaRPr>
        </a:p>
      </dgm:t>
    </dgm:pt>
    <dgm:pt modelId="{EF124751-0FA7-40C3-8A62-CA8FA2474DE2}" type="sibTrans" cxnId="{1469959C-DFD7-4B88-AD6F-E4F0865EB43D}">
      <dgm:prSet/>
      <dgm:spPr/>
      <dgm:t>
        <a:bodyPr/>
        <a:lstStyle/>
        <a:p>
          <a:pPr algn="r"/>
          <a:endParaRPr lang="ru-RU" sz="1100">
            <a:latin typeface="Century Gothic" panose="020B0502020202020204" pitchFamily="34" charset="0"/>
          </a:endParaRPr>
        </a:p>
      </dgm:t>
    </dgm:pt>
    <dgm:pt modelId="{A8D6E49D-128D-4EEA-A3E0-922C43DB4AB0}" type="pres">
      <dgm:prSet presAssocID="{16CFB3A1-F9F2-4064-A640-91F6ABB2B965}" presName="vert0" presStyleCnt="0">
        <dgm:presLayoutVars>
          <dgm:dir/>
          <dgm:animOne val="branch"/>
          <dgm:animLvl val="lvl"/>
        </dgm:presLayoutVars>
      </dgm:prSet>
      <dgm:spPr/>
    </dgm:pt>
    <dgm:pt modelId="{3A816BDC-65FE-4B1A-AF56-4AA5C10F1BE0}" type="pres">
      <dgm:prSet presAssocID="{776BF026-826A-4E94-B486-7F4CFFF6EEB9}" presName="thickLine" presStyleLbl="alignNode1" presStyleIdx="0" presStyleCnt="1"/>
      <dgm:spPr>
        <a:ln>
          <a:solidFill>
            <a:srgbClr val="EF8600"/>
          </a:solidFill>
        </a:ln>
      </dgm:spPr>
    </dgm:pt>
    <dgm:pt modelId="{0C6F524B-2601-425B-B26A-77280456C0CE}" type="pres">
      <dgm:prSet presAssocID="{776BF026-826A-4E94-B486-7F4CFFF6EEB9}" presName="horz1" presStyleCnt="0"/>
      <dgm:spPr/>
    </dgm:pt>
    <dgm:pt modelId="{8EB72E0B-B909-41A1-9C57-D96F7C7AAFB8}" type="pres">
      <dgm:prSet presAssocID="{776BF026-826A-4E94-B486-7F4CFFF6EEB9}" presName="tx1" presStyleLbl="revTx" presStyleIdx="0" presStyleCnt="1" custLinFactNeighborX="-3931" custLinFactNeighborY="41557"/>
      <dgm:spPr/>
    </dgm:pt>
    <dgm:pt modelId="{1510FDEB-B503-4D1A-BC2E-F15D38190FDC}" type="pres">
      <dgm:prSet presAssocID="{776BF026-826A-4E94-B486-7F4CFFF6EEB9}" presName="vert1" presStyleCnt="0"/>
      <dgm:spPr/>
    </dgm:pt>
  </dgm:ptLst>
  <dgm:cxnLst>
    <dgm:cxn modelId="{1469959C-DFD7-4B88-AD6F-E4F0865EB43D}" srcId="{16CFB3A1-F9F2-4064-A640-91F6ABB2B965}" destId="{776BF026-826A-4E94-B486-7F4CFFF6EEB9}" srcOrd="0" destOrd="0" parTransId="{864D0E54-9F8A-442B-9450-995B343E7D80}" sibTransId="{EF124751-0FA7-40C3-8A62-CA8FA2474DE2}"/>
    <dgm:cxn modelId="{CD6912A2-649E-41DF-88D7-AE1760F34376}" type="presOf" srcId="{776BF026-826A-4E94-B486-7F4CFFF6EEB9}" destId="{8EB72E0B-B909-41A1-9C57-D96F7C7AAFB8}" srcOrd="0" destOrd="0" presId="urn:microsoft.com/office/officeart/2008/layout/LinedList"/>
    <dgm:cxn modelId="{669717BE-0035-43C1-9EE9-F23FD792551A}" type="presOf" srcId="{16CFB3A1-F9F2-4064-A640-91F6ABB2B965}" destId="{A8D6E49D-128D-4EEA-A3E0-922C43DB4AB0}" srcOrd="0" destOrd="0" presId="urn:microsoft.com/office/officeart/2008/layout/LinedList"/>
    <dgm:cxn modelId="{3490C19F-F024-49F4-9AC9-4A215115DC10}" type="presParOf" srcId="{A8D6E49D-128D-4EEA-A3E0-922C43DB4AB0}" destId="{3A816BDC-65FE-4B1A-AF56-4AA5C10F1BE0}" srcOrd="0" destOrd="0" presId="urn:microsoft.com/office/officeart/2008/layout/LinedList"/>
    <dgm:cxn modelId="{7544031E-B478-4135-9777-CD19F881B185}" type="presParOf" srcId="{A8D6E49D-128D-4EEA-A3E0-922C43DB4AB0}" destId="{0C6F524B-2601-425B-B26A-77280456C0CE}" srcOrd="1" destOrd="0" presId="urn:microsoft.com/office/officeart/2008/layout/LinedList"/>
    <dgm:cxn modelId="{53FBA202-5A90-4C41-A263-BAA862A80562}" type="presParOf" srcId="{0C6F524B-2601-425B-B26A-77280456C0CE}" destId="{8EB72E0B-B909-41A1-9C57-D96F7C7AAFB8}" srcOrd="0" destOrd="0" presId="urn:microsoft.com/office/officeart/2008/layout/LinedList"/>
    <dgm:cxn modelId="{C0F8521D-14D2-4E84-8B64-363ACDDE5FC1}" type="presParOf" srcId="{0C6F524B-2601-425B-B26A-77280456C0CE}" destId="{1510FDEB-B503-4D1A-BC2E-F15D38190FD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3CFC3AA-FAE4-44B7-AC58-3995D1DE28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2822B1D-3889-4EE6-A024-3DE70E7ED1B9}">
      <dgm:prSet custT="1"/>
      <dgm:spPr/>
      <dgm:t>
        <a:bodyPr/>
        <a:lstStyle/>
        <a:p>
          <a:r>
            <a:rPr lang="ru-RU" sz="3200" b="1" dirty="0"/>
            <a:t>Национальные цели развития Российской Федерации </a:t>
          </a:r>
          <a:r>
            <a:rPr lang="ru-RU" sz="3200" dirty="0"/>
            <a:t>на период до 2030 года и на перспективу до 2036 года:</a:t>
          </a:r>
        </a:p>
      </dgm:t>
    </dgm:pt>
    <dgm:pt modelId="{B5640A20-F3D4-46DF-97FD-6E01C2BA77BF}" type="parTrans" cxnId="{0348C04A-3CEA-4C4C-9D0E-CDF522036FA3}">
      <dgm:prSet/>
      <dgm:spPr/>
      <dgm:t>
        <a:bodyPr/>
        <a:lstStyle/>
        <a:p>
          <a:endParaRPr lang="ru-RU"/>
        </a:p>
      </dgm:t>
    </dgm:pt>
    <dgm:pt modelId="{A4E2E2E1-FE0D-4974-8AFC-E15B147DDFD9}" type="sibTrans" cxnId="{0348C04A-3CEA-4C4C-9D0E-CDF522036FA3}">
      <dgm:prSet/>
      <dgm:spPr/>
      <dgm:t>
        <a:bodyPr/>
        <a:lstStyle/>
        <a:p>
          <a:endParaRPr lang="ru-RU"/>
        </a:p>
      </dgm:t>
    </dgm:pt>
    <dgm:pt modelId="{EEDE9D20-80E9-409D-8E1E-46D1B69DE18A}">
      <dgm:prSet custT="1"/>
      <dgm:spPr/>
      <dgm:t>
        <a:bodyPr/>
        <a:lstStyle/>
        <a:p>
          <a:r>
            <a:rPr lang="ru-RU" sz="3000" b="1" dirty="0">
              <a:solidFill>
                <a:schemeClr val="accent1"/>
              </a:solidFill>
            </a:rPr>
            <a:t>сохранение населения</a:t>
          </a:r>
          <a:r>
            <a:rPr lang="ru-RU" sz="3000" dirty="0"/>
            <a:t>, укрепление здоровья и повышение благополучия людей, поддержка семьи;</a:t>
          </a:r>
        </a:p>
      </dgm:t>
    </dgm:pt>
    <dgm:pt modelId="{245F3336-C49E-452F-90DC-CC69F79A5290}" type="parTrans" cxnId="{223CE5CC-D64C-475B-AEDC-1AE956733A08}">
      <dgm:prSet/>
      <dgm:spPr/>
      <dgm:t>
        <a:bodyPr/>
        <a:lstStyle/>
        <a:p>
          <a:endParaRPr lang="ru-RU"/>
        </a:p>
      </dgm:t>
    </dgm:pt>
    <dgm:pt modelId="{1A3D29A4-4B2D-4C24-8AAF-3C904432E29A}" type="sibTrans" cxnId="{223CE5CC-D64C-475B-AEDC-1AE956733A08}">
      <dgm:prSet/>
      <dgm:spPr/>
      <dgm:t>
        <a:bodyPr/>
        <a:lstStyle/>
        <a:p>
          <a:endParaRPr lang="ru-RU"/>
        </a:p>
      </dgm:t>
    </dgm:pt>
    <dgm:pt modelId="{7CB82305-B37B-4E72-A46D-429FD4367337}">
      <dgm:prSet custT="1"/>
      <dgm:spPr/>
      <dgm:t>
        <a:bodyPr/>
        <a:lstStyle/>
        <a:p>
          <a:r>
            <a:rPr lang="ru-RU" sz="3000" dirty="0"/>
            <a:t>устойчивая и динамичная </a:t>
          </a:r>
          <a:r>
            <a:rPr lang="ru-RU" sz="3000" b="1" dirty="0">
              <a:solidFill>
                <a:schemeClr val="accent1"/>
              </a:solidFill>
            </a:rPr>
            <a:t>экономика</a:t>
          </a:r>
          <a:r>
            <a:rPr lang="ru-RU" sz="3000" dirty="0"/>
            <a:t>;</a:t>
          </a:r>
        </a:p>
      </dgm:t>
    </dgm:pt>
    <dgm:pt modelId="{195C6F5A-E02E-4A96-A7DD-2870303B496A}" type="parTrans" cxnId="{F8EDEF03-516B-458A-AF09-12EE401B432F}">
      <dgm:prSet/>
      <dgm:spPr/>
      <dgm:t>
        <a:bodyPr/>
        <a:lstStyle/>
        <a:p>
          <a:endParaRPr lang="ru-RU"/>
        </a:p>
      </dgm:t>
    </dgm:pt>
    <dgm:pt modelId="{683ACED9-B1B2-4AD3-A33C-B0996EA7601A}" type="sibTrans" cxnId="{F8EDEF03-516B-458A-AF09-12EE401B432F}">
      <dgm:prSet/>
      <dgm:spPr/>
      <dgm:t>
        <a:bodyPr/>
        <a:lstStyle/>
        <a:p>
          <a:endParaRPr lang="ru-RU"/>
        </a:p>
      </dgm:t>
    </dgm:pt>
    <dgm:pt modelId="{15E978E3-EEAA-40CB-8DC4-CDD344E7B65F}">
      <dgm:prSet custT="1"/>
      <dgm:spPr/>
      <dgm:t>
        <a:bodyPr/>
        <a:lstStyle/>
        <a:p>
          <a:r>
            <a:rPr lang="ru-RU" sz="3000" dirty="0"/>
            <a:t>комфортная и безопасная </a:t>
          </a:r>
          <a:r>
            <a:rPr lang="ru-RU" sz="3000" b="1" dirty="0">
              <a:solidFill>
                <a:schemeClr val="accent1"/>
              </a:solidFill>
            </a:rPr>
            <a:t>среда для жизни</a:t>
          </a:r>
          <a:r>
            <a:rPr lang="ru-RU" sz="3000" dirty="0"/>
            <a:t>.</a:t>
          </a:r>
        </a:p>
      </dgm:t>
    </dgm:pt>
    <dgm:pt modelId="{9B971DBF-4EA8-46E8-A762-A2268EC531CC}" type="parTrans" cxnId="{AAE4DB1A-620C-4D38-9DD0-037F0A6A4ABA}">
      <dgm:prSet/>
      <dgm:spPr/>
      <dgm:t>
        <a:bodyPr/>
        <a:lstStyle/>
        <a:p>
          <a:endParaRPr lang="ru-RU"/>
        </a:p>
      </dgm:t>
    </dgm:pt>
    <dgm:pt modelId="{8BA09B2A-87B1-43C6-8B05-79F8DCF9CEFC}" type="sibTrans" cxnId="{AAE4DB1A-620C-4D38-9DD0-037F0A6A4ABA}">
      <dgm:prSet/>
      <dgm:spPr/>
      <dgm:t>
        <a:bodyPr/>
        <a:lstStyle/>
        <a:p>
          <a:endParaRPr lang="ru-RU"/>
        </a:p>
      </dgm:t>
    </dgm:pt>
    <dgm:pt modelId="{C3F61460-E71D-46D9-8157-502B58131AB2}" type="pres">
      <dgm:prSet presAssocID="{43CFC3AA-FAE4-44B7-AC58-3995D1DE282F}" presName="linear" presStyleCnt="0">
        <dgm:presLayoutVars>
          <dgm:animLvl val="lvl"/>
          <dgm:resizeHandles val="exact"/>
        </dgm:presLayoutVars>
      </dgm:prSet>
      <dgm:spPr/>
    </dgm:pt>
    <dgm:pt modelId="{0CA4E14B-B5EB-4D6A-A5F7-4FCBF406043E}" type="pres">
      <dgm:prSet presAssocID="{72822B1D-3889-4EE6-A024-3DE70E7ED1B9}" presName="parentText" presStyleLbl="node1" presStyleIdx="0" presStyleCnt="1" custScaleY="106548">
        <dgm:presLayoutVars>
          <dgm:chMax val="0"/>
          <dgm:bulletEnabled val="1"/>
        </dgm:presLayoutVars>
      </dgm:prSet>
      <dgm:spPr/>
    </dgm:pt>
    <dgm:pt modelId="{87D977D7-3922-4B9E-B980-279C395A1A25}" type="pres">
      <dgm:prSet presAssocID="{72822B1D-3889-4EE6-A024-3DE70E7ED1B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8EDEF03-516B-458A-AF09-12EE401B432F}" srcId="{72822B1D-3889-4EE6-A024-3DE70E7ED1B9}" destId="{7CB82305-B37B-4E72-A46D-429FD4367337}" srcOrd="1" destOrd="0" parTransId="{195C6F5A-E02E-4A96-A7DD-2870303B496A}" sibTransId="{683ACED9-B1B2-4AD3-A33C-B0996EA7601A}"/>
    <dgm:cxn modelId="{AAE4DB1A-620C-4D38-9DD0-037F0A6A4ABA}" srcId="{72822B1D-3889-4EE6-A024-3DE70E7ED1B9}" destId="{15E978E3-EEAA-40CB-8DC4-CDD344E7B65F}" srcOrd="2" destOrd="0" parTransId="{9B971DBF-4EA8-46E8-A762-A2268EC531CC}" sibTransId="{8BA09B2A-87B1-43C6-8B05-79F8DCF9CEFC}"/>
    <dgm:cxn modelId="{04057165-8B05-44EA-BA1E-B865381B02AD}" type="presOf" srcId="{15E978E3-EEAA-40CB-8DC4-CDD344E7B65F}" destId="{87D977D7-3922-4B9E-B980-279C395A1A25}" srcOrd="0" destOrd="2" presId="urn:microsoft.com/office/officeart/2005/8/layout/vList2"/>
    <dgm:cxn modelId="{0348C04A-3CEA-4C4C-9D0E-CDF522036FA3}" srcId="{43CFC3AA-FAE4-44B7-AC58-3995D1DE282F}" destId="{72822B1D-3889-4EE6-A024-3DE70E7ED1B9}" srcOrd="0" destOrd="0" parTransId="{B5640A20-F3D4-46DF-97FD-6E01C2BA77BF}" sibTransId="{A4E2E2E1-FE0D-4974-8AFC-E15B147DDFD9}"/>
    <dgm:cxn modelId="{D8D85C8F-03BF-41B5-96A8-3BD69A8B1309}" type="presOf" srcId="{72822B1D-3889-4EE6-A024-3DE70E7ED1B9}" destId="{0CA4E14B-B5EB-4D6A-A5F7-4FCBF406043E}" srcOrd="0" destOrd="0" presId="urn:microsoft.com/office/officeart/2005/8/layout/vList2"/>
    <dgm:cxn modelId="{D18AA6AF-7AB8-4B88-A3E3-9DC362BD145B}" type="presOf" srcId="{7CB82305-B37B-4E72-A46D-429FD4367337}" destId="{87D977D7-3922-4B9E-B980-279C395A1A25}" srcOrd="0" destOrd="1" presId="urn:microsoft.com/office/officeart/2005/8/layout/vList2"/>
    <dgm:cxn modelId="{8593E2B7-D2B2-4CEC-841A-6EAB9675457C}" type="presOf" srcId="{EEDE9D20-80E9-409D-8E1E-46D1B69DE18A}" destId="{87D977D7-3922-4B9E-B980-279C395A1A25}" srcOrd="0" destOrd="0" presId="urn:microsoft.com/office/officeart/2005/8/layout/vList2"/>
    <dgm:cxn modelId="{223CE5CC-D64C-475B-AEDC-1AE956733A08}" srcId="{72822B1D-3889-4EE6-A024-3DE70E7ED1B9}" destId="{EEDE9D20-80E9-409D-8E1E-46D1B69DE18A}" srcOrd="0" destOrd="0" parTransId="{245F3336-C49E-452F-90DC-CC69F79A5290}" sibTransId="{1A3D29A4-4B2D-4C24-8AAF-3C904432E29A}"/>
    <dgm:cxn modelId="{0E86F2D3-1C1C-4BDE-813D-6BD958EAEB64}" type="presOf" srcId="{43CFC3AA-FAE4-44B7-AC58-3995D1DE282F}" destId="{C3F61460-E71D-46D9-8157-502B58131AB2}" srcOrd="0" destOrd="0" presId="urn:microsoft.com/office/officeart/2005/8/layout/vList2"/>
    <dgm:cxn modelId="{6A26B278-4692-4415-B172-0298AF330D90}" type="presParOf" srcId="{C3F61460-E71D-46D9-8157-502B58131AB2}" destId="{0CA4E14B-B5EB-4D6A-A5F7-4FCBF406043E}" srcOrd="0" destOrd="0" presId="urn:microsoft.com/office/officeart/2005/8/layout/vList2"/>
    <dgm:cxn modelId="{6E1FA7B5-58F9-4C6E-A91A-82B9E4C13CA1}" type="presParOf" srcId="{C3F61460-E71D-46D9-8157-502B58131AB2}" destId="{87D977D7-3922-4B9E-B980-279C395A1A2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0117B5F-E735-4A7B-9986-571AE74ACDF1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5931C889-46F2-48F6-9CC9-9EAAF3CD4B9B}">
      <dgm:prSet custT="1"/>
      <dgm:spPr>
        <a:ln w="38100">
          <a:solidFill>
            <a:srgbClr val="2E3092"/>
          </a:solidFill>
        </a:ln>
      </dgm:spPr>
      <dgm:t>
        <a:bodyPr/>
        <a:lstStyle/>
        <a:p>
          <a:r>
            <a:rPr lang="ru-RU" sz="5600" b="1" i="0" dirty="0">
              <a:solidFill>
                <a:srgbClr val="2E3092"/>
              </a:solidFill>
            </a:rPr>
            <a:t>1,5% </a:t>
          </a:r>
          <a:br>
            <a:rPr lang="ru-RU" sz="5600" b="1" i="0" dirty="0">
              <a:solidFill>
                <a:srgbClr val="92D050"/>
              </a:solidFill>
            </a:rPr>
          </a:br>
          <a:r>
            <a:rPr lang="ru-RU" sz="2800" b="0" i="0" dirty="0"/>
            <a:t>от всех населённых пунктов</a:t>
          </a:r>
          <a:endParaRPr lang="ru-RU" sz="3400" dirty="0"/>
        </a:p>
      </dgm:t>
    </dgm:pt>
    <dgm:pt modelId="{CAF4FA0A-3C00-44B1-9FD5-EF3C2C67A636}" type="parTrans" cxnId="{52625BB5-01A2-4898-9AA8-3249FA9DB82E}">
      <dgm:prSet/>
      <dgm:spPr/>
      <dgm:t>
        <a:bodyPr/>
        <a:lstStyle/>
        <a:p>
          <a:endParaRPr lang="ru-RU"/>
        </a:p>
      </dgm:t>
    </dgm:pt>
    <dgm:pt modelId="{DEFA0FC2-7285-41A7-BE6A-DDFA723F24B1}" type="sibTrans" cxnId="{52625BB5-01A2-4898-9AA8-3249FA9DB82E}">
      <dgm:prSet/>
      <dgm:spPr/>
      <dgm:t>
        <a:bodyPr/>
        <a:lstStyle/>
        <a:p>
          <a:endParaRPr lang="ru-RU"/>
        </a:p>
      </dgm:t>
    </dgm:pt>
    <dgm:pt modelId="{C927FEE1-6EBB-4255-9134-2A52AD9DEEAE}">
      <dgm:prSet custT="1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5600" b="1" i="0" dirty="0">
              <a:solidFill>
                <a:schemeClr val="bg1"/>
              </a:solidFill>
            </a:rPr>
            <a:t>77,6% </a:t>
          </a:r>
          <a:r>
            <a:rPr lang="ru-RU" sz="2800" b="0" i="0" dirty="0">
              <a:solidFill>
                <a:schemeClr val="bg1"/>
              </a:solidFill>
            </a:rPr>
            <a:t>от общей численности населения России</a:t>
          </a:r>
          <a:endParaRPr lang="ru-RU" sz="3400" dirty="0">
            <a:solidFill>
              <a:schemeClr val="bg1"/>
            </a:solidFill>
          </a:endParaRPr>
        </a:p>
      </dgm:t>
    </dgm:pt>
    <dgm:pt modelId="{2F1C1FEB-A82B-4191-9D08-EC2B86C0132D}" type="parTrans" cxnId="{EABDA022-BDCE-4CB1-93EF-4A9173594AB7}">
      <dgm:prSet/>
      <dgm:spPr/>
      <dgm:t>
        <a:bodyPr/>
        <a:lstStyle/>
        <a:p>
          <a:endParaRPr lang="ru-RU"/>
        </a:p>
      </dgm:t>
    </dgm:pt>
    <dgm:pt modelId="{C983EA66-4270-4B84-A23D-C4CB1B5C66D3}" type="sibTrans" cxnId="{EABDA022-BDCE-4CB1-93EF-4A9173594AB7}">
      <dgm:prSet/>
      <dgm:spPr/>
      <dgm:t>
        <a:bodyPr/>
        <a:lstStyle/>
        <a:p>
          <a:endParaRPr lang="ru-RU"/>
        </a:p>
      </dgm:t>
    </dgm:pt>
    <dgm:pt modelId="{8067E82F-608D-4C3B-B4F6-4E90A5461CE9}" type="pres">
      <dgm:prSet presAssocID="{00117B5F-E735-4A7B-9986-571AE74ACDF1}" presName="diagram" presStyleCnt="0">
        <dgm:presLayoutVars>
          <dgm:dir/>
          <dgm:resizeHandles val="exact"/>
        </dgm:presLayoutVars>
      </dgm:prSet>
      <dgm:spPr/>
    </dgm:pt>
    <dgm:pt modelId="{96C8BD7A-A22F-4D48-B015-55B4068E7A2A}" type="pres">
      <dgm:prSet presAssocID="{5931C889-46F2-48F6-9CC9-9EAAF3CD4B9B}" presName="node" presStyleLbl="node1" presStyleIdx="0" presStyleCnt="2" custScaleX="62093">
        <dgm:presLayoutVars>
          <dgm:bulletEnabled val="1"/>
        </dgm:presLayoutVars>
      </dgm:prSet>
      <dgm:spPr>
        <a:prstGeom prst="ellipse">
          <a:avLst/>
        </a:prstGeom>
      </dgm:spPr>
    </dgm:pt>
    <dgm:pt modelId="{CB5FC08C-77AE-4F01-92B5-535402C26022}" type="pres">
      <dgm:prSet presAssocID="{DEFA0FC2-7285-41A7-BE6A-DDFA723F24B1}" presName="sibTrans" presStyleCnt="0"/>
      <dgm:spPr/>
    </dgm:pt>
    <dgm:pt modelId="{3D98EB4F-41C1-4392-982B-5FCAE8B709E3}" type="pres">
      <dgm:prSet presAssocID="{C927FEE1-6EBB-4255-9134-2A52AD9DEEAE}" presName="node" presStyleLbl="node1" presStyleIdx="1" presStyleCnt="2" custScaleX="62093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3CFA940E-4D5B-4C46-BB3D-AAD1E46F4E8F}" type="presOf" srcId="{C927FEE1-6EBB-4255-9134-2A52AD9DEEAE}" destId="{3D98EB4F-41C1-4392-982B-5FCAE8B709E3}" srcOrd="0" destOrd="0" presId="urn:microsoft.com/office/officeart/2005/8/layout/default"/>
    <dgm:cxn modelId="{47EB9D20-8C8F-4068-A31F-C928C3E2320F}" type="presOf" srcId="{5931C889-46F2-48F6-9CC9-9EAAF3CD4B9B}" destId="{96C8BD7A-A22F-4D48-B015-55B4068E7A2A}" srcOrd="0" destOrd="0" presId="urn:microsoft.com/office/officeart/2005/8/layout/default"/>
    <dgm:cxn modelId="{EABDA022-BDCE-4CB1-93EF-4A9173594AB7}" srcId="{00117B5F-E735-4A7B-9986-571AE74ACDF1}" destId="{C927FEE1-6EBB-4255-9134-2A52AD9DEEAE}" srcOrd="1" destOrd="0" parTransId="{2F1C1FEB-A82B-4191-9D08-EC2B86C0132D}" sibTransId="{C983EA66-4270-4B84-A23D-C4CB1B5C66D3}"/>
    <dgm:cxn modelId="{C20D8869-4C33-40D7-ACF3-DD680110B78E}" type="presOf" srcId="{00117B5F-E735-4A7B-9986-571AE74ACDF1}" destId="{8067E82F-608D-4C3B-B4F6-4E90A5461CE9}" srcOrd="0" destOrd="0" presId="urn:microsoft.com/office/officeart/2005/8/layout/default"/>
    <dgm:cxn modelId="{52625BB5-01A2-4898-9AA8-3249FA9DB82E}" srcId="{00117B5F-E735-4A7B-9986-571AE74ACDF1}" destId="{5931C889-46F2-48F6-9CC9-9EAAF3CD4B9B}" srcOrd="0" destOrd="0" parTransId="{CAF4FA0A-3C00-44B1-9FD5-EF3C2C67A636}" sibTransId="{DEFA0FC2-7285-41A7-BE6A-DDFA723F24B1}"/>
    <dgm:cxn modelId="{E7D5B2EA-5091-4056-8B94-C8F930808815}" type="presParOf" srcId="{8067E82F-608D-4C3B-B4F6-4E90A5461CE9}" destId="{96C8BD7A-A22F-4D48-B015-55B4068E7A2A}" srcOrd="0" destOrd="0" presId="urn:microsoft.com/office/officeart/2005/8/layout/default"/>
    <dgm:cxn modelId="{F044EE90-CC24-4C7F-88F6-35CE18DBA9EB}" type="presParOf" srcId="{8067E82F-608D-4C3B-B4F6-4E90A5461CE9}" destId="{CB5FC08C-77AE-4F01-92B5-535402C26022}" srcOrd="1" destOrd="0" presId="urn:microsoft.com/office/officeart/2005/8/layout/default"/>
    <dgm:cxn modelId="{B1C17F2D-C134-4A6C-AEBD-689B1FAFD25C}" type="presParOf" srcId="{8067E82F-608D-4C3B-B4F6-4E90A5461CE9}" destId="{3D98EB4F-41C1-4392-982B-5FCAE8B709E3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F8AFD14-0459-43BC-ADEA-C8A18CA434A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B6AAF153-2D06-4108-9E32-23AB86BC9019}">
      <dgm:prSet/>
      <dgm:spPr/>
      <dgm:t>
        <a:bodyPr/>
        <a:lstStyle/>
        <a:p>
          <a:r>
            <a:rPr lang="ru-RU" b="1"/>
            <a:t>Деградация</a:t>
          </a:r>
          <a:r>
            <a:rPr lang="ru-RU"/>
            <a:t> большей части населённых пунктов</a:t>
          </a:r>
        </a:p>
      </dgm:t>
    </dgm:pt>
    <dgm:pt modelId="{1597AC08-F14A-4A4F-A4C5-322214FDEC18}" type="parTrans" cxnId="{A0F3F6FC-9128-4B4E-95DA-334BB1C7243E}">
      <dgm:prSet/>
      <dgm:spPr/>
      <dgm:t>
        <a:bodyPr/>
        <a:lstStyle/>
        <a:p>
          <a:endParaRPr lang="ru-RU"/>
        </a:p>
      </dgm:t>
    </dgm:pt>
    <dgm:pt modelId="{2FE41CCA-9BE7-4EC9-B698-3926321EC3E3}" type="sibTrans" cxnId="{A0F3F6FC-9128-4B4E-95DA-334BB1C7243E}">
      <dgm:prSet/>
      <dgm:spPr/>
      <dgm:t>
        <a:bodyPr/>
        <a:lstStyle/>
        <a:p>
          <a:endParaRPr lang="ru-RU"/>
        </a:p>
      </dgm:t>
    </dgm:pt>
    <dgm:pt modelId="{FF2C3872-88AA-4171-9575-225A473A335F}">
      <dgm:prSet/>
      <dgm:spPr/>
      <dgm:t>
        <a:bodyPr/>
        <a:lstStyle/>
        <a:p>
          <a:r>
            <a:rPr lang="ru-RU" b="1"/>
            <a:t>Дефицит</a:t>
          </a:r>
          <a:r>
            <a:rPr lang="ru-RU"/>
            <a:t> кадров в реальном секторе экономики</a:t>
          </a:r>
        </a:p>
      </dgm:t>
    </dgm:pt>
    <dgm:pt modelId="{5ADA57C9-EA44-4042-BAED-EBFA46CBD278}" type="parTrans" cxnId="{B3D4BB77-4853-4119-A766-2C938E00CB98}">
      <dgm:prSet/>
      <dgm:spPr/>
      <dgm:t>
        <a:bodyPr/>
        <a:lstStyle/>
        <a:p>
          <a:endParaRPr lang="ru-RU"/>
        </a:p>
      </dgm:t>
    </dgm:pt>
    <dgm:pt modelId="{7E5477D2-4D57-4D7C-AE82-1744CF76B9E0}" type="sibTrans" cxnId="{B3D4BB77-4853-4119-A766-2C938E00CB98}">
      <dgm:prSet/>
      <dgm:spPr/>
      <dgm:t>
        <a:bodyPr/>
        <a:lstStyle/>
        <a:p>
          <a:endParaRPr lang="ru-RU"/>
        </a:p>
      </dgm:t>
    </dgm:pt>
    <dgm:pt modelId="{09F0F9FF-E2FE-4953-9078-8829AC79E6C1}">
      <dgm:prSet/>
      <dgm:spPr/>
      <dgm:t>
        <a:bodyPr/>
        <a:lstStyle/>
        <a:p>
          <a:r>
            <a:rPr lang="ru-RU" b="1"/>
            <a:t>Ухудшение</a:t>
          </a:r>
          <a:r>
            <a:rPr lang="ru-RU"/>
            <a:t> качества жизни в городах</a:t>
          </a:r>
        </a:p>
      </dgm:t>
    </dgm:pt>
    <dgm:pt modelId="{18A2BE8A-0510-4742-99AE-906C50BC51F8}" type="parTrans" cxnId="{625728D7-63D2-4265-8433-20AD326D7A22}">
      <dgm:prSet/>
      <dgm:spPr/>
      <dgm:t>
        <a:bodyPr/>
        <a:lstStyle/>
        <a:p>
          <a:endParaRPr lang="ru-RU"/>
        </a:p>
      </dgm:t>
    </dgm:pt>
    <dgm:pt modelId="{9E54AF12-2950-4DB8-A219-1181823C917C}" type="sibTrans" cxnId="{625728D7-63D2-4265-8433-20AD326D7A22}">
      <dgm:prSet/>
      <dgm:spPr/>
      <dgm:t>
        <a:bodyPr/>
        <a:lstStyle/>
        <a:p>
          <a:endParaRPr lang="ru-RU"/>
        </a:p>
      </dgm:t>
    </dgm:pt>
    <dgm:pt modelId="{DA39220D-5D0D-43E6-97C7-5A6823171E4C}">
      <dgm:prSet/>
      <dgm:spPr/>
      <dgm:t>
        <a:bodyPr/>
        <a:lstStyle/>
        <a:p>
          <a:r>
            <a:rPr lang="ru-RU"/>
            <a:t>Социальная </a:t>
          </a:r>
          <a:r>
            <a:rPr lang="ru-RU" b="1"/>
            <a:t>поляризация</a:t>
          </a:r>
          <a:endParaRPr lang="ru-RU"/>
        </a:p>
      </dgm:t>
    </dgm:pt>
    <dgm:pt modelId="{4459BCA0-8BD7-4874-BB3D-06C63B7C7A53}" type="parTrans" cxnId="{DFE62117-02EC-4C68-A7F2-9D0251BBE6CF}">
      <dgm:prSet/>
      <dgm:spPr/>
      <dgm:t>
        <a:bodyPr/>
        <a:lstStyle/>
        <a:p>
          <a:endParaRPr lang="ru-RU"/>
        </a:p>
      </dgm:t>
    </dgm:pt>
    <dgm:pt modelId="{F7E7F709-691C-4988-A5AA-783FECEA73AF}" type="sibTrans" cxnId="{DFE62117-02EC-4C68-A7F2-9D0251BBE6CF}">
      <dgm:prSet/>
      <dgm:spPr/>
      <dgm:t>
        <a:bodyPr/>
        <a:lstStyle/>
        <a:p>
          <a:endParaRPr lang="ru-RU"/>
        </a:p>
      </dgm:t>
    </dgm:pt>
    <dgm:pt modelId="{FA4F8A63-7D7A-48CB-96F5-24634C6F1339}">
      <dgm:prSet/>
      <dgm:spPr/>
      <dgm:t>
        <a:bodyPr/>
        <a:lstStyle/>
        <a:p>
          <a:r>
            <a:rPr lang="ru-RU" b="1"/>
            <a:t>Перегрузка</a:t>
          </a:r>
          <a:r>
            <a:rPr lang="ru-RU"/>
            <a:t> капитальной инфраструктуры</a:t>
          </a:r>
        </a:p>
      </dgm:t>
    </dgm:pt>
    <dgm:pt modelId="{39F97416-531E-4A57-B72D-24184D898FC6}" type="parTrans" cxnId="{3F808A15-FFB1-4AD0-B77E-2A0102DDD4EA}">
      <dgm:prSet/>
      <dgm:spPr/>
      <dgm:t>
        <a:bodyPr/>
        <a:lstStyle/>
        <a:p>
          <a:endParaRPr lang="ru-RU"/>
        </a:p>
      </dgm:t>
    </dgm:pt>
    <dgm:pt modelId="{D4160B96-92F7-4593-93A3-AC8523F37B20}" type="sibTrans" cxnId="{3F808A15-FFB1-4AD0-B77E-2A0102DDD4EA}">
      <dgm:prSet/>
      <dgm:spPr/>
      <dgm:t>
        <a:bodyPr/>
        <a:lstStyle/>
        <a:p>
          <a:endParaRPr lang="ru-RU"/>
        </a:p>
      </dgm:t>
    </dgm:pt>
    <dgm:pt modelId="{150A0D48-B6C3-4363-9E5F-B5EEA581D825}">
      <dgm:prSet/>
      <dgm:spPr/>
      <dgm:t>
        <a:bodyPr/>
        <a:lstStyle/>
        <a:p>
          <a:r>
            <a:rPr lang="ru-RU" b="1"/>
            <a:t>Экологическая</a:t>
          </a:r>
          <a:r>
            <a:rPr lang="ru-RU"/>
            <a:t> нагрузка</a:t>
          </a:r>
        </a:p>
      </dgm:t>
    </dgm:pt>
    <dgm:pt modelId="{EEB65FF7-6DD8-452E-8BF9-D4320223218C}" type="parTrans" cxnId="{9F952C77-0BFC-4CA5-BF92-E1DCB619B178}">
      <dgm:prSet/>
      <dgm:spPr/>
      <dgm:t>
        <a:bodyPr/>
        <a:lstStyle/>
        <a:p>
          <a:endParaRPr lang="ru-RU"/>
        </a:p>
      </dgm:t>
    </dgm:pt>
    <dgm:pt modelId="{D532C2FC-8E0B-41B6-A2B0-A254E8063411}" type="sibTrans" cxnId="{9F952C77-0BFC-4CA5-BF92-E1DCB619B178}">
      <dgm:prSet/>
      <dgm:spPr/>
      <dgm:t>
        <a:bodyPr/>
        <a:lstStyle/>
        <a:p>
          <a:endParaRPr lang="ru-RU"/>
        </a:p>
      </dgm:t>
    </dgm:pt>
    <dgm:pt modelId="{1349A3D5-264F-4E9B-B7A6-C773BDA1359D}">
      <dgm:prSet/>
      <dgm:spPr/>
      <dgm:t>
        <a:bodyPr/>
        <a:lstStyle/>
        <a:p>
          <a:r>
            <a:rPr lang="ru-RU" b="1"/>
            <a:t>Депопуляция</a:t>
          </a:r>
          <a:endParaRPr lang="ru-RU"/>
        </a:p>
      </dgm:t>
    </dgm:pt>
    <dgm:pt modelId="{4FA0ABA0-4BA5-4C52-B554-2683B5DD8379}" type="parTrans" cxnId="{0B78076D-D7D5-4376-BD40-12C1CB563811}">
      <dgm:prSet/>
      <dgm:spPr/>
      <dgm:t>
        <a:bodyPr/>
        <a:lstStyle/>
        <a:p>
          <a:endParaRPr lang="ru-RU"/>
        </a:p>
      </dgm:t>
    </dgm:pt>
    <dgm:pt modelId="{F801C206-6044-477B-ADF9-3CCC3424753E}" type="sibTrans" cxnId="{0B78076D-D7D5-4376-BD40-12C1CB563811}">
      <dgm:prSet/>
      <dgm:spPr/>
      <dgm:t>
        <a:bodyPr/>
        <a:lstStyle/>
        <a:p>
          <a:endParaRPr lang="ru-RU"/>
        </a:p>
      </dgm:t>
    </dgm:pt>
    <dgm:pt modelId="{7AC816B9-29CB-4C9C-85EC-6C668BA998D4}" type="pres">
      <dgm:prSet presAssocID="{4F8AFD14-0459-43BC-ADEA-C8A18CA434AF}" presName="linear" presStyleCnt="0">
        <dgm:presLayoutVars>
          <dgm:animLvl val="lvl"/>
          <dgm:resizeHandles val="exact"/>
        </dgm:presLayoutVars>
      </dgm:prSet>
      <dgm:spPr/>
    </dgm:pt>
    <dgm:pt modelId="{EF99742F-167D-43C7-A92A-CDB70DE484B2}" type="pres">
      <dgm:prSet presAssocID="{B6AAF153-2D06-4108-9E32-23AB86BC9019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16BE57D-CD68-449D-8F4C-F0C7F031F9E3}" type="pres">
      <dgm:prSet presAssocID="{2FE41CCA-9BE7-4EC9-B698-3926321EC3E3}" presName="spacer" presStyleCnt="0"/>
      <dgm:spPr/>
    </dgm:pt>
    <dgm:pt modelId="{70D61731-0196-4992-B6A2-1BD4F5773B1C}" type="pres">
      <dgm:prSet presAssocID="{FF2C3872-88AA-4171-9575-225A473A335F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74F21A9E-BA94-4415-B86D-B6F0437D10D8}" type="pres">
      <dgm:prSet presAssocID="{7E5477D2-4D57-4D7C-AE82-1744CF76B9E0}" presName="spacer" presStyleCnt="0"/>
      <dgm:spPr/>
    </dgm:pt>
    <dgm:pt modelId="{EC6FD2A8-8564-48C0-998E-4079831AE269}" type="pres">
      <dgm:prSet presAssocID="{09F0F9FF-E2FE-4953-9078-8829AC79E6C1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262C9DA-C4E9-4589-AE42-2748CBC56E63}" type="pres">
      <dgm:prSet presAssocID="{9E54AF12-2950-4DB8-A219-1181823C917C}" presName="spacer" presStyleCnt="0"/>
      <dgm:spPr/>
    </dgm:pt>
    <dgm:pt modelId="{A927978D-A4DF-4D65-B2BA-DBEA24B5F934}" type="pres">
      <dgm:prSet presAssocID="{DA39220D-5D0D-43E6-97C7-5A6823171E4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2DE3890F-1E0F-4681-9F8E-572CD0DC9CE3}" type="pres">
      <dgm:prSet presAssocID="{F7E7F709-691C-4988-A5AA-783FECEA73AF}" presName="spacer" presStyleCnt="0"/>
      <dgm:spPr/>
    </dgm:pt>
    <dgm:pt modelId="{A6A6F544-2126-4B09-875B-2B5BEDA8695E}" type="pres">
      <dgm:prSet presAssocID="{FA4F8A63-7D7A-48CB-96F5-24634C6F133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64CF786F-8CF4-46A3-B3EA-85E59FA40CC8}" type="pres">
      <dgm:prSet presAssocID="{D4160B96-92F7-4593-93A3-AC8523F37B20}" presName="spacer" presStyleCnt="0"/>
      <dgm:spPr/>
    </dgm:pt>
    <dgm:pt modelId="{92AF7F32-8B76-4B65-8290-EC2907B7EE6D}" type="pres">
      <dgm:prSet presAssocID="{150A0D48-B6C3-4363-9E5F-B5EEA581D82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D251BDF8-3682-46AA-A3E0-38D4E409E0F5}" type="pres">
      <dgm:prSet presAssocID="{D532C2FC-8E0B-41B6-A2B0-A254E8063411}" presName="spacer" presStyleCnt="0"/>
      <dgm:spPr/>
    </dgm:pt>
    <dgm:pt modelId="{DE70E4DE-B8FE-4CBC-88ED-219B938B9975}" type="pres">
      <dgm:prSet presAssocID="{1349A3D5-264F-4E9B-B7A6-C773BDA1359D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F808A15-FFB1-4AD0-B77E-2A0102DDD4EA}" srcId="{4F8AFD14-0459-43BC-ADEA-C8A18CA434AF}" destId="{FA4F8A63-7D7A-48CB-96F5-24634C6F1339}" srcOrd="4" destOrd="0" parTransId="{39F97416-531E-4A57-B72D-24184D898FC6}" sibTransId="{D4160B96-92F7-4593-93A3-AC8523F37B20}"/>
    <dgm:cxn modelId="{DFE62117-02EC-4C68-A7F2-9D0251BBE6CF}" srcId="{4F8AFD14-0459-43BC-ADEA-C8A18CA434AF}" destId="{DA39220D-5D0D-43E6-97C7-5A6823171E4C}" srcOrd="3" destOrd="0" parTransId="{4459BCA0-8BD7-4874-BB3D-06C63B7C7A53}" sibTransId="{F7E7F709-691C-4988-A5AA-783FECEA73AF}"/>
    <dgm:cxn modelId="{1A347060-5C4B-430D-B5D1-79F1FA99F3D1}" type="presOf" srcId="{DA39220D-5D0D-43E6-97C7-5A6823171E4C}" destId="{A927978D-A4DF-4D65-B2BA-DBEA24B5F934}" srcOrd="0" destOrd="0" presId="urn:microsoft.com/office/officeart/2005/8/layout/vList2"/>
    <dgm:cxn modelId="{0B78076D-D7D5-4376-BD40-12C1CB563811}" srcId="{4F8AFD14-0459-43BC-ADEA-C8A18CA434AF}" destId="{1349A3D5-264F-4E9B-B7A6-C773BDA1359D}" srcOrd="6" destOrd="0" parTransId="{4FA0ABA0-4BA5-4C52-B554-2683B5DD8379}" sibTransId="{F801C206-6044-477B-ADF9-3CCC3424753E}"/>
    <dgm:cxn modelId="{8C109A6F-83F3-476A-B781-EC31610000B9}" type="presOf" srcId="{09F0F9FF-E2FE-4953-9078-8829AC79E6C1}" destId="{EC6FD2A8-8564-48C0-998E-4079831AE269}" srcOrd="0" destOrd="0" presId="urn:microsoft.com/office/officeart/2005/8/layout/vList2"/>
    <dgm:cxn modelId="{9F952C77-0BFC-4CA5-BF92-E1DCB619B178}" srcId="{4F8AFD14-0459-43BC-ADEA-C8A18CA434AF}" destId="{150A0D48-B6C3-4363-9E5F-B5EEA581D825}" srcOrd="5" destOrd="0" parTransId="{EEB65FF7-6DD8-452E-8BF9-D4320223218C}" sibTransId="{D532C2FC-8E0B-41B6-A2B0-A254E8063411}"/>
    <dgm:cxn modelId="{B3D4BB77-4853-4119-A766-2C938E00CB98}" srcId="{4F8AFD14-0459-43BC-ADEA-C8A18CA434AF}" destId="{FF2C3872-88AA-4171-9575-225A473A335F}" srcOrd="1" destOrd="0" parTransId="{5ADA57C9-EA44-4042-BAED-EBFA46CBD278}" sibTransId="{7E5477D2-4D57-4D7C-AE82-1744CF76B9E0}"/>
    <dgm:cxn modelId="{FF37F259-103F-4D2C-ABB7-BA5264988B8B}" type="presOf" srcId="{150A0D48-B6C3-4363-9E5F-B5EEA581D825}" destId="{92AF7F32-8B76-4B65-8290-EC2907B7EE6D}" srcOrd="0" destOrd="0" presId="urn:microsoft.com/office/officeart/2005/8/layout/vList2"/>
    <dgm:cxn modelId="{2E93EEA5-5769-4C9E-BF6B-B07DF09DE5CE}" type="presOf" srcId="{4F8AFD14-0459-43BC-ADEA-C8A18CA434AF}" destId="{7AC816B9-29CB-4C9C-85EC-6C668BA998D4}" srcOrd="0" destOrd="0" presId="urn:microsoft.com/office/officeart/2005/8/layout/vList2"/>
    <dgm:cxn modelId="{B9BA45C3-0E10-49CE-8D3E-23BB4A76F761}" type="presOf" srcId="{FF2C3872-88AA-4171-9575-225A473A335F}" destId="{70D61731-0196-4992-B6A2-1BD4F5773B1C}" srcOrd="0" destOrd="0" presId="urn:microsoft.com/office/officeart/2005/8/layout/vList2"/>
    <dgm:cxn modelId="{60237CCA-83C1-49FA-B0BF-CB96B0C4B1AB}" type="presOf" srcId="{1349A3D5-264F-4E9B-B7A6-C773BDA1359D}" destId="{DE70E4DE-B8FE-4CBC-88ED-219B938B9975}" srcOrd="0" destOrd="0" presId="urn:microsoft.com/office/officeart/2005/8/layout/vList2"/>
    <dgm:cxn modelId="{625728D7-63D2-4265-8433-20AD326D7A22}" srcId="{4F8AFD14-0459-43BC-ADEA-C8A18CA434AF}" destId="{09F0F9FF-E2FE-4953-9078-8829AC79E6C1}" srcOrd="2" destOrd="0" parTransId="{18A2BE8A-0510-4742-99AE-906C50BC51F8}" sibTransId="{9E54AF12-2950-4DB8-A219-1181823C917C}"/>
    <dgm:cxn modelId="{6FA974E8-1B62-4CED-9A54-D3BDE84103E8}" type="presOf" srcId="{FA4F8A63-7D7A-48CB-96F5-24634C6F1339}" destId="{A6A6F544-2126-4B09-875B-2B5BEDA8695E}" srcOrd="0" destOrd="0" presId="urn:microsoft.com/office/officeart/2005/8/layout/vList2"/>
    <dgm:cxn modelId="{A0F3F6FC-9128-4B4E-95DA-334BB1C7243E}" srcId="{4F8AFD14-0459-43BC-ADEA-C8A18CA434AF}" destId="{B6AAF153-2D06-4108-9E32-23AB86BC9019}" srcOrd="0" destOrd="0" parTransId="{1597AC08-F14A-4A4F-A4C5-322214FDEC18}" sibTransId="{2FE41CCA-9BE7-4EC9-B698-3926321EC3E3}"/>
    <dgm:cxn modelId="{F908DBFE-C21B-458E-B101-120499EFC218}" type="presOf" srcId="{B6AAF153-2D06-4108-9E32-23AB86BC9019}" destId="{EF99742F-167D-43C7-A92A-CDB70DE484B2}" srcOrd="0" destOrd="0" presId="urn:microsoft.com/office/officeart/2005/8/layout/vList2"/>
    <dgm:cxn modelId="{6005CC8D-2E04-46BB-9B03-45B8B4DEBA33}" type="presParOf" srcId="{7AC816B9-29CB-4C9C-85EC-6C668BA998D4}" destId="{EF99742F-167D-43C7-A92A-CDB70DE484B2}" srcOrd="0" destOrd="0" presId="urn:microsoft.com/office/officeart/2005/8/layout/vList2"/>
    <dgm:cxn modelId="{26119317-86D3-4307-84CE-AA8B5269C824}" type="presParOf" srcId="{7AC816B9-29CB-4C9C-85EC-6C668BA998D4}" destId="{616BE57D-CD68-449D-8F4C-F0C7F031F9E3}" srcOrd="1" destOrd="0" presId="urn:microsoft.com/office/officeart/2005/8/layout/vList2"/>
    <dgm:cxn modelId="{B02AB6C8-1C9A-4280-AC8B-4C04319AA901}" type="presParOf" srcId="{7AC816B9-29CB-4C9C-85EC-6C668BA998D4}" destId="{70D61731-0196-4992-B6A2-1BD4F5773B1C}" srcOrd="2" destOrd="0" presId="urn:microsoft.com/office/officeart/2005/8/layout/vList2"/>
    <dgm:cxn modelId="{D47F24C1-03A7-4861-A8F2-68BFB266C28F}" type="presParOf" srcId="{7AC816B9-29CB-4C9C-85EC-6C668BA998D4}" destId="{74F21A9E-BA94-4415-B86D-B6F0437D10D8}" srcOrd="3" destOrd="0" presId="urn:microsoft.com/office/officeart/2005/8/layout/vList2"/>
    <dgm:cxn modelId="{58678653-979A-4879-AF1A-5293A0EA141E}" type="presParOf" srcId="{7AC816B9-29CB-4C9C-85EC-6C668BA998D4}" destId="{EC6FD2A8-8564-48C0-998E-4079831AE269}" srcOrd="4" destOrd="0" presId="urn:microsoft.com/office/officeart/2005/8/layout/vList2"/>
    <dgm:cxn modelId="{245F4C16-6495-4122-81C3-0E6CE2110A06}" type="presParOf" srcId="{7AC816B9-29CB-4C9C-85EC-6C668BA998D4}" destId="{6262C9DA-C4E9-4589-AE42-2748CBC56E63}" srcOrd="5" destOrd="0" presId="urn:microsoft.com/office/officeart/2005/8/layout/vList2"/>
    <dgm:cxn modelId="{A27B6BA6-64D7-413C-AF59-3CB7F981A0FF}" type="presParOf" srcId="{7AC816B9-29CB-4C9C-85EC-6C668BA998D4}" destId="{A927978D-A4DF-4D65-B2BA-DBEA24B5F934}" srcOrd="6" destOrd="0" presId="urn:microsoft.com/office/officeart/2005/8/layout/vList2"/>
    <dgm:cxn modelId="{72E5F403-3BAD-462A-83D8-E7D0CF773E70}" type="presParOf" srcId="{7AC816B9-29CB-4C9C-85EC-6C668BA998D4}" destId="{2DE3890F-1E0F-4681-9F8E-572CD0DC9CE3}" srcOrd="7" destOrd="0" presId="urn:microsoft.com/office/officeart/2005/8/layout/vList2"/>
    <dgm:cxn modelId="{B79004F1-F7BB-4EEA-B761-67D71D38E227}" type="presParOf" srcId="{7AC816B9-29CB-4C9C-85EC-6C668BA998D4}" destId="{A6A6F544-2126-4B09-875B-2B5BEDA8695E}" srcOrd="8" destOrd="0" presId="urn:microsoft.com/office/officeart/2005/8/layout/vList2"/>
    <dgm:cxn modelId="{5C34C60A-83DF-4DB1-B85A-7D9BBA44A38B}" type="presParOf" srcId="{7AC816B9-29CB-4C9C-85EC-6C668BA998D4}" destId="{64CF786F-8CF4-46A3-B3EA-85E59FA40CC8}" srcOrd="9" destOrd="0" presId="urn:microsoft.com/office/officeart/2005/8/layout/vList2"/>
    <dgm:cxn modelId="{2F4BE333-A69E-497E-AECB-65D03D66EBF0}" type="presParOf" srcId="{7AC816B9-29CB-4C9C-85EC-6C668BA998D4}" destId="{92AF7F32-8B76-4B65-8290-EC2907B7EE6D}" srcOrd="10" destOrd="0" presId="urn:microsoft.com/office/officeart/2005/8/layout/vList2"/>
    <dgm:cxn modelId="{153272CA-8FAD-4C85-AB32-6E6D2356599C}" type="presParOf" srcId="{7AC816B9-29CB-4C9C-85EC-6C668BA998D4}" destId="{D251BDF8-3682-46AA-A3E0-38D4E409E0F5}" srcOrd="11" destOrd="0" presId="urn:microsoft.com/office/officeart/2005/8/layout/vList2"/>
    <dgm:cxn modelId="{FA34C87D-0728-4643-A682-F0E58F2E5C2D}" type="presParOf" srcId="{7AC816B9-29CB-4C9C-85EC-6C668BA998D4}" destId="{DE70E4DE-B8FE-4CBC-88ED-219B938B9975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8198E6-76F3-4A5E-99B2-B29C0CAAF125}">
      <dsp:nvSpPr>
        <dsp:cNvPr id="0" name=""/>
        <dsp:cNvSpPr/>
      </dsp:nvSpPr>
      <dsp:spPr>
        <a:xfrm>
          <a:off x="0" y="71200"/>
          <a:ext cx="11725421" cy="121845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 dirty="0"/>
            <a:t>Опорный каркас расселения </a:t>
          </a:r>
          <a:r>
            <a:rPr lang="ru-RU" sz="1700" kern="1200" dirty="0"/>
            <a:t>– это сеть наиболее значительных поселений определённой территории и соединяющих их </a:t>
          </a:r>
          <a:r>
            <a:rPr lang="ru-RU" sz="1700" kern="1200" dirty="0" err="1"/>
            <a:t>транспорных</a:t>
          </a:r>
          <a:r>
            <a:rPr lang="ru-RU" sz="1700" kern="1200" dirty="0"/>
            <a:t> коммуникаций. </a:t>
          </a:r>
          <a:endParaRPr lang="en-US" sz="1700" kern="1200" dirty="0"/>
        </a:p>
      </dsp:txBody>
      <dsp:txXfrm>
        <a:off x="59480" y="130680"/>
        <a:ext cx="11606461" cy="1099496"/>
      </dsp:txXfrm>
    </dsp:sp>
    <dsp:sp modelId="{EBA72B0D-F93E-4D91-8EBD-A75D5A119A03}">
      <dsp:nvSpPr>
        <dsp:cNvPr id="0" name=""/>
        <dsp:cNvSpPr/>
      </dsp:nvSpPr>
      <dsp:spPr>
        <a:xfrm>
          <a:off x="0" y="1338616"/>
          <a:ext cx="11725421" cy="121845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Узловые элементы О. к. р.- </a:t>
          </a:r>
          <a:r>
            <a:rPr lang="ru-RU" sz="1700" b="1" kern="1200" dirty="0"/>
            <a:t>опорные центры расселения</a:t>
          </a:r>
          <a:r>
            <a:rPr lang="ru-RU" sz="1700" kern="1200" dirty="0"/>
            <a:t>, выполняют функции центральных поселений в региональных системах расселения определённого иерархического уровня и в свою очередь являются структурными</a:t>
          </a:r>
          <a:r>
            <a:rPr lang="ru-RU" sz="1700" i="1" kern="1200" dirty="0"/>
            <a:t> элементами систем расселения более высокого ранга</a:t>
          </a:r>
          <a:r>
            <a:rPr lang="ru-RU" sz="1700" kern="1200" dirty="0"/>
            <a:t>. </a:t>
          </a:r>
          <a:endParaRPr lang="en-US" sz="1700" kern="1200" dirty="0"/>
        </a:p>
      </dsp:txBody>
      <dsp:txXfrm>
        <a:off x="59480" y="1398096"/>
        <a:ext cx="11606461" cy="1099496"/>
      </dsp:txXfrm>
    </dsp:sp>
    <dsp:sp modelId="{B7CC99C3-8A80-4E0A-B8A8-024D4E61728B}">
      <dsp:nvSpPr>
        <dsp:cNvPr id="0" name=""/>
        <dsp:cNvSpPr/>
      </dsp:nvSpPr>
      <dsp:spPr>
        <a:xfrm>
          <a:off x="0" y="2606033"/>
          <a:ext cx="11725421" cy="121845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Узловые элементы О. к. р. стран и регионов - это, как правило, крупные города и городские агломерации, сочетающие функции </a:t>
          </a:r>
          <a:r>
            <a:rPr lang="ru-RU" sz="1700" i="1" kern="1200" dirty="0"/>
            <a:t>организации и всестороннего обслуживания окружающих территорий</a:t>
          </a:r>
          <a:r>
            <a:rPr lang="ru-RU" sz="1700" kern="1200" dirty="0"/>
            <a:t> и главных специализированных отраслевых центров страны (различных отраслей промышленности, науки, курортно-оздоровительные и др.). </a:t>
          </a:r>
          <a:endParaRPr lang="en-US" sz="1700" kern="1200" dirty="0"/>
        </a:p>
      </dsp:txBody>
      <dsp:txXfrm>
        <a:off x="59480" y="2665513"/>
        <a:ext cx="11606461" cy="1099496"/>
      </dsp:txXfrm>
    </dsp:sp>
    <dsp:sp modelId="{46CDFD78-0ABB-48C5-B81D-BA1D6D5EB395}">
      <dsp:nvSpPr>
        <dsp:cNvPr id="0" name=""/>
        <dsp:cNvSpPr/>
      </dsp:nvSpPr>
      <dsp:spPr>
        <a:xfrm>
          <a:off x="0" y="3873450"/>
          <a:ext cx="11725421" cy="121845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Узловыми элементами О. к. р. более дробных территорий могут служить и </a:t>
          </a:r>
          <a:r>
            <a:rPr lang="ru-RU" sz="1700" i="1" kern="1200" dirty="0"/>
            <a:t>относительно небольшие поселения </a:t>
          </a:r>
          <a:r>
            <a:rPr lang="ru-RU" sz="1700" kern="1200" dirty="0"/>
            <a:t>(например, в О. к. р. на уровне сел, низовых политико-административных районов СССР - центры усадьбы колхозов и совхозов, и т. п.).</a:t>
          </a:r>
          <a:endParaRPr lang="en-US" sz="1700" kern="1200" dirty="0"/>
        </a:p>
      </dsp:txBody>
      <dsp:txXfrm>
        <a:off x="59480" y="3932930"/>
        <a:ext cx="11606461" cy="10994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A02987-DF68-4C2D-9AB0-F878747F7FE9}">
      <dsp:nvSpPr>
        <dsp:cNvPr id="0" name=""/>
        <dsp:cNvSpPr/>
      </dsp:nvSpPr>
      <dsp:spPr>
        <a:xfrm>
          <a:off x="53" y="62450"/>
          <a:ext cx="5156414" cy="748800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kern="1200" dirty="0">
              <a:solidFill>
                <a:schemeClr val="bg1"/>
              </a:solidFill>
            </a:rPr>
            <a:t>Плюсы</a:t>
          </a:r>
          <a:endParaRPr lang="en-US" sz="2600" b="1" kern="1200" dirty="0">
            <a:solidFill>
              <a:schemeClr val="bg1"/>
            </a:solidFill>
          </a:endParaRPr>
        </a:p>
      </dsp:txBody>
      <dsp:txXfrm>
        <a:off x="53" y="62450"/>
        <a:ext cx="5156414" cy="748800"/>
      </dsp:txXfrm>
    </dsp:sp>
    <dsp:sp modelId="{25DB448D-0947-46B5-B41C-4D16B3537C4F}">
      <dsp:nvSpPr>
        <dsp:cNvPr id="0" name=""/>
        <dsp:cNvSpPr/>
      </dsp:nvSpPr>
      <dsp:spPr>
        <a:xfrm>
          <a:off x="53" y="811250"/>
          <a:ext cx="5156414" cy="34257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600" kern="1200" dirty="0"/>
            <a:t>Возрастающие качество и условия жизни для большинства населения территории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600" kern="1200" dirty="0"/>
            <a:t>Потенциал саморазвития территорий 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600" kern="1200" dirty="0"/>
            <a:t>Повышение мобильности населения </a:t>
          </a:r>
          <a:endParaRPr lang="en-US" sz="2600" kern="1200" dirty="0"/>
        </a:p>
      </dsp:txBody>
      <dsp:txXfrm>
        <a:off x="53" y="811250"/>
        <a:ext cx="5156414" cy="3425760"/>
      </dsp:txXfrm>
    </dsp:sp>
    <dsp:sp modelId="{D8B7145E-7445-4E5C-868E-56ECC016AB68}">
      <dsp:nvSpPr>
        <dsp:cNvPr id="0" name=""/>
        <dsp:cNvSpPr/>
      </dsp:nvSpPr>
      <dsp:spPr>
        <a:xfrm>
          <a:off x="5878366" y="62450"/>
          <a:ext cx="5156414" cy="748800"/>
        </a:xfrm>
        <a:prstGeom prst="rect">
          <a:avLst/>
        </a:prstGeom>
        <a:solidFill>
          <a:srgbClr val="FF0000"/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kern="1200" dirty="0">
              <a:solidFill>
                <a:schemeClr val="bg1"/>
              </a:solidFill>
            </a:rPr>
            <a:t>Минусы</a:t>
          </a:r>
          <a:endParaRPr lang="en-US" sz="2600" b="1" kern="1200" dirty="0">
            <a:solidFill>
              <a:schemeClr val="bg1"/>
            </a:solidFill>
          </a:endParaRPr>
        </a:p>
      </dsp:txBody>
      <dsp:txXfrm>
        <a:off x="5878366" y="62450"/>
        <a:ext cx="5156414" cy="748800"/>
      </dsp:txXfrm>
    </dsp:sp>
    <dsp:sp modelId="{4DDB5355-2D8B-4848-B0B8-B86BC80DD9B6}">
      <dsp:nvSpPr>
        <dsp:cNvPr id="0" name=""/>
        <dsp:cNvSpPr/>
      </dsp:nvSpPr>
      <dsp:spPr>
        <a:xfrm>
          <a:off x="5878366" y="811250"/>
          <a:ext cx="5156414" cy="34257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600" kern="1200" dirty="0"/>
            <a:t>Сокращение финансирования части территорий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600" kern="1200" dirty="0"/>
            <a:t>Запустевание и вымирание части территорий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600" kern="1200" dirty="0"/>
            <a:t>Сложность управления и вопросы подчинения </a:t>
          </a:r>
          <a:endParaRPr lang="en-US" sz="2600" kern="1200" dirty="0"/>
        </a:p>
      </dsp:txBody>
      <dsp:txXfrm>
        <a:off x="5878366" y="811250"/>
        <a:ext cx="5156414" cy="34257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087A47-0DE0-4EC9-9DA3-DC19BD452CAB}">
      <dsp:nvSpPr>
        <dsp:cNvPr id="0" name=""/>
        <dsp:cNvSpPr/>
      </dsp:nvSpPr>
      <dsp:spPr>
        <a:xfrm>
          <a:off x="0" y="106080"/>
          <a:ext cx="11848063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Аграрная политика СССР в 1960-х - сер. 1980-х гг., основанная на огосударствлении, централизации и концентрации сельскохозяйственного производства, привела к </a:t>
          </a:r>
          <a:r>
            <a:rPr lang="ru-RU" sz="1500" i="1" kern="1200" dirty="0"/>
            <a:t>окончательному отчуждению крестьян от земли</a:t>
          </a:r>
          <a:r>
            <a:rPr lang="ru-RU" sz="1500" kern="1200" dirty="0"/>
            <a:t>, превращению их в наемных рабочих. </a:t>
          </a:r>
          <a:endParaRPr lang="en-US" sz="1500" kern="1200" dirty="0"/>
        </a:p>
      </dsp:txBody>
      <dsp:txXfrm>
        <a:off x="40266" y="146346"/>
        <a:ext cx="11767531" cy="744318"/>
      </dsp:txXfrm>
    </dsp:sp>
    <dsp:sp modelId="{2063C6F6-FF0E-46F8-8917-3ECFFFCDEC11}">
      <dsp:nvSpPr>
        <dsp:cNvPr id="0" name=""/>
        <dsp:cNvSpPr/>
      </dsp:nvSpPr>
      <dsp:spPr>
        <a:xfrm>
          <a:off x="0" y="974130"/>
          <a:ext cx="11848063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Развернувшиеся же в 50 - 70-е гг. прошлого века процессы укрупнения колхозов, преобразования колхозов в совхозы, сселения «</a:t>
          </a:r>
          <a:r>
            <a:rPr lang="ru-RU" sz="1500" b="1" i="1" kern="1200"/>
            <a:t>неперспективных</a:t>
          </a:r>
          <a:r>
            <a:rPr lang="ru-RU" sz="1500" kern="1200"/>
            <a:t>» деревень </a:t>
          </a:r>
          <a:r>
            <a:rPr lang="ru-RU" sz="1500" i="1" kern="1200"/>
            <a:t>ускорили трагедию раскрестьянивания</a:t>
          </a:r>
          <a:r>
            <a:rPr lang="ru-RU" sz="1500" kern="1200"/>
            <a:t>. </a:t>
          </a:r>
          <a:endParaRPr lang="en-US" sz="1500" kern="1200"/>
        </a:p>
      </dsp:txBody>
      <dsp:txXfrm>
        <a:off x="40266" y="1014396"/>
        <a:ext cx="11767531" cy="744318"/>
      </dsp:txXfrm>
    </dsp:sp>
    <dsp:sp modelId="{A387B4E3-3F5D-4A8A-9F42-3BF3113A7DF8}">
      <dsp:nvSpPr>
        <dsp:cNvPr id="0" name=""/>
        <dsp:cNvSpPr/>
      </dsp:nvSpPr>
      <dsp:spPr>
        <a:xfrm>
          <a:off x="0" y="1842180"/>
          <a:ext cx="11848063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Причем, если резко активизировавшаяся, в связи с начавшейся с конца 1950-х гг. раздачей паспортов, закономерная в условиях индустриального общества сельская миграция в города являлась «</a:t>
          </a:r>
          <a:r>
            <a:rPr lang="ru-RU" sz="1500" i="1" kern="1200"/>
            <a:t>внутренним» фактором </a:t>
          </a:r>
          <a:r>
            <a:rPr lang="ru-RU" sz="1500" kern="1200"/>
            <a:t>данного процесса, то изменения в расселении выделены как «</a:t>
          </a:r>
          <a:r>
            <a:rPr lang="ru-RU" sz="1500" i="1" kern="1200"/>
            <a:t>внешний» фактор </a:t>
          </a:r>
          <a:r>
            <a:rPr lang="ru-RU" sz="1500" kern="1200"/>
            <a:t>раскрестьянивания.</a:t>
          </a:r>
          <a:endParaRPr lang="en-US" sz="1500" kern="1200"/>
        </a:p>
      </dsp:txBody>
      <dsp:txXfrm>
        <a:off x="40266" y="1882446"/>
        <a:ext cx="11767531" cy="744318"/>
      </dsp:txXfrm>
    </dsp:sp>
    <dsp:sp modelId="{AE3A84F7-F1B0-40D9-A5C7-C0DD8BA9E1C3}">
      <dsp:nvSpPr>
        <dsp:cNvPr id="0" name=""/>
        <dsp:cNvSpPr/>
      </dsp:nvSpPr>
      <dsp:spPr>
        <a:xfrm>
          <a:off x="0" y="2710230"/>
          <a:ext cx="11848063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Курс партии на все большую </a:t>
          </a:r>
          <a:r>
            <a:rPr lang="ru-RU" sz="1500" b="1" kern="1200" dirty="0"/>
            <a:t>концентрацию сельскохозяйственного производства</a:t>
          </a:r>
          <a:r>
            <a:rPr lang="ru-RU" sz="1500" kern="1200" dirty="0"/>
            <a:t>, начатый еще в 1950-е гг., получил в 1960-е - начале 1980-х гг. дальнейшее развитие в </a:t>
          </a:r>
          <a:r>
            <a:rPr lang="ru-RU" sz="1500" i="1" kern="1200" dirty="0"/>
            <a:t>ликвидации «</a:t>
          </a:r>
          <a:r>
            <a:rPr lang="ru-RU" sz="1500" b="1" i="1" kern="1200" dirty="0"/>
            <a:t>неперспективных</a:t>
          </a:r>
          <a:r>
            <a:rPr lang="ru-RU" sz="1500" i="1" kern="1200" dirty="0"/>
            <a:t>» сел и деревень</a:t>
          </a:r>
          <a:r>
            <a:rPr lang="ru-RU" sz="1500" kern="1200" dirty="0"/>
            <a:t>. </a:t>
          </a:r>
          <a:endParaRPr lang="en-US" sz="1500" kern="1200" dirty="0"/>
        </a:p>
      </dsp:txBody>
      <dsp:txXfrm>
        <a:off x="40266" y="2750496"/>
        <a:ext cx="11767531" cy="744318"/>
      </dsp:txXfrm>
    </dsp:sp>
    <dsp:sp modelId="{91807D0D-A5D9-437E-B0B0-6199F0330FAE}">
      <dsp:nvSpPr>
        <dsp:cNvPr id="0" name=""/>
        <dsp:cNvSpPr/>
      </dsp:nvSpPr>
      <dsp:spPr>
        <a:xfrm>
          <a:off x="0" y="3578281"/>
          <a:ext cx="11848063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Начало этой кампании связано с утверждением в 1960 г. НИИ Сельхозстроем Министерства сельского хозяйства СССР «</a:t>
          </a:r>
          <a:r>
            <a:rPr lang="ru-RU" sz="1500" i="1" kern="1200"/>
            <a:t>Правил застройки сельских населенных пунктов РСФСР</a:t>
          </a:r>
          <a:r>
            <a:rPr lang="ru-RU" sz="1500" kern="1200"/>
            <a:t>», в которых впервые и появился термин «</a:t>
          </a:r>
          <a:r>
            <a:rPr lang="ru-RU" sz="1500" b="1" i="1" kern="1200"/>
            <a:t>неперспективная деревня</a:t>
          </a:r>
          <a:r>
            <a:rPr lang="ru-RU" sz="1500" kern="1200"/>
            <a:t>». </a:t>
          </a:r>
          <a:endParaRPr lang="en-US" sz="1500" kern="1200"/>
        </a:p>
      </dsp:txBody>
      <dsp:txXfrm>
        <a:off x="40266" y="3618547"/>
        <a:ext cx="11767531" cy="744318"/>
      </dsp:txXfrm>
    </dsp:sp>
    <dsp:sp modelId="{3228D039-D114-4ACA-BBA2-FBAA571EFAB1}">
      <dsp:nvSpPr>
        <dsp:cNvPr id="0" name=""/>
        <dsp:cNvSpPr/>
      </dsp:nvSpPr>
      <dsp:spPr>
        <a:xfrm>
          <a:off x="0" y="4446331"/>
          <a:ext cx="11848063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Те же идеи лежали и в основе известного Постановления ЦК КПСС и Совета Министров СССР «</a:t>
          </a:r>
          <a:r>
            <a:rPr lang="ru-RU" sz="1500" i="1" kern="1200" dirty="0"/>
            <a:t>О мерах по дальнейшему развитию сельского хозяйства Нечерноземной зоны РСФСР</a:t>
          </a:r>
          <a:r>
            <a:rPr lang="ru-RU" sz="1500" kern="1200" dirty="0"/>
            <a:t>» (март 1974 г.), намечавшего </a:t>
          </a:r>
          <a:r>
            <a:rPr lang="ru-RU" sz="1500" u="sng" kern="1200" dirty="0"/>
            <a:t>укрупнение сел и ликвидацию</a:t>
          </a:r>
          <a:r>
            <a:rPr lang="ru-RU" sz="1500" kern="1200" dirty="0"/>
            <a:t> </a:t>
          </a:r>
          <a:r>
            <a:rPr lang="ru-RU" sz="1500" b="1" kern="1200" dirty="0"/>
            <a:t>114 тыс. населенных пунктов из 143 тыс. </a:t>
          </a:r>
          <a:endParaRPr lang="en-US" sz="1500" kern="1200" dirty="0"/>
        </a:p>
      </dsp:txBody>
      <dsp:txXfrm>
        <a:off x="40266" y="4486597"/>
        <a:ext cx="11767531" cy="7443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C6730-B004-4927-A525-5ED27ECEA950}">
      <dsp:nvSpPr>
        <dsp:cNvPr id="0" name=""/>
        <dsp:cNvSpPr/>
      </dsp:nvSpPr>
      <dsp:spPr>
        <a:xfrm>
          <a:off x="0" y="0"/>
          <a:ext cx="11925713" cy="10568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–– </a:t>
          </a:r>
          <a:r>
            <a:rPr lang="ru-RU" sz="1500" b="1" kern="1200" dirty="0"/>
            <a:t>целевые программы регионального развития </a:t>
          </a:r>
          <a:r>
            <a:rPr lang="ru-RU" sz="1500" kern="1200" dirty="0"/>
            <a:t>(с определением приоритетных направлений и региональных проблем, требующих концентрации совместных усилий государства и региональных органов власти, включая организационные вопросы и финансирование);</a:t>
          </a:r>
          <a:endParaRPr lang="en-US" sz="1500" kern="1200" dirty="0"/>
        </a:p>
      </dsp:txBody>
      <dsp:txXfrm>
        <a:off x="51591" y="51591"/>
        <a:ext cx="11822531" cy="953667"/>
      </dsp:txXfrm>
    </dsp:sp>
    <dsp:sp modelId="{B2ACFABE-4CDE-4B5C-AF73-66C0087E0DDB}">
      <dsp:nvSpPr>
        <dsp:cNvPr id="0" name=""/>
        <dsp:cNvSpPr/>
      </dsp:nvSpPr>
      <dsp:spPr>
        <a:xfrm>
          <a:off x="0" y="1162433"/>
          <a:ext cx="11925713" cy="105683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–– </a:t>
          </a:r>
          <a:r>
            <a:rPr lang="ru-RU" sz="1500" b="1" kern="1200" dirty="0"/>
            <a:t>бюджетно-налоговую систему </a:t>
          </a:r>
          <a:r>
            <a:rPr lang="ru-RU" sz="1500" kern="1200" dirty="0"/>
            <a:t>(целевые трансферты с центрального уровня; перераспределение бюджетных средств между регионами; установление налоговых льгот для отдельных регионов и видов предпринимательской деятельности, а иногда и полное освобождение от них на определенный период и др.);</a:t>
          </a:r>
          <a:endParaRPr lang="en-US" sz="1500" kern="1200" dirty="0"/>
        </a:p>
      </dsp:txBody>
      <dsp:txXfrm>
        <a:off x="51591" y="1214024"/>
        <a:ext cx="11822531" cy="953657"/>
      </dsp:txXfrm>
    </dsp:sp>
    <dsp:sp modelId="{9C943493-0F8A-4ADF-96A4-321F70E62D08}">
      <dsp:nvSpPr>
        <dsp:cNvPr id="0" name=""/>
        <dsp:cNvSpPr/>
      </dsp:nvSpPr>
      <dsp:spPr>
        <a:xfrm>
          <a:off x="0" y="2369082"/>
          <a:ext cx="11925713" cy="105683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–– </a:t>
          </a:r>
          <a:r>
            <a:rPr lang="ru-RU" sz="1500" b="1" kern="1200" dirty="0"/>
            <a:t>иные экономические регуляторы </a:t>
          </a:r>
          <a:r>
            <a:rPr lang="ru-RU" sz="1500" kern="1200" dirty="0"/>
            <a:t>(льготное кредитование и субсидирование фирм, создающих свои предприятия в проблемных регионах; предоставление безвозвратных ссуд на капитальное строительство или расширение действующих предприятий; финансовое покрытие расходов, связанных с подготовкой квалифицированных кадров; тарифное регулирование (снижение тарифов на транспорт, электроэнергию и т. п.); установление различного рода надбавок для закрепления людей на «сложных» территориях).</a:t>
          </a:r>
          <a:endParaRPr lang="en-US" sz="1500" kern="1200" dirty="0"/>
        </a:p>
      </dsp:txBody>
      <dsp:txXfrm>
        <a:off x="51591" y="2420673"/>
        <a:ext cx="11822531" cy="9536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86ABF5-5607-43D4-B8BE-62968DC962B4}">
      <dsp:nvSpPr>
        <dsp:cNvPr id="0" name=""/>
        <dsp:cNvSpPr/>
      </dsp:nvSpPr>
      <dsp:spPr bwMode="auto">
        <a:xfrm>
          <a:off x="0" y="64121"/>
          <a:ext cx="5582118" cy="21242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ru-RU" sz="1900" kern="1200" dirty="0"/>
            <a:t>Если расстояние между опорными населенными пунктами по дорогам общего пользования составляет менее 50 км, субъекту Российской Федерации рекомендуется определить один опорный населенный пункт.</a:t>
          </a:r>
          <a:endParaRPr sz="1900" kern="1200" dirty="0"/>
        </a:p>
      </dsp:txBody>
      <dsp:txXfrm>
        <a:off x="103698" y="167819"/>
        <a:ext cx="5374722" cy="1916869"/>
      </dsp:txXfrm>
    </dsp:sp>
    <dsp:sp modelId="{03791A8E-B848-4B4D-AEB7-3D5F45EF6CB7}">
      <dsp:nvSpPr>
        <dsp:cNvPr id="0" name=""/>
        <dsp:cNvSpPr/>
      </dsp:nvSpPr>
      <dsp:spPr bwMode="auto">
        <a:xfrm>
          <a:off x="0" y="2243107"/>
          <a:ext cx="5582118" cy="282737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ru-RU" sz="1900" kern="1200" dirty="0"/>
            <a:t>Для территорий с высокой или низкой плотностью населения, определяемой в соответствии с законодательством Российской Федерации, а также в случае отсутствия круглогодичной связи между прилегающими территориями и опорным населенным пунктом допускается отклонение от критериев, обозначенных в настоящих методических рекомендациях.</a:t>
          </a:r>
          <a:endParaRPr sz="1900" kern="1200" dirty="0"/>
        </a:p>
      </dsp:txBody>
      <dsp:txXfrm>
        <a:off x="138021" y="2381128"/>
        <a:ext cx="5306076" cy="25513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FD6D9B-61E4-4B23-8605-64A5A0F1C4BA}">
      <dsp:nvSpPr>
        <dsp:cNvPr id="0" name=""/>
        <dsp:cNvSpPr/>
      </dsp:nvSpPr>
      <dsp:spPr>
        <a:xfrm>
          <a:off x="3446" y="715024"/>
          <a:ext cx="2734448" cy="16406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Коммунальное хозяйство и инфраструктура</a:t>
          </a:r>
          <a:endParaRPr lang="ru-RU" sz="2400" kern="1200" dirty="0"/>
        </a:p>
      </dsp:txBody>
      <dsp:txXfrm>
        <a:off x="3446" y="715024"/>
        <a:ext cx="2734448" cy="1640668"/>
      </dsp:txXfrm>
    </dsp:sp>
    <dsp:sp modelId="{FEF03543-68A6-4D04-8FEF-CDC008BAA98F}">
      <dsp:nvSpPr>
        <dsp:cNvPr id="0" name=""/>
        <dsp:cNvSpPr/>
      </dsp:nvSpPr>
      <dsp:spPr>
        <a:xfrm>
          <a:off x="3011339" y="715024"/>
          <a:ext cx="2734448" cy="16406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Транспорт и связь</a:t>
          </a:r>
          <a:endParaRPr lang="ru-RU" sz="2400" kern="1200"/>
        </a:p>
      </dsp:txBody>
      <dsp:txXfrm>
        <a:off x="3011339" y="715024"/>
        <a:ext cx="2734448" cy="1640668"/>
      </dsp:txXfrm>
    </dsp:sp>
    <dsp:sp modelId="{F7292E9C-D1E1-4EFE-9F9D-48F25D1548C9}">
      <dsp:nvSpPr>
        <dsp:cNvPr id="0" name=""/>
        <dsp:cNvSpPr/>
      </dsp:nvSpPr>
      <dsp:spPr>
        <a:xfrm>
          <a:off x="6019232" y="715024"/>
          <a:ext cx="2734448" cy="16406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Образование</a:t>
          </a:r>
          <a:endParaRPr lang="ru-RU" sz="2400" kern="1200" dirty="0"/>
        </a:p>
      </dsp:txBody>
      <dsp:txXfrm>
        <a:off x="6019232" y="715024"/>
        <a:ext cx="2734448" cy="1640668"/>
      </dsp:txXfrm>
    </dsp:sp>
    <dsp:sp modelId="{DDBF6CC0-F8C6-44A7-8542-E41DCC35AA87}">
      <dsp:nvSpPr>
        <dsp:cNvPr id="0" name=""/>
        <dsp:cNvSpPr/>
      </dsp:nvSpPr>
      <dsp:spPr>
        <a:xfrm>
          <a:off x="9027125" y="715024"/>
          <a:ext cx="2734448" cy="16406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Здравоохранение</a:t>
          </a:r>
          <a:endParaRPr lang="ru-RU" sz="2400" kern="1200"/>
        </a:p>
      </dsp:txBody>
      <dsp:txXfrm>
        <a:off x="9027125" y="715024"/>
        <a:ext cx="2734448" cy="1640668"/>
      </dsp:txXfrm>
    </dsp:sp>
    <dsp:sp modelId="{C04BA1DF-03B5-486D-A860-679315E71A9A}">
      <dsp:nvSpPr>
        <dsp:cNvPr id="0" name=""/>
        <dsp:cNvSpPr/>
      </dsp:nvSpPr>
      <dsp:spPr>
        <a:xfrm>
          <a:off x="1507393" y="2629137"/>
          <a:ext cx="2734448" cy="16406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Социальная защита</a:t>
          </a:r>
          <a:endParaRPr lang="ru-RU" sz="2400" kern="1200" dirty="0"/>
        </a:p>
      </dsp:txBody>
      <dsp:txXfrm>
        <a:off x="1507393" y="2629137"/>
        <a:ext cx="2734448" cy="1640668"/>
      </dsp:txXfrm>
    </dsp:sp>
    <dsp:sp modelId="{6F369F21-F62C-40E7-998C-0647017A83E6}">
      <dsp:nvSpPr>
        <dsp:cNvPr id="0" name=""/>
        <dsp:cNvSpPr/>
      </dsp:nvSpPr>
      <dsp:spPr>
        <a:xfrm>
          <a:off x="4515286" y="2629137"/>
          <a:ext cx="2734448" cy="16406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Культура</a:t>
          </a:r>
          <a:endParaRPr lang="ru-RU" sz="2400" kern="1200" dirty="0"/>
        </a:p>
      </dsp:txBody>
      <dsp:txXfrm>
        <a:off x="4515286" y="2629137"/>
        <a:ext cx="2734448" cy="1640668"/>
      </dsp:txXfrm>
    </dsp:sp>
    <dsp:sp modelId="{7325E2EC-E958-4139-8D31-14B8DF547CE6}">
      <dsp:nvSpPr>
        <dsp:cNvPr id="0" name=""/>
        <dsp:cNvSpPr/>
      </dsp:nvSpPr>
      <dsp:spPr>
        <a:xfrm>
          <a:off x="7523179" y="2629137"/>
          <a:ext cx="2734448" cy="16406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Спорт</a:t>
          </a:r>
          <a:endParaRPr lang="ru-RU" sz="2400" kern="1200" dirty="0"/>
        </a:p>
      </dsp:txBody>
      <dsp:txXfrm>
        <a:off x="7523179" y="2629137"/>
        <a:ext cx="2734448" cy="16406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8DCBF6-89EE-4205-AA3D-19749E9491C2}">
      <dsp:nvSpPr>
        <dsp:cNvPr id="0" name=""/>
        <dsp:cNvSpPr/>
      </dsp:nvSpPr>
      <dsp:spPr>
        <a:xfrm>
          <a:off x="0" y="68"/>
          <a:ext cx="11929639" cy="4899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Объемно-пространственное решение:</a:t>
          </a:r>
          <a:endParaRPr lang="ru-RU" sz="2000" kern="1200" dirty="0"/>
        </a:p>
      </dsp:txBody>
      <dsp:txXfrm>
        <a:off x="23918" y="23986"/>
        <a:ext cx="11881803" cy="442124"/>
      </dsp:txXfrm>
    </dsp:sp>
    <dsp:sp modelId="{B135B0D4-2E86-4BE3-9D89-4E1730C11A66}">
      <dsp:nvSpPr>
        <dsp:cNvPr id="0" name=""/>
        <dsp:cNvSpPr/>
      </dsp:nvSpPr>
      <dsp:spPr>
        <a:xfrm>
          <a:off x="0" y="490028"/>
          <a:ext cx="11929639" cy="990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8766" tIns="20320" rIns="113792" bIns="20320" numCol="1" spcCol="1270" anchor="t" anchorCtr="0">
          <a:noAutofit/>
        </a:bodyPr>
        <a:lstStyle/>
        <a:p>
          <a:pPr marL="0" lvl="1" indent="0" algn="just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b="1" i="0" kern="1200" dirty="0"/>
            <a:t>Центры «под одной крышей»</a:t>
          </a:r>
          <a:r>
            <a:rPr lang="ru-RU" sz="1600" b="0" i="0" kern="1200" dirty="0"/>
            <a:t>, в которых все сложно взаимосвязанные функции собираются в один сложносочиненный объем.</a:t>
          </a:r>
          <a:endParaRPr lang="ru-RU" sz="1600" kern="1200" dirty="0"/>
        </a:p>
        <a:p>
          <a:pPr marL="0" lvl="1" indent="0" algn="just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b="1" i="0" kern="1200" dirty="0"/>
            <a:t>Пространственные центры</a:t>
          </a:r>
          <a:r>
            <a:rPr lang="ru-RU" sz="1600" b="0" i="0" kern="1200" dirty="0"/>
            <a:t>, состоящие из двух или более отдельно стоящих строений, функционально связанных открытыми общественными пространствами (площади, скверы и т.п.).</a:t>
          </a:r>
          <a:endParaRPr lang="ru-RU" sz="1600" kern="1200" dirty="0"/>
        </a:p>
      </dsp:txBody>
      <dsp:txXfrm>
        <a:off x="0" y="490028"/>
        <a:ext cx="11929639" cy="9906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29C1A6-AC4E-4244-9F39-51AD4CA47D03}">
      <dsp:nvSpPr>
        <dsp:cNvPr id="0" name=""/>
        <dsp:cNvSpPr/>
      </dsp:nvSpPr>
      <dsp:spPr>
        <a:xfrm>
          <a:off x="0" y="2624"/>
          <a:ext cx="11824180" cy="542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Функциональная насыщенность (базовая функция):</a:t>
          </a:r>
          <a:endParaRPr lang="ru-RU" sz="2000" kern="1200" dirty="0"/>
        </a:p>
      </dsp:txBody>
      <dsp:txXfrm>
        <a:off x="26501" y="29125"/>
        <a:ext cx="11771178" cy="4898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7F2FC6-6E85-43B0-8DDB-D801A72093E7}">
      <dsp:nvSpPr>
        <dsp:cNvPr id="0" name=""/>
        <dsp:cNvSpPr/>
      </dsp:nvSpPr>
      <dsp:spPr>
        <a:xfrm>
          <a:off x="0" y="3047"/>
          <a:ext cx="11785597" cy="540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Особенности расположения:</a:t>
          </a:r>
          <a:endParaRPr lang="ru-RU" sz="2200" kern="1200" dirty="0"/>
        </a:p>
      </dsp:txBody>
      <dsp:txXfrm>
        <a:off x="26387" y="29434"/>
        <a:ext cx="11732823" cy="4877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F5BFC6-DB39-44FE-BB61-260C4A8F0130}">
      <dsp:nvSpPr>
        <dsp:cNvPr id="0" name=""/>
        <dsp:cNvSpPr/>
      </dsp:nvSpPr>
      <dsp:spPr>
        <a:xfrm>
          <a:off x="4028" y="155986"/>
          <a:ext cx="2181026" cy="8938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образование</a:t>
          </a:r>
          <a:endParaRPr lang="ru-RU" sz="2300" kern="1200" dirty="0"/>
        </a:p>
      </dsp:txBody>
      <dsp:txXfrm>
        <a:off x="4028" y="155986"/>
        <a:ext cx="2181026" cy="893810"/>
      </dsp:txXfrm>
    </dsp:sp>
    <dsp:sp modelId="{E9020498-92BE-42B3-9DF0-0156C1B9ED02}">
      <dsp:nvSpPr>
        <dsp:cNvPr id="0" name=""/>
        <dsp:cNvSpPr/>
      </dsp:nvSpPr>
      <dsp:spPr>
        <a:xfrm>
          <a:off x="2403157" y="155986"/>
          <a:ext cx="2181026" cy="8938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спорт</a:t>
          </a:r>
          <a:endParaRPr lang="ru-RU" sz="2300" kern="1200" dirty="0"/>
        </a:p>
      </dsp:txBody>
      <dsp:txXfrm>
        <a:off x="2403157" y="155986"/>
        <a:ext cx="2181026" cy="893810"/>
      </dsp:txXfrm>
    </dsp:sp>
    <dsp:sp modelId="{4151969A-28DD-40D6-A892-A44E006CF0E6}">
      <dsp:nvSpPr>
        <dsp:cNvPr id="0" name=""/>
        <dsp:cNvSpPr/>
      </dsp:nvSpPr>
      <dsp:spPr>
        <a:xfrm>
          <a:off x="4802286" y="155986"/>
          <a:ext cx="2181026" cy="8938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дом культуры</a:t>
          </a:r>
          <a:endParaRPr lang="ru-RU" sz="2300" kern="1200" dirty="0"/>
        </a:p>
      </dsp:txBody>
      <dsp:txXfrm>
        <a:off x="4802286" y="155986"/>
        <a:ext cx="2181026" cy="893810"/>
      </dsp:txXfrm>
    </dsp:sp>
    <dsp:sp modelId="{32A46529-61D5-4B7E-B213-B284D80DBEC1}">
      <dsp:nvSpPr>
        <dsp:cNvPr id="0" name=""/>
        <dsp:cNvSpPr/>
      </dsp:nvSpPr>
      <dsp:spPr>
        <a:xfrm>
          <a:off x="7201415" y="155986"/>
          <a:ext cx="2181026" cy="8938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досуговый центр</a:t>
          </a:r>
          <a:endParaRPr lang="ru-RU" sz="2300" kern="1200" dirty="0"/>
        </a:p>
      </dsp:txBody>
      <dsp:txXfrm>
        <a:off x="7201415" y="155986"/>
        <a:ext cx="2181026" cy="893810"/>
      </dsp:txXfrm>
    </dsp:sp>
    <dsp:sp modelId="{659AE735-1B23-418C-A194-AD7D3398C0C2}">
      <dsp:nvSpPr>
        <dsp:cNvPr id="0" name=""/>
        <dsp:cNvSpPr/>
      </dsp:nvSpPr>
      <dsp:spPr>
        <a:xfrm>
          <a:off x="9600544" y="155986"/>
          <a:ext cx="2181026" cy="8938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общественное пространство</a:t>
          </a:r>
          <a:endParaRPr lang="ru-RU" sz="2300" kern="1200" dirty="0"/>
        </a:p>
      </dsp:txBody>
      <dsp:txXfrm>
        <a:off x="9600544" y="155986"/>
        <a:ext cx="2181026" cy="8938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D109B5-D1E7-4DD0-91B8-6B58D0E634BE}">
      <dsp:nvSpPr>
        <dsp:cNvPr id="0" name=""/>
        <dsp:cNvSpPr/>
      </dsp:nvSpPr>
      <dsp:spPr>
        <a:xfrm>
          <a:off x="1187" y="4868"/>
          <a:ext cx="3832251" cy="97514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В центре поселения</a:t>
          </a:r>
          <a:endParaRPr lang="ru-RU" sz="2400" kern="1200" dirty="0"/>
        </a:p>
      </dsp:txBody>
      <dsp:txXfrm>
        <a:off x="48790" y="52471"/>
        <a:ext cx="3737045" cy="879942"/>
      </dsp:txXfrm>
    </dsp:sp>
    <dsp:sp modelId="{C6FC2437-D48F-416F-A1D4-572FB69A1953}">
      <dsp:nvSpPr>
        <dsp:cNvPr id="0" name=""/>
        <dsp:cNvSpPr/>
      </dsp:nvSpPr>
      <dsp:spPr>
        <a:xfrm>
          <a:off x="3995963" y="4868"/>
          <a:ext cx="3832251" cy="97514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На окраине поселения</a:t>
          </a:r>
          <a:endParaRPr lang="ru-RU" sz="2400" kern="1200" dirty="0"/>
        </a:p>
      </dsp:txBody>
      <dsp:txXfrm>
        <a:off x="4043566" y="52471"/>
        <a:ext cx="3737045" cy="879942"/>
      </dsp:txXfrm>
    </dsp:sp>
    <dsp:sp modelId="{6A77F664-46C9-49C6-A3A0-C2E61B669939}">
      <dsp:nvSpPr>
        <dsp:cNvPr id="0" name=""/>
        <dsp:cNvSpPr/>
      </dsp:nvSpPr>
      <dsp:spPr>
        <a:xfrm>
          <a:off x="7990740" y="4868"/>
          <a:ext cx="3832251" cy="97514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lumMod val="7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Межпоселковые общественные центры</a:t>
          </a:r>
          <a:endParaRPr lang="ru-RU" sz="2400" kern="1200" dirty="0"/>
        </a:p>
      </dsp:txBody>
      <dsp:txXfrm>
        <a:off x="8038343" y="52471"/>
        <a:ext cx="3737045" cy="87994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16BDC-65FE-4B1A-AF56-4AA5C10F1BE0}">
      <dsp:nvSpPr>
        <dsp:cNvPr id="0" name=""/>
        <dsp:cNvSpPr/>
      </dsp:nvSpPr>
      <dsp:spPr>
        <a:xfrm>
          <a:off x="0" y="0"/>
          <a:ext cx="355341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EF86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72E0B-B909-41A1-9C57-D96F7C7AAFB8}">
      <dsp:nvSpPr>
        <dsp:cNvPr id="0" name=""/>
        <dsp:cNvSpPr/>
      </dsp:nvSpPr>
      <dsp:spPr>
        <a:xfrm>
          <a:off x="0" y="0"/>
          <a:ext cx="3553412" cy="464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i="0" kern="1200" dirty="0">
              <a:latin typeface="+mn-lt"/>
            </a:rPr>
            <a:t>ОСОБЕННОСТИ РАСПОЛОЖЕНИЯ:</a:t>
          </a:r>
          <a:endParaRPr lang="ru-RU" sz="1100" kern="1200" dirty="0">
            <a:latin typeface="+mn-lt"/>
          </a:endParaRPr>
        </a:p>
      </dsp:txBody>
      <dsp:txXfrm>
        <a:off x="0" y="0"/>
        <a:ext cx="3553412" cy="46481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16BDC-65FE-4B1A-AF56-4AA5C10F1BE0}">
      <dsp:nvSpPr>
        <dsp:cNvPr id="0" name=""/>
        <dsp:cNvSpPr/>
      </dsp:nvSpPr>
      <dsp:spPr>
        <a:xfrm>
          <a:off x="0" y="0"/>
          <a:ext cx="8303723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EF86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72E0B-B909-41A1-9C57-D96F7C7AAFB8}">
      <dsp:nvSpPr>
        <dsp:cNvPr id="0" name=""/>
        <dsp:cNvSpPr/>
      </dsp:nvSpPr>
      <dsp:spPr>
        <a:xfrm>
          <a:off x="0" y="0"/>
          <a:ext cx="8303723" cy="50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i="0" kern="1200" dirty="0">
              <a:latin typeface="+mn-lt"/>
            </a:rPr>
            <a:t>БАЗОВАЯ ФУНКЦИЯ ЗАРУБЕЖНЫХ ОБЩЕСТВЕННЫХ ЦЕНТРОВ </a:t>
          </a:r>
          <a:br>
            <a:rPr lang="ru-RU" sz="1100" b="0" i="0" kern="1200" dirty="0">
              <a:latin typeface="+mn-lt"/>
            </a:rPr>
          </a:br>
          <a:r>
            <a:rPr lang="ru-RU" sz="1100" b="0" i="0" kern="1200" dirty="0">
              <a:latin typeface="+mn-lt"/>
            </a:rPr>
            <a:t>В СЕЛЬСКОЙ МЕСТНОСТИ:</a:t>
          </a:r>
          <a:endParaRPr lang="ru-RU" sz="1100" kern="1200" dirty="0">
            <a:latin typeface="+mn-lt"/>
          </a:endParaRPr>
        </a:p>
      </dsp:txBody>
      <dsp:txXfrm>
        <a:off x="0" y="0"/>
        <a:ext cx="8303723" cy="505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A4E14B-B5EB-4D6A-A5F7-4FCBF406043E}">
      <dsp:nvSpPr>
        <dsp:cNvPr id="0" name=""/>
        <dsp:cNvSpPr/>
      </dsp:nvSpPr>
      <dsp:spPr>
        <a:xfrm>
          <a:off x="0" y="536620"/>
          <a:ext cx="11103108" cy="1377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1" kern="1200" dirty="0"/>
            <a:t>Национальные цели развития Российской Федерации </a:t>
          </a:r>
          <a:r>
            <a:rPr lang="ru-RU" sz="3200" kern="1200" dirty="0"/>
            <a:t>на период до 2030 года и на перспективу до 2036 года:</a:t>
          </a:r>
        </a:p>
      </dsp:txBody>
      <dsp:txXfrm>
        <a:off x="67244" y="603864"/>
        <a:ext cx="10968620" cy="1243017"/>
      </dsp:txXfrm>
    </dsp:sp>
    <dsp:sp modelId="{87D977D7-3922-4B9E-B980-279C395A1A25}">
      <dsp:nvSpPr>
        <dsp:cNvPr id="0" name=""/>
        <dsp:cNvSpPr/>
      </dsp:nvSpPr>
      <dsp:spPr>
        <a:xfrm>
          <a:off x="0" y="1914125"/>
          <a:ext cx="11103108" cy="1950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524" tIns="38100" rIns="213360" bIns="3810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3000" b="1" kern="1200" dirty="0">
              <a:solidFill>
                <a:schemeClr val="accent1"/>
              </a:solidFill>
            </a:rPr>
            <a:t>сохранение населения</a:t>
          </a:r>
          <a:r>
            <a:rPr lang="ru-RU" sz="3000" kern="1200" dirty="0"/>
            <a:t>, укрепление здоровья и повышение благополучия людей, поддержка семьи;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3000" kern="1200" dirty="0"/>
            <a:t>устойчивая и динамичная </a:t>
          </a:r>
          <a:r>
            <a:rPr lang="ru-RU" sz="3000" b="1" kern="1200" dirty="0">
              <a:solidFill>
                <a:schemeClr val="accent1"/>
              </a:solidFill>
            </a:rPr>
            <a:t>экономика</a:t>
          </a:r>
          <a:r>
            <a:rPr lang="ru-RU" sz="3000" kern="1200" dirty="0"/>
            <a:t>;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3000" kern="1200" dirty="0"/>
            <a:t>комфортная и безопасная </a:t>
          </a:r>
          <a:r>
            <a:rPr lang="ru-RU" sz="3000" b="1" kern="1200" dirty="0">
              <a:solidFill>
                <a:schemeClr val="accent1"/>
              </a:solidFill>
            </a:rPr>
            <a:t>среда для жизни</a:t>
          </a:r>
          <a:r>
            <a:rPr lang="ru-RU" sz="3000" kern="1200" dirty="0"/>
            <a:t>.</a:t>
          </a:r>
        </a:p>
      </dsp:txBody>
      <dsp:txXfrm>
        <a:off x="0" y="1914125"/>
        <a:ext cx="11103108" cy="195097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C8BD7A-A22F-4D48-B015-55B4068E7A2A}">
      <dsp:nvSpPr>
        <dsp:cNvPr id="0" name=""/>
        <dsp:cNvSpPr/>
      </dsp:nvSpPr>
      <dsp:spPr>
        <a:xfrm>
          <a:off x="1422615" y="3145"/>
          <a:ext cx="3940426" cy="380760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2E309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600" b="1" i="0" kern="1200" dirty="0">
              <a:solidFill>
                <a:srgbClr val="2E3092"/>
              </a:solidFill>
            </a:rPr>
            <a:t>1,5% </a:t>
          </a:r>
          <a:br>
            <a:rPr lang="ru-RU" sz="5600" b="1" i="0" kern="1200" dirty="0">
              <a:solidFill>
                <a:srgbClr val="92D050"/>
              </a:solidFill>
            </a:rPr>
          </a:br>
          <a:r>
            <a:rPr lang="ru-RU" sz="2800" b="0" i="0" kern="1200" dirty="0"/>
            <a:t>от всех населённых пунктов</a:t>
          </a:r>
          <a:endParaRPr lang="ru-RU" sz="3400" kern="1200" dirty="0"/>
        </a:p>
      </dsp:txBody>
      <dsp:txXfrm>
        <a:off x="1999677" y="560756"/>
        <a:ext cx="2786302" cy="2692382"/>
      </dsp:txXfrm>
    </dsp:sp>
    <dsp:sp modelId="{3D98EB4F-41C1-4392-982B-5FCAE8B709E3}">
      <dsp:nvSpPr>
        <dsp:cNvPr id="0" name=""/>
        <dsp:cNvSpPr/>
      </dsp:nvSpPr>
      <dsp:spPr>
        <a:xfrm>
          <a:off x="5997643" y="3145"/>
          <a:ext cx="3940426" cy="3807604"/>
        </a:xfrm>
        <a:prstGeom prst="ellipse">
          <a:avLst/>
        </a:prstGeom>
        <a:solidFill>
          <a:schemeClr val="accent1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600" b="1" i="0" kern="1200" dirty="0">
              <a:solidFill>
                <a:schemeClr val="bg1"/>
              </a:solidFill>
            </a:rPr>
            <a:t>77,6% </a:t>
          </a:r>
          <a:r>
            <a:rPr lang="ru-RU" sz="2800" b="0" i="0" kern="1200" dirty="0">
              <a:solidFill>
                <a:schemeClr val="bg1"/>
              </a:solidFill>
            </a:rPr>
            <a:t>от общей численности населения России</a:t>
          </a:r>
          <a:endParaRPr lang="ru-RU" sz="3400" kern="1200" dirty="0">
            <a:solidFill>
              <a:schemeClr val="bg1"/>
            </a:solidFill>
          </a:endParaRPr>
        </a:p>
      </dsp:txBody>
      <dsp:txXfrm>
        <a:off x="6574705" y="560756"/>
        <a:ext cx="2786302" cy="269238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9742F-167D-43C7-A92A-CDB70DE484B2}">
      <dsp:nvSpPr>
        <dsp:cNvPr id="0" name=""/>
        <dsp:cNvSpPr/>
      </dsp:nvSpPr>
      <dsp:spPr>
        <a:xfrm>
          <a:off x="0" y="39021"/>
          <a:ext cx="11114467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1" kern="1200"/>
            <a:t>Деградация</a:t>
          </a:r>
          <a:r>
            <a:rPr lang="ru-RU" sz="2700" kern="1200"/>
            <a:t> большей части населённых пунктов</a:t>
          </a:r>
        </a:p>
      </dsp:txBody>
      <dsp:txXfrm>
        <a:off x="32384" y="71405"/>
        <a:ext cx="11049699" cy="598621"/>
      </dsp:txXfrm>
    </dsp:sp>
    <dsp:sp modelId="{70D61731-0196-4992-B6A2-1BD4F5773B1C}">
      <dsp:nvSpPr>
        <dsp:cNvPr id="0" name=""/>
        <dsp:cNvSpPr/>
      </dsp:nvSpPr>
      <dsp:spPr>
        <a:xfrm>
          <a:off x="0" y="780171"/>
          <a:ext cx="11114467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1" kern="1200"/>
            <a:t>Дефицит</a:t>
          </a:r>
          <a:r>
            <a:rPr lang="ru-RU" sz="2700" kern="1200"/>
            <a:t> кадров в реальном секторе экономики</a:t>
          </a:r>
        </a:p>
      </dsp:txBody>
      <dsp:txXfrm>
        <a:off x="32384" y="812555"/>
        <a:ext cx="11049699" cy="598621"/>
      </dsp:txXfrm>
    </dsp:sp>
    <dsp:sp modelId="{EC6FD2A8-8564-48C0-998E-4079831AE269}">
      <dsp:nvSpPr>
        <dsp:cNvPr id="0" name=""/>
        <dsp:cNvSpPr/>
      </dsp:nvSpPr>
      <dsp:spPr>
        <a:xfrm>
          <a:off x="0" y="1521321"/>
          <a:ext cx="11114467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1" kern="1200"/>
            <a:t>Ухудшение</a:t>
          </a:r>
          <a:r>
            <a:rPr lang="ru-RU" sz="2700" kern="1200"/>
            <a:t> качества жизни в городах</a:t>
          </a:r>
        </a:p>
      </dsp:txBody>
      <dsp:txXfrm>
        <a:off x="32384" y="1553705"/>
        <a:ext cx="11049699" cy="598621"/>
      </dsp:txXfrm>
    </dsp:sp>
    <dsp:sp modelId="{A927978D-A4DF-4D65-B2BA-DBEA24B5F934}">
      <dsp:nvSpPr>
        <dsp:cNvPr id="0" name=""/>
        <dsp:cNvSpPr/>
      </dsp:nvSpPr>
      <dsp:spPr>
        <a:xfrm>
          <a:off x="0" y="2262471"/>
          <a:ext cx="11114467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/>
            <a:t>Социальная </a:t>
          </a:r>
          <a:r>
            <a:rPr lang="ru-RU" sz="2700" b="1" kern="1200"/>
            <a:t>поляризация</a:t>
          </a:r>
          <a:endParaRPr lang="ru-RU" sz="2700" kern="1200"/>
        </a:p>
      </dsp:txBody>
      <dsp:txXfrm>
        <a:off x="32384" y="2294855"/>
        <a:ext cx="11049699" cy="598621"/>
      </dsp:txXfrm>
    </dsp:sp>
    <dsp:sp modelId="{A6A6F544-2126-4B09-875B-2B5BEDA8695E}">
      <dsp:nvSpPr>
        <dsp:cNvPr id="0" name=""/>
        <dsp:cNvSpPr/>
      </dsp:nvSpPr>
      <dsp:spPr>
        <a:xfrm>
          <a:off x="0" y="3003621"/>
          <a:ext cx="11114467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1" kern="1200"/>
            <a:t>Перегрузка</a:t>
          </a:r>
          <a:r>
            <a:rPr lang="ru-RU" sz="2700" kern="1200"/>
            <a:t> капитальной инфраструктуры</a:t>
          </a:r>
        </a:p>
      </dsp:txBody>
      <dsp:txXfrm>
        <a:off x="32384" y="3036005"/>
        <a:ext cx="11049699" cy="598621"/>
      </dsp:txXfrm>
    </dsp:sp>
    <dsp:sp modelId="{92AF7F32-8B76-4B65-8290-EC2907B7EE6D}">
      <dsp:nvSpPr>
        <dsp:cNvPr id="0" name=""/>
        <dsp:cNvSpPr/>
      </dsp:nvSpPr>
      <dsp:spPr>
        <a:xfrm>
          <a:off x="0" y="3744771"/>
          <a:ext cx="11114467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1" kern="1200"/>
            <a:t>Экологическая</a:t>
          </a:r>
          <a:r>
            <a:rPr lang="ru-RU" sz="2700" kern="1200"/>
            <a:t> нагрузка</a:t>
          </a:r>
        </a:p>
      </dsp:txBody>
      <dsp:txXfrm>
        <a:off x="32384" y="3777155"/>
        <a:ext cx="11049699" cy="598621"/>
      </dsp:txXfrm>
    </dsp:sp>
    <dsp:sp modelId="{DE70E4DE-B8FE-4CBC-88ED-219B938B9975}">
      <dsp:nvSpPr>
        <dsp:cNvPr id="0" name=""/>
        <dsp:cNvSpPr/>
      </dsp:nvSpPr>
      <dsp:spPr>
        <a:xfrm>
          <a:off x="0" y="4485921"/>
          <a:ext cx="11114467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1" kern="1200"/>
            <a:t>Депопуляция</a:t>
          </a:r>
          <a:endParaRPr lang="ru-RU" sz="2700" kern="1200"/>
        </a:p>
      </dsp:txBody>
      <dsp:txXfrm>
        <a:off x="32384" y="4518305"/>
        <a:ext cx="11049699" cy="598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08DC9-48E3-4ABC-BE58-6854D059098B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FA6E8-849D-47CC-BFE3-7A530CFB6D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43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e117f92279_2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e117f92279_2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e117f92279_2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e117f92279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1169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e117f92279_2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e117f92279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e117f92279_2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4" name="Google Shape;314;ge117f92279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2511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9924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1100" dirty="0"/>
              <a:t>Выделено 19 групп сопоставимых территорий, при этом первая группа условная, т.к. в неё входят уникальные территории т.е. фактически не сопоставимые с другими. Некоторые субъекты входят сразу в несколько групп т.к. имеют несколько отраслей эффективной экономической специализации.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3103535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1514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8390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E2DE8-DCA6-4232-B4D2-7EDAE9DE58F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81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E2DE8-DCA6-4232-B4D2-7EDAE9DE58F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5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47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e117f92279_2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e117f92279_2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e117f92279_2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e117f92279_2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03230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e117f92279_2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e117f92279_2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52077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e117f92279_2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ru-RU" sz="1100" b="0" i="0" dirty="0">
              <a:latin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sz="1100" b="0" i="0" dirty="0">
                <a:latin typeface="Century Gothic" panose="020B0502020202020204" pitchFamily="34" charset="0"/>
              </a:rPr>
              <a:t>В центре: </a:t>
            </a:r>
            <a:r>
              <a:rPr lang="ru-RU" sz="1100" dirty="0"/>
              <a:t>Сельские поселения любых размеров, имеющие возможность размещения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sz="1100" dirty="0">
                <a:latin typeface="Century Gothic" panose="020B0502020202020204" pitchFamily="34" charset="0"/>
              </a:rPr>
              <a:t>На окраине: </a:t>
            </a:r>
            <a:r>
              <a:rPr lang="ru-RU" sz="1100" dirty="0"/>
              <a:t>Небольшие поселения с густонаселенными окрестностями. Крупные поселения с затесненным центром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sz="1100" dirty="0"/>
              <a:t>Межпоселковый: Разреженное расселение и  отсутствие достаточно крупного поселения, способного претендовать на роль центра социально-культурной инфраструктуры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ru-RU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ru-RU" sz="1100" dirty="0">
              <a:latin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ru-RU" sz="1100" dirty="0">
              <a:latin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ru-RU" sz="1100" dirty="0">
              <a:latin typeface="Century Gothic" panose="020B0502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6" name="Google Shape;346;ge117f92279_2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5207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Безусловно, в предложенном виде цель Стратегии не соответствует современным представлениям о стратегическом планировании, в соответствии с которыми цель должна быть конкретной, измеримой, достижимой, значимой, определённой во времени (по методике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SMART</a:t>
            </a: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0857D7-B45F-4A39-B24F-254AD65BA011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5963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 сожалению, заложенные в Стратегии задачи также не позволяют определить планируемое направление пространственного развития России.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0857D7-B45F-4A39-B24F-254AD65BA011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5322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Соответственно, Стратегия предполагает 2319 населённых пунктов, заслуживающих внимания. Согласно итогам «Всероссийской переписи населения» 2021 года, в России насчитывалось 155,5 тыс. населённых пунктов [3]. Таким образом, это примерно 1,5% от всех населённых пунктов, составляющих систему расселения России. С другой стороны, в них проживает подавляющая часть населения страны. Какая именно – без конкретного перечня сказать сложно, однако если предположить, что это первые 2319 населённых пунктов по численности населения, то суммарное значение в них составит порядка 114,3 млн чел. или 77,6% от общей численности населения России.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0857D7-B45F-4A39-B24F-254AD65BA011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8508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Подход к развитию приоритетных населённых пунктов очевидно вызван бюджетными ограничениями и содержит ряд недостатков, требующих внимания: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ru-RU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Бо́льшая</a:t>
            </a: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часть населённых пунктов России будет деградировать и </a:t>
            </a:r>
            <a:r>
              <a:rPr lang="ru-RU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обезлюживать</a:t>
            </a: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Концентрация ресурсов в малой части «приоритетных» населённых пунктов неизбежно приведёт к гибели остальных. Обширные территории России будут запустевать, что может привести к проблемам с пахотными землями и в охране государственных границ.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Малонаселённые пункты, как правило, базируются вокруг мест промышленного или сельскохозяйственного производства. Уменьшение численности населения в этих территориях приведёт к усугублению проблемы дефицита кадров, занятого в реальном секторе производства.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Увеличение плотности населения в городских агломерациях приведёт к удорожанию стоимости жилья и соразмерному уменьшению жилой площади, приходящейся на каждого жителя. В самой большой стране в мире население вынуждено будет ютиться в маленьких квартирках.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Социальная поляризация: объективно не всё население России сможет переехать в один из «приоритетных населённых пунктов». Дистанция в уровне доходов и качестве жизни будет увеличиваться, порождая маргинализацию населения по признаку территориальной принадлежности.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Перегрузка капитальной инфраструктуры. Увеличение плотности населения в городах ведёт к возрастанию нагрузки на все виды капитальной инфраструктуры. Кажется, что её можно модернизировать соразмерно увеличению численности населения, однако в сферах водоснабжения и водоотведения, электричества и автомобильных дорог такие проекты могут оказаться </a:t>
            </a:r>
            <a:r>
              <a:rPr lang="ru-RU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сверхзатратными</a:t>
            </a: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Экологическая нагрузка. Концентрация населения в городах не позволяет природным механизмам эффективно рассеивать загрязнение разных типов, что ведёт к необходимости создания специальных механизмов нивелирования экологического вреда, либо к ухудшению качества и продолжительности жизни населения.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Городской образ жизни, вкупе с труднодоступностью жилья, влекут за собой сокращение рождаемости. Известно, что суммарный коэффициент рождаемости значительно ниже в городах, чем в сельской местности, при этом он тем ниже, чем выше плотность населения (для городов России). 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0857D7-B45F-4A39-B24F-254AD65BA011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7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E7F45-22C0-3755-4876-27C3A4FD9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98CB2-11BF-5143-5B99-39109A55C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E6FBF9-EAB2-A676-AB16-AA9310EC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93059-A4B1-4F89-9A5E-D6BA2A7223C0}" type="datetime1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47C384-706B-4752-1FD4-83A1FEB0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E5DF13-632D-DFC3-8275-1E8C73C2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84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98566-D971-33E9-8DF3-0036EA41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6FD9A0-D1FD-E6B4-6BD2-28B2D270F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41F12B-7E09-57FB-EB1E-385BA3319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47D49-FE97-4534-9399-61FA1DFE3A15}" type="datetime1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BBEF9A-026E-BB46-2736-B3A171F6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3A777A-395A-1F6A-4745-650CB219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87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0DB0B-38CB-B7B6-19DD-B6BDEF4C3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827E8A-645E-1582-FA5F-DC961A975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FCC63-71EA-0937-AFAF-565691384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3BE77-0092-407F-9C3A-DAE1798E31BD}" type="datetime1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0E5CD9-3E16-4518-5027-E3A0E240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DA5688-A25E-6FF8-0C6E-95A857B9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66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41FAE-8BEA-7920-602E-953C3DAA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3D5004-FE55-D18C-DBB3-09C34F9AA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2ED678-78EB-8806-D0F2-2729082B6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24ACA8-8C91-BEA4-F5BF-59AD0C026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4C5D4-DB31-479A-83AA-9B0D78097B6E}" type="datetime1">
              <a:rPr lang="ru-RU" smtClean="0"/>
              <a:t>09.10.2025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B578CD-1F47-45FC-67BC-510D1BFC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B34A73-08E3-64FB-8675-8FB11630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69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52592-FE17-3F4A-53F4-E741EE09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99846D-70C3-1BC8-1E5F-B0FB170EF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9C27FC-D4D5-453E-97DB-F5F458954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74B9D7-7DEF-806E-06DC-46D8AEFF3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F9A4598-F89F-129E-5695-03D42FF1F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A1F9239-0756-9A7C-E85F-ADE894209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D6A3B-929D-4387-89DA-6D3C4C08F32D}" type="datetime1">
              <a:rPr lang="ru-RU" smtClean="0"/>
              <a:t>09.10.2025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808823F-DFB2-C50E-820F-5059C663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C5CEF5-0D11-2D10-AE6C-64A890AB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79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2F36E-65F1-FEC9-0FF7-634EEE14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AB1B1C-B95E-329C-C548-5C467B9D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FE3B-DA61-414E-979B-332CE4636471}" type="datetime1">
              <a:rPr lang="ru-RU" smtClean="0"/>
              <a:t>09.10.2025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509588-C7A1-2BE6-561E-14A050B9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156672-23AF-C582-FE21-0F33C1B2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66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9D71F6-4BE9-7E1B-2903-499D02FE5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4D89-3FC7-49D3-B79F-205D84AB5CDF}" type="datetime1">
              <a:rPr lang="ru-RU" smtClean="0"/>
              <a:t>09.10.2025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987A46-8CDB-298D-1113-5B479AE4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0B1345-4B76-6412-CB2E-BA7B16F4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89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15DEA-388D-4977-E6B7-E598ACA3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5E70B0-5D25-6257-DFEC-07D64ABE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90997D-B080-181A-48C9-C927D8055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ECCC85-A963-0848-B0E9-FDABE9A3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32BB-88F6-4460-991F-1645A534CF4B}" type="datetime1">
              <a:rPr lang="ru-RU" smtClean="0"/>
              <a:t>09.10.2025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11ED01-45FE-F34D-5134-9F38C1F0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0FC121-51F9-83CD-FA70-51DE15B6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25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728D05-6A82-F6B8-6DAF-169F620DD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B6A8E66-8047-3546-1AA4-D05A556D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12A6AC-B33B-0820-2ADE-BF2B523A6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36B7B4-A4C8-49C1-02A7-26FA3B8C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564D-C6CA-4D7F-8D0B-86900A4693DC}" type="datetime1">
              <a:rPr lang="ru-RU" smtClean="0"/>
              <a:t>09.10.2025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F3F352-1F38-D066-0AD3-8A41637B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3AA7A0-82E9-9AE9-6FEB-27980E11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081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B9492-6ADA-8A50-410F-D0CDFFEE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68F4F3-2256-1B6E-25D1-623B77135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E1122D-A8F8-0D37-A51D-6D4A65492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2CAB7-1EBC-4BF7-830D-3BEBBCFEDEE8}" type="datetime1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72637C-0929-6EFC-17A2-A095DA12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7DB81C-B0BC-E666-920B-777529FC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81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E4B259-8597-372C-8F33-AB52C73DE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592995-794D-A29D-A96B-2C15C2682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8DA033-8ABD-5656-C140-0D703123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1A71-4F18-4FA3-94C7-F6E1F4AC2105}" type="datetime1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C36A27-1D8D-3463-3887-AC09B848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0BE79-CA70-6D5C-F7BB-58021106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731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15601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2"/>
          </p:nvPr>
        </p:nvSpPr>
        <p:spPr>
          <a:xfrm>
            <a:off x="6443201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676827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D0978-A11D-8D7D-C2F1-0B4CA24C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83307-6209-7D9D-2CAC-7DDFBF114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1AB120-01F3-5632-03FD-D7B43C8B2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F4285-8F88-4F6B-8DBD-84D36D194500}" type="datetime1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B4C7C4-E408-BADE-1F27-131C777DA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D58696-7E0C-E070-8156-B50F1F43D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60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13" Type="http://schemas.openxmlformats.org/officeDocument/2006/relationships/diagramData" Target="../diagrams/data9.xml"/><Relationship Id="rId18" Type="http://schemas.openxmlformats.org/officeDocument/2006/relationships/diagramData" Target="../diagrams/data10.xml"/><Relationship Id="rId26" Type="http://schemas.openxmlformats.org/officeDocument/2006/relationships/diagramColors" Target="../diagrams/colors11.xml"/><Relationship Id="rId3" Type="http://schemas.openxmlformats.org/officeDocument/2006/relationships/diagramData" Target="../diagrams/data7.xml"/><Relationship Id="rId21" Type="http://schemas.openxmlformats.org/officeDocument/2006/relationships/diagramColors" Target="../diagrams/colors10.xml"/><Relationship Id="rId7" Type="http://schemas.microsoft.com/office/2007/relationships/diagramDrawing" Target="../diagrams/drawing7.xml"/><Relationship Id="rId12" Type="http://schemas.microsoft.com/office/2007/relationships/diagramDrawing" Target="../diagrams/drawing8.xml"/><Relationship Id="rId17" Type="http://schemas.microsoft.com/office/2007/relationships/diagramDrawing" Target="../diagrams/drawing9.xml"/><Relationship Id="rId25" Type="http://schemas.openxmlformats.org/officeDocument/2006/relationships/diagramQuickStyle" Target="../diagrams/quickStyle11.xml"/><Relationship Id="rId2" Type="http://schemas.openxmlformats.org/officeDocument/2006/relationships/notesSlide" Target="../notesSlides/notesSlide14.xml"/><Relationship Id="rId16" Type="http://schemas.openxmlformats.org/officeDocument/2006/relationships/diagramColors" Target="../diagrams/colors9.xml"/><Relationship Id="rId20" Type="http://schemas.openxmlformats.org/officeDocument/2006/relationships/diagramQuickStyle" Target="../diagrams/quickStyl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8.xml"/><Relationship Id="rId24" Type="http://schemas.openxmlformats.org/officeDocument/2006/relationships/diagramLayout" Target="../diagrams/layout11.xml"/><Relationship Id="rId5" Type="http://schemas.openxmlformats.org/officeDocument/2006/relationships/diagramQuickStyle" Target="../diagrams/quickStyle7.xml"/><Relationship Id="rId15" Type="http://schemas.openxmlformats.org/officeDocument/2006/relationships/diagramQuickStyle" Target="../diagrams/quickStyle9.xml"/><Relationship Id="rId23" Type="http://schemas.openxmlformats.org/officeDocument/2006/relationships/diagramData" Target="../diagrams/data11.xml"/><Relationship Id="rId28" Type="http://schemas.openxmlformats.org/officeDocument/2006/relationships/image" Target="../media/image2.png"/><Relationship Id="rId10" Type="http://schemas.openxmlformats.org/officeDocument/2006/relationships/diagramQuickStyle" Target="../diagrams/quickStyle8.xml"/><Relationship Id="rId19" Type="http://schemas.openxmlformats.org/officeDocument/2006/relationships/diagramLayout" Target="../diagrams/layout10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8.xml"/><Relationship Id="rId14" Type="http://schemas.openxmlformats.org/officeDocument/2006/relationships/diagramLayout" Target="../diagrams/layout9.xml"/><Relationship Id="rId22" Type="http://schemas.microsoft.com/office/2007/relationships/diagramDrawing" Target="../diagrams/drawing10.xml"/><Relationship Id="rId27" Type="http://schemas.microsoft.com/office/2007/relationships/diagramDrawing" Target="../diagrams/drawing1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13" Type="http://schemas.openxmlformats.org/officeDocument/2006/relationships/diagramLayout" Target="../diagrams/layout13.xml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openxmlformats.org/officeDocument/2006/relationships/diagramData" Target="../diagrams/data13.xml"/><Relationship Id="rId1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6" Type="http://schemas.microsoft.com/office/2007/relationships/diagramDrawing" Target="../diagrams/drawing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11" Type="http://schemas.openxmlformats.org/officeDocument/2006/relationships/image" Target="../media/image27.png"/><Relationship Id="rId5" Type="http://schemas.openxmlformats.org/officeDocument/2006/relationships/diagramQuickStyle" Target="../diagrams/quickStyle12.xml"/><Relationship Id="rId15" Type="http://schemas.openxmlformats.org/officeDocument/2006/relationships/diagramColors" Target="../diagrams/colors13.xml"/><Relationship Id="rId10" Type="http://schemas.openxmlformats.org/officeDocument/2006/relationships/image" Target="../media/image26.emf"/><Relationship Id="rId4" Type="http://schemas.openxmlformats.org/officeDocument/2006/relationships/diagramLayout" Target="../diagrams/layout12.xml"/><Relationship Id="rId9" Type="http://schemas.openxmlformats.org/officeDocument/2006/relationships/image" Target="../media/image25.emf"/><Relationship Id="rId14" Type="http://schemas.openxmlformats.org/officeDocument/2006/relationships/diagramQuickStyle" Target="../diagrams/quickStyle1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8DD27-FC6C-18E3-83DA-D26C927D6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AE73AF33-A5AF-F6C5-9E93-20F6B9DAA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8100"/>
            <a:ext cx="10570002" cy="691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D7C62AE-A9C1-D0C2-9AB9-147B08C8E65B}"/>
              </a:ext>
            </a:extLst>
          </p:cNvPr>
          <p:cNvSpPr/>
          <p:nvPr/>
        </p:nvSpPr>
        <p:spPr>
          <a:xfrm>
            <a:off x="0" y="-18256"/>
            <a:ext cx="6096000" cy="6914356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700" b="1" dirty="0"/>
              <a:t>Лекция 3</a:t>
            </a:r>
          </a:p>
        </p:txBody>
      </p:sp>
      <p:sp>
        <p:nvSpPr>
          <p:cNvPr id="8" name="Объект 11">
            <a:extLst>
              <a:ext uri="{FF2B5EF4-FFF2-40B4-BE49-F238E27FC236}">
                <a16:creationId xmlns:a16="http://schemas.microsoft.com/office/drawing/2014/main" id="{6F9FA178-6734-BE3C-A15D-EE51CDA1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8000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/>
          <a:lstStyle/>
          <a:p>
            <a:pPr marL="0" indent="0">
              <a:buNone/>
            </a:pPr>
            <a:r>
              <a:rPr lang="ru-RU" sz="3700" b="1" dirty="0">
                <a:solidFill>
                  <a:schemeClr val="bg1"/>
                </a:solidFill>
              </a:rPr>
              <a:t>Система расселения России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Типологизация территорий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Населённые пункты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Опорный каркас расселения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Агломерации и крупные города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Опорные населённые пункты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Стратегия пространственного развития России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FDF3F1FA-6A00-87D2-69B6-0B1FF25EB9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7D0215E-4DBC-0EC3-4BCE-5B0F861D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6011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"/>
          <p:cNvSpPr txBox="1">
            <a:spLocks noGrp="1"/>
          </p:cNvSpPr>
          <p:nvPr>
            <p:ph type="body" idx="1"/>
          </p:nvPr>
        </p:nvSpPr>
        <p:spPr>
          <a:xfrm>
            <a:off x="465543" y="3593206"/>
            <a:ext cx="11250000" cy="2827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/>
          <a:p>
            <a:pPr marL="186258" indent="0">
              <a:buNone/>
            </a:pPr>
            <a:r>
              <a:rPr lang="ru" b="1" dirty="0">
                <a:solidFill>
                  <a:schemeClr val="dk1"/>
                </a:solidFill>
              </a:rPr>
              <a:t>Раздел A: </a:t>
            </a:r>
            <a:r>
              <a:rPr lang="ru" dirty="0">
                <a:solidFill>
                  <a:schemeClr val="dk1"/>
                </a:solidFill>
              </a:rPr>
              <a:t>Сельское, лесное хозяйство, охота, рыболовство и рыбоводство</a:t>
            </a:r>
            <a:endParaRPr dirty="0"/>
          </a:p>
          <a:p>
            <a:pPr marL="186258" indent="0">
              <a:buNone/>
            </a:pPr>
            <a:r>
              <a:rPr lang="ru" b="1" dirty="0">
                <a:solidFill>
                  <a:schemeClr val="dk1"/>
                </a:solidFill>
              </a:rPr>
              <a:t>Раздел B: </a:t>
            </a:r>
            <a:r>
              <a:rPr lang="ru" dirty="0">
                <a:solidFill>
                  <a:schemeClr val="dk1"/>
                </a:solidFill>
              </a:rPr>
              <a:t>Добыча полезных ископаемых</a:t>
            </a:r>
            <a:endParaRPr dirty="0"/>
          </a:p>
          <a:p>
            <a:pPr marL="186258" indent="0">
              <a:buNone/>
            </a:pPr>
            <a:r>
              <a:rPr lang="ru" b="1" dirty="0">
                <a:solidFill>
                  <a:schemeClr val="dk1"/>
                </a:solidFill>
              </a:rPr>
              <a:t>Раздел C: </a:t>
            </a:r>
            <a:r>
              <a:rPr lang="ru" dirty="0">
                <a:solidFill>
                  <a:schemeClr val="dk1"/>
                </a:solidFill>
              </a:rPr>
              <a:t>Обрабатывающие производства</a:t>
            </a:r>
            <a:endParaRPr dirty="0"/>
          </a:p>
          <a:p>
            <a:pPr marL="186258" indent="0">
              <a:buNone/>
            </a:pPr>
            <a:r>
              <a:rPr lang="ru" b="1" dirty="0">
                <a:solidFill>
                  <a:schemeClr val="dk1"/>
                </a:solidFill>
              </a:rPr>
              <a:t>Раздел F: </a:t>
            </a:r>
            <a:r>
              <a:rPr lang="ru" dirty="0">
                <a:solidFill>
                  <a:schemeClr val="dk1"/>
                </a:solidFill>
              </a:rPr>
              <a:t>Строительство</a:t>
            </a:r>
            <a:endParaRPr dirty="0"/>
          </a:p>
          <a:p>
            <a:pPr marL="186258" indent="0">
              <a:buNone/>
            </a:pPr>
            <a:r>
              <a:rPr lang="ru" b="1" dirty="0">
                <a:solidFill>
                  <a:schemeClr val="dk1"/>
                </a:solidFill>
              </a:rPr>
              <a:t>Раздел G: </a:t>
            </a:r>
            <a:r>
              <a:rPr lang="ru" dirty="0">
                <a:solidFill>
                  <a:schemeClr val="dk1"/>
                </a:solidFill>
              </a:rPr>
              <a:t>Торговля оптовая и розничная; ремонт автотранспортных средств и мотоциклов</a:t>
            </a:r>
            <a:endParaRPr dirty="0"/>
          </a:p>
          <a:p>
            <a:pPr marL="186258" indent="0">
              <a:buNone/>
            </a:pPr>
            <a:r>
              <a:rPr lang="ru" b="1" dirty="0">
                <a:solidFill>
                  <a:schemeClr val="dk1"/>
                </a:solidFill>
              </a:rPr>
              <a:t>Раздел H: </a:t>
            </a:r>
            <a:r>
              <a:rPr lang="ru" dirty="0">
                <a:solidFill>
                  <a:schemeClr val="dk1"/>
                </a:solidFill>
              </a:rPr>
              <a:t>Транспортировка и хранение</a:t>
            </a:r>
            <a:endParaRPr dirty="0"/>
          </a:p>
          <a:p>
            <a:pPr marL="186258" indent="0">
              <a:buNone/>
            </a:pPr>
            <a:r>
              <a:rPr lang="ru" b="1" dirty="0">
                <a:solidFill>
                  <a:schemeClr val="dk1"/>
                </a:solidFill>
              </a:rPr>
              <a:t>Раздел I: </a:t>
            </a:r>
            <a:r>
              <a:rPr lang="ru" dirty="0">
                <a:solidFill>
                  <a:schemeClr val="dk1"/>
                </a:solidFill>
              </a:rPr>
              <a:t>Деятельность гостиниц и предприятий общественного питания</a:t>
            </a:r>
            <a:endParaRPr dirty="0"/>
          </a:p>
          <a:p>
            <a:pPr marL="186258" indent="0">
              <a:buNone/>
            </a:pPr>
            <a:r>
              <a:rPr lang="ru" b="1" dirty="0">
                <a:solidFill>
                  <a:schemeClr val="dk1"/>
                </a:solidFill>
              </a:rPr>
              <a:t>Раздел J: </a:t>
            </a:r>
            <a:r>
              <a:rPr lang="ru" dirty="0">
                <a:solidFill>
                  <a:schemeClr val="dk1"/>
                </a:solidFill>
              </a:rPr>
              <a:t>Деятельность в области информации и связи</a:t>
            </a:r>
            <a:endParaRPr dirty="0"/>
          </a:p>
          <a:p>
            <a:pPr marL="186258" indent="0">
              <a:buNone/>
            </a:pPr>
            <a:r>
              <a:rPr lang="ru" b="1" dirty="0">
                <a:solidFill>
                  <a:schemeClr val="dk1"/>
                </a:solidFill>
              </a:rPr>
              <a:t>Иные разделы: </a:t>
            </a:r>
            <a:r>
              <a:rPr lang="ru" dirty="0">
                <a:solidFill>
                  <a:schemeClr val="dk1"/>
                </a:solidFill>
              </a:rPr>
              <a:t>D, E, K, L, M, N, O, P, Q, R, S, T, U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11" name="Google Shape;311;p32"/>
          <p:cNvSpPr txBox="1"/>
          <p:nvPr/>
        </p:nvSpPr>
        <p:spPr>
          <a:xfrm>
            <a:off x="50057" y="6237433"/>
            <a:ext cx="11676400" cy="5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ru" sz="1400" b="1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Показатель</a:t>
            </a:r>
            <a:r>
              <a:rPr lang="ru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Отгружено товаров собственного производства, выполнено работ и услуг собственными силами (без субъектов малого предпринимательства) (с 2017 года) // </a:t>
            </a:r>
            <a:r>
              <a:rPr lang="ru" sz="1400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База данных показателей муниципальных образований Росстата</a:t>
            </a:r>
            <a:endParaRPr sz="2400" dirty="0"/>
          </a:p>
        </p:txBody>
      </p:sp>
      <p:sp>
        <p:nvSpPr>
          <p:cNvPr id="5" name="Google Shape;311;p32">
            <a:extLst>
              <a:ext uri="{FF2B5EF4-FFF2-40B4-BE49-F238E27FC236}">
                <a16:creationId xmlns:a16="http://schemas.microsoft.com/office/drawing/2014/main" id="{86B0F991-CD74-4DFC-AA63-26D3B9356416}"/>
              </a:ext>
            </a:extLst>
          </p:cNvPr>
          <p:cNvSpPr txBox="1"/>
          <p:nvPr/>
        </p:nvSpPr>
        <p:spPr>
          <a:xfrm>
            <a:off x="42512" y="1408390"/>
            <a:ext cx="11913015" cy="22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just"/>
            <a:r>
              <a:rPr lang="ru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Необходимо определить, какая </a:t>
            </a:r>
            <a:r>
              <a:rPr lang="ru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экономическая специализация</a:t>
            </a:r>
            <a:r>
              <a:rPr lang="ru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у территории. Как правило, это будет либо добыча, либо обработка, либо сельское хозяйство. Если у территории нет никаких производств, то её специализацией будут иные разделы (образование, здравоохранение и т.п.). Кроме того, территория может быть транспортно-логистическим узлом.</a:t>
            </a:r>
          </a:p>
          <a:p>
            <a:pPr algn="just"/>
            <a:r>
              <a:rPr lang="ru" sz="2000" dirty="0"/>
              <a:t>С этой целью нужно посмотреть структуру отгруженных товаров по ОКВЭД хотя бы за последний год. Наибольшая отгрузка в одной из категорий говорит о </a:t>
            </a:r>
            <a:r>
              <a:rPr lang="ru" sz="2000" b="1" dirty="0"/>
              <a:t>специализации территории</a:t>
            </a:r>
            <a:r>
              <a:rPr lang="ru" sz="2000" dirty="0"/>
              <a:t>. Бывают также смешанные специализации (диверсифицированная экономика).</a:t>
            </a:r>
            <a:endParaRPr sz="20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4D6D625-66D3-4018-8054-59ABF597E1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2</a:t>
            </a:fld>
            <a:endParaRPr lang="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C3DFA84-C86C-11AF-AA20-4E610DE3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 anchor="ctr"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Экономическая специализация</a:t>
            </a:r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45F42F1-6348-6B07-AC38-2A23F6E893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 txBox="1"/>
          <p:nvPr/>
        </p:nvSpPr>
        <p:spPr>
          <a:xfrm>
            <a:off x="489397" y="2817590"/>
            <a:ext cx="4694349" cy="2616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just"/>
            <a:r>
              <a:rPr lang="ru-RU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Субъекты РФ были распределены по направлениям эффективной экономической специализации. Для этого исследована структура ВРП (за 2019 г.) и выявлены отрасли, которые составляют более половины от максимального значения среди отраслей субъекта РФ. Отрасли ВРП обозначены латинскими буквами. 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CBC9E37-1944-407C-907F-8569240BD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708223"/>
              </p:ext>
            </p:extLst>
          </p:nvPr>
        </p:nvGraphicFramePr>
        <p:xfrm>
          <a:off x="5701413" y="1521960"/>
          <a:ext cx="5232386" cy="4987784"/>
        </p:xfrm>
        <a:graphic>
          <a:graphicData uri="http://schemas.openxmlformats.org/drawingml/2006/table">
            <a:tbl>
              <a:tblPr/>
              <a:tblGrid>
                <a:gridCol w="3949878">
                  <a:extLst>
                    <a:ext uri="{9D8B030D-6E8A-4147-A177-3AD203B41FA5}">
                      <a16:colId xmlns:a16="http://schemas.microsoft.com/office/drawing/2014/main" val="3651080919"/>
                    </a:ext>
                  </a:extLst>
                </a:gridCol>
                <a:gridCol w="1282508">
                  <a:extLst>
                    <a:ext uri="{9D8B030D-6E8A-4147-A177-3AD203B41FA5}">
                      <a16:colId xmlns:a16="http://schemas.microsoft.com/office/drawing/2014/main" val="313423322"/>
                    </a:ext>
                  </a:extLst>
                </a:gridCol>
              </a:tblGrid>
              <a:tr h="36723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Субъект РФ</a:t>
                      </a:r>
                      <a:endParaRPr lang="ru-RU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Специализация</a:t>
                      </a:r>
                      <a:endParaRPr lang="ru-RU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545718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Алтайский край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ACGL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904696177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Амурская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BFGHL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2459108757"/>
                  </a:ext>
                </a:extLst>
              </a:tr>
              <a:tr h="196029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Архангельская область без НАО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4205955912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Астраханская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2384858789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Белгородская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ABCG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2101381738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Брянская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ACGL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3037396240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Владимирская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3320774955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Волгоградская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3522407301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Вологодская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2987257940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Воронежская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ACG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2930518746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Еврейская АО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BFHOQ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1670605826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Забайкальский край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BHO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2743911952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Ивановская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CGLO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473690360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Иркутская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1346918913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Кабардино-Балкария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AFGLO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2249095856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Калининградская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CGL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622571395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Калужская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884330876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Камчатский край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1932755150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Карачаево-Черкесия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ACO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3580233663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Кемеровская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BC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999099272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Кировская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896033570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Костромская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3020441277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Краснодарский край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ACGHL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421126242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Красноярский край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BC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2888907682"/>
                  </a:ext>
                </a:extLst>
              </a:tr>
              <a:tr h="184355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Курганская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" marR="1475" marT="1475" marB="0" anchor="ctr"/>
                </a:tc>
                <a:extLst>
                  <a:ext uri="{0D108BD9-81ED-4DB2-BD59-A6C34878D82A}">
                    <a16:rowId xmlns:a16="http://schemas.microsoft.com/office/drawing/2014/main" val="380419095"/>
                  </a:ext>
                </a:extLst>
              </a:tr>
            </a:tbl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F2435D-C9D5-2D6E-6D5C-7E0B6B7AC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 anchor="ctr"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Экономическая специализация</a:t>
            </a:r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F668D307-DF6A-AF43-0487-AB28AF79D7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992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1CA0C7-EA2C-F197-5C7F-87ABD504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189042-A039-8DB3-1C23-505B3E32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89676D-275E-FCD7-716F-A0B604A11E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5340"/>
            <a:ext cx="12060939" cy="6933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14E1B8D6-25A3-98D3-173E-EDD7D7A53E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9839" b="49032" l="1331" r="11982">
                        <a14:backgroundMark x1="4063" y1="48066" x2="3359" y2="45746"/>
                        <a14:backgroundMark x1="3359" y1="47624" x2="2656" y2="47624"/>
                        <a14:backgroundMark x1="3359" y1="46630" x2="2969" y2="47624"/>
                        <a14:backgroundMark x1="4219" y1="47072" x2="3984" y2="46519"/>
                      </a14:backgroundRemoval>
                    </a14:imgEffect>
                    <a14:imgEffect>
                      <a14:sharpenSoften amount="100000"/>
                    </a14:imgEffect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8690" r="86687" b="49819"/>
          <a:stretch/>
        </p:blipFill>
        <p:spPr bwMode="auto">
          <a:xfrm rot="227509">
            <a:off x="-39539" y="4445395"/>
            <a:ext cx="1575467" cy="913222"/>
          </a:xfrm>
          <a:prstGeom prst="rect">
            <a:avLst/>
          </a:prstGeom>
          <a:noFill/>
          <a:effectLst>
            <a:glow rad="12700">
              <a:schemeClr val="tx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667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33"/>
          <p:cNvGrpSpPr/>
          <p:nvPr/>
        </p:nvGrpSpPr>
        <p:grpSpPr>
          <a:xfrm>
            <a:off x="147377" y="2043085"/>
            <a:ext cx="11880836" cy="477200"/>
            <a:chOff x="13626" y="0"/>
            <a:chExt cx="8467126" cy="582600"/>
          </a:xfrm>
        </p:grpSpPr>
        <p:sp>
          <p:nvSpPr>
            <p:cNvPr id="317" name="Google Shape;317;p33"/>
            <p:cNvSpPr/>
            <p:nvPr/>
          </p:nvSpPr>
          <p:spPr>
            <a:xfrm>
              <a:off x="13626" y="0"/>
              <a:ext cx="1892100" cy="5826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8" name="Google Shape;318;p33"/>
            <p:cNvSpPr txBox="1"/>
            <p:nvPr/>
          </p:nvSpPr>
          <p:spPr>
            <a:xfrm>
              <a:off x="13626" y="155407"/>
              <a:ext cx="1892100" cy="2717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1800"/>
              </a:pPr>
              <a:r>
                <a:rPr lang="ru" sz="2000" dirty="0">
                  <a:latin typeface="Arial"/>
                  <a:ea typeface="Arial"/>
                  <a:cs typeface="Arial"/>
                  <a:sym typeface="Arial"/>
                </a:rPr>
                <a:t>холодный</a:t>
              </a:r>
              <a:endParaRPr sz="2400" dirty="0"/>
            </a:p>
          </p:txBody>
        </p:sp>
        <p:sp>
          <p:nvSpPr>
            <p:cNvPr id="319" name="Google Shape;319;p33"/>
            <p:cNvSpPr/>
            <p:nvPr/>
          </p:nvSpPr>
          <p:spPr>
            <a:xfrm>
              <a:off x="2012363" y="0"/>
              <a:ext cx="4454670" cy="5826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000"/>
            </a:p>
          </p:txBody>
        </p:sp>
        <p:sp>
          <p:nvSpPr>
            <p:cNvPr id="320" name="Google Shape;320;p33"/>
            <p:cNvSpPr txBox="1"/>
            <p:nvPr/>
          </p:nvSpPr>
          <p:spPr>
            <a:xfrm>
              <a:off x="2012363" y="155407"/>
              <a:ext cx="4454670" cy="2717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1800"/>
              </a:pPr>
              <a:r>
                <a:rPr lang="ru" sz="2000" dirty="0">
                  <a:latin typeface="Arial"/>
                  <a:ea typeface="Arial"/>
                  <a:cs typeface="Arial"/>
                  <a:sym typeface="Arial"/>
                </a:rPr>
                <a:t>холодный умеренный</a:t>
              </a:r>
              <a:endParaRPr sz="1400" dirty="0"/>
            </a:p>
          </p:txBody>
        </p:sp>
        <p:sp>
          <p:nvSpPr>
            <p:cNvPr id="321" name="Google Shape;321;p33"/>
            <p:cNvSpPr/>
            <p:nvPr/>
          </p:nvSpPr>
          <p:spPr>
            <a:xfrm>
              <a:off x="6574852" y="0"/>
              <a:ext cx="1905900" cy="5826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2" name="Google Shape;322;p33"/>
            <p:cNvSpPr txBox="1"/>
            <p:nvPr/>
          </p:nvSpPr>
          <p:spPr>
            <a:xfrm>
              <a:off x="6574852" y="155407"/>
              <a:ext cx="1905900" cy="2717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1800"/>
              </a:pPr>
              <a:r>
                <a:rPr lang="ru" sz="2000" dirty="0">
                  <a:latin typeface="Arial"/>
                  <a:ea typeface="Arial"/>
                  <a:cs typeface="Arial"/>
                  <a:sym typeface="Arial"/>
                </a:rPr>
                <a:t>тёплый умеренный</a:t>
              </a:r>
              <a:endParaRPr sz="1400" dirty="0"/>
            </a:p>
          </p:txBody>
        </p:sp>
      </p:grpSp>
      <p:sp>
        <p:nvSpPr>
          <p:cNvPr id="324" name="Google Shape;324;p33"/>
          <p:cNvSpPr txBox="1"/>
          <p:nvPr/>
        </p:nvSpPr>
        <p:spPr>
          <a:xfrm>
            <a:off x="43741" y="1273253"/>
            <a:ext cx="12067083" cy="76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just"/>
            <a:r>
              <a:rPr lang="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Территории России находятся в совершенно разных </a:t>
            </a:r>
            <a:r>
              <a:rPr lang="ru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природно-климатических уловиях</a:t>
            </a:r>
            <a:r>
              <a:rPr lang="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В одних хорошо развито сельское хозяйство и туризм, другие – практически непригодны для жизни человека. С целью определения перспектив и выработки инструментов необходим </a:t>
            </a:r>
            <a:r>
              <a:rPr lang="ru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разделять эти территории</a:t>
            </a:r>
            <a:r>
              <a:rPr lang="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3F40096-B422-47FE-A903-060C61BA12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246880"/>
            <a:ext cx="2743200" cy="365125"/>
          </a:xfrm>
        </p:spPr>
        <p:txBody>
          <a:bodyPr/>
          <a:lstStyle/>
          <a:p>
            <a:fld id="{00000000-1234-1234-1234-123412341234}" type="slidenum">
              <a:rPr lang="ru" smtClean="0"/>
              <a:pPr/>
              <a:t>5</a:t>
            </a:fld>
            <a:endParaRPr lang="ru"/>
          </a:p>
        </p:txBody>
      </p:sp>
      <p:sp>
        <p:nvSpPr>
          <p:cNvPr id="20" name="Google Shape;311;p32">
            <a:extLst>
              <a:ext uri="{FF2B5EF4-FFF2-40B4-BE49-F238E27FC236}">
                <a16:creationId xmlns:a16="http://schemas.microsoft.com/office/drawing/2014/main" id="{07F80CA0-0557-4E56-8378-41F17281AABD}"/>
              </a:ext>
            </a:extLst>
          </p:cNvPr>
          <p:cNvSpPr txBox="1"/>
          <p:nvPr/>
        </p:nvSpPr>
        <p:spPr>
          <a:xfrm>
            <a:off x="62459" y="4784853"/>
            <a:ext cx="2910568" cy="1846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ru-RU" sz="1400" b="1" i="1" dirty="0"/>
              <a:t>Источник</a:t>
            </a:r>
            <a:r>
              <a:rPr lang="ru-RU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ФГБНУ Федеральный научный центр аграрной экономики и социального развития сельских территорий - Всероссийский Научно-исследовательский институт Экономики сельского хозяйства</a:t>
            </a:r>
            <a:endParaRPr lang="ru-RU" sz="24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CEEC6D3-DC27-4F21-BCE8-BED3A2075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069338"/>
              </p:ext>
            </p:extLst>
          </p:nvPr>
        </p:nvGraphicFramePr>
        <p:xfrm>
          <a:off x="9353907" y="2565409"/>
          <a:ext cx="2562371" cy="3435351"/>
        </p:xfrm>
        <a:graphic>
          <a:graphicData uri="http://schemas.openxmlformats.org/drawingml/2006/table">
            <a:tbl>
              <a:tblPr/>
              <a:tblGrid>
                <a:gridCol w="2562371">
                  <a:extLst>
                    <a:ext uri="{9D8B030D-6E8A-4147-A177-3AD203B41FA5}">
                      <a16:colId xmlns:a16="http://schemas.microsoft.com/office/drawing/2014/main" val="1957099143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Астраханская область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846602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Волгоградская область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86774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Кабардино-Балкария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90810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Карачаево-Черкесия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95958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Краснодарский край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72601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Адыгея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5567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Дагестан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29814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Ингушетия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04414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Калмыкия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33840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Крым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876189"/>
                  </a:ext>
                </a:extLst>
              </a:tr>
              <a:tr h="4127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Северная Осетия — Алания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62189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Ростовская область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4894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Севастополь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86632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Ставропольский край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25199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Чеченская Республика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505588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79D29F4B-150F-4ED1-9F42-3EEE94ED3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465193"/>
              </p:ext>
            </p:extLst>
          </p:nvPr>
        </p:nvGraphicFramePr>
        <p:xfrm>
          <a:off x="158832" y="2520285"/>
          <a:ext cx="2641827" cy="1727200"/>
        </p:xfrm>
        <a:graphic>
          <a:graphicData uri="http://schemas.openxmlformats.org/drawingml/2006/table">
            <a:tbl>
              <a:tblPr/>
              <a:tblGrid>
                <a:gridCol w="2641827">
                  <a:extLst>
                    <a:ext uri="{9D8B030D-6E8A-4147-A177-3AD203B41FA5}">
                      <a16:colId xmlns:a16="http://schemas.microsoft.com/office/drawing/2014/main" val="2991452328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Амурская область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14169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Красноярский край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25368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Мурманская область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42363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Коми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79120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Саха (Якутия)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988595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Томская область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66302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Хабаровский край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80377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Чукотский автономный округ</a:t>
                      </a:r>
                    </a:p>
                  </a:txBody>
                  <a:tcPr marL="6351" marR="6351" marT="63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013189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7CB368F-30E3-4F53-84BC-C2071070B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083608"/>
              </p:ext>
            </p:extLst>
          </p:nvPr>
        </p:nvGraphicFramePr>
        <p:xfrm>
          <a:off x="2984483" y="2520285"/>
          <a:ext cx="2294252" cy="4310649"/>
        </p:xfrm>
        <a:graphic>
          <a:graphicData uri="http://schemas.openxmlformats.org/drawingml/2006/table">
            <a:tbl>
              <a:tblPr/>
              <a:tblGrid>
                <a:gridCol w="2294252">
                  <a:extLst>
                    <a:ext uri="{9D8B030D-6E8A-4147-A177-3AD203B41FA5}">
                      <a16:colId xmlns:a16="http://schemas.microsoft.com/office/drawing/2014/main" val="336974608"/>
                    </a:ext>
                  </a:extLst>
                </a:gridCol>
              </a:tblGrid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Алтайский край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739879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Архангельская область 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5865524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Белгородская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235919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Брянская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818927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Владимирская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011447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Вологодская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7180956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Воронежская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8432477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Еврейская АО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313121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Забайкальский край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96588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Ивановская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3226350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Иркутская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941050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Калининградская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8143626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Калужская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35050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Камчатский край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559909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Кемеровская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407349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Кировская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4417715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Костромская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907687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Курганская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092790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Курская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600088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Ленинградская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3388816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Липецкая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24654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622AEF6-E813-4E74-BB20-20E856B99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465438"/>
              </p:ext>
            </p:extLst>
          </p:nvPr>
        </p:nvGraphicFramePr>
        <p:xfrm>
          <a:off x="5047568" y="2519355"/>
          <a:ext cx="2175637" cy="4310649"/>
        </p:xfrm>
        <a:graphic>
          <a:graphicData uri="http://schemas.openxmlformats.org/drawingml/2006/table">
            <a:tbl>
              <a:tblPr/>
              <a:tblGrid>
                <a:gridCol w="2175637">
                  <a:extLst>
                    <a:ext uri="{9D8B030D-6E8A-4147-A177-3AD203B41FA5}">
                      <a16:colId xmlns:a16="http://schemas.microsoft.com/office/drawing/2014/main" val="2131512559"/>
                    </a:ext>
                  </a:extLst>
                </a:gridCol>
              </a:tblGrid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Магаданская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2292156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Москва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24826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Московская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599636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Ненецкий АО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464589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Нижегородская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053993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Новгородская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522439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Новосибирская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453356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Омская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391627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Оренбургская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41714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Орловская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7418114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Пензенская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495220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Пермский край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009703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Приморский край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060598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Псковская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283834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Алтай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826285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Башкортостан</a:t>
                      </a:r>
                    </a:p>
                  </a:txBody>
                  <a:tcPr marL="2069" marR="2069" marT="20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767244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Бурятия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176554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Карелия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679930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Марий Эл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585350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Мордовия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9743933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Татарстан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2036253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DE1107FE-E7F1-4B51-9ECD-768B98A8D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61813"/>
              </p:ext>
            </p:extLst>
          </p:nvPr>
        </p:nvGraphicFramePr>
        <p:xfrm>
          <a:off x="7178270" y="2565408"/>
          <a:ext cx="2024348" cy="4105380"/>
        </p:xfrm>
        <a:graphic>
          <a:graphicData uri="http://schemas.openxmlformats.org/drawingml/2006/table">
            <a:tbl>
              <a:tblPr/>
              <a:tblGrid>
                <a:gridCol w="2024348">
                  <a:extLst>
                    <a:ext uri="{9D8B030D-6E8A-4147-A177-3AD203B41FA5}">
                      <a16:colId xmlns:a16="http://schemas.microsoft.com/office/drawing/2014/main" val="1260829936"/>
                    </a:ext>
                  </a:extLst>
                </a:gridCol>
              </a:tblGrid>
              <a:tr h="20526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Тыва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383750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Республика Хакасия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792964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Рязанская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69586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Самарская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3680128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Санкт-Петербург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481630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Саратовская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455019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Сахалинская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547537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Свердловская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4823597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Смоленская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608814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Тамбовская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945016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Тверская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976417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Тульская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147027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Тюменская область 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185526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Удмуртская Республика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8532855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Ульяновская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1927365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Ханты-Мансийский АО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260107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Челябинская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617533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Чувашская Республика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70418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Ямало-Ненецкий АО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420785"/>
                  </a:ext>
                </a:extLst>
              </a:tr>
              <a:tr h="205269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Ярославская область</a:t>
                      </a:r>
                    </a:p>
                  </a:txBody>
                  <a:tcPr marL="2069" marR="2069" marT="20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8602607"/>
                  </a:ext>
                </a:extLst>
              </a:tr>
            </a:tbl>
          </a:graphicData>
        </a:graphic>
      </p:graphicFrame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D9AC370-E0CB-768E-448B-45755B781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 anchor="ctr">
            <a:normAutofit/>
          </a:bodyPr>
          <a:lstStyle/>
          <a:p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Климатические группы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(Макроклиматические районы) 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F5313AC6-5727-5C9D-AAF9-79F1ACF4A1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 txBox="1"/>
          <p:nvPr/>
        </p:nvSpPr>
        <p:spPr>
          <a:xfrm>
            <a:off x="62458" y="1242456"/>
            <a:ext cx="12067083" cy="5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just"/>
            <a:r>
              <a:rPr lang="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Территории России значительно отличаются по </a:t>
            </a:r>
            <a:r>
              <a:rPr lang="ru" sz="1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условиям транспортной доступности</a:t>
            </a:r>
            <a:r>
              <a:rPr lang="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определяемой системой расселения. </a:t>
            </a:r>
            <a:r>
              <a:rPr lang="ru" sz="1400" dirty="0">
                <a:solidFill>
                  <a:schemeClr val="dk1"/>
                </a:solidFill>
              </a:rPr>
              <a:t>Индикатором выступает </a:t>
            </a:r>
            <a:r>
              <a:rPr lang="ru" sz="1400" b="1" dirty="0">
                <a:solidFill>
                  <a:schemeClr val="dk1"/>
                </a:solidFill>
              </a:rPr>
              <a:t>плоность населения</a:t>
            </a:r>
            <a:r>
              <a:rPr lang="ru" sz="1400" dirty="0">
                <a:solidFill>
                  <a:schemeClr val="dk1"/>
                </a:solidFill>
              </a:rPr>
              <a:t>, в соответствии с которой субъекты РФ были сгруппированы</a:t>
            </a:r>
            <a:r>
              <a:rPr lang="en-US" sz="1400" dirty="0">
                <a:solidFill>
                  <a:schemeClr val="dk1"/>
                </a:solidFill>
              </a:rPr>
              <a:t> </a:t>
            </a:r>
            <a:r>
              <a:rPr lang="ru-RU" sz="1400" dirty="0">
                <a:solidFill>
                  <a:schemeClr val="dk1"/>
                </a:solidFill>
              </a:rPr>
              <a:t>(примерно делением на 2 в каждом шаге).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3F40096-B422-47FE-A903-060C61BA12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588170"/>
            <a:ext cx="2743200" cy="365125"/>
          </a:xfrm>
        </p:spPr>
        <p:txBody>
          <a:bodyPr/>
          <a:lstStyle/>
          <a:p>
            <a:fld id="{00000000-1234-1234-1234-123412341234}" type="slidenum">
              <a:rPr lang="ru" smtClean="0"/>
              <a:pPr/>
              <a:t>6</a:t>
            </a:fld>
            <a:endParaRPr lang="ru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C8905055-B785-4BDA-9160-EBA71BFD3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307494"/>
              </p:ext>
            </p:extLst>
          </p:nvPr>
        </p:nvGraphicFramePr>
        <p:xfrm>
          <a:off x="193626" y="1822661"/>
          <a:ext cx="2721850" cy="863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6715">
                  <a:extLst>
                    <a:ext uri="{9D8B030D-6E8A-4147-A177-3AD203B41FA5}">
                      <a16:colId xmlns:a16="http://schemas.microsoft.com/office/drawing/2014/main" val="1613291874"/>
                    </a:ext>
                  </a:extLst>
                </a:gridCol>
                <a:gridCol w="855135">
                  <a:extLst>
                    <a:ext uri="{9D8B030D-6E8A-4147-A177-3AD203B41FA5}">
                      <a16:colId xmlns:a16="http://schemas.microsoft.com/office/drawing/2014/main" val="3760872106"/>
                    </a:ext>
                  </a:extLst>
                </a:gridCol>
              </a:tblGrid>
              <a:tr h="2159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i="0" u="none" strike="noStrike" dirty="0"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</a:t>
                      </a:r>
                      <a:r>
                        <a:rPr lang="en-US" sz="1300" b="1" u="none" strike="noStrike" dirty="0">
                          <a:effectLst/>
                        </a:rPr>
                        <a:t>500+ </a:t>
                      </a:r>
                      <a:r>
                        <a:rPr lang="ru-RU" sz="1300" b="1" i="0" u="none" strike="noStrike" dirty="0">
                          <a:effectLst/>
                          <a:latin typeface="Arial" panose="020B0604020202020204" pitchFamily="34" charset="0"/>
                        </a:rPr>
                        <a:t>чел/км²</a:t>
                      </a:r>
                      <a:r>
                        <a:rPr lang="en-US" sz="1300" b="1" i="0" u="none" strike="noStrike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6351" marR="6351" marT="6351" marB="0" anchor="b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5992704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Москва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4941,45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26967896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Санкт-Петербург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3837,73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16560232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Севастополь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590,27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503398296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DA181687-A0DC-4E03-8D22-48E250273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602205"/>
              </p:ext>
            </p:extLst>
          </p:nvPr>
        </p:nvGraphicFramePr>
        <p:xfrm>
          <a:off x="193626" y="2777722"/>
          <a:ext cx="2721850" cy="647700"/>
        </p:xfrm>
        <a:graphic>
          <a:graphicData uri="http://schemas.openxmlformats.org/drawingml/2006/table">
            <a:tbl>
              <a:tblPr/>
              <a:tblGrid>
                <a:gridCol w="1947875">
                  <a:extLst>
                    <a:ext uri="{9D8B030D-6E8A-4147-A177-3AD203B41FA5}">
                      <a16:colId xmlns:a16="http://schemas.microsoft.com/office/drawing/2014/main" val="1035248817"/>
                    </a:ext>
                  </a:extLst>
                </a:gridCol>
                <a:gridCol w="773975">
                  <a:extLst>
                    <a:ext uri="{9D8B030D-6E8A-4147-A177-3AD203B41FA5}">
                      <a16:colId xmlns:a16="http://schemas.microsoft.com/office/drawing/2014/main" val="3667107099"/>
                    </a:ext>
                  </a:extLst>
                </a:gridCol>
              </a:tblGrid>
              <a:tr h="2159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i="0" u="none" strike="noStrike" dirty="0">
                          <a:effectLst/>
                          <a:latin typeface="Arial" panose="020B0604020202020204" pitchFamily="34" charset="0"/>
                        </a:rPr>
                        <a:t>II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(125+ </a:t>
                      </a:r>
                      <a:r>
                        <a:rPr lang="ru-RU" sz="1300" b="1" i="0" u="none" strike="noStrike" dirty="0">
                          <a:effectLst/>
                          <a:latin typeface="Arial" panose="020B0604020202020204" pitchFamily="34" charset="0"/>
                        </a:rPr>
                        <a:t>чел/км²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 sz="13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6138325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Московская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173,89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102323771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Республика Ингушетия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165,09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47810441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03BEAD70-B073-40BE-BAF4-A1B4304AF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332625"/>
              </p:ext>
            </p:extLst>
          </p:nvPr>
        </p:nvGraphicFramePr>
        <p:xfrm>
          <a:off x="193628" y="3510959"/>
          <a:ext cx="2721850" cy="3328809"/>
        </p:xfrm>
        <a:graphic>
          <a:graphicData uri="http://schemas.openxmlformats.org/drawingml/2006/table">
            <a:tbl>
              <a:tblPr/>
              <a:tblGrid>
                <a:gridCol w="2198955">
                  <a:extLst>
                    <a:ext uri="{9D8B030D-6E8A-4147-A177-3AD203B41FA5}">
                      <a16:colId xmlns:a16="http://schemas.microsoft.com/office/drawing/2014/main" val="3120438209"/>
                    </a:ext>
                  </a:extLst>
                </a:gridCol>
                <a:gridCol w="522895">
                  <a:extLst>
                    <a:ext uri="{9D8B030D-6E8A-4147-A177-3AD203B41FA5}">
                      <a16:colId xmlns:a16="http://schemas.microsoft.com/office/drawing/2014/main" val="3740059708"/>
                    </a:ext>
                  </a:extLst>
                </a:gridCol>
              </a:tblGrid>
              <a:tr h="22367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III (56+ </a:t>
                      </a:r>
                      <a:r>
                        <a:rPr lang="ru-RU" sz="1300" b="1" i="0" u="none" strike="noStrike" dirty="0">
                          <a:effectLst/>
                          <a:latin typeface="Arial" panose="020B0604020202020204" pitchFamily="34" charset="0"/>
                        </a:rPr>
                        <a:t>чел/км²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ru-RU" sz="13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915037337"/>
                  </a:ext>
                </a:extLst>
              </a:tr>
              <a:tr h="22367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Белгородская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56,8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904069127"/>
                  </a:ext>
                </a:extLst>
              </a:tr>
              <a:tr h="22367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Кабардино-Балкария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69,7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1025236846"/>
                  </a:ext>
                </a:extLst>
              </a:tr>
              <a:tr h="22367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Калининградская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67,35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412470298"/>
                  </a:ext>
                </a:extLst>
              </a:tr>
              <a:tr h="22367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Краснодарский край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75,3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520716078"/>
                  </a:ext>
                </a:extLst>
              </a:tr>
              <a:tr h="22367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Республика Адыгея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59,44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091330341"/>
                  </a:ext>
                </a:extLst>
              </a:tr>
              <a:tr h="22367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Республика Дагестан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62,33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050573242"/>
                  </a:ext>
                </a:extLst>
              </a:tr>
              <a:tr h="22367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Республика Крым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72,91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104525530"/>
                  </a:ext>
                </a:extLst>
              </a:tr>
              <a:tr h="427613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Республика Северная Осетия — Алания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86,78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519496953"/>
                  </a:ext>
                </a:extLst>
              </a:tr>
              <a:tr h="22367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Республика Татарстан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57,4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4068832913"/>
                  </a:ext>
                </a:extLst>
              </a:tr>
              <a:tr h="22367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Самарская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58,88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1878076805"/>
                  </a:ext>
                </a:extLst>
              </a:tr>
              <a:tr h="22367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Тульская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56,43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4103388315"/>
                  </a:ext>
                </a:extLst>
              </a:tr>
              <a:tr h="22367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Чеченская Республика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92,63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017891324"/>
                  </a:ext>
                </a:extLst>
              </a:tr>
              <a:tr h="21709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Чувашская Республика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65,85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981347242"/>
                  </a:ext>
                </a:extLst>
              </a:tr>
            </a:tbl>
          </a:graphicData>
        </a:graphic>
      </p:graphicFrame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80852AAA-1809-449E-96CA-8538DC634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857624"/>
              </p:ext>
            </p:extLst>
          </p:nvPr>
        </p:nvGraphicFramePr>
        <p:xfrm>
          <a:off x="2915475" y="1825265"/>
          <a:ext cx="2812500" cy="5016600"/>
        </p:xfrm>
        <a:graphic>
          <a:graphicData uri="http://schemas.openxmlformats.org/drawingml/2006/table">
            <a:tbl>
              <a:tblPr/>
              <a:tblGrid>
                <a:gridCol w="2138888">
                  <a:extLst>
                    <a:ext uri="{9D8B030D-6E8A-4147-A177-3AD203B41FA5}">
                      <a16:colId xmlns:a16="http://schemas.microsoft.com/office/drawing/2014/main" val="2227781414"/>
                    </a:ext>
                  </a:extLst>
                </a:gridCol>
                <a:gridCol w="673612">
                  <a:extLst>
                    <a:ext uri="{9D8B030D-6E8A-4147-A177-3AD203B41FA5}">
                      <a16:colId xmlns:a16="http://schemas.microsoft.com/office/drawing/2014/main" val="1895037270"/>
                    </a:ext>
                  </a:extLst>
                </a:gridCol>
              </a:tblGrid>
              <a:tr h="20902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IV (27+ </a:t>
                      </a:r>
                      <a:r>
                        <a:rPr lang="ru-RU" sz="1300" b="1" i="0" u="none" strike="noStrike" dirty="0">
                          <a:effectLst/>
                          <a:latin typeface="Arial" panose="020B0604020202020204" pitchFamily="34" charset="0"/>
                        </a:rPr>
                        <a:t>чел/км²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ru-RU" sz="13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69" marR="4369" marT="4369" marB="0" anchor="ctr"/>
                </a:tc>
                <a:extLst>
                  <a:ext uri="{0D108BD9-81ED-4DB2-BD59-A6C34878D82A}">
                    <a16:rowId xmlns:a16="http://schemas.microsoft.com/office/drawing/2014/main" val="1046966912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Брянская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33,93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3320103959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Владимирская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46,15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4174478184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Воронежская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44,16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2102110321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Ивановская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46,04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391119099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Калужская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33,62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1017342399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Карачаево-Черкесия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32,59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3441707276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Кемеровская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27,51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243142056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Курская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36,55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2643974107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Липецкая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46,92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2906567364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Нижегородская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41,46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1779434404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Орловская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29,4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1516482462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Пензенская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29,78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4290657625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Республика Башкортостан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28,08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651841513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Республика Марий Эл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28,89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2584939498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Республика Мордовия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29,81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327599058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Ростовская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41,41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810179587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Рязанская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27,73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1042146005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Ставропольский край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42,21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1675421400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Тамбовская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28,86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4000341453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Удмуртская Республика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35,5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452153897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Ульяновская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32,77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2680279581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Челябинская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38,89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3467815679"/>
                  </a:ext>
                </a:extLst>
              </a:tr>
              <a:tr h="209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Ярославская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34,32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2314547260"/>
                  </a:ext>
                </a:extLst>
              </a:tr>
            </a:tbl>
          </a:graphicData>
        </a:graphic>
      </p:graphicFrame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79E37314-668F-4836-B4D5-6AC07D19B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711818"/>
              </p:ext>
            </p:extLst>
          </p:nvPr>
        </p:nvGraphicFramePr>
        <p:xfrm>
          <a:off x="5727975" y="1818061"/>
          <a:ext cx="2969223" cy="2724163"/>
        </p:xfrm>
        <a:graphic>
          <a:graphicData uri="http://schemas.openxmlformats.org/drawingml/2006/table">
            <a:tbl>
              <a:tblPr/>
              <a:tblGrid>
                <a:gridCol w="2303179">
                  <a:extLst>
                    <a:ext uri="{9D8B030D-6E8A-4147-A177-3AD203B41FA5}">
                      <a16:colId xmlns:a16="http://schemas.microsoft.com/office/drawing/2014/main" val="475210401"/>
                    </a:ext>
                  </a:extLst>
                </a:gridCol>
                <a:gridCol w="666044">
                  <a:extLst>
                    <a:ext uri="{9D8B030D-6E8A-4147-A177-3AD203B41FA5}">
                      <a16:colId xmlns:a16="http://schemas.microsoft.com/office/drawing/2014/main" val="3037601188"/>
                    </a:ext>
                  </a:extLst>
                </a:gridCol>
              </a:tblGrid>
              <a:tr h="20955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 (13+ </a:t>
                      </a:r>
                      <a:r>
                        <a:rPr lang="ru-RU" sz="1300" b="1" i="0" u="none" strike="noStrike" dirty="0">
                          <a:effectLst/>
                          <a:latin typeface="Arial" panose="020B0604020202020204" pitchFamily="34" charset="0"/>
                        </a:rPr>
                        <a:t>чел/км²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8869581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Алтайский край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13,67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165215848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Астраханская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20,35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157853996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Волгоградская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21,92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798307215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Ленинградская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22,56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303477022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Новосибирская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15,67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872012462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Омская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13,49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174776389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Оренбургская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15,71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1728907646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Пермский край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16,1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47039372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Саратовская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23,66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372401054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Свердловская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22,08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338982730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Смоленская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18,5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811320758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Тверская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14,79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44676083"/>
                  </a:ext>
                </a:extLst>
              </a:tr>
            </a:tbl>
          </a:graphicData>
        </a:graphic>
      </p:graphicFrame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20E74375-37A6-4312-97D2-A73A19FD7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403461"/>
              </p:ext>
            </p:extLst>
          </p:nvPr>
        </p:nvGraphicFramePr>
        <p:xfrm>
          <a:off x="5727975" y="4744681"/>
          <a:ext cx="2969222" cy="2095510"/>
        </p:xfrm>
        <a:graphic>
          <a:graphicData uri="http://schemas.openxmlformats.org/drawingml/2006/table">
            <a:tbl>
              <a:tblPr/>
              <a:tblGrid>
                <a:gridCol w="2315449">
                  <a:extLst>
                    <a:ext uri="{9D8B030D-6E8A-4147-A177-3AD203B41FA5}">
                      <a16:colId xmlns:a16="http://schemas.microsoft.com/office/drawing/2014/main" val="928493691"/>
                    </a:ext>
                  </a:extLst>
                </a:gridCol>
                <a:gridCol w="653773">
                  <a:extLst>
                    <a:ext uri="{9D8B030D-6E8A-4147-A177-3AD203B41FA5}">
                      <a16:colId xmlns:a16="http://schemas.microsoft.com/office/drawing/2014/main" val="3592084399"/>
                    </a:ext>
                  </a:extLst>
                </a:gridCol>
              </a:tblGrid>
              <a:tr h="20955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(7+ </a:t>
                      </a:r>
                      <a:r>
                        <a:rPr lang="ru-RU" sz="1300" b="1" i="0" u="none" strike="noStrike" dirty="0">
                          <a:effectLst/>
                          <a:latin typeface="Arial" panose="020B0604020202020204" pitchFamily="34" charset="0"/>
                        </a:rPr>
                        <a:t>чел/км²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541584684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Вологодская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7,96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850895204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Кировская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10,39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523606688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Костромская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10,44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608835401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Курганская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11,45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48782550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Новгородская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10,87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463643041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Приморский край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11,4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1801175354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Псковская область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11,2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344615055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Республика Хакасия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8,64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984787302"/>
                  </a:ext>
                </a:extLst>
              </a:tr>
              <a:tr h="209551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Тюменская область 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9,64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045555903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6751EA28-4481-4F4F-A543-01D788EDE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033480"/>
              </p:ext>
            </p:extLst>
          </p:nvPr>
        </p:nvGraphicFramePr>
        <p:xfrm>
          <a:off x="8697197" y="1816376"/>
          <a:ext cx="2812500" cy="3680478"/>
        </p:xfrm>
        <a:graphic>
          <a:graphicData uri="http://schemas.openxmlformats.org/drawingml/2006/table">
            <a:tbl>
              <a:tblPr/>
              <a:tblGrid>
                <a:gridCol w="2075140">
                  <a:extLst>
                    <a:ext uri="{9D8B030D-6E8A-4147-A177-3AD203B41FA5}">
                      <a16:colId xmlns:a16="http://schemas.microsoft.com/office/drawing/2014/main" val="1825398622"/>
                    </a:ext>
                  </a:extLst>
                </a:gridCol>
                <a:gridCol w="737360">
                  <a:extLst>
                    <a:ext uri="{9D8B030D-6E8A-4147-A177-3AD203B41FA5}">
                      <a16:colId xmlns:a16="http://schemas.microsoft.com/office/drawing/2014/main" val="2780475230"/>
                    </a:ext>
                  </a:extLst>
                </a:gridCol>
              </a:tblGrid>
              <a:tr h="19410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VII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(1+ </a:t>
                      </a:r>
                      <a:r>
                        <a:rPr lang="ru-RU" sz="1300" b="1" i="0" u="none" strike="noStrike" dirty="0">
                          <a:effectLst/>
                          <a:latin typeface="Arial" panose="020B0604020202020204" pitchFamily="34" charset="0"/>
                        </a:rPr>
                        <a:t>чел/км²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80670820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Амурская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2,16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685655953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Архангельская область 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2,62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1430720915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Еврейская АО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4,31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1943549562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Забайкальский край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2,44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289210552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Иркутская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3,07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088604370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Красноярский край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1,21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1802992089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Мурманская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5,06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606370434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Республика Алтай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2,38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1145375903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Республика Бурятия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2,8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439071140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Республика Калмыкия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3,61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583987492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Республика Карелия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3,37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760226689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Республика Коми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1,95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4137957040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Республика Тыва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1,96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4277430819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Сахалинская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5,58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1710017593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Томская область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</a:rPr>
                        <a:t>3,4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967761287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Хабаровский край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1,65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180129361"/>
                  </a:ext>
                </a:extLst>
              </a:tr>
              <a:tr h="194106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Ханты-Мансийский АО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3,16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1278310976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0550FA59-5F87-4118-9835-1746190B3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30563"/>
              </p:ext>
            </p:extLst>
          </p:nvPr>
        </p:nvGraphicFramePr>
        <p:xfrm>
          <a:off x="8700693" y="5496854"/>
          <a:ext cx="2812500" cy="1339857"/>
        </p:xfrm>
        <a:graphic>
          <a:graphicData uri="http://schemas.openxmlformats.org/drawingml/2006/table">
            <a:tbl>
              <a:tblPr/>
              <a:tblGrid>
                <a:gridCol w="2086920">
                  <a:extLst>
                    <a:ext uri="{9D8B030D-6E8A-4147-A177-3AD203B41FA5}">
                      <a16:colId xmlns:a16="http://schemas.microsoft.com/office/drawing/2014/main" val="3204834469"/>
                    </a:ext>
                  </a:extLst>
                </a:gridCol>
                <a:gridCol w="725580">
                  <a:extLst>
                    <a:ext uri="{9D8B030D-6E8A-4147-A177-3AD203B41FA5}">
                      <a16:colId xmlns:a16="http://schemas.microsoft.com/office/drawing/2014/main" val="1028524763"/>
                    </a:ext>
                  </a:extLst>
                </a:gridCol>
              </a:tblGrid>
              <a:tr h="17519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VIII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(1- </a:t>
                      </a:r>
                      <a:r>
                        <a:rPr lang="ru-RU" sz="1300" b="1" i="0" u="none" strike="noStrike" dirty="0">
                          <a:effectLst/>
                          <a:latin typeface="Arial" panose="020B0604020202020204" pitchFamily="34" charset="0"/>
                        </a:rPr>
                        <a:t>чел/км²</a:t>
                      </a: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03131475"/>
                  </a:ext>
                </a:extLst>
              </a:tr>
              <a:tr h="17519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Камчатский край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0,67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977335133"/>
                  </a:ext>
                </a:extLst>
              </a:tr>
              <a:tr h="17519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Магаданская область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0,3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994580616"/>
                  </a:ext>
                </a:extLst>
              </a:tr>
              <a:tr h="17519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Ненецкий АО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0,25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4178713085"/>
                  </a:ext>
                </a:extLst>
              </a:tr>
              <a:tr h="17519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Республика Саха (Якутия)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0,32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2811079412"/>
                  </a:ext>
                </a:extLst>
              </a:tr>
              <a:tr h="17519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Чукотский АО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0,07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3398820818"/>
                  </a:ext>
                </a:extLst>
              </a:tr>
              <a:tr h="17519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Ямало-Ненецкий АО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0,71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1" marR="6351" marT="6351" marB="0" anchor="ctr"/>
                </a:tc>
                <a:extLst>
                  <a:ext uri="{0D108BD9-81ED-4DB2-BD59-A6C34878D82A}">
                    <a16:rowId xmlns:a16="http://schemas.microsoft.com/office/drawing/2014/main" val="4253986094"/>
                  </a:ext>
                </a:extLst>
              </a:tr>
            </a:tbl>
          </a:graphicData>
        </a:graphic>
      </p:graphicFrame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DCD475F-ACC7-CFCD-9C41-95502A2C1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5772"/>
            <a:ext cx="12192000" cy="1325563"/>
          </a:xfrm>
          <a:solidFill>
            <a:srgbClr val="002060"/>
          </a:solidFill>
        </p:spPr>
        <p:txBody>
          <a:bodyPr anchor="ctr"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Плотность населения</a:t>
            </a:r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8A1C4F6-BD43-664F-069F-85C837E042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46280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128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D55B821-3B2C-4267-95FA-C7749F73BA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3268" t="-38960" r="-25625" b="-1"/>
          <a:stretch/>
        </p:blipFill>
        <p:spPr>
          <a:xfrm>
            <a:off x="174483" y="-125772"/>
            <a:ext cx="10853289" cy="4784812"/>
          </a:xfrm>
          <a:prstGeom prst="rect">
            <a:avLst/>
          </a:prstGeom>
          <a:solidFill>
            <a:schemeClr val="bg1"/>
          </a:solidFill>
          <a:effectLst>
            <a:softEdge rad="838200"/>
          </a:effec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540D39F-0AA6-4F7B-8092-ADB47AA259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7</a:t>
            </a:fld>
            <a:endParaRPr lang="ru"/>
          </a:p>
        </p:txBody>
      </p:sp>
      <p:sp>
        <p:nvSpPr>
          <p:cNvPr id="5" name="Google Shape;324;p33">
            <a:extLst>
              <a:ext uri="{FF2B5EF4-FFF2-40B4-BE49-F238E27FC236}">
                <a16:creationId xmlns:a16="http://schemas.microsoft.com/office/drawing/2014/main" id="{BE32AA6B-04CA-4328-B5D3-C9A8284998D8}"/>
              </a:ext>
            </a:extLst>
          </p:cNvPr>
          <p:cNvSpPr txBox="1"/>
          <p:nvPr/>
        </p:nvSpPr>
        <p:spPr>
          <a:xfrm>
            <a:off x="174483" y="4375620"/>
            <a:ext cx="3570012" cy="196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just"/>
            <a:r>
              <a:rPr lang="ru" sz="1333" dirty="0">
                <a:solidFill>
                  <a:schemeClr val="dk1"/>
                </a:solidFill>
                <a:latin typeface="Century Gothic" panose="020B0502020202020204" pitchFamily="34" charset="0"/>
                <a:sym typeface="Arial"/>
              </a:rPr>
              <a:t>Территории России находятся в совершенно разных </a:t>
            </a:r>
            <a:r>
              <a:rPr lang="ru" sz="1333" b="1" dirty="0">
                <a:solidFill>
                  <a:schemeClr val="dk1"/>
                </a:solidFill>
                <a:latin typeface="Century Gothic" panose="020B0502020202020204" pitchFamily="34" charset="0"/>
                <a:sym typeface="Arial"/>
              </a:rPr>
              <a:t>природно-климатических уловиях</a:t>
            </a:r>
            <a:r>
              <a:rPr lang="ru" sz="1333" dirty="0">
                <a:solidFill>
                  <a:schemeClr val="dk1"/>
                </a:solidFill>
                <a:latin typeface="Century Gothic" panose="020B0502020202020204" pitchFamily="34" charset="0"/>
                <a:sym typeface="Arial"/>
              </a:rPr>
              <a:t>. В одних хорошо развито сельское хозяйство и туризм, другие – практически непригодны для жизни человека. С целью определения перспектив и выработки инструментов необходим </a:t>
            </a:r>
            <a:r>
              <a:rPr lang="ru" sz="1333" b="1" dirty="0">
                <a:solidFill>
                  <a:schemeClr val="dk1"/>
                </a:solidFill>
                <a:latin typeface="Century Gothic" panose="020B0502020202020204" pitchFamily="34" charset="0"/>
                <a:sym typeface="Arial"/>
              </a:rPr>
              <a:t>разделять эти территории</a:t>
            </a:r>
            <a:r>
              <a:rPr lang="ru" sz="1333" dirty="0">
                <a:solidFill>
                  <a:schemeClr val="dk1"/>
                </a:solidFill>
                <a:latin typeface="Century Gothic" panose="020B0502020202020204" pitchFamily="34" charset="0"/>
                <a:sym typeface="Arial"/>
              </a:rPr>
              <a:t>. </a:t>
            </a:r>
            <a:endParaRPr sz="1333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6" name="Google Shape;324;p33">
            <a:extLst>
              <a:ext uri="{FF2B5EF4-FFF2-40B4-BE49-F238E27FC236}">
                <a16:creationId xmlns:a16="http://schemas.microsoft.com/office/drawing/2014/main" id="{EE6B6346-62A1-41CE-9FB3-C3E8A6CD0FDF}"/>
              </a:ext>
            </a:extLst>
          </p:cNvPr>
          <p:cNvSpPr txBox="1"/>
          <p:nvPr/>
        </p:nvSpPr>
        <p:spPr>
          <a:xfrm>
            <a:off x="4162195" y="4375620"/>
            <a:ext cx="3282979" cy="2174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just"/>
            <a:r>
              <a:rPr lang="ru" sz="1333" dirty="0">
                <a:solidFill>
                  <a:schemeClr val="dk1"/>
                </a:solidFill>
                <a:latin typeface="Century Gothic" panose="020B0502020202020204" pitchFamily="34" charset="0"/>
                <a:sym typeface="Arial"/>
              </a:rPr>
              <a:t>Территории России значительно отличаются по </a:t>
            </a:r>
            <a:r>
              <a:rPr lang="ru" sz="1333" i="1" dirty="0">
                <a:solidFill>
                  <a:schemeClr val="dk1"/>
                </a:solidFill>
                <a:latin typeface="Century Gothic" panose="020B0502020202020204" pitchFamily="34" charset="0"/>
                <a:sym typeface="Arial"/>
              </a:rPr>
              <a:t>условиям транспортной доступности</a:t>
            </a:r>
            <a:r>
              <a:rPr lang="ru" sz="1333" dirty="0">
                <a:solidFill>
                  <a:schemeClr val="dk1"/>
                </a:solidFill>
                <a:latin typeface="Century Gothic" panose="020B0502020202020204" pitchFamily="34" charset="0"/>
                <a:sym typeface="Arial"/>
              </a:rPr>
              <a:t>, определяемой системой расселения. </a:t>
            </a:r>
            <a:r>
              <a:rPr lang="ru" sz="1333" dirty="0">
                <a:solidFill>
                  <a:schemeClr val="dk1"/>
                </a:solidFill>
                <a:latin typeface="Century Gothic" panose="020B0502020202020204" pitchFamily="34" charset="0"/>
              </a:rPr>
              <a:t>Индикатором выступает </a:t>
            </a:r>
            <a:r>
              <a:rPr lang="ru" sz="1333" b="1" dirty="0">
                <a:solidFill>
                  <a:schemeClr val="dk1"/>
                </a:solidFill>
                <a:latin typeface="Century Gothic" panose="020B0502020202020204" pitchFamily="34" charset="0"/>
              </a:rPr>
              <a:t>плоность населения</a:t>
            </a:r>
            <a:r>
              <a:rPr lang="ru" sz="1333" dirty="0">
                <a:solidFill>
                  <a:schemeClr val="dk1"/>
                </a:solidFill>
                <a:latin typeface="Century Gothic" panose="020B0502020202020204" pitchFamily="34" charset="0"/>
              </a:rPr>
              <a:t>, в соответствии с которой субъекты РФ были сгруппированы</a:t>
            </a:r>
            <a:r>
              <a:rPr lang="en-US" sz="1333" dirty="0">
                <a:solidFill>
                  <a:schemeClr val="dk1"/>
                </a:solidFill>
                <a:latin typeface="Century Gothic" panose="020B0502020202020204" pitchFamily="34" charset="0"/>
              </a:rPr>
              <a:t> </a:t>
            </a:r>
            <a:r>
              <a:rPr lang="ru-RU" sz="1333" dirty="0">
                <a:solidFill>
                  <a:schemeClr val="dk1"/>
                </a:solidFill>
                <a:latin typeface="Century Gothic" panose="020B0502020202020204" pitchFamily="34" charset="0"/>
              </a:rPr>
              <a:t>(примерно делением на 2 в каждом шаге). </a:t>
            </a:r>
            <a:endParaRPr sz="1333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7" name="Google Shape;324;p33">
            <a:extLst>
              <a:ext uri="{FF2B5EF4-FFF2-40B4-BE49-F238E27FC236}">
                <a16:creationId xmlns:a16="http://schemas.microsoft.com/office/drawing/2014/main" id="{E414D1F2-E163-470D-9584-BD38C8EEF169}"/>
              </a:ext>
            </a:extLst>
          </p:cNvPr>
          <p:cNvSpPr txBox="1"/>
          <p:nvPr/>
        </p:nvSpPr>
        <p:spPr>
          <a:xfrm>
            <a:off x="7934278" y="4370283"/>
            <a:ext cx="3718829" cy="196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just"/>
            <a:r>
              <a:rPr lang="ru-RU" sz="1333" dirty="0">
                <a:solidFill>
                  <a:schemeClr val="dk1"/>
                </a:solidFill>
                <a:latin typeface="Century Gothic" panose="020B0502020202020204" pitchFamily="34" charset="0"/>
                <a:sym typeface="Arial"/>
              </a:rPr>
              <a:t>Субъекты РФ были распределены по направлениям </a:t>
            </a:r>
            <a:r>
              <a:rPr lang="ru-RU" sz="1333" b="1" dirty="0">
                <a:solidFill>
                  <a:schemeClr val="dk1"/>
                </a:solidFill>
                <a:latin typeface="Century Gothic" panose="020B0502020202020204" pitchFamily="34" charset="0"/>
                <a:sym typeface="Arial"/>
              </a:rPr>
              <a:t>эффективной экономической специализации</a:t>
            </a:r>
            <a:r>
              <a:rPr lang="ru-RU" sz="1333" dirty="0">
                <a:solidFill>
                  <a:schemeClr val="dk1"/>
                </a:solidFill>
                <a:latin typeface="Century Gothic" panose="020B0502020202020204" pitchFamily="34" charset="0"/>
                <a:sym typeface="Arial"/>
              </a:rPr>
              <a:t>. Для этого исследована </a:t>
            </a:r>
            <a:r>
              <a:rPr lang="ru-RU" sz="1333" i="1" dirty="0">
                <a:solidFill>
                  <a:schemeClr val="dk1"/>
                </a:solidFill>
                <a:latin typeface="Century Gothic" panose="020B0502020202020204" pitchFamily="34" charset="0"/>
                <a:sym typeface="Arial"/>
              </a:rPr>
              <a:t>структура ВРП </a:t>
            </a:r>
            <a:r>
              <a:rPr lang="ru-RU" sz="1333" dirty="0">
                <a:solidFill>
                  <a:schemeClr val="dk1"/>
                </a:solidFill>
                <a:latin typeface="Century Gothic" panose="020B0502020202020204" pitchFamily="34" charset="0"/>
                <a:sym typeface="Arial"/>
              </a:rPr>
              <a:t>(за 2019 г.) и выявлены отрасли, которые составляют более половины от максимального значения среди отраслей субъекта РФ. Отрасли ВРП обозначены латинскими буквами. </a:t>
            </a:r>
            <a:endParaRPr sz="1333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FA9CE04-57B0-BA01-21B5-3A150118ED85}"/>
              </a:ext>
            </a:extLst>
          </p:cNvPr>
          <p:cNvSpPr txBox="1">
            <a:spLocks/>
          </p:cNvSpPr>
          <p:nvPr/>
        </p:nvSpPr>
        <p:spPr>
          <a:xfrm>
            <a:off x="0" y="-125772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Типологизация территорий</a:t>
            </a:r>
          </a:p>
        </p:txBody>
      </p:sp>
      <p:pic>
        <p:nvPicPr>
          <p:cNvPr id="11" name="Рисунок 10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74C4D6E5-870F-6F1C-71BE-6295FF71176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46280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14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C38BBA8-1B26-41E2-85AA-A91D3CC6A6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1" b="2090"/>
          <a:stretch/>
        </p:blipFill>
        <p:spPr bwMode="auto">
          <a:xfrm>
            <a:off x="1" y="-112733"/>
            <a:ext cx="12192847" cy="69083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540D39F-0AA6-4F7B-8092-ADB47AA259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8</a:t>
            </a:fld>
            <a:endParaRPr lang="ru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4F0AC15-A041-7501-1F10-2F478429A6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9839" b="49032" l="1331" r="11982">
                        <a14:backgroundMark x1="4063" y1="48066" x2="3359" y2="45746"/>
                        <a14:backgroundMark x1="3359" y1="47624" x2="2656" y2="47624"/>
                        <a14:backgroundMark x1="3359" y1="46630" x2="2969" y2="47624"/>
                        <a14:backgroundMark x1="4219" y1="47072" x2="3984" y2="46519"/>
                      </a14:backgroundRemoval>
                    </a14:imgEffect>
                    <a14:imgEffect>
                      <a14:sharpenSoften amount="100000"/>
                    </a14:imgEffect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8690" r="86687" b="49819"/>
          <a:stretch/>
        </p:blipFill>
        <p:spPr bwMode="auto">
          <a:xfrm>
            <a:off x="5917" y="4401319"/>
            <a:ext cx="1575467" cy="913222"/>
          </a:xfrm>
          <a:prstGeom prst="rect">
            <a:avLst/>
          </a:prstGeom>
          <a:noFill/>
          <a:effectLst>
            <a:glow rad="12700">
              <a:schemeClr val="tx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501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396406-F23C-CAE4-EC6A-62BD9ED83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9</a:t>
            </a:fld>
            <a:endParaRPr lang="ru-RU"/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71E1CA89-94CC-0AF2-A703-3FEA61C7EA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5966073"/>
              </p:ext>
            </p:extLst>
          </p:nvPr>
        </p:nvGraphicFramePr>
        <p:xfrm>
          <a:off x="0" y="411924"/>
          <a:ext cx="6096000" cy="6442912"/>
        </p:xfrm>
        <a:graphic>
          <a:graphicData uri="http://schemas.openxmlformats.org/drawingml/2006/table">
            <a:tbl>
              <a:tblPr firstRow="1" firstCol="1" bandRow="1"/>
              <a:tblGrid>
                <a:gridCol w="6096000">
                  <a:extLst>
                    <a:ext uri="{9D8B030D-6E8A-4147-A177-3AD203B41FA5}">
                      <a16:colId xmlns:a16="http://schemas.microsoft.com/office/drawing/2014/main" val="2457693779"/>
                    </a:ext>
                  </a:extLst>
                </a:gridCol>
              </a:tblGrid>
              <a:tr h="3208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 Субъекты РФ, обладающие уникальным сочетанием характеристик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737724"/>
                  </a:ext>
                </a:extLst>
              </a:tr>
              <a:tr h="65831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Астраханская о., Белгородская о., Волгоградская о., Камчатский к., Карачаево-Черкесская Р., Москва, Московская о., Санкт-Петербург, Севастополь, Р. Дагестан, Р. Калмыкия, Забайкальский к.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719374"/>
                  </a:ext>
                </a:extLst>
              </a:tr>
              <a:tr h="32081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III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тёплый умеренный – диверсифицированная экономика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894524"/>
                  </a:ext>
                </a:extLst>
              </a:tr>
              <a:tr h="40800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Кабардино-Балкарская Р., Краснодарский к., Р. Адыгея, Р. Крым, Р. Северная Осетия-Алания, Чеченская Р.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182901"/>
                  </a:ext>
                </a:extLst>
              </a:tr>
              <a:tr h="32081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III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умеренный –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(обрабатывающие производства)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608784"/>
                  </a:ext>
                </a:extLst>
              </a:tr>
              <a:tr h="32081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Калининградская о., Р. Татарстан, Самарская о., Тульская о., Чувашская Р.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599386"/>
                  </a:ext>
                </a:extLst>
              </a:tr>
              <a:tr h="32081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IV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тёплый умеренный – диверсифицированная экономика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122221"/>
                  </a:ext>
                </a:extLst>
              </a:tr>
              <a:tr h="32081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Ростовская о., Ставропольский к.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18604"/>
                  </a:ext>
                </a:extLst>
              </a:tr>
              <a:tr h="32081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IV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умеренный – диверсифицированная экономика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845318"/>
                  </a:ext>
                </a:extLst>
              </a:tr>
              <a:tr h="32081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Брянская о., Ивановская о., Курская о., Орловская о., Пензенская о.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815019"/>
                  </a:ext>
                </a:extLst>
              </a:tr>
              <a:tr h="32081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IV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умеренный – А (сельское, лесное хозяйство, охота…)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175919"/>
                  </a:ext>
                </a:extLst>
              </a:tr>
              <a:tr h="32081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Воронежская о., Р. Марий Эл, Р. Мордовия, Тамбовская о.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314386"/>
                  </a:ext>
                </a:extLst>
              </a:tr>
              <a:tr h="32081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 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IV</a:t>
                      </a: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умеренный – 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(обрабатывающие производства)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466734"/>
                  </a:ext>
                </a:extLst>
              </a:tr>
              <a:tr h="94608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Владимирская о., Воронежская о., Калужская о., Кемеровская о., Липецкая о., Нижегородская о., Р. Башкортостан, Р. Марий Эл, Р. Мордовия, Рязанская о., Удмуртская Р., Ульяновская о., Челябинская о., Ярославская о.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133249"/>
                  </a:ext>
                </a:extLst>
              </a:tr>
              <a:tr h="53875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 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IV</a:t>
                      </a: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умеренный – G (торговля оптовая и розничная, ремонт…)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187172"/>
                  </a:ext>
                </a:extLst>
              </a:tr>
              <a:tr h="34408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Воронежская о., Нижегородская о., Рязанская о., Тамбовская о., Ярославская о.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336748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8B30D7B9-9CE4-A750-F3CC-A7DA1B2BC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749990"/>
              </p:ext>
            </p:extLst>
          </p:nvPr>
        </p:nvGraphicFramePr>
        <p:xfrm>
          <a:off x="6095999" y="408760"/>
          <a:ext cx="6096001" cy="6446076"/>
        </p:xfrm>
        <a:graphic>
          <a:graphicData uri="http://schemas.openxmlformats.org/drawingml/2006/table">
            <a:tbl>
              <a:tblPr firstRow="1" firstCol="1" bandRow="1"/>
              <a:tblGrid>
                <a:gridCol w="6096001">
                  <a:extLst>
                    <a:ext uri="{9D8B030D-6E8A-4147-A177-3AD203B41FA5}">
                      <a16:colId xmlns:a16="http://schemas.microsoft.com/office/drawing/2014/main" val="223578746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 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умеренный – В (добыча полезных ископаемых)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16416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Оренбургская о., Пермский к.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08026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умеренный –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(обрабатывающие производства)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91959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spc="-2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Ленинградская о., Омская о., Пермский к., Саратовская о., Свердловская о., Тверская о.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3459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умеренный – диверсифицированная экономика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00362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Алтайский к., Новосибирская о., Смоленская о.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26675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умеренный –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(обрабатывающие производства)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56026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Вологодская о., Кировская о., Костромская о., Курганская о., Новгородская о.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37416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умеренный – диверсифицированная экономика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87855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Приморский к., Псковская о., Р. Хакасия, Тюменская о.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1872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VII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умеренный –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(обрабатывающие производства)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9477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Архангельская о., Иркутская о., Сахалинская о., Ханты-Мансийский АО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20807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VII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умеренный – диверсифицированная экономика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54502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Еврейская АО, Р. Алтай, Р. Бурятия, Р. Карелия, Р. Тыва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04578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VII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–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(обрабатывающие производства)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52291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Красноярский к., Р. Коми, Томская о.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21009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VII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– диверсифицированная экономика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23736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Амурская о., Мурманская о., Хабаровский к.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26525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VIII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умеренный – В (добыча полезных ископаемых)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32364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Магаданская о., Ненецкий АО, Ямало-Ненецкий АО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69719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VIII</a:t>
                      </a: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– холодный – В (добыча полезных ископаемых)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90305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57810" algn="l"/>
                        </a:tabLs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Р. Саха (Якутия), Чукотский АО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40015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5E6B276-B660-3054-CF55-3CFA7CDD62FA}"/>
              </a:ext>
            </a:extLst>
          </p:cNvPr>
          <p:cNvSpPr txBox="1"/>
          <p:nvPr/>
        </p:nvSpPr>
        <p:spPr>
          <a:xfrm>
            <a:off x="1" y="0"/>
            <a:ext cx="121920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/>
              <a:t>Группировка субъектов РФ с помощью многомерной типологизации</a:t>
            </a:r>
          </a:p>
        </p:txBody>
      </p:sp>
    </p:spTree>
    <p:extLst>
      <p:ext uri="{BB962C8B-B14F-4D97-AF65-F5344CB8AC3E}">
        <p14:creationId xmlns:p14="http://schemas.microsoft.com/office/powerpoint/2010/main" val="3469866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8" name="Google Shape;98;p13"/>
          <p:cNvPicPr/>
          <p:nvPr/>
        </p:nvPicPr>
        <p:blipFill>
          <a:blip r:embed="rId2">
            <a:alphaModFix/>
          </a:blip>
          <a:srcRect l="11012" t="3778" r="10769" b="2474"/>
          <a:stretch/>
        </p:blipFill>
        <p:spPr bwMode="auto">
          <a:xfrm>
            <a:off x="6141028" y="1883591"/>
            <a:ext cx="5622345" cy="434771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C0BF7D4-2340-9E58-7537-0ECFEB2FB31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России ≈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155,5 тыс. 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населённых пунктов</a:t>
            </a:r>
          </a:p>
        </p:txBody>
      </p:sp>
      <p:pic>
        <p:nvPicPr>
          <p:cNvPr id="97" name="Google Shape;97;p13"/>
          <p:cNvPicPr/>
          <p:nvPr/>
        </p:nvPicPr>
        <p:blipFill>
          <a:blip r:embed="rId3">
            <a:alphaModFix/>
          </a:blip>
          <a:srcRect l="10651" t="3881" r="10563" b="2581"/>
          <a:stretch/>
        </p:blipFill>
        <p:spPr bwMode="auto">
          <a:xfrm>
            <a:off x="307044" y="1883591"/>
            <a:ext cx="5622347" cy="4347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1F54F512-D94B-2445-531A-036B3917BD9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5F6F976-6165-258D-0018-CF37F32D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5CD6344-69F2-4F2A-9E84-A8C1A071765E}" type="slidenum">
              <a:rPr lang="ru-RU" smtClean="0"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Объект 12"/>
          <p:cNvPicPr>
            <a:picLocks noGrp="1" noChangeAspect="1"/>
          </p:cNvPicPr>
          <p:nvPr>
            <p:ph idx="1"/>
          </p:nvPr>
        </p:nvPicPr>
        <p:blipFill>
          <a:blip r:embed="rId2"/>
          <a:srcRect l="3415" r="5847" b="18717"/>
          <a:stretch/>
        </p:blipFill>
        <p:spPr bwMode="auto">
          <a:xfrm>
            <a:off x="0" y="90859"/>
            <a:ext cx="12192000" cy="676714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FAB9D-1B5C-5365-408B-C7B6788A8C8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>
              <a:alpha val="49000"/>
            </a:srgb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Населённые пункты численностью до 100 человек</a:t>
            </a:r>
          </a:p>
        </p:txBody>
      </p:sp>
      <p:pic>
        <p:nvPicPr>
          <p:cNvPr id="3" name="Рисунок 2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0236652E-1AC2-AFDE-D32A-F262BF759C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2C8B518-BB79-443E-9D68-848E1914CEEC}" type="slidenum">
              <a:rPr lang="ru-RU"/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 bwMode="auto">
          <a:xfrm>
            <a:off x="123348" y="1722157"/>
            <a:ext cx="794136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ru-RU" sz="1600">
                <a:latin typeface="ArialMT"/>
              </a:rPr>
              <a:t>В соответствии с Распоряжением Правительства РФ от 6 октября 2021 года №2816-р </a:t>
            </a:r>
            <a:r>
              <a:rPr lang="ru-RU" sz="1600">
                <a:solidFill>
                  <a:srgbClr val="002060"/>
                </a:solidFill>
                <a:latin typeface="ArialMT"/>
              </a:rPr>
              <a:t>«</a:t>
            </a:r>
            <a:r>
              <a:rPr lang="ru-RU" sz="1600" b="1">
                <a:solidFill>
                  <a:srgbClr val="002060"/>
                </a:solidFill>
                <a:latin typeface="ArialMT"/>
              </a:rPr>
              <a:t>О перечне инициатив социально-экономического развития Российской Федерации до 2030 года</a:t>
            </a:r>
            <a:r>
              <a:rPr lang="ru-RU" sz="1600">
                <a:solidFill>
                  <a:srgbClr val="002060"/>
                </a:solidFill>
                <a:latin typeface="ArialMT"/>
              </a:rPr>
              <a:t>», </a:t>
            </a:r>
            <a:r>
              <a:rPr lang="ru-RU" sz="1600">
                <a:latin typeface="ArialMT"/>
              </a:rPr>
              <a:t>одной из целей декларируется достижение инициативы </a:t>
            </a:r>
            <a:r>
              <a:rPr lang="en-US" sz="1600">
                <a:latin typeface="ArialMT"/>
              </a:rPr>
              <a:t>II.12 </a:t>
            </a:r>
            <a:r>
              <a:rPr lang="ru-RU" sz="1600">
                <a:latin typeface="ArialMT"/>
              </a:rPr>
              <a:t>«</a:t>
            </a:r>
            <a:r>
              <a:rPr lang="ru-RU" sz="1600" i="1">
                <a:latin typeface="ArialMT"/>
              </a:rPr>
              <a:t>Города больших возможностей и возрождение малых форм расселения</a:t>
            </a:r>
            <a:r>
              <a:rPr lang="ru-RU" sz="1600">
                <a:latin typeface="ArialMT"/>
              </a:rPr>
              <a:t>». </a:t>
            </a:r>
            <a:endParaRPr/>
          </a:p>
          <a:p>
            <a:pPr algn="just">
              <a:defRPr/>
            </a:pPr>
            <a:endParaRPr lang="ru-RU" sz="1600">
              <a:latin typeface="ArialMT"/>
            </a:endParaRPr>
          </a:p>
          <a:p>
            <a:pPr algn="just">
              <a:defRPr/>
            </a:pPr>
            <a:r>
              <a:rPr lang="ru-RU" sz="1600">
                <a:latin typeface="ArialMT"/>
              </a:rPr>
              <a:t>В стратегии </a:t>
            </a:r>
            <a:r>
              <a:rPr lang="ru-RU" sz="1600">
                <a:solidFill>
                  <a:srgbClr val="002060"/>
                </a:solidFill>
                <a:latin typeface="ArialMT"/>
              </a:rPr>
              <a:t>«</a:t>
            </a:r>
            <a:r>
              <a:rPr lang="ru-RU" sz="1600" b="1">
                <a:solidFill>
                  <a:srgbClr val="002060"/>
                </a:solidFill>
                <a:latin typeface="ArialMT"/>
              </a:rPr>
              <a:t>Агрессивного развития инфраструктуры</a:t>
            </a:r>
            <a:r>
              <a:rPr lang="ru-RU" sz="1600">
                <a:solidFill>
                  <a:srgbClr val="002060"/>
                </a:solidFill>
                <a:latin typeface="ArialMT"/>
              </a:rPr>
              <a:t>», </a:t>
            </a:r>
            <a:r>
              <a:rPr lang="ru-RU" sz="1600">
                <a:latin typeface="ArialMT"/>
              </a:rPr>
              <a:t>определены приоритеты развития: 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 sz="1600">
                <a:latin typeface="ArialMT"/>
              </a:rPr>
              <a:t>агломерации 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 sz="1600">
                <a:latin typeface="ArialMT"/>
              </a:rPr>
              <a:t>опорные пункты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 sz="1600">
                <a:latin typeface="ArialMT"/>
              </a:rPr>
              <a:t>геостратегические регионы</a:t>
            </a:r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19618" r="14213"/>
          <a:stretch/>
        </p:blipFill>
        <p:spPr bwMode="auto">
          <a:xfrm>
            <a:off x="9033744" y="2353768"/>
            <a:ext cx="2462134" cy="2479147"/>
          </a:xfrm>
          <a:prstGeom prst="ellipse">
            <a:avLst/>
          </a:prstGeom>
          <a:noFill/>
          <a:ln w="38100">
            <a:noFill/>
          </a:ln>
        </p:spPr>
      </p:pic>
      <p:sp>
        <p:nvSpPr>
          <p:cNvPr id="17" name="TextBox 16"/>
          <p:cNvSpPr txBox="1"/>
          <p:nvPr/>
        </p:nvSpPr>
        <p:spPr bwMode="auto">
          <a:xfrm>
            <a:off x="230052" y="4832915"/>
            <a:ext cx="7471668" cy="1188703"/>
          </a:xfrm>
          <a:prstGeom prst="wedgeRoundRectCallout">
            <a:avLst>
              <a:gd name="adj1" fmla="val 69985"/>
              <a:gd name="adj2" fmla="val -6141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1600">
                <a:latin typeface="ArialMT"/>
              </a:rPr>
              <a:t>&lt;…&gt;</a:t>
            </a:r>
            <a:r>
              <a:rPr lang="ru-RU" sz="1600">
                <a:latin typeface="ArialMT"/>
              </a:rPr>
              <a:t>При этом предполагается </a:t>
            </a:r>
            <a:r>
              <a:rPr lang="ru-RU" sz="1600" i="1">
                <a:latin typeface="ArialMT"/>
              </a:rPr>
              <a:t>не оставлять без внимания </a:t>
            </a:r>
            <a:r>
              <a:rPr lang="ru-RU" sz="1600" b="1">
                <a:latin typeface="ArialMT"/>
              </a:rPr>
              <a:t>сельскую местность </a:t>
            </a:r>
            <a:r>
              <a:rPr lang="ru-RU" sz="1600">
                <a:latin typeface="ArialMT"/>
              </a:rPr>
              <a:t>и</a:t>
            </a:r>
            <a:r>
              <a:rPr lang="ru-RU" sz="1600" b="1">
                <a:latin typeface="ArialMT"/>
              </a:rPr>
              <a:t> малые города</a:t>
            </a:r>
            <a:r>
              <a:rPr lang="ru-RU" sz="1600">
                <a:latin typeface="ArialMT"/>
              </a:rPr>
              <a:t>. В каждом регионе могут быть отобраны по 15-20 "опорных пунктов", где качество жизни, обеспечение медицинскими, культурными, образовательными услугами </a:t>
            </a:r>
            <a:r>
              <a:rPr lang="ru-RU" sz="1600" i="1">
                <a:latin typeface="ArialMT"/>
              </a:rPr>
              <a:t>будет выше</a:t>
            </a:r>
            <a:r>
              <a:rPr lang="ru-RU" sz="1600">
                <a:latin typeface="ArialMT"/>
              </a:rPr>
              <a:t>.</a:t>
            </a:r>
            <a:r>
              <a:rPr lang="en-US" sz="1600">
                <a:latin typeface="ArialMT"/>
              </a:rPr>
              <a:t> &lt;…&gt;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8790909" y="4750992"/>
            <a:ext cx="294780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endParaRPr lang="ru-RU" sz="1600">
              <a:latin typeface="ArialMT"/>
            </a:endParaRPr>
          </a:p>
          <a:p>
            <a:pPr algn="ctr">
              <a:defRPr/>
            </a:pPr>
            <a:r>
              <a:rPr lang="ru-RU" sz="1600">
                <a:latin typeface="ArialMT"/>
              </a:rPr>
              <a:t>Заместитель председателя Правительства РФ </a:t>
            </a:r>
            <a:endParaRPr/>
          </a:p>
          <a:p>
            <a:pPr algn="ctr">
              <a:defRPr/>
            </a:pPr>
            <a:r>
              <a:rPr lang="ru-RU" sz="2000" b="1">
                <a:solidFill>
                  <a:srgbClr val="002060"/>
                </a:solidFill>
                <a:latin typeface="ArialMT"/>
              </a:rPr>
              <a:t>Марат Шакирзянович Хуснуллин</a:t>
            </a:r>
            <a:endParaRPr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64F2A12-8413-60CD-ADC6-6CF2E05E5F5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Федеральная инициатива</a:t>
            </a:r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ABA1C43-B9E6-F8CA-35DC-AEA5A34032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2AAACFE-59BF-45A6-AA43-32AA5A1E8F9C}"/>
              </a:ext>
            </a:extLst>
          </p:cNvPr>
          <p:cNvSpPr txBox="1"/>
          <p:nvPr/>
        </p:nvSpPr>
        <p:spPr>
          <a:xfrm>
            <a:off x="0" y="6488669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i="1" dirty="0"/>
              <a:t>Источник: </a:t>
            </a:r>
            <a:r>
              <a:rPr lang="ru-RU" sz="1400" dirty="0"/>
              <a:t>Лаппо Г. М. Развитие сети опорных центров расселения РСФСР (Вопросы методики), М., 1979</a:t>
            </a:r>
            <a:endParaRPr lang="en-US" sz="1400" dirty="0"/>
          </a:p>
        </p:txBody>
      </p:sp>
      <p:graphicFrame>
        <p:nvGraphicFramePr>
          <p:cNvPr id="11" name="Схема 10">
            <a:extLst>
              <a:ext uri="{FF2B5EF4-FFF2-40B4-BE49-F238E27FC236}">
                <a16:creationId xmlns:a16="http://schemas.microsoft.com/office/drawing/2014/main" id="{1DC978AE-DAD3-4684-AC14-D44807B256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6667360"/>
              </p:ext>
            </p:extLst>
          </p:nvPr>
        </p:nvGraphicFramePr>
        <p:xfrm>
          <a:off x="175847" y="1325562"/>
          <a:ext cx="11725421" cy="5163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5C528C3-660A-4F69-86BB-32CE599DA7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13</a:t>
            </a:fld>
            <a:endParaRPr lang="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95CD235-1D02-A7E1-7206-035B02E66976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Опорный каркас расселения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38C9D03-1B9B-0E40-3BA4-4E3844853E6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61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BD2060-AFE3-4A59-AFD2-7B08B2FAA939}"/>
              </a:ext>
            </a:extLst>
          </p:cNvPr>
          <p:cNvSpPr txBox="1"/>
          <p:nvPr/>
        </p:nvSpPr>
        <p:spPr>
          <a:xfrm>
            <a:off x="195811" y="1404450"/>
            <a:ext cx="117597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– это определённая территориальная общность, границы которой обуславливаются взаимным </a:t>
            </a:r>
            <a:r>
              <a:rPr lang="ru-RU" sz="2400" dirty="0" err="1"/>
              <a:t>соицо</a:t>
            </a:r>
            <a:r>
              <a:rPr lang="ru-RU" sz="2400" dirty="0"/>
              <a:t>-эколого-экономическим интересом. </a:t>
            </a:r>
            <a:endParaRPr lang="en-US" sz="2400" dirty="0"/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F914CE9C-DBDA-4095-97B0-CF12F817CE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632132"/>
              </p:ext>
            </p:extLst>
          </p:nvPr>
        </p:nvGraphicFramePr>
        <p:xfrm>
          <a:off x="673461" y="2328731"/>
          <a:ext cx="11034835" cy="4299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8AAA99F-C2F3-4B2E-B6EA-68164621EB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14</a:t>
            </a:fld>
            <a:endParaRPr lang="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9AEE327-8A11-7AD9-E881-8980B691AB3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Внеададминистративныме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территориальные образования </a:t>
            </a:r>
          </a:p>
        </p:txBody>
      </p:sp>
      <p:pic>
        <p:nvPicPr>
          <p:cNvPr id="7" name="Рисунок 6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DFE4587-5CD4-BD87-20B8-5CEBB71A099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982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9CEDBCD1-4970-4AD1-8439-F3E5321A54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3561358"/>
              </p:ext>
            </p:extLst>
          </p:nvPr>
        </p:nvGraphicFramePr>
        <p:xfrm>
          <a:off x="86194" y="1365161"/>
          <a:ext cx="11848063" cy="537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C03E4B2-D82B-4194-8D90-CD7527AA24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15</a:t>
            </a:fld>
            <a:endParaRPr lang="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10BCA88-0A3C-F3E4-229B-E95B11442BF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Опыт СССР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B0D3692-2ADD-5712-41BE-6619A714BB6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06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35B4A35-40E9-2403-3C7D-FA128594A14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Общественная реакция на политику СССР 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B6E42E2-4278-ACDC-CC63-2DF7F08F8E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F02F63-9B21-4BD8-8083-24259C5EAA24}"/>
              </a:ext>
            </a:extLst>
          </p:cNvPr>
          <p:cNvSpPr txBox="1"/>
          <p:nvPr/>
        </p:nvSpPr>
        <p:spPr>
          <a:xfrm>
            <a:off x="1911661" y="1513794"/>
            <a:ext cx="38745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«</a:t>
            </a:r>
            <a:r>
              <a:rPr lang="ru-RU" sz="1400" i="1" dirty="0"/>
              <a:t>Я решительно </a:t>
            </a:r>
            <a:r>
              <a:rPr lang="ru-RU" sz="1400" i="1" u="sng" dirty="0"/>
              <a:t>отказываюсь соглашаться</a:t>
            </a:r>
            <a:r>
              <a:rPr lang="ru-RU" sz="1400" i="1" dirty="0"/>
              <a:t> с этим понятием: «неперспективная» деревня. Что такое «неперспективная»?  </a:t>
            </a:r>
            <a:r>
              <a:rPr lang="en-US" sz="1400" i="1" dirty="0"/>
              <a:t>&lt;</a:t>
            </a:r>
            <a:r>
              <a:rPr lang="ru-RU" sz="1400" i="1" dirty="0"/>
              <a:t>…</a:t>
            </a:r>
            <a:r>
              <a:rPr lang="en-US" sz="1400" i="1" dirty="0"/>
              <a:t>&gt;</a:t>
            </a:r>
            <a:r>
              <a:rPr lang="ru-RU" sz="1400" i="1" dirty="0"/>
              <a:t> «Неперспективная» появилась из </a:t>
            </a:r>
            <a:r>
              <a:rPr lang="ru-RU" sz="1400" i="1" u="sng" dirty="0"/>
              <a:t>неверного подхода</a:t>
            </a:r>
            <a:r>
              <a:rPr lang="ru-RU" sz="1400" i="1" dirty="0"/>
              <a:t>: как сподручней, легче хозяйничать, а не как лучше обихаживать землю и проявлять заботу о людях. Люди оказались средством экономики, а не наоборот.</a:t>
            </a:r>
            <a:r>
              <a:rPr lang="ru-RU" sz="1400" dirty="0"/>
              <a:t>» </a:t>
            </a:r>
            <a:r>
              <a:rPr lang="ru-RU" sz="1400" b="1" dirty="0"/>
              <a:t>В.Г. Распутин</a:t>
            </a:r>
            <a:endParaRPr lang="ru-RU" sz="1400" b="1" i="1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52E5C09-3AFF-41BD-9EE1-BEA9BF31D2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46" t="14971" r="30143" b="36112"/>
          <a:stretch/>
        </p:blipFill>
        <p:spPr bwMode="auto">
          <a:xfrm>
            <a:off x="174887" y="1558819"/>
            <a:ext cx="1678899" cy="21257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D5CA8F3-1CEC-4BAB-B5A8-E9595FBAC0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09"/>
          <a:stretch/>
        </p:blipFill>
        <p:spPr bwMode="auto">
          <a:xfrm>
            <a:off x="6095999" y="1558820"/>
            <a:ext cx="1678899" cy="21257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003302-E404-426F-83EF-7A461F92FDA5}"/>
              </a:ext>
            </a:extLst>
          </p:cNvPr>
          <p:cNvSpPr txBox="1"/>
          <p:nvPr/>
        </p:nvSpPr>
        <p:spPr>
          <a:xfrm>
            <a:off x="7884827" y="1513793"/>
            <a:ext cx="41322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«</a:t>
            </a:r>
            <a:r>
              <a:rPr lang="ru-RU" sz="1400" i="1" dirty="0"/>
              <a:t>Какая же непостижимая смелость нужна, чтобы откуда-то издали определить из </a:t>
            </a:r>
            <a:r>
              <a:rPr lang="ru-RU" sz="1400" i="1" u="sng" dirty="0"/>
              <a:t>великого множества селений </a:t>
            </a:r>
            <a:r>
              <a:rPr lang="ru-RU" sz="1400" i="1" dirty="0"/>
              <a:t>огромной страны одни «перспективные», а вторые «неперспективные», </a:t>
            </a:r>
            <a:r>
              <a:rPr lang="ru-RU" sz="1400" i="1" u="sng" dirty="0"/>
              <a:t>подлежащие ликвидации</a:t>
            </a:r>
            <a:r>
              <a:rPr lang="ru-RU" sz="1400" i="1" dirty="0"/>
              <a:t>, руководствуясь при этом либо теперешними гигантскими границами колхозов, либо пресловутой выгодой за счет экономии средств на строительстве дорог и канализации</a:t>
            </a:r>
            <a:r>
              <a:rPr lang="ru-RU" sz="1400" dirty="0"/>
              <a:t>» </a:t>
            </a:r>
            <a:r>
              <a:rPr lang="ru-RU" sz="1400" b="1" dirty="0"/>
              <a:t>Б.А. Можаев</a:t>
            </a:r>
            <a:endParaRPr lang="ru-RU" sz="1400" b="1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3E089E-1730-480C-ABB7-FDEFE5F610EF}"/>
              </a:ext>
            </a:extLst>
          </p:cNvPr>
          <p:cNvSpPr txBox="1"/>
          <p:nvPr/>
        </p:nvSpPr>
        <p:spPr>
          <a:xfrm>
            <a:off x="1911659" y="3898120"/>
            <a:ext cx="38745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«</a:t>
            </a:r>
            <a:r>
              <a:rPr lang="ru-RU" sz="1400" i="1" dirty="0"/>
              <a:t>Сотворили списки жизнеспособных и </a:t>
            </a:r>
            <a:r>
              <a:rPr lang="ru-RU" sz="1400" i="1" u="sng" dirty="0"/>
              <a:t>обреченных сел</a:t>
            </a:r>
            <a:r>
              <a:rPr lang="ru-RU" sz="1400" i="1" dirty="0"/>
              <a:t>. Тех же, кого, по сути, лишали права жить в своей родной деревеньке, на улицах </a:t>
            </a:r>
            <a:r>
              <a:rPr lang="ru-RU" sz="1400" i="1" u="sng" dirty="0"/>
              <a:t>своих предков</a:t>
            </a:r>
            <a:r>
              <a:rPr lang="ru-RU" sz="1400" i="1" dirty="0"/>
              <a:t>, на берегу своей речки, забыли или не посчитали нужным </a:t>
            </a:r>
            <a:r>
              <a:rPr lang="ru-RU" sz="1400" i="1" u="sng" dirty="0"/>
              <a:t>спросить</a:t>
            </a:r>
            <a:r>
              <a:rPr lang="ru-RU" sz="1400" i="1" dirty="0"/>
              <a:t>, нравится или не нравится им этот список, где </a:t>
            </a:r>
            <a:r>
              <a:rPr lang="ru-RU" sz="1400" i="1" u="sng" dirty="0"/>
              <a:t>перечеркнуто место их рождения</a:t>
            </a:r>
            <a:r>
              <a:rPr lang="ru-RU" sz="1400" i="1" dirty="0"/>
              <a:t>, нравится ли место, куда переселяют.</a:t>
            </a:r>
            <a:r>
              <a:rPr lang="ru-RU" sz="1400" dirty="0"/>
              <a:t>» </a:t>
            </a:r>
            <a:br>
              <a:rPr lang="en-US" sz="1400" dirty="0"/>
            </a:br>
            <a:r>
              <a:rPr lang="ru-RU" sz="1400" b="1" dirty="0"/>
              <a:t>Ф.А. Абрамов</a:t>
            </a:r>
            <a:endParaRPr lang="ru-RU" sz="1400" b="1" i="1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BE1FA54-64EC-48E6-B6F2-AB10C07F4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87" y="4023700"/>
            <a:ext cx="1678899" cy="21002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057F64A-F82D-4EB9-A3FC-268B99C86219}"/>
              </a:ext>
            </a:extLst>
          </p:cNvPr>
          <p:cNvSpPr txBox="1"/>
          <p:nvPr/>
        </p:nvSpPr>
        <p:spPr>
          <a:xfrm>
            <a:off x="7884826" y="4019512"/>
            <a:ext cx="387454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«</a:t>
            </a:r>
            <a:r>
              <a:rPr lang="ru-RU" sz="1400" i="1" u="sng" dirty="0"/>
              <a:t>Жутковато</a:t>
            </a:r>
            <a:r>
              <a:rPr lang="ru-RU" sz="1400" i="1" dirty="0"/>
              <a:t> становится, когда безымянный кто-то и где-то планирует мою жизнь, решает, не спрашивая меня, </a:t>
            </a:r>
            <a:r>
              <a:rPr lang="ru-RU" sz="1400" i="1" u="sng" dirty="0"/>
              <a:t>быть моей деревне</a:t>
            </a:r>
            <a:r>
              <a:rPr lang="ru-RU" sz="1400" i="1" dirty="0"/>
              <a:t> или не быть, течь ли моей речке, шуметь ли сосновому бору. </a:t>
            </a:r>
            <a:r>
              <a:rPr lang="ru-RU" sz="1400" i="1" u="sng" dirty="0"/>
              <a:t>Стояла на земле полтысячи лет</a:t>
            </a:r>
            <a:r>
              <a:rPr lang="ru-RU" sz="1400" i="1" dirty="0"/>
              <a:t> - и вдруг на тебе! Долой ее, </a:t>
            </a:r>
            <a:r>
              <a:rPr lang="ru-RU" sz="1400" i="1" u="sng" dirty="0"/>
              <a:t>под бульдозер</a:t>
            </a:r>
            <a:r>
              <a:rPr lang="ru-RU" sz="1400" i="1" dirty="0"/>
              <a:t>.</a:t>
            </a:r>
            <a:r>
              <a:rPr lang="ru-RU" sz="1400" dirty="0"/>
              <a:t>» </a:t>
            </a:r>
            <a:br>
              <a:rPr lang="ru-RU" sz="1400" dirty="0"/>
            </a:br>
            <a:r>
              <a:rPr lang="ru-RU" sz="1400" b="1" dirty="0"/>
              <a:t>В.И. Белов</a:t>
            </a:r>
            <a:endParaRPr lang="ru-RU" sz="1400" b="1" i="1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9C9CE30-917A-41C0-AF97-DBE18FDE34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5910"/>
          <a:stretch/>
        </p:blipFill>
        <p:spPr bwMode="auto">
          <a:xfrm>
            <a:off x="6096000" y="4098089"/>
            <a:ext cx="1678897" cy="21062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C88B856-1490-4376-9FE4-6F79E94243FE}"/>
              </a:ext>
            </a:extLst>
          </p:cNvPr>
          <p:cNvSpPr txBox="1"/>
          <p:nvPr/>
        </p:nvSpPr>
        <p:spPr>
          <a:xfrm>
            <a:off x="87443" y="6255480"/>
            <a:ext cx="12017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i="1" dirty="0"/>
              <a:t>Источник</a:t>
            </a:r>
            <a:r>
              <a:rPr lang="ru-RU" sz="1400" dirty="0"/>
              <a:t>: Иванчук Д.В. Проблема ликвидации "неперспективных" деревень в публицистическом отражении авторов "деревенской прозы" // Известия Коми НЦ </a:t>
            </a:r>
            <a:r>
              <a:rPr lang="ru-RU" sz="1400" dirty="0" err="1"/>
              <a:t>УрО</a:t>
            </a:r>
            <a:r>
              <a:rPr lang="ru-RU" sz="1400" dirty="0"/>
              <a:t> РАН. 2019. №1 (37). – С. 112-119.</a:t>
            </a:r>
            <a:endParaRPr lang="en-US" sz="14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FBE02A-B859-4D68-854A-536BCBCE0E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16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456520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5D976EA-0ED6-4E1D-8F55-61FC6AFF51EF}"/>
              </a:ext>
            </a:extLst>
          </p:cNvPr>
          <p:cNvSpPr txBox="1"/>
          <p:nvPr/>
        </p:nvSpPr>
        <p:spPr>
          <a:xfrm>
            <a:off x="46287" y="6238410"/>
            <a:ext cx="12099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Источник</a:t>
            </a:r>
            <a:r>
              <a:rPr lang="ru-RU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Киселева, Н. Н., </a:t>
            </a:r>
            <a:r>
              <a:rPr lang="ru-RU" sz="1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Маркварт</a:t>
            </a:r>
            <a:r>
              <a:rPr lang="ru-RU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Э., </a:t>
            </a:r>
            <a:r>
              <a:rPr lang="ru-RU" sz="1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Стародубровская</a:t>
            </a:r>
            <a:r>
              <a:rPr lang="ru-RU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И. В. Управление пространственными изменениями на региональном и муниципальном уровнях: учебное пособие – М.: Издательский дом «Дело» РАНХиГС, 2018. — С. 247-250.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F26E50-31A0-4744-A2B4-1050C95871EF}"/>
              </a:ext>
            </a:extLst>
          </p:cNvPr>
          <p:cNvSpPr txBox="1"/>
          <p:nvPr/>
        </p:nvSpPr>
        <p:spPr>
          <a:xfrm>
            <a:off x="133141" y="1431073"/>
            <a:ext cx="1192571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/>
              <a:t>Традиционно государственная политика по управлению сжимающимися сельскими и периферийными территориями (</a:t>
            </a:r>
            <a:r>
              <a:rPr lang="ru-RU" sz="1400" dirty="0" err="1"/>
              <a:t>неурбанизированными</a:t>
            </a:r>
            <a:r>
              <a:rPr lang="ru-RU" sz="1400" dirty="0"/>
              <a:t> пространствами) сочетает в себе попытки оживления (реанимации) путем содействия развитию экономики тех территорий, где имеются </a:t>
            </a:r>
            <a:r>
              <a:rPr lang="ru-RU" sz="1400" b="1" dirty="0"/>
              <a:t>какие-либо конкурентные преимущества</a:t>
            </a:r>
            <a:r>
              <a:rPr lang="ru-RU" sz="1400" dirty="0"/>
              <a:t> и перспективы, с политикой создания «</a:t>
            </a:r>
            <a:r>
              <a:rPr lang="ru-RU" sz="1400" i="1" dirty="0"/>
              <a:t>достойных условий постепенного умирания территорий</a:t>
            </a:r>
            <a:r>
              <a:rPr lang="ru-RU" sz="1400" dirty="0"/>
              <a:t>». Однако некоторые страны используют и т. н. «</a:t>
            </a:r>
            <a:r>
              <a:rPr lang="ru-RU" sz="1400" dirty="0" err="1"/>
              <a:t>проактивные</a:t>
            </a:r>
            <a:r>
              <a:rPr lang="ru-RU" sz="1400" dirty="0"/>
              <a:t> механизмы» — в частности, </a:t>
            </a:r>
            <a:r>
              <a:rPr lang="ru-RU" sz="1400" b="1" dirty="0"/>
              <a:t>содействие переселению </a:t>
            </a:r>
            <a:r>
              <a:rPr lang="ru-RU" sz="1400" dirty="0"/>
              <a:t>(а в некоторых странах — переселение) жителей на другие, </a:t>
            </a:r>
            <a:r>
              <a:rPr lang="ru-RU" sz="1400" i="1" dirty="0"/>
              <a:t>более «перспективные» территории</a:t>
            </a:r>
            <a:r>
              <a:rPr lang="ru-RU" sz="1400" dirty="0"/>
              <a:t>.</a:t>
            </a:r>
          </a:p>
        </p:txBody>
      </p:sp>
      <p:graphicFrame>
        <p:nvGraphicFramePr>
          <p:cNvPr id="11" name="Схема 10">
            <a:extLst>
              <a:ext uri="{FF2B5EF4-FFF2-40B4-BE49-F238E27FC236}">
                <a16:creationId xmlns:a16="http://schemas.microsoft.com/office/drawing/2014/main" id="{D0AB2561-C102-47C2-961A-CAD3306F54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8418688"/>
              </p:ext>
            </p:extLst>
          </p:nvPr>
        </p:nvGraphicFramePr>
        <p:xfrm>
          <a:off x="133142" y="2726528"/>
          <a:ext cx="11925713" cy="3594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828A02-9540-472A-BCD1-AD086A8976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17</a:t>
            </a:fld>
            <a:endParaRPr lang="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CFCCBC1-530C-96B8-7A05-0F928D2956E1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Зарубежный опыт ЕС</a:t>
            </a:r>
          </a:p>
        </p:txBody>
      </p:sp>
      <p:pic>
        <p:nvPicPr>
          <p:cNvPr id="7" name="Рисунок 6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DE07155-23E8-E89A-94F4-9C9E4152000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196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2FEF59D-638B-784A-9918-73E37204344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Зарубежный опыт Германии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0" y="6334780"/>
            <a:ext cx="113911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b="1" i="1">
                <a:latin typeface="Arial"/>
                <a:ea typeface="Calibri"/>
                <a:cs typeface="Arial"/>
              </a:rPr>
              <a:t>Источник</a:t>
            </a:r>
            <a:r>
              <a:rPr lang="ru-RU" sz="1400">
                <a:latin typeface="Arial"/>
                <a:ea typeface="Calibri"/>
                <a:cs typeface="Arial"/>
              </a:rPr>
              <a:t>: </a:t>
            </a:r>
            <a:r>
              <a:rPr lang="en-GB" sz="1400">
                <a:latin typeface="Arial"/>
                <a:ea typeface="Calibri"/>
                <a:cs typeface="Arial"/>
              </a:rPr>
              <a:t>Kunhardt Jenny</a:t>
            </a:r>
            <a:r>
              <a:rPr lang="ru-RU" sz="1400">
                <a:latin typeface="Arial"/>
                <a:ea typeface="Calibri"/>
                <a:cs typeface="Arial"/>
              </a:rPr>
              <a:t> (2021) </a:t>
            </a:r>
            <a:r>
              <a:rPr lang="en-US" sz="1400">
                <a:latin typeface="Arial"/>
                <a:ea typeface="Calibri"/>
                <a:cs typeface="Arial"/>
              </a:rPr>
              <a:t>Housing and Living in Small and Medium Sized</a:t>
            </a:r>
            <a:r>
              <a:rPr lang="ru-RU" sz="1400">
                <a:latin typeface="Arial"/>
                <a:ea typeface="Calibri"/>
                <a:cs typeface="Arial"/>
              </a:rPr>
              <a:t> </a:t>
            </a:r>
            <a:r>
              <a:rPr lang="en-US" sz="1400">
                <a:latin typeface="Arial"/>
                <a:ea typeface="Calibri"/>
                <a:cs typeface="Arial"/>
              </a:rPr>
              <a:t>Cities</a:t>
            </a:r>
            <a:r>
              <a:rPr lang="ru-RU" sz="1400">
                <a:latin typeface="Arial"/>
                <a:ea typeface="Calibri"/>
                <a:cs typeface="Arial"/>
              </a:rPr>
              <a:t>:</a:t>
            </a:r>
            <a:r>
              <a:rPr lang="en-US" sz="1400">
                <a:latin typeface="Arial"/>
                <a:ea typeface="Calibri"/>
                <a:cs typeface="Arial"/>
              </a:rPr>
              <a:t> Examples</a:t>
            </a:r>
            <a:r>
              <a:rPr lang="ru-RU" sz="1400">
                <a:latin typeface="Arial"/>
                <a:ea typeface="Calibri"/>
                <a:cs typeface="Arial"/>
              </a:rPr>
              <a:t> </a:t>
            </a:r>
            <a:r>
              <a:rPr lang="en-US" sz="1400">
                <a:latin typeface="Arial"/>
                <a:ea typeface="Calibri"/>
                <a:cs typeface="Arial"/>
              </a:rPr>
              <a:t>from</a:t>
            </a:r>
            <a:r>
              <a:rPr lang="ru-RU" sz="1400">
                <a:latin typeface="Arial"/>
                <a:ea typeface="Calibri"/>
                <a:cs typeface="Arial"/>
              </a:rPr>
              <a:t> </a:t>
            </a:r>
            <a:r>
              <a:rPr lang="en-US" sz="1400">
                <a:latin typeface="Arial"/>
                <a:ea typeface="Calibri"/>
                <a:cs typeface="Arial"/>
              </a:rPr>
              <a:t>Germany</a:t>
            </a:r>
            <a:r>
              <a:rPr lang="ru-RU" sz="1400">
                <a:latin typeface="Arial"/>
                <a:ea typeface="Calibri"/>
                <a:cs typeface="Arial"/>
              </a:rPr>
              <a:t>. – </a:t>
            </a:r>
            <a:r>
              <a:rPr lang="en-GB" sz="1400">
                <a:latin typeface="Arial"/>
                <a:ea typeface="Calibri"/>
                <a:cs typeface="Arial"/>
              </a:rPr>
              <a:t>the</a:t>
            </a:r>
            <a:r>
              <a:rPr lang="ru-RU" sz="1400">
                <a:latin typeface="Arial"/>
                <a:ea typeface="Calibri"/>
                <a:cs typeface="Arial"/>
              </a:rPr>
              <a:t> </a:t>
            </a:r>
            <a:r>
              <a:rPr lang="en-GB" sz="1400">
                <a:latin typeface="Arial"/>
                <a:ea typeface="Calibri"/>
                <a:cs typeface="Arial"/>
              </a:rPr>
              <a:t>University of</a:t>
            </a:r>
            <a:r>
              <a:rPr lang="ru-RU" sz="1400">
                <a:latin typeface="Arial"/>
                <a:ea typeface="Calibri"/>
                <a:cs typeface="Arial"/>
              </a:rPr>
              <a:t> </a:t>
            </a:r>
            <a:r>
              <a:rPr lang="en-GB" sz="1400">
                <a:latin typeface="Arial"/>
                <a:ea typeface="Calibri"/>
                <a:cs typeface="Arial"/>
              </a:rPr>
              <a:t>Leipzig</a:t>
            </a:r>
            <a:r>
              <a:rPr lang="ru-RU" sz="1400">
                <a:latin typeface="Arial"/>
                <a:ea typeface="Calibri"/>
                <a:cs typeface="Arial"/>
              </a:rPr>
              <a:t>. </a:t>
            </a:r>
            <a:r>
              <a:rPr lang="en-GB" sz="1400">
                <a:latin typeface="Arial"/>
                <a:ea typeface="Calibri"/>
                <a:cs typeface="Arial"/>
              </a:rPr>
              <a:t>Lecture</a:t>
            </a:r>
            <a:r>
              <a:rPr lang="ru-RU" sz="1400">
                <a:latin typeface="Arial"/>
                <a:ea typeface="Calibri"/>
                <a:cs typeface="Arial"/>
              </a:rPr>
              <a:t> 02.07.2021. 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112815" y="1583703"/>
            <a:ext cx="696955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sz="1400" dirty="0">
                <a:latin typeface="ArialMT"/>
              </a:rPr>
              <a:t>В Германии активно используется </a:t>
            </a:r>
            <a:r>
              <a:rPr lang="ru-RU" sz="1400" b="1" dirty="0">
                <a:solidFill>
                  <a:srgbClr val="264478"/>
                </a:solidFill>
                <a:latin typeface="ArialMT"/>
              </a:rPr>
              <a:t>теория центральных мест</a:t>
            </a:r>
            <a:r>
              <a:rPr lang="ru-RU" sz="1400" dirty="0">
                <a:latin typeface="ArialMT"/>
              </a:rPr>
              <a:t>, созданная Вальтером </a:t>
            </a:r>
            <a:r>
              <a:rPr lang="ru-RU" sz="1400" dirty="0" err="1">
                <a:latin typeface="ArialMT"/>
              </a:rPr>
              <a:t>Кристаллером</a:t>
            </a:r>
            <a:r>
              <a:rPr lang="ru-RU" sz="1400" dirty="0">
                <a:latin typeface="ArialMT"/>
              </a:rPr>
              <a:t> в 1933 году. Она применяется при разработке проектов пространственного развития. Для этого в 2011 г. создана комиссия по созданию </a:t>
            </a:r>
            <a:r>
              <a:rPr lang="ru-RU" sz="1400" i="1" dirty="0">
                <a:latin typeface="ArialMT"/>
              </a:rPr>
              <a:t>равноценных условий жизни</a:t>
            </a:r>
            <a:r>
              <a:rPr lang="ru-RU" sz="1400" dirty="0">
                <a:latin typeface="ArialMT"/>
              </a:rPr>
              <a:t>. Для каждой территории, начиная со всей страны и спускаясь до уровня населённых пунктов, выделяются </a:t>
            </a:r>
            <a:r>
              <a:rPr lang="ru-RU" sz="1400" b="1" dirty="0">
                <a:solidFill>
                  <a:srgbClr val="264478"/>
                </a:solidFill>
                <a:latin typeface="ArialMT"/>
              </a:rPr>
              <a:t>центры трёх уровней</a:t>
            </a:r>
            <a:r>
              <a:rPr lang="ru-RU" sz="1400" dirty="0">
                <a:latin typeface="ArialMT"/>
              </a:rPr>
              <a:t>: </a:t>
            </a:r>
            <a:endParaRPr dirty="0"/>
          </a:p>
          <a:p>
            <a:pPr algn="just">
              <a:defRPr/>
            </a:pPr>
            <a:r>
              <a:rPr lang="ru-RU" sz="1400" b="1" dirty="0">
                <a:solidFill>
                  <a:srgbClr val="264478"/>
                </a:solidFill>
                <a:latin typeface="ArialMT"/>
              </a:rPr>
              <a:t>А</a:t>
            </a:r>
            <a:r>
              <a:rPr lang="ru-RU" sz="1400" dirty="0">
                <a:latin typeface="ArialMT"/>
              </a:rPr>
              <a:t> </a:t>
            </a:r>
            <a:r>
              <a:rPr lang="en-US" sz="1400" dirty="0">
                <a:latin typeface="ArialMT"/>
              </a:rPr>
              <a:t>| </a:t>
            </a:r>
            <a:r>
              <a:rPr lang="ru-RU" sz="1400" dirty="0">
                <a:latin typeface="ArialMT"/>
              </a:rPr>
              <a:t>Высший центр (</a:t>
            </a:r>
            <a:r>
              <a:rPr lang="en-GB" sz="1400" dirty="0">
                <a:latin typeface="ArialMT"/>
              </a:rPr>
              <a:t>High Order</a:t>
            </a:r>
            <a:r>
              <a:rPr lang="ru-RU" sz="1400" dirty="0">
                <a:latin typeface="ArialMT"/>
              </a:rPr>
              <a:t>)</a:t>
            </a:r>
            <a:endParaRPr dirty="0"/>
          </a:p>
          <a:p>
            <a:pPr algn="just">
              <a:defRPr/>
            </a:pPr>
            <a:r>
              <a:rPr lang="ru-RU" sz="1400" b="1" dirty="0">
                <a:solidFill>
                  <a:srgbClr val="264478"/>
                </a:solidFill>
                <a:latin typeface="ArialMT"/>
              </a:rPr>
              <a:t>В</a:t>
            </a:r>
            <a:r>
              <a:rPr lang="en-US" sz="1400" dirty="0">
                <a:latin typeface="ArialMT"/>
              </a:rPr>
              <a:t> | </a:t>
            </a:r>
            <a:r>
              <a:rPr lang="ru-RU" sz="1400" dirty="0">
                <a:latin typeface="ArialMT"/>
              </a:rPr>
              <a:t>Средний центр (</a:t>
            </a:r>
            <a:r>
              <a:rPr lang="en-GB" sz="1400" dirty="0">
                <a:latin typeface="ArialMT"/>
              </a:rPr>
              <a:t>Middle Order</a:t>
            </a:r>
            <a:r>
              <a:rPr lang="ru-RU" sz="1400" dirty="0">
                <a:latin typeface="ArialMT"/>
              </a:rPr>
              <a:t>)</a:t>
            </a:r>
            <a:endParaRPr dirty="0"/>
          </a:p>
          <a:p>
            <a:pPr algn="just">
              <a:defRPr/>
            </a:pPr>
            <a:r>
              <a:rPr lang="ru-RU" sz="1400" b="1" dirty="0">
                <a:solidFill>
                  <a:srgbClr val="264478"/>
                </a:solidFill>
                <a:latin typeface="ArialMT"/>
              </a:rPr>
              <a:t>С</a:t>
            </a:r>
            <a:r>
              <a:rPr lang="en-US" sz="1400" dirty="0">
                <a:solidFill>
                  <a:srgbClr val="264478"/>
                </a:solidFill>
                <a:latin typeface="ArialMT"/>
              </a:rPr>
              <a:t> </a:t>
            </a:r>
            <a:r>
              <a:rPr lang="en-US" sz="1400" dirty="0">
                <a:latin typeface="ArialMT"/>
              </a:rPr>
              <a:t>| </a:t>
            </a:r>
            <a:r>
              <a:rPr lang="ru-RU" sz="1400" dirty="0">
                <a:latin typeface="ArialMT"/>
              </a:rPr>
              <a:t>Малый центр (</a:t>
            </a:r>
            <a:r>
              <a:rPr lang="en-GB" sz="1400" dirty="0">
                <a:latin typeface="ArialMT"/>
              </a:rPr>
              <a:t>Low Order</a:t>
            </a:r>
            <a:r>
              <a:rPr lang="ru-RU" sz="1400" dirty="0">
                <a:latin typeface="ArialMT"/>
              </a:rPr>
              <a:t>)</a:t>
            </a:r>
            <a:endParaRPr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fld id="{00000000-1234-1234-1234-123412341234}" type="slidenum">
              <a:rPr lang="ru"/>
              <a:t>18</a:t>
            </a:fld>
            <a:endParaRPr lang="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199126" y="1494707"/>
            <a:ext cx="4873160" cy="4822753"/>
          </a:xfrm>
          <a:prstGeom prst="rect">
            <a:avLst/>
          </a:prstGeom>
        </p:spPr>
      </p:pic>
      <p:grpSp>
        <p:nvGrpSpPr>
          <p:cNvPr id="22" name="Группа 21"/>
          <p:cNvGrpSpPr/>
          <p:nvPr/>
        </p:nvGrpSpPr>
        <p:grpSpPr bwMode="auto">
          <a:xfrm>
            <a:off x="3944137" y="3429000"/>
            <a:ext cx="3254989" cy="2813676"/>
            <a:chOff x="2246319" y="2552960"/>
            <a:chExt cx="2441242" cy="2110257"/>
          </a:xfrm>
        </p:grpSpPr>
        <p:grpSp>
          <p:nvGrpSpPr>
            <p:cNvPr id="13" name="Группа 12"/>
            <p:cNvGrpSpPr/>
            <p:nvPr/>
          </p:nvGrpSpPr>
          <p:grpSpPr bwMode="auto">
            <a:xfrm>
              <a:off x="3472895" y="3590090"/>
              <a:ext cx="1214666" cy="1073127"/>
              <a:chOff x="3498874" y="3626544"/>
              <a:chExt cx="1214666" cy="1073127"/>
            </a:xfrm>
          </p:grpSpPr>
          <p:pic>
            <p:nvPicPr>
              <p:cNvPr id="7" name="Рисунок 6"/>
              <p:cNvPicPr>
                <a:picLocks noChangeAspect="1"/>
              </p:cNvPicPr>
              <p:nvPr/>
            </p:nvPicPr>
            <p:blipFill>
              <a:blip r:embed="rId3"/>
              <a:srcRect l="27007" t="19352" b="4195"/>
              <a:stretch/>
            </p:blipFill>
            <p:spPr bwMode="auto">
              <a:xfrm>
                <a:off x="3550631" y="3678303"/>
                <a:ext cx="1162909" cy="907500"/>
              </a:xfrm>
              <a:prstGeom prst="rect">
                <a:avLst/>
              </a:prstGeom>
            </p:spPr>
          </p:pic>
          <p:sp>
            <p:nvSpPr>
              <p:cNvPr id="12" name="Прямоугольник 11"/>
              <p:cNvSpPr/>
              <p:nvPr/>
            </p:nvSpPr>
            <p:spPr bwMode="auto">
              <a:xfrm>
                <a:off x="3902654" y="3626544"/>
                <a:ext cx="707301" cy="2277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 sz="2400"/>
              </a:p>
            </p:txBody>
          </p:sp>
          <p:sp>
            <p:nvSpPr>
              <p:cNvPr id="14" name="Прямоугольник 13"/>
              <p:cNvSpPr/>
              <p:nvPr/>
            </p:nvSpPr>
            <p:spPr bwMode="auto">
              <a:xfrm>
                <a:off x="3498874" y="4471934"/>
                <a:ext cx="289847" cy="2277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 sz="2400"/>
              </a:p>
            </p:txBody>
          </p:sp>
        </p:grpSp>
        <p:sp>
          <p:nvSpPr>
            <p:cNvPr id="17" name="Прямоугольник 16"/>
            <p:cNvSpPr/>
            <p:nvPr/>
          </p:nvSpPr>
          <p:spPr bwMode="auto">
            <a:xfrm>
              <a:off x="2246319" y="3641849"/>
              <a:ext cx="1749401" cy="9592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800"/>
                </a:spcBef>
                <a:defRPr/>
              </a:pPr>
              <a:r>
                <a:rPr lang="ru-RU" sz="1350">
                  <a:solidFill>
                    <a:schemeClr val="tx1"/>
                  </a:solidFill>
                </a:rPr>
                <a:t>Высший центр</a:t>
              </a:r>
              <a:endParaRPr/>
            </a:p>
            <a:p>
              <a:pPr>
                <a:spcBef>
                  <a:spcPts val="800"/>
                </a:spcBef>
                <a:defRPr/>
              </a:pPr>
              <a:r>
                <a:rPr lang="ru-RU" sz="1350">
                  <a:solidFill>
                    <a:schemeClr val="tx1"/>
                  </a:solidFill>
                </a:rPr>
                <a:t>Средний центр</a:t>
              </a:r>
              <a:endParaRPr/>
            </a:p>
            <a:p>
              <a:pPr>
                <a:spcBef>
                  <a:spcPts val="800"/>
                </a:spcBef>
                <a:defRPr/>
              </a:pPr>
              <a:r>
                <a:rPr lang="ru-RU" sz="1350">
                  <a:solidFill>
                    <a:schemeClr val="tx1"/>
                  </a:solidFill>
                </a:rPr>
                <a:t>Малый центр</a:t>
              </a:r>
              <a:endParaRPr/>
            </a:p>
            <a:p>
              <a:pPr>
                <a:spcBef>
                  <a:spcPts val="800"/>
                </a:spcBef>
                <a:defRPr/>
              </a:pPr>
              <a:r>
                <a:rPr lang="ru-RU" sz="1350">
                  <a:solidFill>
                    <a:schemeClr val="tx1"/>
                  </a:solidFill>
                </a:rPr>
                <a:t>Базовая дорожная сеть</a:t>
              </a:r>
              <a:endParaRPr lang="ru-RU" sz="2400">
                <a:solidFill>
                  <a:schemeClr val="tx1"/>
                </a:solidFill>
              </a:endParaRPr>
            </a:p>
          </p:txBody>
        </p:sp>
        <p:sp>
          <p:nvSpPr>
            <p:cNvPr id="18" name="Прямоугольник 17"/>
            <p:cNvSpPr/>
            <p:nvPr/>
          </p:nvSpPr>
          <p:spPr bwMode="auto">
            <a:xfrm rot="16199999">
              <a:off x="3101856" y="2930488"/>
              <a:ext cx="1107679" cy="390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800"/>
                </a:spcBef>
                <a:defRPr/>
              </a:pPr>
              <a:r>
                <a:rPr lang="ru-RU" sz="1350">
                  <a:solidFill>
                    <a:schemeClr val="tx1"/>
                  </a:solidFill>
                </a:rPr>
                <a:t>Перспективный</a:t>
              </a:r>
              <a:endParaRPr lang="ru-RU" sz="2400">
                <a:solidFill>
                  <a:schemeClr val="tx1"/>
                </a:solidFill>
              </a:endParaRPr>
            </a:p>
          </p:txBody>
        </p:sp>
        <p:sp>
          <p:nvSpPr>
            <p:cNvPr id="19" name="Прямоугольник 18"/>
            <p:cNvSpPr/>
            <p:nvPr/>
          </p:nvSpPr>
          <p:spPr bwMode="auto">
            <a:xfrm rot="16199999">
              <a:off x="3453879" y="2930281"/>
              <a:ext cx="1107679" cy="390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800"/>
                </a:spcBef>
                <a:defRPr/>
              </a:pPr>
              <a:r>
                <a:rPr lang="ru-RU" sz="1350">
                  <a:solidFill>
                    <a:schemeClr val="tx1"/>
                  </a:solidFill>
                </a:rPr>
                <a:t>Сжимающийся</a:t>
              </a:r>
              <a:endParaRPr lang="ru-RU" sz="2400">
                <a:solidFill>
                  <a:schemeClr val="tx1"/>
                </a:solidFill>
              </a:endParaRPr>
            </a:p>
          </p:txBody>
        </p:sp>
        <p:sp>
          <p:nvSpPr>
            <p:cNvPr id="20" name="Прямоугольник 19"/>
            <p:cNvSpPr/>
            <p:nvPr/>
          </p:nvSpPr>
          <p:spPr bwMode="auto">
            <a:xfrm rot="16199999">
              <a:off x="3807814" y="2911699"/>
              <a:ext cx="1107679" cy="390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800"/>
                </a:spcBef>
                <a:defRPr/>
              </a:pPr>
              <a:r>
                <a:rPr lang="ru-RU" sz="1350">
                  <a:solidFill>
                    <a:schemeClr val="tx1"/>
                  </a:solidFill>
                </a:rPr>
                <a:t>Резервный</a:t>
              </a:r>
              <a:endParaRPr lang="ru-RU" sz="2400">
                <a:solidFill>
                  <a:schemeClr val="tx1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 bwMode="auto">
          <a:xfrm>
            <a:off x="7491676" y="1358182"/>
            <a:ext cx="4463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i="1" dirty="0">
                <a:latin typeface="Arial"/>
                <a:ea typeface="Calibri"/>
                <a:cs typeface="Arial"/>
              </a:rPr>
              <a:t>Карта-схема</a:t>
            </a:r>
            <a:r>
              <a:rPr lang="ru-RU" sz="1400" b="1" i="1" dirty="0">
                <a:latin typeface="Arial"/>
                <a:ea typeface="Calibri"/>
                <a:cs typeface="Arial"/>
              </a:rPr>
              <a:t> </a:t>
            </a:r>
            <a:r>
              <a:rPr lang="ru-RU" sz="1400" i="1" dirty="0">
                <a:latin typeface="Arial"/>
                <a:ea typeface="Calibri"/>
                <a:cs typeface="Arial"/>
              </a:rPr>
              <a:t>Лейпцига и Западной Саксонии</a:t>
            </a:r>
            <a:endParaRPr lang="ru-RU" sz="1400" dirty="0">
              <a:latin typeface="Arial"/>
              <a:ea typeface="Calibri"/>
              <a:cs typeface="Arial"/>
            </a:endParaRPr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145740E-CF40-95BA-E20C-4ED6FC2E2B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A70AF3-E777-D999-7213-37BC0D682ED5}"/>
              </a:ext>
            </a:extLst>
          </p:cNvPr>
          <p:cNvSpPr txBox="1"/>
          <p:nvPr/>
        </p:nvSpPr>
        <p:spPr>
          <a:xfrm>
            <a:off x="112815" y="3307439"/>
            <a:ext cx="53613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sz="1400" dirty="0">
                <a:latin typeface="ArialMT"/>
              </a:rPr>
              <a:t>Выявление центров происходит путём </a:t>
            </a:r>
            <a:r>
              <a:rPr lang="ru-RU" sz="1400" b="1" dirty="0">
                <a:solidFill>
                  <a:srgbClr val="264478"/>
                </a:solidFill>
                <a:latin typeface="ArialMT"/>
              </a:rPr>
              <a:t>анализа инфраструктурной обеспеченности</a:t>
            </a:r>
            <a:r>
              <a:rPr lang="ru-RU" sz="1400" dirty="0">
                <a:latin typeface="ArialMT"/>
              </a:rPr>
              <a:t>: наличия и качества школы, больницы, библиотеки т.д., а также выявляются потенциальные центры, и чего им не хватает. Предполагается, что для жителя </a:t>
            </a:r>
            <a:r>
              <a:rPr lang="ru-RU" sz="1400" i="1" dirty="0">
                <a:latin typeface="ArialMT"/>
              </a:rPr>
              <a:t>каждой территории </a:t>
            </a:r>
            <a:r>
              <a:rPr lang="ru-RU" sz="1400" dirty="0">
                <a:latin typeface="ArialMT"/>
              </a:rPr>
              <a:t>должен быть доступен определённый набор </a:t>
            </a:r>
            <a:r>
              <a:rPr lang="ru-RU" sz="1400" b="1" dirty="0">
                <a:solidFill>
                  <a:srgbClr val="264478"/>
                </a:solidFill>
                <a:latin typeface="ArialMT"/>
              </a:rPr>
              <a:t>социальных услуг</a:t>
            </a:r>
            <a:r>
              <a:rPr lang="ru-RU" sz="1400" dirty="0">
                <a:latin typeface="ArialMT"/>
              </a:rPr>
              <a:t>. Для центров разных уровней отличается уровень предоставляемых услуг.</a:t>
            </a:r>
            <a:endParaRPr lang="ru-RU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95BACC-4713-295B-7600-AEA8B19691D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расселения</a:t>
            </a:r>
          </a:p>
        </p:txBody>
      </p:sp>
      <p:pic>
        <p:nvPicPr>
          <p:cNvPr id="3" name="Рисунок 2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AA8BF07-63AE-32EF-6DEB-5ECEA481FD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cxnSp>
        <p:nvCxnSpPr>
          <p:cNvPr id="18" name="Google Shape;298;p31"/>
          <p:cNvCxnSpPr>
            <a:cxnSpLocks/>
          </p:cNvCxnSpPr>
          <p:nvPr/>
        </p:nvCxnSpPr>
        <p:spPr bwMode="auto">
          <a:xfrm>
            <a:off x="256207" y="2554791"/>
            <a:ext cx="8910600" cy="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9" name="Google Shape;299;p31"/>
          <p:cNvCxnSpPr>
            <a:cxnSpLocks/>
          </p:cNvCxnSpPr>
          <p:nvPr/>
        </p:nvCxnSpPr>
        <p:spPr bwMode="auto">
          <a:xfrm>
            <a:off x="237362" y="4855389"/>
            <a:ext cx="8910600" cy="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2C8B518-BB79-443E-9D68-848E1914CEEC}" type="slidenum">
              <a:rPr lang="ru-RU"/>
              <a:t>19</a:t>
            </a:fld>
            <a:endParaRPr lang="ru-RU"/>
          </a:p>
        </p:txBody>
      </p:sp>
      <p:graphicFrame>
        <p:nvGraphicFramePr>
          <p:cNvPr id="7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090777"/>
              </p:ext>
            </p:extLst>
          </p:nvPr>
        </p:nvGraphicFramePr>
        <p:xfrm>
          <a:off x="3729169" y="1431246"/>
          <a:ext cx="3691788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>
                          <a:latin typeface="ArialMT"/>
                        </a:rPr>
                        <a:t>Городские агломерации</a:t>
                      </a:r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29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2000" dirty="0">
                          <a:latin typeface="ArialMT"/>
                        </a:rPr>
                        <a:t>Ядро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dirty="0">
                          <a:latin typeface="ArialMT"/>
                        </a:rPr>
                        <a:t>Периферия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Стрелка: вниз 7"/>
          <p:cNvSpPr/>
          <p:nvPr/>
        </p:nvSpPr>
        <p:spPr bwMode="auto">
          <a:xfrm>
            <a:off x="5324017" y="2331840"/>
            <a:ext cx="502093" cy="512271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11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40147"/>
              </p:ext>
            </p:extLst>
          </p:nvPr>
        </p:nvGraphicFramePr>
        <p:xfrm>
          <a:off x="2043121" y="5214352"/>
          <a:ext cx="71458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dirty="0">
                          <a:latin typeface="ArialMT"/>
                        </a:rPr>
                        <a:t>Опорные населённые пункты сельских территорий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987065"/>
              </p:ext>
            </p:extLst>
          </p:nvPr>
        </p:nvGraphicFramePr>
        <p:xfrm>
          <a:off x="9663289" y="2423160"/>
          <a:ext cx="2235198" cy="1005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35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900" b="0" dirty="0"/>
                        <a:t>Геостратегические территории</a:t>
                      </a:r>
                      <a:endParaRPr lang="ru-RU" sz="1900" b="0" dirty="0">
                        <a:latin typeface="ArialM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097977"/>
              </p:ext>
            </p:extLst>
          </p:nvPr>
        </p:nvGraphicFramePr>
        <p:xfrm>
          <a:off x="9663289" y="4912288"/>
          <a:ext cx="2274709" cy="701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74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2000" b="0" dirty="0"/>
                        <a:t>Иные населённые пункты</a:t>
                      </a:r>
                      <a:endParaRPr lang="ru-RU" sz="2000" b="0" dirty="0">
                        <a:latin typeface="ArialM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649685"/>
              </p:ext>
            </p:extLst>
          </p:nvPr>
        </p:nvGraphicFramePr>
        <p:xfrm>
          <a:off x="2043121" y="6144401"/>
          <a:ext cx="7145800" cy="3962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14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b="0" dirty="0"/>
                        <a:t>Прилегающие населенные пункты сельских территорий</a:t>
                      </a:r>
                      <a:endParaRPr lang="ru-RU" sz="2000" b="0" dirty="0">
                        <a:latin typeface="ArialM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Google Shape;300;p31"/>
          <p:cNvSpPr txBox="1"/>
          <p:nvPr/>
        </p:nvSpPr>
        <p:spPr bwMode="auto">
          <a:xfrm>
            <a:off x="-133262" y="1481963"/>
            <a:ext cx="1984557" cy="10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697" marR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/>
            </a:pPr>
            <a:r>
              <a:rPr lang="ru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 </a:t>
            </a:r>
            <a:br>
              <a:rPr lang="ru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уровень системы расселения</a:t>
            </a:r>
            <a:endParaRPr sz="2000"/>
          </a:p>
        </p:txBody>
      </p:sp>
      <p:sp>
        <p:nvSpPr>
          <p:cNvPr id="21" name="Google Shape;300;p31"/>
          <p:cNvSpPr txBox="1"/>
          <p:nvPr/>
        </p:nvSpPr>
        <p:spPr bwMode="auto">
          <a:xfrm>
            <a:off x="-133263" y="3330205"/>
            <a:ext cx="1984557" cy="10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697" marR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/>
            </a:pPr>
            <a:r>
              <a:rPr lang="ru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II </a:t>
            </a:r>
            <a:br>
              <a:rPr lang="ru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уровень системы расселения</a:t>
            </a:r>
            <a:endParaRPr sz="2000"/>
          </a:p>
        </p:txBody>
      </p:sp>
      <p:sp>
        <p:nvSpPr>
          <p:cNvPr id="22" name="Google Shape;300;p31"/>
          <p:cNvSpPr txBox="1"/>
          <p:nvPr/>
        </p:nvSpPr>
        <p:spPr bwMode="auto">
          <a:xfrm>
            <a:off x="-66079" y="5297502"/>
            <a:ext cx="1984557" cy="10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697" marR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/>
            </a:pPr>
            <a:r>
              <a:rPr lang="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III </a:t>
            </a:r>
            <a:br>
              <a:rPr lang="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уровень системы расселения</a:t>
            </a:r>
            <a:endParaRPr sz="2000" dirty="0"/>
          </a:p>
        </p:txBody>
      </p:sp>
      <p:sp>
        <p:nvSpPr>
          <p:cNvPr id="23" name="Стрелка: вниз 22"/>
          <p:cNvSpPr/>
          <p:nvPr/>
        </p:nvSpPr>
        <p:spPr bwMode="auto">
          <a:xfrm>
            <a:off x="5342860" y="4640036"/>
            <a:ext cx="502093" cy="512271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4" name="Стрелка: вниз 23"/>
          <p:cNvSpPr/>
          <p:nvPr/>
        </p:nvSpPr>
        <p:spPr bwMode="auto">
          <a:xfrm>
            <a:off x="5475075" y="5723305"/>
            <a:ext cx="281891" cy="287605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26" name="Google Shape;299;p31"/>
          <p:cNvCxnSpPr>
            <a:cxnSpLocks/>
          </p:cNvCxnSpPr>
          <p:nvPr/>
        </p:nvCxnSpPr>
        <p:spPr bwMode="auto">
          <a:xfrm>
            <a:off x="9313563" y="746671"/>
            <a:ext cx="0" cy="6015373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0" name="Google Shape;300;p31"/>
          <p:cNvSpPr txBox="1"/>
          <p:nvPr/>
        </p:nvSpPr>
        <p:spPr bwMode="auto">
          <a:xfrm>
            <a:off x="9760503" y="1527799"/>
            <a:ext cx="1984557" cy="89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697" marR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/>
            </a:pPr>
            <a:r>
              <a:rPr lang="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Иные территории в системе расселения</a:t>
            </a:r>
            <a:endParaRPr sz="2000" dirty="0"/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B43C0552-7D30-E4A7-68BB-6B0F72077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423714"/>
              </p:ext>
            </p:extLst>
          </p:nvPr>
        </p:nvGraphicFramePr>
        <p:xfrm>
          <a:off x="1998470" y="3205717"/>
          <a:ext cx="719087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6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6957">
                  <a:extLst>
                    <a:ext uri="{9D8B030D-6E8A-4147-A177-3AD203B41FA5}">
                      <a16:colId xmlns:a16="http://schemas.microsoft.com/office/drawing/2014/main" val="297404962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dirty="0">
                          <a:latin typeface="ArialMT"/>
                        </a:rPr>
                        <a:t>Города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29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2000" b="1" dirty="0">
                          <a:latin typeface="ArialMT"/>
                        </a:rPr>
                        <a:t>Крупные</a:t>
                      </a:r>
                    </a:p>
                    <a:p>
                      <a:pPr algn="ctr">
                        <a:defRPr/>
                      </a:pPr>
                      <a:r>
                        <a:rPr lang="en-US" sz="2000" dirty="0"/>
                        <a:t>&gt;</a:t>
                      </a:r>
                      <a:r>
                        <a:rPr lang="ru-RU" sz="2000" dirty="0"/>
                        <a:t>10</a:t>
                      </a:r>
                      <a:r>
                        <a:rPr lang="en-US" sz="2000" dirty="0"/>
                        <a:t>0 </a:t>
                      </a:r>
                      <a:r>
                        <a:rPr lang="ru-RU" sz="2000" dirty="0"/>
                        <a:t>тыс. чел.</a:t>
                      </a:r>
                      <a:endParaRPr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b="1" dirty="0">
                          <a:latin typeface="ArialMT"/>
                        </a:rPr>
                        <a:t>Средние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50-100</a:t>
                      </a:r>
                      <a:r>
                        <a:rPr lang="ru-RU" sz="2000" dirty="0"/>
                        <a:t>тыс. чел.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b="1" dirty="0"/>
                        <a:t>Малые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&lt;</a:t>
                      </a:r>
                      <a:r>
                        <a:rPr lang="ru-RU" sz="2000" dirty="0"/>
                        <a:t>50 тыс. чел.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rcRect l="4213" t="10140"/>
          <a:stretch/>
        </p:blipFill>
        <p:spPr bwMode="auto">
          <a:xfrm>
            <a:off x="0" y="0"/>
            <a:ext cx="12192000" cy="4521368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2C8B518-BB79-443E-9D68-848E1914CEEC}" type="slidenum">
              <a:rPr lang="ru-RU"/>
              <a:t>20</a:t>
            </a:fld>
            <a:endParaRPr lang="ru-RU"/>
          </a:p>
        </p:txBody>
      </p:sp>
      <p:graphicFrame>
        <p:nvGraphicFramePr>
          <p:cNvPr id="9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983938"/>
              </p:ext>
            </p:extLst>
          </p:nvPr>
        </p:nvGraphicFramePr>
        <p:xfrm>
          <a:off x="0" y="4521368"/>
          <a:ext cx="12192000" cy="2336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4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6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21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46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56945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dirty="0">
                          <a:latin typeface="ArialMT"/>
                        </a:rPr>
                        <a:t>Городские агломерации</a:t>
                      </a:r>
                      <a:endParaRPr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dirty="0"/>
                        <a:t>Количество агломераций</a:t>
                      </a:r>
                      <a:endParaRPr lang="ru-RU" sz="1600" dirty="0">
                        <a:latin typeface="ArialM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dirty="0"/>
                        <a:t>Количество муниципальных образований</a:t>
                      </a:r>
                      <a:endParaRPr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dirty="0"/>
                        <a:t>Количество населённых пунктов</a:t>
                      </a:r>
                      <a:endParaRPr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/>
                        <a:t>Численность населения ядер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/>
                        <a:t>Численность населения периферии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dirty="0"/>
                        <a:t>Численность населения (всего)</a:t>
                      </a:r>
                      <a:endParaRPr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i="0">
                          <a:latin typeface="ArialMT"/>
                        </a:rPr>
                        <a:t>измерение</a:t>
                      </a:r>
                      <a:endParaRPr sz="1600"/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i="1">
                          <a:latin typeface="ArialMT"/>
                        </a:rPr>
                        <a:t>единиц</a:t>
                      </a:r>
                      <a:endParaRPr sz="160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i="1"/>
                        <a:t>человек (% от общей численности населения)</a:t>
                      </a:r>
                      <a:endParaRPr sz="160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836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>
                          <a:latin typeface="ArialMT"/>
                        </a:rPr>
                        <a:t>I-</a:t>
                      </a:r>
                      <a:r>
                        <a:rPr lang="ru-RU" sz="1600">
                          <a:latin typeface="ArialMT"/>
                        </a:rPr>
                        <a:t>порядка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>
                          <a:latin typeface="ArialMT"/>
                        </a:rPr>
                        <a:t>21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/>
                        <a:t>242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/>
                        <a:t>15 640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/>
                        <a:t>37 094 231 (25%)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/>
                        <a:t>19 230 102 (13%)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 b="1"/>
                        <a:t>56 324 333 </a:t>
                      </a:r>
                      <a:r>
                        <a:rPr lang="ru-RU" sz="1600"/>
                        <a:t>(38%)</a:t>
                      </a:r>
                      <a:endParaRPr lang="ru-RU" sz="16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836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>
                          <a:latin typeface="ArialMT"/>
                        </a:rPr>
                        <a:t>II-</a:t>
                      </a:r>
                      <a:r>
                        <a:rPr lang="ru-RU" sz="1600">
                          <a:latin typeface="ArialMT"/>
                        </a:rPr>
                        <a:t>порядка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>
                          <a:latin typeface="ArialMT"/>
                        </a:rPr>
                        <a:t>20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/>
                        <a:t>120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/>
                        <a:t>9 058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/>
                        <a:t>11 032 124 (8%)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/>
                        <a:t>6 395 533 (4%)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 b="1"/>
                        <a:t>17 427 657 </a:t>
                      </a:r>
                      <a:r>
                        <a:rPr lang="ru-RU" sz="1600"/>
                        <a:t>(12%)</a:t>
                      </a:r>
                      <a:endParaRPr lang="ru-RU" sz="16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836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b="1">
                          <a:latin typeface="ArialMT"/>
                        </a:rPr>
                        <a:t>Итого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b="1">
                          <a:latin typeface="ArialMT"/>
                        </a:rPr>
                        <a:t>41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 b="1"/>
                        <a:t>362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 b="1"/>
                        <a:t>24 698</a:t>
                      </a:r>
                      <a:endParaRPr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 b="1"/>
                        <a:t>48 126 355 </a:t>
                      </a:r>
                      <a:r>
                        <a:rPr lang="ru-RU" sz="1600"/>
                        <a:t>(33%)</a:t>
                      </a:r>
                      <a:endParaRPr lang="ru-RU" sz="16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 b="1"/>
                        <a:t>25 625 635 </a:t>
                      </a:r>
                      <a:r>
                        <a:rPr lang="ru-RU" sz="1600"/>
                        <a:t>(17%)</a:t>
                      </a:r>
                      <a:endParaRPr lang="ru-RU" sz="16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600" b="1" u="sng" dirty="0"/>
                        <a:t>73 751 990</a:t>
                      </a:r>
                      <a:r>
                        <a:rPr lang="ru-RU" sz="1600" b="1" u="none" dirty="0"/>
                        <a:t> </a:t>
                      </a:r>
                      <a:r>
                        <a:rPr lang="ru-RU" sz="1600" dirty="0"/>
                        <a:t>(50%)</a:t>
                      </a:r>
                      <a:endParaRPr lang="ru-RU" sz="1600" b="1" u="sng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96F48-4CE4-039F-7EB3-062EA8BE0FA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Городские агломерации</a:t>
            </a:r>
          </a:p>
        </p:txBody>
      </p:sp>
      <p:pic>
        <p:nvPicPr>
          <p:cNvPr id="3" name="Рисунок 2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A40E1DAA-EE3D-BB62-A518-69F784BB8A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rcRect b="14105"/>
          <a:stretch/>
        </p:blipFill>
        <p:spPr bwMode="auto">
          <a:xfrm>
            <a:off x="0" y="190146"/>
            <a:ext cx="12192000" cy="6667853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2C8B518-BB79-443E-9D68-848E1914CEEC}" type="slidenum">
              <a:rPr lang="ru-RU"/>
              <a:t>21</a:t>
            </a:fld>
            <a:endParaRPr lang="ru-RU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963932"/>
              </p:ext>
            </p:extLst>
          </p:nvPr>
        </p:nvGraphicFramePr>
        <p:xfrm>
          <a:off x="244515" y="1515709"/>
          <a:ext cx="6485468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3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1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6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700"/>
                        <a:t>Количество населённых пунктов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700"/>
                        <a:t>Численность населения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81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700" b="1" dirty="0"/>
                        <a:t>187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700" b="1" dirty="0"/>
                        <a:t>25 989 985 </a:t>
                      </a:r>
                      <a:r>
                        <a:rPr lang="ru-RU" sz="1700" dirty="0"/>
                        <a:t>(18%)</a:t>
                      </a:r>
                      <a:endParaRPr lang="ru-RU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FE3DF-4AD6-23B2-480F-9D1FDD830FA5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>
              <a:alpha val="60000"/>
            </a:srgb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Города с численностью населения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свыше 50 тысяч человек</a:t>
            </a:r>
          </a:p>
        </p:txBody>
      </p:sp>
      <p:pic>
        <p:nvPicPr>
          <p:cNvPr id="3" name="Рисунок 2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9B49187-52C4-45AD-C9B1-E0213D5795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2CD5EF2-CB4F-257F-C740-08A78CFF3D7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определения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опорных населённых пунктов</a:t>
            </a:r>
          </a:p>
        </p:txBody>
      </p:sp>
      <p:pic>
        <p:nvPicPr>
          <p:cNvPr id="7" name="Рисунок 6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DD3FE0C-90A1-B882-2F04-DB3FF15B49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06878" y="1688902"/>
            <a:ext cx="3285227" cy="458976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defRPr/>
            </a:pPr>
            <a:r>
              <a:rPr lang="ru-RU" sz="2400">
                <a:latin typeface="Times New Roman"/>
                <a:cs typeface="Times New Roman"/>
              </a:rPr>
              <a:t>Распоряжение Правительства РФ </a:t>
            </a:r>
            <a:br>
              <a:rPr lang="ru-RU" sz="2400">
                <a:latin typeface="Times New Roman"/>
                <a:cs typeface="Times New Roman"/>
              </a:rPr>
            </a:br>
            <a:r>
              <a:rPr lang="ru-RU" sz="2400">
                <a:latin typeface="Times New Roman"/>
                <a:cs typeface="Times New Roman"/>
              </a:rPr>
              <a:t>от 23 декабря 2022 г. </a:t>
            </a:r>
            <a:br>
              <a:rPr lang="ru-RU" sz="2400">
                <a:latin typeface="Times New Roman"/>
                <a:cs typeface="Times New Roman"/>
              </a:rPr>
            </a:br>
            <a:r>
              <a:rPr lang="ru-RU" sz="2400">
                <a:latin typeface="Times New Roman"/>
                <a:cs typeface="Times New Roman"/>
              </a:rPr>
              <a:t>№ 4132-р </a:t>
            </a:r>
            <a:br>
              <a:rPr lang="ru-RU" sz="2400">
                <a:latin typeface="Times New Roman"/>
                <a:cs typeface="Times New Roman"/>
              </a:rPr>
            </a:br>
            <a:r>
              <a:rPr lang="ru-RU" sz="2400">
                <a:latin typeface="Times New Roman"/>
                <a:cs typeface="Times New Roman"/>
              </a:rPr>
              <a:t>Об утверждении методических рекомендаций по критериям определения опорных населенных пунктов и прилегающих территорий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080294" y="1760639"/>
            <a:ext cx="7454660" cy="4589765"/>
          </a:xfrm>
        </p:spPr>
        <p:txBody>
          <a:bodyPr>
            <a:normAutofit fontScale="92500"/>
          </a:bodyPr>
          <a:lstStyle/>
          <a:p>
            <a:pPr algn="just">
              <a:defRPr/>
            </a:pPr>
            <a:r>
              <a:rPr lang="ru-RU" sz="2400"/>
              <a:t>"</a:t>
            </a:r>
            <a:r>
              <a:rPr lang="ru-RU" sz="2400" b="1"/>
              <a:t>опорный населенный пункт</a:t>
            </a:r>
            <a:r>
              <a:rPr lang="ru-RU" sz="2400"/>
              <a:t>" - населенный пункт, расположенный вне границ городских агломераций, на базе которого осуществляется ускоренное развитие инфраструктуры, обеспечивающей реализацию гарантий в сфере образования, доступность медицинской помощи, услуг в сфере культуры и реализацию иных потребностей населения территории одного или нескольких муниципальных образований;</a:t>
            </a:r>
            <a:endParaRPr/>
          </a:p>
          <a:p>
            <a:pPr algn="just">
              <a:defRPr/>
            </a:pPr>
            <a:r>
              <a:rPr lang="ru-RU" sz="2400"/>
              <a:t>"</a:t>
            </a:r>
            <a:r>
              <a:rPr lang="ru-RU" sz="2400" b="1"/>
              <a:t>прилегающая территория</a:t>
            </a:r>
            <a:r>
              <a:rPr lang="ru-RU" sz="2400"/>
              <a:t>" - территория населенных пунктов, население которых имеет возможность получения медицинской помощи, образования, услуг в сфере культуры и реализации иных потребностей на базе инфраструктуры опорного населенного пункта, и межселенная территория.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2C8B518-BB79-443E-9D68-848E1914CEEC}" type="slidenum">
              <a:rPr lang="ru-RU"/>
              <a:t>22</a:t>
            </a:fld>
            <a:endParaRPr lang="ru-R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E37A51-C1F5-F991-7E32-924842C5892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определения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опорных населённых пунктов</a:t>
            </a:r>
          </a:p>
        </p:txBody>
      </p:sp>
      <p:pic>
        <p:nvPicPr>
          <p:cNvPr id="3" name="Рисунок 2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08D8AE84-3021-C397-34AB-2E6BA16105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2C8B518-BB79-443E-9D68-848E1914CEEC}" type="slidenum">
              <a:rPr lang="ru-RU"/>
              <a:t>23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226141" y="1523999"/>
            <a:ext cx="4994789" cy="5197475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21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idx="1"/>
          </p:nvPr>
        </p:nvSpPr>
        <p:spPr bwMode="auto">
          <a:xfrm>
            <a:off x="5358581" y="1495734"/>
            <a:ext cx="6833419" cy="536226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ru-RU" sz="1800" dirty="0">
                <a:solidFill>
                  <a:srgbClr val="264478"/>
                </a:solidFill>
                <a:latin typeface="ArialMT"/>
              </a:rPr>
              <a:t>Более 50% населения обеспечены следующим</a:t>
            </a:r>
            <a:r>
              <a:rPr lang="ru-RU" sz="1800" dirty="0">
                <a:latin typeface="ArialMT"/>
              </a:rPr>
              <a:t>:</a:t>
            </a:r>
            <a:endParaRPr sz="1800" dirty="0"/>
          </a:p>
          <a:p>
            <a:pPr marL="28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800" dirty="0">
                <a:latin typeface="ArialMT"/>
              </a:rPr>
              <a:t>Газификация (где есть)</a:t>
            </a:r>
            <a:endParaRPr sz="1800" dirty="0"/>
          </a:p>
          <a:p>
            <a:pPr marL="28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800" dirty="0">
                <a:latin typeface="ArialMT"/>
              </a:rPr>
              <a:t>Водоснабжение и канализация</a:t>
            </a:r>
            <a:endParaRPr sz="1800" dirty="0"/>
          </a:p>
          <a:p>
            <a:pPr marL="28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800" dirty="0">
                <a:latin typeface="ArialMT"/>
              </a:rPr>
              <a:t>Широкополосный Интернет</a:t>
            </a:r>
            <a:endParaRPr sz="1800" dirty="0"/>
          </a:p>
          <a:p>
            <a:pPr marL="28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800" dirty="0">
                <a:latin typeface="ArialMT"/>
              </a:rPr>
              <a:t>Медицинские организации</a:t>
            </a:r>
            <a:endParaRPr sz="1800" dirty="0"/>
          </a:p>
          <a:p>
            <a:pPr marL="28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800" dirty="0">
                <a:latin typeface="ArialMT"/>
              </a:rPr>
              <a:t>Детские сады</a:t>
            </a:r>
            <a:endParaRPr sz="1800" dirty="0"/>
          </a:p>
          <a:p>
            <a:pPr marL="28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800" dirty="0">
                <a:latin typeface="ArialMT"/>
              </a:rPr>
              <a:t>Школы (1-11 класс)</a:t>
            </a:r>
            <a:endParaRPr sz="1800" dirty="0"/>
          </a:p>
          <a:p>
            <a:pPr marL="28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800" dirty="0">
                <a:latin typeface="ArialMT"/>
              </a:rPr>
              <a:t>Профессиональные образовательные организации</a:t>
            </a:r>
            <a:endParaRPr sz="1800" dirty="0"/>
          </a:p>
          <a:p>
            <a:pPr marL="28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800" dirty="0">
                <a:latin typeface="ArialMT"/>
              </a:rPr>
              <a:t>Учреждения культуры</a:t>
            </a:r>
            <a:endParaRPr sz="1800" dirty="0"/>
          </a:p>
          <a:p>
            <a:pPr marL="28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800" dirty="0">
                <a:latin typeface="ArialMT"/>
              </a:rPr>
              <a:t>Учреждения по предоставлению государственных и муниципальных услуг </a:t>
            </a:r>
            <a:endParaRPr sz="1800" dirty="0"/>
          </a:p>
          <a:p>
            <a:pPr marL="28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800" dirty="0">
                <a:latin typeface="ArialMT"/>
              </a:rPr>
              <a:t>Организации, предоставляющие финансовые услуги </a:t>
            </a:r>
            <a:endParaRPr sz="1800" dirty="0"/>
          </a:p>
          <a:p>
            <a:pPr marL="28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800" dirty="0">
                <a:latin typeface="ArialMT"/>
              </a:rPr>
              <a:t>Организации в сфере розничной торговли и бытовых услуг</a:t>
            </a:r>
            <a:endParaRPr sz="1800" dirty="0"/>
          </a:p>
        </p:txBody>
      </p:sp>
      <p:sp>
        <p:nvSpPr>
          <p:cNvPr id="11" name="TextBox 10"/>
          <p:cNvSpPr txBox="1"/>
          <p:nvPr/>
        </p:nvSpPr>
        <p:spPr bwMode="auto">
          <a:xfrm>
            <a:off x="296334" y="1525232"/>
            <a:ext cx="49245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Aft>
                <a:spcPts val="600"/>
              </a:spcAft>
              <a:buFont typeface="Wingdings"/>
              <a:buChar char="ü"/>
              <a:defRPr/>
            </a:pPr>
            <a:r>
              <a:rPr lang="ru-RU" dirty="0">
                <a:solidFill>
                  <a:schemeClr val="bg1"/>
                </a:solidFill>
                <a:latin typeface="ArialMT"/>
              </a:rPr>
              <a:t>Не входит в границы других уровней системы расселения</a:t>
            </a:r>
            <a:endParaRPr dirty="0"/>
          </a:p>
          <a:p>
            <a:pPr marL="285750" lvl="0" indent="-285750">
              <a:spcAft>
                <a:spcPts val="600"/>
              </a:spcAft>
              <a:buFont typeface="Wingdings"/>
              <a:buChar char="ü"/>
              <a:defRPr/>
            </a:pPr>
            <a:r>
              <a:rPr lang="ru-RU" dirty="0">
                <a:solidFill>
                  <a:schemeClr val="bg1"/>
                </a:solidFill>
                <a:latin typeface="ArialMT"/>
              </a:rPr>
              <a:t>Не ближе 50 км (60 мин) к более крупным центрам</a:t>
            </a:r>
            <a:endParaRPr dirty="0"/>
          </a:p>
          <a:p>
            <a:pPr marL="285750" lvl="0" indent="-285750">
              <a:spcAft>
                <a:spcPts val="600"/>
              </a:spcAft>
              <a:buFont typeface="Wingdings"/>
              <a:buChar char="ü"/>
              <a:defRPr/>
            </a:pPr>
            <a:r>
              <a:rPr lang="ru-RU" dirty="0">
                <a:solidFill>
                  <a:schemeClr val="bg1"/>
                </a:solidFill>
                <a:latin typeface="ArialMT"/>
              </a:rPr>
              <a:t>Имеет территории для застройки</a:t>
            </a:r>
            <a:endParaRPr dirty="0"/>
          </a:p>
          <a:p>
            <a:pPr marL="285750" lvl="0" indent="-285750">
              <a:spcAft>
                <a:spcPts val="600"/>
              </a:spcAft>
              <a:buFont typeface="Wingdings"/>
              <a:buChar char="ü"/>
              <a:defRPr/>
            </a:pPr>
            <a:r>
              <a:rPr lang="ru-RU" dirty="0">
                <a:solidFill>
                  <a:schemeClr val="bg1"/>
                </a:solidFill>
                <a:latin typeface="ArialMT"/>
              </a:rPr>
              <a:t>Численность населения более 3 тыс. чел.</a:t>
            </a:r>
            <a:endParaRPr dirty="0"/>
          </a:p>
          <a:p>
            <a:pPr marL="285750" lvl="0" indent="-285750">
              <a:spcAft>
                <a:spcPts val="600"/>
              </a:spcAft>
              <a:buFont typeface="Wingdings"/>
              <a:buChar char="ü"/>
              <a:defRPr/>
            </a:pPr>
            <a:r>
              <a:rPr lang="ru-RU" dirty="0">
                <a:solidFill>
                  <a:schemeClr val="bg1"/>
                </a:solidFill>
                <a:latin typeface="ArialMT"/>
              </a:rPr>
              <a:t>Численность населения сокращается не более чем на 1% в год за последние 5 лет</a:t>
            </a:r>
            <a:endParaRPr dirty="0"/>
          </a:p>
          <a:p>
            <a:pPr marL="285750" lvl="0" indent="-285750">
              <a:spcAft>
                <a:spcPts val="600"/>
              </a:spcAft>
              <a:buFont typeface="Wingdings"/>
              <a:buChar char="ü"/>
              <a:defRPr/>
            </a:pPr>
            <a:r>
              <a:rPr lang="ru-RU" dirty="0">
                <a:solidFill>
                  <a:schemeClr val="bg1"/>
                </a:solidFill>
                <a:latin typeface="ArialMT"/>
              </a:rPr>
              <a:t>Суммарная численность населения прилегающих населённых пунктов не больше численности населения опорного</a:t>
            </a:r>
            <a:endParaRPr dirty="0"/>
          </a:p>
          <a:p>
            <a:pPr marL="285750" lvl="0" indent="-285750">
              <a:spcAft>
                <a:spcPts val="600"/>
              </a:spcAft>
              <a:buFont typeface="Wingdings"/>
              <a:buChar char="ü"/>
              <a:defRPr/>
            </a:pPr>
            <a:r>
              <a:rPr lang="ru-RU" dirty="0">
                <a:solidFill>
                  <a:schemeClr val="bg1"/>
                </a:solidFill>
                <a:latin typeface="ArialMT"/>
              </a:rPr>
              <a:t>Круглогодичная транспортная доступность до административного центра субъекта РФ и не более 2 км до </a:t>
            </a:r>
            <a:r>
              <a:rPr lang="ru-RU" dirty="0" err="1">
                <a:solidFill>
                  <a:schemeClr val="bg1"/>
                </a:solidFill>
                <a:latin typeface="ArialMT"/>
              </a:rPr>
              <a:t>фед</a:t>
            </a:r>
            <a:r>
              <a:rPr lang="ru-RU" dirty="0">
                <a:solidFill>
                  <a:schemeClr val="bg1"/>
                </a:solidFill>
                <a:latin typeface="ArialMT"/>
              </a:rPr>
              <a:t>./рег. дороги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985463D-9366-7019-2332-CD0AEC9D2FB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определения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прилегающей территории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A6068034-1E44-4C20-D94B-0332748C2A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Объект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7129129"/>
              </p:ext>
            </p:extLst>
          </p:nvPr>
        </p:nvGraphicFramePr>
        <p:xfrm>
          <a:off x="6313548" y="1497615"/>
          <a:ext cx="5582119" cy="51346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2C8B518-BB79-443E-9D68-848E1914CEEC}" type="slidenum">
              <a:rPr lang="ru-RU"/>
              <a:t>24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206477" y="1497615"/>
            <a:ext cx="5889522" cy="5134607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21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TextBox 10"/>
          <p:cNvSpPr txBox="1"/>
          <p:nvPr/>
        </p:nvSpPr>
        <p:spPr bwMode="auto">
          <a:xfrm>
            <a:off x="325846" y="1684196"/>
            <a:ext cx="552308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Aft>
                <a:spcPts val="600"/>
              </a:spcAft>
              <a:buFont typeface="Wingdings"/>
              <a:buChar char="ü"/>
              <a:defRPr/>
            </a:pPr>
            <a:r>
              <a:rPr lang="ru-RU" sz="1900" dirty="0">
                <a:solidFill>
                  <a:schemeClr val="bg1"/>
                </a:solidFill>
                <a:latin typeface="ArialMT"/>
              </a:rPr>
              <a:t>в отношении территории определен один опорный населенный пункт;</a:t>
            </a:r>
            <a:endParaRPr sz="1900" dirty="0"/>
          </a:p>
          <a:p>
            <a:pPr marL="285750" lvl="0" indent="-285750">
              <a:spcAft>
                <a:spcPts val="600"/>
              </a:spcAft>
              <a:buFont typeface="Wingdings"/>
              <a:buChar char="ü"/>
              <a:defRPr/>
            </a:pPr>
            <a:r>
              <a:rPr lang="ru-RU" sz="1900" dirty="0">
                <a:solidFill>
                  <a:schemeClr val="bg1"/>
                </a:solidFill>
                <a:latin typeface="ArialMT"/>
              </a:rPr>
              <a:t>территория не входит в границы городской агломерации, установленные правовыми актами субъекта Российской Федерации;</a:t>
            </a:r>
            <a:endParaRPr sz="1900" dirty="0"/>
          </a:p>
          <a:p>
            <a:pPr marL="285750" lvl="0" indent="-285750">
              <a:spcAft>
                <a:spcPts val="600"/>
              </a:spcAft>
              <a:buFont typeface="Wingdings"/>
              <a:buChar char="ü"/>
              <a:defRPr/>
            </a:pPr>
            <a:r>
              <a:rPr lang="ru-RU" sz="1900" dirty="0">
                <a:solidFill>
                  <a:schemeClr val="bg1"/>
                </a:solidFill>
                <a:latin typeface="ArialMT"/>
              </a:rPr>
              <a:t>расстояние до опорного населенного пункта по дорогам общего пользования составляет не более 50 км;</a:t>
            </a:r>
            <a:endParaRPr sz="1900" dirty="0"/>
          </a:p>
          <a:p>
            <a:pPr marL="285750" lvl="0" indent="-285750">
              <a:spcAft>
                <a:spcPts val="600"/>
              </a:spcAft>
              <a:buFont typeface="Wingdings"/>
              <a:buChar char="ü"/>
              <a:defRPr/>
            </a:pPr>
            <a:r>
              <a:rPr lang="ru-RU" sz="1900" dirty="0">
                <a:solidFill>
                  <a:schemeClr val="bg1"/>
                </a:solidFill>
                <a:latin typeface="ArialMT"/>
              </a:rPr>
              <a:t>расстояние до населенного пункта с численностью населения более 50 тыс. человек (включая население населенных пунктов, расположенных в радиусе транспортной доступности не более 5 км от данного населенного пункта) по дорогам общего пользования превышает 50 км.</a:t>
            </a:r>
            <a:endParaRPr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4D785B-1ED4-A747-8790-7715818AAE33}"/>
              </a:ext>
            </a:extLst>
          </p:cNvPr>
          <p:cNvSpPr txBox="1">
            <a:spLocks/>
          </p:cNvSpPr>
          <p:nvPr/>
        </p:nvSpPr>
        <p:spPr bwMode="auto">
          <a:xfrm>
            <a:off x="0" y="2001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Опорные населённые пункты России</a:t>
            </a:r>
          </a:p>
        </p:txBody>
      </p:sp>
      <p:pic>
        <p:nvPicPr>
          <p:cNvPr id="3" name="Рисунок 2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D8F4BBA-A235-6031-F283-748F950341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3"/>
          <a:srcRect l="741" r="2922"/>
          <a:stretch/>
        </p:blipFill>
        <p:spPr bwMode="auto">
          <a:xfrm>
            <a:off x="2021" y="1497615"/>
            <a:ext cx="12189979" cy="5360385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2C8B518-BB79-443E-9D68-848E1914CEEC}" type="slidenum">
              <a:rPr lang="ru-RU"/>
              <a:t>25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828708" y="5140325"/>
            <a:ext cx="1190625" cy="1190625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 bwMode="auto">
          <a:xfrm>
            <a:off x="9684775" y="6356350"/>
            <a:ext cx="2512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u="sng" dirty="0"/>
              <a:t>https://clck.ru/32gGeT</a:t>
            </a:r>
            <a:endParaRPr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D087B93E-DACC-3526-AE60-49B01001951F}"/>
              </a:ext>
            </a:extLst>
          </p:cNvPr>
          <p:cNvGrpSpPr/>
          <p:nvPr/>
        </p:nvGrpSpPr>
        <p:grpSpPr>
          <a:xfrm>
            <a:off x="187609" y="1799525"/>
            <a:ext cx="12010103" cy="552665"/>
            <a:chOff x="179274" y="804177"/>
            <a:chExt cx="12494418" cy="552665"/>
          </a:xfrm>
        </p:grpSpPr>
        <p:pic>
          <p:nvPicPr>
            <p:cNvPr id="1028" name="Рисунок 11"/>
            <p:cNvPicPr>
              <a:picLocks noChangeAspect="1" noChangeArrowheads="1"/>
            </p:cNvPicPr>
            <p:nvPr/>
          </p:nvPicPr>
          <p:blipFill>
            <a:blip r:embed="rId5"/>
            <a:srcRect t="36481" b="43633"/>
            <a:stretch/>
          </p:blipFill>
          <p:spPr bwMode="auto">
            <a:xfrm>
              <a:off x="179274" y="804177"/>
              <a:ext cx="319088" cy="280988"/>
            </a:xfrm>
            <a:prstGeom prst="rect">
              <a:avLst/>
            </a:prstGeom>
            <a:noFill/>
          </p:spPr>
        </p:pic>
        <p:pic>
          <p:nvPicPr>
            <p:cNvPr id="1027" name="Рисунок 1"/>
            <p:cNvPicPr>
              <a:picLocks noChangeAspect="1" noChangeArrowheads="1"/>
            </p:cNvPicPr>
            <p:nvPr/>
          </p:nvPicPr>
          <p:blipFill>
            <a:blip r:embed="rId5"/>
            <a:srcRect l="24097" t="86307" r="24007" b="2753"/>
            <a:stretch/>
          </p:blipFill>
          <p:spPr bwMode="auto">
            <a:xfrm>
              <a:off x="195943" y="1094905"/>
              <a:ext cx="285750" cy="261937"/>
            </a:xfrm>
            <a:prstGeom prst="rect">
              <a:avLst/>
            </a:prstGeom>
            <a:noFill/>
          </p:spPr>
        </p:pic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481692" y="1119661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ru-RU" sz="1100" b="0" i="0" u="none" strike="noStrike" cap="none" dirty="0">
                  <a:ln>
                    <a:noFill/>
                  </a:ln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Городские агломерации</a:t>
              </a:r>
              <a:endParaRPr lang="en-US" sz="500" b="0" i="0" u="none" strike="noStrike" cap="none" dirty="0">
                <a:ln>
                  <a:noFill/>
                </a:ln>
                <a:solidFill>
                  <a:schemeClr val="tx1"/>
                </a:solidFill>
              </a:endParaRPr>
            </a:p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1800" b="0" i="0" u="none" strike="noStrike" cap="none" dirty="0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481692" y="1226213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ru-RU" sz="1100" b="0" i="0" u="none" strike="noStrike" cap="none" dirty="0">
                  <a:ln>
                    <a:noFill/>
                  </a:ln>
                  <a:solidFill>
                    <a:schemeClr val="tx1"/>
                  </a:solidFill>
                  <a:latin typeface="Arial"/>
                  <a:ea typeface="Calibri"/>
                </a:rPr>
                <a:t>Опорные населённые пункты</a:t>
              </a:r>
              <a:r>
                <a:rPr lang="ru-RU" sz="1100" b="0" i="0" u="none" strike="noStrike" cap="none" dirty="0">
                  <a:ln>
                    <a:noFill/>
                  </a:ln>
                  <a:solidFill>
                    <a:schemeClr val="tx1"/>
                  </a:solidFill>
                  <a:latin typeface="Arial"/>
                  <a:ea typeface="Calibri"/>
                  <a:cs typeface="Times New Roman"/>
                </a:rPr>
                <a:t> </a:t>
              </a:r>
              <a:endParaRPr lang="ru-RU" sz="1800" b="0" i="0" u="none" strike="noStrike" cap="none" dirty="0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</p:grpSp>
      <p:pic>
        <p:nvPicPr>
          <p:cNvPr id="16" name="Рисунок 15"/>
          <p:cNvPicPr>
            <a:picLocks noChangeAspect="1"/>
          </p:cNvPicPr>
          <p:nvPr/>
        </p:nvPicPr>
        <p:blipFill>
          <a:blip r:embed="rId6"/>
          <a:srcRect l="4363" t="73266" r="8263" b="1549"/>
          <a:stretch/>
        </p:blipFill>
        <p:spPr bwMode="auto">
          <a:xfrm>
            <a:off x="10752072" y="1752303"/>
            <a:ext cx="1390102" cy="103039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rcRect t="14465" b="5325"/>
          <a:stretch/>
        </p:blipFill>
        <p:spPr bwMode="auto">
          <a:xfrm rot="21539999">
            <a:off x="222303" y="204692"/>
            <a:ext cx="11390710" cy="6451931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2C8B518-BB79-443E-9D68-848E1914CEEC}" type="slidenum">
              <a:rPr lang="ru-RU"/>
              <a:t>26</a:t>
            </a:fld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EF991-255E-E364-6F62-A4D5A832E201}"/>
              </a:ext>
            </a:extLst>
          </p:cNvPr>
          <p:cNvSpPr txBox="1">
            <a:spLocks/>
          </p:cNvSpPr>
          <p:nvPr/>
        </p:nvSpPr>
        <p:spPr bwMode="auto">
          <a:xfrm>
            <a:off x="0" y="2001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перечня опорных населённых пунктов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субъекта РФ</a:t>
            </a:r>
          </a:p>
        </p:txBody>
      </p:sp>
      <p:pic>
        <p:nvPicPr>
          <p:cNvPr id="3" name="Рисунок 2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671E552-1F4A-BF37-3F9F-98412CE567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4BE58E64-79AA-4582-B88A-424E6F1AEF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4638779"/>
              </p:ext>
            </p:extLst>
          </p:nvPr>
        </p:nvGraphicFramePr>
        <p:xfrm>
          <a:off x="213489" y="1323561"/>
          <a:ext cx="11765021" cy="4984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B0B15BA-E99B-4A29-9256-D0020EB33B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27</a:t>
            </a:fld>
            <a:endParaRPr lang="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ABF4096-5522-470F-B174-63C0CCFEF4C3}"/>
              </a:ext>
            </a:extLst>
          </p:cNvPr>
          <p:cNvSpPr txBox="1">
            <a:spLocks/>
          </p:cNvSpPr>
          <p:nvPr/>
        </p:nvSpPr>
        <p:spPr bwMode="auto">
          <a:xfrm>
            <a:off x="0" y="2001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сферы модернизации инфраструктуры</a:t>
            </a:r>
          </a:p>
        </p:txBody>
      </p:sp>
      <p:pic>
        <p:nvPicPr>
          <p:cNvPr id="7" name="Рисунок 6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4BEB20A-57ED-A35C-C091-88A7894043F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71AD5-66D4-4021-93D5-08A99C6D6886}"/>
              </a:ext>
            </a:extLst>
          </p:cNvPr>
          <p:cNvSpPr txBox="1"/>
          <p:nvPr/>
        </p:nvSpPr>
        <p:spPr>
          <a:xfrm>
            <a:off x="331808" y="1497615"/>
            <a:ext cx="11528384" cy="4687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133" dirty="0"/>
              <a:t>В настоящее время одной из задач развития малых территорий является гармонизация развития сельской местности и городских территорий. Одним из направлений решений этой задачи является формирование </a:t>
            </a:r>
            <a:r>
              <a:rPr lang="ru-RU" sz="2133" b="1" dirty="0">
                <a:solidFill>
                  <a:srgbClr val="2E3092"/>
                </a:solidFill>
              </a:rPr>
              <a:t>современной социальной инфраструктуры</a:t>
            </a:r>
            <a:r>
              <a:rPr lang="ru-RU" sz="2133" dirty="0"/>
              <a:t>. Но в настоящее время в создании и эксплуатации объектов превалирует отраслевой подход. При этом часть объектов культурного, спортивного назначения находятся в </a:t>
            </a:r>
            <a:r>
              <a:rPr lang="ru-RU" sz="2133" b="1" dirty="0"/>
              <a:t>неудовлетворительном состоянии</a:t>
            </a:r>
            <a:r>
              <a:rPr lang="ru-RU" sz="2133" dirty="0"/>
              <a:t>, или наоборот недавно отремонтированные объекты </a:t>
            </a:r>
            <a:r>
              <a:rPr lang="ru-RU" sz="2133" b="1" dirty="0"/>
              <a:t>не используются в силу невостребованности</a:t>
            </a:r>
            <a:r>
              <a:rPr lang="ru-RU" sz="2133" dirty="0"/>
              <a:t>, отсутствия кадров или по другим причинам. </a:t>
            </a:r>
          </a:p>
          <a:p>
            <a:pPr algn="just"/>
            <a:endParaRPr lang="ru-RU" sz="2133" dirty="0"/>
          </a:p>
          <a:p>
            <a:pPr algn="just"/>
            <a:r>
              <a:rPr lang="ru-RU" sz="2133" dirty="0"/>
              <a:t>Особенность малонаселенных территорий требует создания </a:t>
            </a:r>
            <a:r>
              <a:rPr lang="ru-RU" sz="2133" b="1" dirty="0"/>
              <a:t>интегрированных объектов</a:t>
            </a:r>
            <a:r>
              <a:rPr lang="ru-RU" sz="2133" dirty="0"/>
              <a:t> различного типа в социальной сфере. Данный тип объектов предполагает </a:t>
            </a:r>
            <a:r>
              <a:rPr lang="ru-RU" sz="2133" b="1" dirty="0">
                <a:solidFill>
                  <a:srgbClr val="2E3092"/>
                </a:solidFill>
              </a:rPr>
              <a:t>объединение в одном здании</a:t>
            </a:r>
            <a:r>
              <a:rPr lang="ru-RU" sz="2133" dirty="0">
                <a:solidFill>
                  <a:srgbClr val="2E3092"/>
                </a:solidFill>
              </a:rPr>
              <a:t> </a:t>
            </a:r>
            <a:r>
              <a:rPr lang="ru-RU" sz="2133" dirty="0"/>
              <a:t>функций общеобразовательных учреждений, объектов культуры, объектов физической культуры и спорта, функций дополнительного образования для детей и взрослых, интернет-класс и т.д. Данная практика широко применяется в зарубежных странах.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C1FD68C-8ECE-4DD6-940E-6CDB32DA41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28</a:t>
            </a:fld>
            <a:endParaRPr lang="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C40B423-21AB-A7AC-FD62-7825F265C718}"/>
              </a:ext>
            </a:extLst>
          </p:cNvPr>
          <p:cNvSpPr txBox="1">
            <a:spLocks/>
          </p:cNvSpPr>
          <p:nvPr/>
        </p:nvSpPr>
        <p:spPr bwMode="auto">
          <a:xfrm>
            <a:off x="0" y="2001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сферы модернизации инфраструктуры</a:t>
            </a:r>
          </a:p>
        </p:txBody>
      </p:sp>
      <p:pic>
        <p:nvPicPr>
          <p:cNvPr id="5" name="Рисунок 4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2358AFA-9867-CD7E-18D3-7D56A72F86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6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04F17D1F-1272-40B1-8B62-6192023FA2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1098093"/>
              </p:ext>
            </p:extLst>
          </p:nvPr>
        </p:nvGraphicFramePr>
        <p:xfrm>
          <a:off x="97743" y="1556436"/>
          <a:ext cx="11929639" cy="14807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94885033-4EE6-44AB-8D74-1F547651F7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7301506"/>
              </p:ext>
            </p:extLst>
          </p:nvPr>
        </p:nvGraphicFramePr>
        <p:xfrm>
          <a:off x="203201" y="3182281"/>
          <a:ext cx="11824180" cy="5481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1" name="Схема 10">
            <a:extLst>
              <a:ext uri="{FF2B5EF4-FFF2-40B4-BE49-F238E27FC236}">
                <a16:creationId xmlns:a16="http://schemas.microsoft.com/office/drawing/2014/main" id="{4EE68EEA-0966-4738-9FF1-4E1D64D32AD8}"/>
              </a:ext>
            </a:extLst>
          </p:cNvPr>
          <p:cNvGraphicFramePr/>
          <p:nvPr/>
        </p:nvGraphicFramePr>
        <p:xfrm>
          <a:off x="241783" y="4923395"/>
          <a:ext cx="11785597" cy="5466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C4E17F14-B2A3-4D02-BBFD-A58D87AF28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883269"/>
              </p:ext>
            </p:extLst>
          </p:nvPr>
        </p:nvGraphicFramePr>
        <p:xfrm>
          <a:off x="241783" y="3730449"/>
          <a:ext cx="11785599" cy="1205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6D201F2A-0E37-47B7-8507-015E893F8D97}"/>
              </a:ext>
            </a:extLst>
          </p:cNvPr>
          <p:cNvGraphicFramePr/>
          <p:nvPr/>
        </p:nvGraphicFramePr>
        <p:xfrm>
          <a:off x="203200" y="5650378"/>
          <a:ext cx="11824179" cy="984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54B5357-D6CE-4A68-9ADF-7763285CAE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29</a:t>
            </a:fld>
            <a:endParaRPr lang="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C344E49-74BA-0B1F-B164-45923935B1FB}"/>
              </a:ext>
            </a:extLst>
          </p:cNvPr>
          <p:cNvSpPr txBox="1">
            <a:spLocks/>
          </p:cNvSpPr>
          <p:nvPr/>
        </p:nvSpPr>
        <p:spPr bwMode="auto">
          <a:xfrm>
            <a:off x="0" y="2001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Зарубежный опыт проектирования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многофункциональных общественных центров</a:t>
            </a:r>
          </a:p>
        </p:txBody>
      </p:sp>
      <p:pic>
        <p:nvPicPr>
          <p:cNvPr id="5" name="Рисунок 4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148C4FC6-66C6-2368-33C2-3028398F5D06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74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Схема 10">
            <a:extLst>
              <a:ext uri="{FF2B5EF4-FFF2-40B4-BE49-F238E27FC236}">
                <a16:creationId xmlns:a16="http://schemas.microsoft.com/office/drawing/2014/main" id="{4EE68EEA-0966-4738-9FF1-4E1D64D32AD8}"/>
              </a:ext>
            </a:extLst>
          </p:cNvPr>
          <p:cNvGraphicFramePr/>
          <p:nvPr/>
        </p:nvGraphicFramePr>
        <p:xfrm>
          <a:off x="8474801" y="910969"/>
          <a:ext cx="3553412" cy="464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54B5357-D6CE-4A68-9ADF-7763285CAE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30</a:t>
            </a:fld>
            <a:endParaRPr lang="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7861" y="1438333"/>
            <a:ext cx="1101361" cy="111675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7135" y="3068106"/>
            <a:ext cx="1118340" cy="114671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24435" y="4737175"/>
            <a:ext cx="1144359" cy="105605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645891" y="2501560"/>
            <a:ext cx="1922321" cy="2974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333" dirty="0">
                <a:latin typeface="Century Gothic" panose="020B0502020202020204" pitchFamily="34" charset="0"/>
              </a:rPr>
              <a:t>В центре поселения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9403412" y="4193315"/>
            <a:ext cx="2287806" cy="2974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333" dirty="0">
                <a:latin typeface="Century Gothic" panose="020B0502020202020204" pitchFamily="34" charset="0"/>
              </a:rPr>
              <a:t>На окраине  поселения 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9518829" y="5793227"/>
            <a:ext cx="2170787" cy="2974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333" dirty="0">
                <a:latin typeface="Century Gothic" panose="020B0502020202020204" pitchFamily="34" charset="0"/>
              </a:rPr>
              <a:t>Межпоселковый центр</a:t>
            </a: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1" t="12450" r="5979" b="45113"/>
          <a:stretch/>
        </p:blipFill>
        <p:spPr>
          <a:xfrm>
            <a:off x="134820" y="1828800"/>
            <a:ext cx="6075480" cy="4233619"/>
          </a:xfrm>
          <a:prstGeom prst="rect">
            <a:avLst/>
          </a:prstGeom>
        </p:spPr>
      </p:pic>
      <p:pic>
        <p:nvPicPr>
          <p:cNvPr id="32" name="Рисунок 31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9" t="54664" r="50143" b="21691"/>
          <a:stretch/>
        </p:blipFill>
        <p:spPr>
          <a:xfrm>
            <a:off x="5684504" y="1860294"/>
            <a:ext cx="2754041" cy="2203233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27" t="54552" r="9133" b="23140"/>
          <a:stretch/>
        </p:blipFill>
        <p:spPr>
          <a:xfrm>
            <a:off x="5936773" y="3898427"/>
            <a:ext cx="2817307" cy="2134324"/>
          </a:xfrm>
          <a:prstGeom prst="rect">
            <a:avLst/>
          </a:prstGeom>
        </p:spPr>
      </p:pic>
      <p:sp>
        <p:nvSpPr>
          <p:cNvPr id="35" name="Прямоугольник 34"/>
          <p:cNvSpPr/>
          <p:nvPr/>
        </p:nvSpPr>
        <p:spPr>
          <a:xfrm>
            <a:off x="-24401" y="6476537"/>
            <a:ext cx="11772900" cy="379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33" b="1" i="1" dirty="0"/>
              <a:t>Источник</a:t>
            </a:r>
            <a:r>
              <a:rPr lang="ru-RU" sz="933" dirty="0"/>
              <a:t>: </a:t>
            </a:r>
            <a:r>
              <a:rPr lang="ru-RU" sz="933" dirty="0" err="1"/>
              <a:t>Улинич</a:t>
            </a:r>
            <a:r>
              <a:rPr lang="ru-RU" sz="933" dirty="0"/>
              <a:t> Н.А. Многофункциональные общественные центры в социально-культурной инфраструктуре сельских поселений // АВТОРЕФЕРАТ диссертации на соискание ученой степени кандидата архитектуры. Федеральное государственное бюджетное образовательное учреждение высшего образования «Московский архитектурный институт (государственная академия)» 2021.</a:t>
            </a:r>
          </a:p>
        </p:txBody>
      </p:sp>
      <p:graphicFrame>
        <p:nvGraphicFramePr>
          <p:cNvPr id="17" name="Схема 16">
            <a:extLst>
              <a:ext uri="{FF2B5EF4-FFF2-40B4-BE49-F238E27FC236}">
                <a16:creationId xmlns:a16="http://schemas.microsoft.com/office/drawing/2014/main" id="{A122D17C-18B4-4E6E-92CE-6C471F91A6C6}"/>
              </a:ext>
            </a:extLst>
          </p:cNvPr>
          <p:cNvGraphicFramePr/>
          <p:nvPr/>
        </p:nvGraphicFramePr>
        <p:xfrm>
          <a:off x="134821" y="909681"/>
          <a:ext cx="8303723" cy="50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5C81CF4-1E48-5B7B-6F27-13639873DD3E}"/>
              </a:ext>
            </a:extLst>
          </p:cNvPr>
          <p:cNvSpPr txBox="1">
            <a:spLocks/>
          </p:cNvSpPr>
          <p:nvPr/>
        </p:nvSpPr>
        <p:spPr bwMode="auto">
          <a:xfrm>
            <a:off x="0" y="2001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Зарубежный опыт проектирования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многофункциональных общественных центров</a:t>
            </a:r>
          </a:p>
        </p:txBody>
      </p:sp>
      <p:pic>
        <p:nvPicPr>
          <p:cNvPr id="13" name="Рисунок 12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618D45B-1E68-7343-4355-2D96E5BBC5A9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45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40000"/>
                <a:lumOff val="60000"/>
              </a:schemeClr>
            </a:gs>
            <a:gs pos="28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4B3DE-0176-415E-982B-D460D1347E97}"/>
              </a:ext>
            </a:extLst>
          </p:cNvPr>
          <p:cNvSpPr txBox="1">
            <a:spLocks/>
          </p:cNvSpPr>
          <p:nvPr/>
        </p:nvSpPr>
        <p:spPr bwMode="auto">
          <a:xfrm>
            <a:off x="0" y="2001"/>
            <a:ext cx="121920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Муниципальный общественный центр</a:t>
            </a:r>
          </a:p>
        </p:txBody>
      </p:sp>
      <p:pic>
        <p:nvPicPr>
          <p:cNvPr id="3" name="Рисунок 2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1F5DE24F-8F4A-C462-449A-DF4AB789E1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fld id="{00000000-1234-1234-1234-123412341234}" type="slidenum">
              <a:rPr lang="ru">
                <a:solidFill>
                  <a:schemeClr val="bg1"/>
                </a:solidFill>
                <a:latin typeface="ArialMT"/>
              </a:rPr>
              <a:t>31</a:t>
            </a:fld>
            <a:endParaRPr lang="ru">
              <a:solidFill>
                <a:schemeClr val="bg1"/>
              </a:solidFill>
              <a:latin typeface="ArialMT"/>
            </a:endParaRPr>
          </a:p>
        </p:txBody>
      </p:sp>
      <p:sp>
        <p:nvSpPr>
          <p:cNvPr id="6" name="Овал 5"/>
          <p:cNvSpPr/>
          <p:nvPr/>
        </p:nvSpPr>
        <p:spPr bwMode="auto">
          <a:xfrm>
            <a:off x="4328956" y="1974762"/>
            <a:ext cx="3517893" cy="3656049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schemeClr val="bg1"/>
              </a:solidFill>
              <a:latin typeface="ArialMT"/>
            </a:endParaRPr>
          </a:p>
        </p:txBody>
      </p:sp>
      <p:sp>
        <p:nvSpPr>
          <p:cNvPr id="12" name="Прямоугольник: скругленные углы 4"/>
          <p:cNvSpPr txBox="1"/>
          <p:nvPr/>
        </p:nvSpPr>
        <p:spPr bwMode="auto">
          <a:xfrm>
            <a:off x="182522" y="1008020"/>
            <a:ext cx="12009477" cy="1022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86360" tIns="86360" rIns="86360" bIns="86360" numCol="1" spcCol="1270" anchor="ctr" anchorCtr="0">
            <a:noAutofit/>
          </a:bodyPr>
          <a:lstStyle/>
          <a:p>
            <a:pPr algn="just" defTabSz="100750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>
                <a:solidFill>
                  <a:schemeClr val="bg1"/>
                </a:solidFill>
                <a:latin typeface="ArialMT"/>
              </a:rPr>
              <a:t>это место общего пользования, </a:t>
            </a:r>
            <a:r>
              <a:rPr lang="ru-RU" u="sng" dirty="0">
                <a:solidFill>
                  <a:schemeClr val="bg1"/>
                </a:solidFill>
                <a:latin typeface="ArialMT"/>
              </a:rPr>
              <a:t>эксплуатация здания осуществляется за счёт муниципального задания</a:t>
            </a:r>
            <a:r>
              <a:rPr lang="ru-RU" dirty="0">
                <a:solidFill>
                  <a:schemeClr val="bg1"/>
                </a:solidFill>
                <a:latin typeface="ArialMT"/>
              </a:rPr>
              <a:t>, площади предоставляются муниципальным учреждениям на основании безвозмездного пользования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2478007" y="5027132"/>
            <a:ext cx="1226009" cy="1316453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>
            <a:biLevel thresh="25000"/>
          </a:blip>
          <a:stretch/>
        </p:blipFill>
        <p:spPr bwMode="auto">
          <a:xfrm>
            <a:off x="8332875" y="4863517"/>
            <a:ext cx="1483472" cy="1592908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631537" y="3773785"/>
            <a:ext cx="1483472" cy="1592908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4824276" y="1901961"/>
            <a:ext cx="2548887" cy="2644056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692624" y="2060608"/>
            <a:ext cx="1226009" cy="1316453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8">
            <a:biLevel thresh="25000"/>
          </a:blip>
          <a:stretch/>
        </p:blipFill>
        <p:spPr bwMode="auto">
          <a:xfrm>
            <a:off x="10206390" y="4120285"/>
            <a:ext cx="1013231" cy="1087979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2655683" y="1746884"/>
            <a:ext cx="1013231" cy="1087979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>
            <a:biLevel thresh="25000"/>
          </a:blip>
          <a:stretch/>
        </p:blipFill>
        <p:spPr bwMode="auto">
          <a:xfrm>
            <a:off x="8376418" y="1820664"/>
            <a:ext cx="1114553" cy="1196776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11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0103605" y="2135011"/>
            <a:ext cx="1114553" cy="119677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 bwMode="auto">
          <a:xfrm>
            <a:off x="1603071" y="6289900"/>
            <a:ext cx="2972637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1850">
                <a:solidFill>
                  <a:schemeClr val="bg1"/>
                </a:solidFill>
                <a:latin typeface="ArialMT"/>
              </a:rPr>
              <a:t>Детский сад</a:t>
            </a: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7487784" y="6122469"/>
            <a:ext cx="3055275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1850">
                <a:solidFill>
                  <a:schemeClr val="bg1"/>
                </a:solidFill>
                <a:latin typeface="ArialMT"/>
              </a:rPr>
              <a:t>Общественное пространство</a:t>
            </a: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9557936" y="5027133"/>
            <a:ext cx="2417457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1850">
                <a:solidFill>
                  <a:schemeClr val="bg1"/>
                </a:solidFill>
                <a:latin typeface="ArialMT"/>
              </a:rPr>
              <a:t>Библиотека, интернет</a:t>
            </a:r>
            <a:endParaRPr/>
          </a:p>
        </p:txBody>
      </p:sp>
      <p:sp>
        <p:nvSpPr>
          <p:cNvPr id="37" name="TextBox 36"/>
          <p:cNvSpPr txBox="1"/>
          <p:nvPr/>
        </p:nvSpPr>
        <p:spPr bwMode="auto">
          <a:xfrm>
            <a:off x="9294563" y="3135400"/>
            <a:ext cx="2836887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1850">
                <a:solidFill>
                  <a:schemeClr val="bg1"/>
                </a:solidFill>
                <a:latin typeface="ArialMT"/>
              </a:rPr>
              <a:t>Физкультурно-оздоровительный комплекс</a:t>
            </a:r>
            <a:endParaRPr/>
          </a:p>
        </p:txBody>
      </p:sp>
      <p:sp>
        <p:nvSpPr>
          <p:cNvPr id="39" name="TextBox 38"/>
          <p:cNvSpPr txBox="1"/>
          <p:nvPr/>
        </p:nvSpPr>
        <p:spPr bwMode="auto">
          <a:xfrm>
            <a:off x="8008425" y="2840766"/>
            <a:ext cx="1921628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1850">
                <a:solidFill>
                  <a:schemeClr val="bg1"/>
                </a:solidFill>
                <a:latin typeface="ArialMT"/>
              </a:rPr>
              <a:t>Дом культуры</a:t>
            </a:r>
            <a:endParaRPr/>
          </a:p>
        </p:txBody>
      </p:sp>
      <p:sp>
        <p:nvSpPr>
          <p:cNvPr id="41" name="TextBox 40"/>
          <p:cNvSpPr txBox="1"/>
          <p:nvPr/>
        </p:nvSpPr>
        <p:spPr bwMode="auto">
          <a:xfrm>
            <a:off x="1909035" y="2670038"/>
            <a:ext cx="2535533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1850" dirty="0">
                <a:solidFill>
                  <a:schemeClr val="bg1"/>
                </a:solidFill>
                <a:latin typeface="ArialMT"/>
              </a:rPr>
              <a:t>Врачебная амбулатория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 bwMode="auto">
          <a:xfrm>
            <a:off x="303544" y="3190325"/>
            <a:ext cx="2139459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1850">
                <a:solidFill>
                  <a:schemeClr val="bg1"/>
                </a:solidFill>
                <a:latin typeface="ArialMT"/>
              </a:rPr>
              <a:t>Местная администрация</a:t>
            </a:r>
            <a:endParaRPr/>
          </a:p>
        </p:txBody>
      </p:sp>
      <p:sp>
        <p:nvSpPr>
          <p:cNvPr id="45" name="TextBox 44"/>
          <p:cNvSpPr txBox="1"/>
          <p:nvPr/>
        </p:nvSpPr>
        <p:spPr bwMode="auto">
          <a:xfrm>
            <a:off x="-113045" y="4930096"/>
            <a:ext cx="2972637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1850">
                <a:solidFill>
                  <a:schemeClr val="bg1"/>
                </a:solidFill>
                <a:latin typeface="ArialMT"/>
              </a:rPr>
              <a:t>Средняя общеобразовательная школа</a:t>
            </a:r>
            <a:endParaRPr/>
          </a:p>
        </p:txBody>
      </p:sp>
      <p:sp>
        <p:nvSpPr>
          <p:cNvPr id="47" name="TextBox 46"/>
          <p:cNvSpPr txBox="1"/>
          <p:nvPr/>
        </p:nvSpPr>
        <p:spPr bwMode="auto">
          <a:xfrm>
            <a:off x="4328956" y="4156957"/>
            <a:ext cx="3562047" cy="748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150" b="1" dirty="0">
                <a:solidFill>
                  <a:schemeClr val="bg1"/>
                </a:solidFill>
                <a:latin typeface="ArialMT"/>
              </a:rPr>
              <a:t>Муниципальный общественный</a:t>
            </a:r>
            <a:r>
              <a:rPr lang="ru-RU" sz="2000" b="1" dirty="0">
                <a:solidFill>
                  <a:schemeClr val="bg1"/>
                </a:solidFill>
                <a:latin typeface="ArialMT"/>
              </a:rPr>
              <a:t> центр</a:t>
            </a:r>
            <a:endParaRPr lang="en-US" sz="2000" b="1" dirty="0">
              <a:solidFill>
                <a:schemeClr val="bg1"/>
              </a:solidFill>
              <a:latin typeface="ArialMT"/>
            </a:endParaRPr>
          </a:p>
        </p:txBody>
      </p:sp>
      <p:cxnSp>
        <p:nvCxnSpPr>
          <p:cNvPr id="55" name="Прямая со стрелкой 54"/>
          <p:cNvCxnSpPr>
            <a:cxnSpLocks/>
          </p:cNvCxnSpPr>
          <p:nvPr/>
        </p:nvCxnSpPr>
        <p:spPr bwMode="auto">
          <a:xfrm>
            <a:off x="3885363" y="2292261"/>
            <a:ext cx="770373" cy="53468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Прямая со стрелкой 56"/>
          <p:cNvCxnSpPr>
            <a:cxnSpLocks/>
          </p:cNvCxnSpPr>
          <p:nvPr/>
        </p:nvCxnSpPr>
        <p:spPr bwMode="auto">
          <a:xfrm flipV="1">
            <a:off x="3854051" y="5422539"/>
            <a:ext cx="772316" cy="5094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Прямая со стрелкой 58"/>
          <p:cNvCxnSpPr>
            <a:cxnSpLocks/>
          </p:cNvCxnSpPr>
          <p:nvPr/>
        </p:nvCxnSpPr>
        <p:spPr bwMode="auto">
          <a:xfrm flipV="1">
            <a:off x="2348698" y="4531355"/>
            <a:ext cx="1751031" cy="4119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>
            <a:cxnSpLocks/>
          </p:cNvCxnSpPr>
          <p:nvPr/>
        </p:nvCxnSpPr>
        <p:spPr bwMode="auto">
          <a:xfrm>
            <a:off x="2265685" y="3376222"/>
            <a:ext cx="1834043" cy="4367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Прямая со стрелкой 67"/>
          <p:cNvCxnSpPr>
            <a:cxnSpLocks/>
          </p:cNvCxnSpPr>
          <p:nvPr/>
        </p:nvCxnSpPr>
        <p:spPr bwMode="auto">
          <a:xfrm flipH="1" flipV="1">
            <a:off x="7639073" y="5393241"/>
            <a:ext cx="832716" cy="5121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Прямая со стрелкой 71"/>
          <p:cNvCxnSpPr>
            <a:cxnSpLocks/>
          </p:cNvCxnSpPr>
          <p:nvPr/>
        </p:nvCxnSpPr>
        <p:spPr bwMode="auto">
          <a:xfrm flipH="1">
            <a:off x="7485367" y="2286253"/>
            <a:ext cx="767120" cy="47701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>
            <a:cxnSpLocks/>
          </p:cNvCxnSpPr>
          <p:nvPr/>
        </p:nvCxnSpPr>
        <p:spPr bwMode="auto">
          <a:xfrm flipH="1">
            <a:off x="8136065" y="3376222"/>
            <a:ext cx="1528460" cy="43042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Прямая со стрелкой 78"/>
          <p:cNvCxnSpPr>
            <a:cxnSpLocks/>
          </p:cNvCxnSpPr>
          <p:nvPr/>
        </p:nvCxnSpPr>
        <p:spPr bwMode="auto">
          <a:xfrm flipH="1" flipV="1">
            <a:off x="8224572" y="4370652"/>
            <a:ext cx="1508230" cy="41207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A18452C-6F05-F293-7637-4FD914373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186" y="2142459"/>
            <a:ext cx="7047614" cy="4034503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u="none" strike="noStrike" baseline="0" dirty="0">
                <a:latin typeface="Neue Haas Grotesk Text Pro (Основной текст)"/>
              </a:rPr>
              <a:t>Целью пространственного развития Российской Федерации является формирование </a:t>
            </a:r>
            <a:r>
              <a:rPr lang="ru-RU" b="1" i="0" u="none" strike="noStrike" baseline="0" dirty="0">
                <a:latin typeface="Neue Haas Grotesk Text Pro (Основной текст)"/>
              </a:rPr>
              <a:t>системы расселения</a:t>
            </a:r>
            <a:r>
              <a:rPr lang="ru-RU" b="0" i="0" u="none" strike="noStrike" baseline="0" dirty="0">
                <a:latin typeface="Neue Haas Grotesk Text Pro (Основной текст)"/>
              </a:rPr>
              <a:t> и т</a:t>
            </a:r>
            <a:r>
              <a:rPr lang="ru-RU" b="1" i="0" u="none" strike="noStrike" baseline="0" dirty="0">
                <a:latin typeface="Neue Haas Grotesk Text Pro (Основной текст)"/>
              </a:rPr>
              <a:t>ерриториальной организации</a:t>
            </a:r>
            <a:r>
              <a:rPr lang="en-US" b="1" i="0" u="none" strike="noStrike" baseline="0" dirty="0">
                <a:latin typeface="Neue Haas Grotesk Text Pro (Основной текст)"/>
              </a:rPr>
              <a:t> </a:t>
            </a:r>
            <a:r>
              <a:rPr lang="ru-RU" b="1" i="0" u="none" strike="noStrike" baseline="0" dirty="0">
                <a:latin typeface="Neue Haas Grotesk Text Pro (Основной текст)"/>
              </a:rPr>
              <a:t>экономики </a:t>
            </a:r>
            <a:r>
              <a:rPr lang="ru-RU" b="0" i="0" u="none" strike="noStrike" baseline="0" dirty="0">
                <a:latin typeface="Neue Haas Grotesk Text Pro (Основной текст)"/>
              </a:rPr>
              <a:t>Российской Федерации, которые будут </a:t>
            </a:r>
            <a:r>
              <a:rPr lang="ru-RU" b="1" i="0" u="none" strike="noStrike" baseline="0" dirty="0">
                <a:solidFill>
                  <a:srgbClr val="2E3092"/>
                </a:solidFill>
                <a:latin typeface="Neue Haas Grotesk Text Pro (Основной текст)"/>
              </a:rPr>
              <a:t>способствовать достижению национальных целей </a:t>
            </a:r>
            <a:r>
              <a:rPr lang="ru-RU" b="0" i="0" u="none" strike="noStrike" baseline="0" dirty="0">
                <a:latin typeface="Neue Haas Grotesk Text Pro (Основной текст)"/>
              </a:rPr>
              <a:t>и </a:t>
            </a:r>
            <a:r>
              <a:rPr lang="ru-RU" b="1" i="0" u="none" strike="noStrike" baseline="0" dirty="0">
                <a:solidFill>
                  <a:srgbClr val="2E3092"/>
                </a:solidFill>
                <a:latin typeface="Neue Haas Grotesk Text Pro (Основной текст)"/>
              </a:rPr>
              <a:t>обеспечению национальной безопасности</a:t>
            </a:r>
            <a:r>
              <a:rPr lang="ru-RU" b="0" i="0" u="none" strike="noStrike" baseline="0" dirty="0">
                <a:latin typeface="Neue Haas Grotesk Text Pro (Основной текст)"/>
              </a:rPr>
              <a:t>.</a:t>
            </a:r>
            <a:endParaRPr lang="ru-RU" sz="3200" dirty="0">
              <a:latin typeface="Neue Haas Grotesk Text Pro (Основной текст)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BAE55EC-7EA6-95B9-E1B6-BE68455D8AAB}"/>
              </a:ext>
            </a:extLst>
          </p:cNvPr>
          <p:cNvSpPr txBox="1">
            <a:spLocks/>
          </p:cNvSpPr>
          <p:nvPr/>
        </p:nvSpPr>
        <p:spPr bwMode="auto">
          <a:xfrm>
            <a:off x="0" y="2001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Новая стратегия пространственного развития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13B8B245-181B-3489-284D-08B7BCC73E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0ECF92-7C0A-5E87-1DB7-24F2A1C02FD8}"/>
              </a:ext>
            </a:extLst>
          </p:cNvPr>
          <p:cNvSpPr txBox="1"/>
          <p:nvPr/>
        </p:nvSpPr>
        <p:spPr>
          <a:xfrm>
            <a:off x="484682" y="6224283"/>
            <a:ext cx="11470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</a:t>
            </a:r>
            <a:r>
              <a:rPr lang="ru-RU" sz="1200" i="0" u="none" strike="noStrike" baseline="0" dirty="0">
                <a:latin typeface="TimesNewRomanPS-BoldMT"/>
              </a:rPr>
              <a:t>Распоряжение Правительства РФ от 28 декабря 2024 г. № 4146-р «Об утверждении Стратегии пространственного развития Российской Федерации на период до 2030 года с прогнозом до 2036 года». – </a:t>
            </a:r>
            <a:r>
              <a:rPr lang="en-US" sz="1200" i="0" u="none" strike="noStrike" baseline="0" dirty="0">
                <a:latin typeface="TimesNewRomanPS-BoldMT"/>
              </a:rPr>
              <a:t>URL: http://government.ru/docs/53917/ </a:t>
            </a:r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DDE720B-CFD4-A2F0-F5D2-7B443570C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89" y="1685118"/>
            <a:ext cx="3192175" cy="443625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9484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454F482C-B310-1C2D-FE2E-9518D5A57A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1367892"/>
              </p:ext>
            </p:extLst>
          </p:nvPr>
        </p:nvGraphicFramePr>
        <p:xfrm>
          <a:off x="544445" y="1560731"/>
          <a:ext cx="11103109" cy="4401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561689-D11B-A024-9608-08ECD877545F}"/>
              </a:ext>
            </a:extLst>
          </p:cNvPr>
          <p:cNvSpPr txBox="1">
            <a:spLocks/>
          </p:cNvSpPr>
          <p:nvPr/>
        </p:nvSpPr>
        <p:spPr bwMode="auto">
          <a:xfrm>
            <a:off x="0" y="2001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Новая стратегия пространственного развития</a:t>
            </a:r>
          </a:p>
        </p:txBody>
      </p:sp>
      <p:pic>
        <p:nvPicPr>
          <p:cNvPr id="5" name="Рисунок 4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C614657-1AAD-753F-5C86-61774154254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C570E1-5396-86D3-D2C4-842594F3930E}"/>
              </a:ext>
            </a:extLst>
          </p:cNvPr>
          <p:cNvSpPr txBox="1"/>
          <p:nvPr/>
        </p:nvSpPr>
        <p:spPr>
          <a:xfrm>
            <a:off x="484682" y="6224283"/>
            <a:ext cx="11470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</a:t>
            </a:r>
            <a:r>
              <a:rPr lang="ru-RU" sz="1200" i="0" u="none" strike="noStrike" baseline="0" dirty="0">
                <a:latin typeface="TimesNewRomanPS-BoldMT"/>
              </a:rPr>
              <a:t>Распоряжение Правительства РФ от 28 декабря 2024 г. № 4146-р «Об утверждении Стратегии пространственного развития Российской Федерации на период до 2030 года с прогнозом до 2036 года». – </a:t>
            </a:r>
            <a:r>
              <a:rPr lang="en-US" sz="1200" i="0" u="none" strike="noStrike" baseline="0" dirty="0">
                <a:latin typeface="TimesNewRomanPS-BoldMT"/>
              </a:rPr>
              <a:t>URL: http://government.ru/docs/53917/ 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951724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3B37BCD-D572-E7DD-5218-25EE30D4D32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878E5E-47AF-9CA9-FAC0-ABD80F7E5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2C8B518-BB79-443E-9D68-848E1914CEEC}" type="slidenum">
              <a:rPr lang="ru-RU"/>
              <a:t>34</a:t>
            </a:fld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58964-BD91-4D04-C9A9-2C4A9D0B006A}"/>
              </a:ext>
            </a:extLst>
          </p:cNvPr>
          <p:cNvSpPr txBox="1">
            <a:spLocks/>
          </p:cNvSpPr>
          <p:nvPr/>
        </p:nvSpPr>
        <p:spPr bwMode="auto">
          <a:xfrm>
            <a:off x="0" y="2001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пространственного развития РФ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период до 2030 года с прогнозом до 2036 года</a:t>
            </a:r>
          </a:p>
        </p:txBody>
      </p:sp>
      <p:pic>
        <p:nvPicPr>
          <p:cNvPr id="3" name="Рисунок 2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ECA6B9E-E75B-0872-0477-4C4EE04675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A3523D8-9B75-D349-828A-2479F7D92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205992"/>
              </p:ext>
            </p:extLst>
          </p:nvPr>
        </p:nvGraphicFramePr>
        <p:xfrm>
          <a:off x="256658" y="1667552"/>
          <a:ext cx="11678684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549">
                  <a:extLst>
                    <a:ext uri="{9D8B030D-6E8A-4147-A177-3AD203B41FA5}">
                      <a16:colId xmlns:a16="http://schemas.microsoft.com/office/drawing/2014/main" val="1563841641"/>
                    </a:ext>
                  </a:extLst>
                </a:gridCol>
                <a:gridCol w="9851065">
                  <a:extLst>
                    <a:ext uri="{9D8B030D-6E8A-4147-A177-3AD203B41FA5}">
                      <a16:colId xmlns:a16="http://schemas.microsoft.com/office/drawing/2014/main" val="3270994207"/>
                    </a:ext>
                  </a:extLst>
                </a:gridCol>
                <a:gridCol w="1329070">
                  <a:extLst>
                    <a:ext uri="{9D8B030D-6E8A-4147-A177-3AD203B41FA5}">
                      <a16:colId xmlns:a16="http://schemas.microsoft.com/office/drawing/2014/main" val="1948727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Тип населённого пункта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Единиц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28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Городская агломерация </a:t>
                      </a:r>
                      <a:br>
                        <a:rPr lang="ru-RU" sz="2400" b="1" dirty="0"/>
                      </a:br>
                      <a:r>
                        <a:rPr lang="ru-RU" sz="2400" dirty="0"/>
                        <a:t>(ядро или значимый в периферии)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519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Административный центр субъекта РФ </a:t>
                      </a:r>
                      <a:br>
                        <a:rPr lang="ru-RU" sz="2400" b="1" dirty="0"/>
                      </a:br>
                      <a:r>
                        <a:rPr lang="ru-RU" sz="2400" dirty="0"/>
                        <a:t>(не входящие в агломерации)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0084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Экономические центры </a:t>
                      </a:r>
                      <a:br>
                        <a:rPr lang="ru-RU" sz="2400" b="1" dirty="0"/>
                      </a:br>
                      <a:r>
                        <a:rPr lang="ru-RU" sz="2400" dirty="0"/>
                        <a:t>(инвестиционные проекты, наукограды)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622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Геостратегические</a:t>
                      </a:r>
                      <a:r>
                        <a:rPr lang="ru-RU" sz="2400" dirty="0"/>
                        <a:t> </a:t>
                      </a:r>
                      <a:br>
                        <a:rPr lang="ru-RU" sz="2400" dirty="0"/>
                      </a:br>
                      <a:r>
                        <a:rPr lang="ru-RU" sz="2300" dirty="0"/>
                        <a:t>(ЗАТО, крупнейшие приграничные, критически-важные, иные военные)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212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0574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Опорные населённые пункты сельских территорий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1548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4128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ru-RU" sz="2400" b="1" dirty="0">
                          <a:solidFill>
                            <a:schemeClr val="bg1"/>
                          </a:solidFill>
                        </a:rPr>
                        <a:t>Всего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</a:rPr>
                        <a:t>2160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113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917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49573480-F6F8-8730-2D70-F083074909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659494"/>
              </p:ext>
            </p:extLst>
          </p:nvPr>
        </p:nvGraphicFramePr>
        <p:xfrm>
          <a:off x="565150" y="2304682"/>
          <a:ext cx="11360686" cy="3813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30C8FAA-F559-011E-83DB-7D31E5F1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961" y="1181631"/>
            <a:ext cx="9956889" cy="1268984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2E3092"/>
                </a:solidFill>
              </a:rPr>
              <a:t>2160</a:t>
            </a:r>
            <a:r>
              <a:rPr lang="ru-RU" dirty="0"/>
              <a:t> опорных населённых пунктов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1970B0-5ADE-440E-6C07-61B9E0CCFE94}"/>
              </a:ext>
            </a:extLst>
          </p:cNvPr>
          <p:cNvSpPr txBox="1">
            <a:spLocks/>
          </p:cNvSpPr>
          <p:nvPr/>
        </p:nvSpPr>
        <p:spPr bwMode="auto">
          <a:xfrm>
            <a:off x="0" y="2001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Новая стратегия пространственного развития</a:t>
            </a:r>
          </a:p>
        </p:txBody>
      </p:sp>
      <p:pic>
        <p:nvPicPr>
          <p:cNvPr id="3" name="Рисунок 2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6ED08B9-7306-53CF-B1B4-FDECDD10623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685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93354046-E26A-65BE-B22D-00F1A39648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19947"/>
              </p:ext>
            </p:extLst>
          </p:nvPr>
        </p:nvGraphicFramePr>
        <p:xfrm>
          <a:off x="528034" y="1497615"/>
          <a:ext cx="11114467" cy="5188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F94F2EC-B17F-D7CC-D782-B2DB0A575A76}"/>
              </a:ext>
            </a:extLst>
          </p:cNvPr>
          <p:cNvSpPr txBox="1">
            <a:spLocks/>
          </p:cNvSpPr>
          <p:nvPr/>
        </p:nvSpPr>
        <p:spPr bwMode="auto">
          <a:xfrm>
            <a:off x="0" y="2001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 агломерационного подхода: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31A14923-3A08-5512-6CE7-C85EBC1ACF0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3235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2060"/>
      </a:accent1>
      <a:accent2>
        <a:srgbClr val="629DD1"/>
      </a:accent2>
      <a:accent3>
        <a:srgbClr val="0D7E04"/>
      </a:accent3>
      <a:accent4>
        <a:srgbClr val="7F8FA9"/>
      </a:accent4>
      <a:accent5>
        <a:srgbClr val="00B050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3918</TotalTime>
  <Words>4771</Words>
  <Application>Microsoft Office PowerPoint</Application>
  <PresentationFormat>Широкоэкранный</PresentationFormat>
  <Paragraphs>685</Paragraphs>
  <Slides>36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7" baseType="lpstr">
      <vt:lpstr>Aptos</vt:lpstr>
      <vt:lpstr>Aptos Display</vt:lpstr>
      <vt:lpstr>Arial</vt:lpstr>
      <vt:lpstr>ArialMT</vt:lpstr>
      <vt:lpstr>Calibri</vt:lpstr>
      <vt:lpstr>Century Gothic</vt:lpstr>
      <vt:lpstr>Neue Haas Grotesk Text Pro (Основной текст)</vt:lpstr>
      <vt:lpstr>Times New Roman</vt:lpstr>
      <vt:lpstr>TimesNewRomanPS-BoldMT</vt:lpstr>
      <vt:lpstr>Wingdings</vt:lpstr>
      <vt:lpstr>Тема Office</vt:lpstr>
      <vt:lpstr>Презентация PowerPoint</vt:lpstr>
      <vt:lpstr>Экономическая специализация</vt:lpstr>
      <vt:lpstr>Экономическая специализация</vt:lpstr>
      <vt:lpstr>Презентация PowerPoint</vt:lpstr>
      <vt:lpstr>Климатические группы  (Макроклиматические районы) </vt:lpstr>
      <vt:lpstr>Плотность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Распоряжение Правительства РФ  от 23 декабря 2022 г.  № 4132-р  Об утверждении методических рекомендаций по критериям определения опорных населенных пунктов и прилегающих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2160 опорных населённых пунктов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Арсений Ситковский</dc:creator>
  <cp:lastModifiedBy>Арсений Ситковский</cp:lastModifiedBy>
  <cp:revision>103</cp:revision>
  <dcterms:created xsi:type="dcterms:W3CDTF">2024-05-16T08:01:39Z</dcterms:created>
  <dcterms:modified xsi:type="dcterms:W3CDTF">2025-10-09T15:10:21Z</dcterms:modified>
</cp:coreProperties>
</file>