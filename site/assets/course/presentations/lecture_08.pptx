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325" r:id="rId2"/>
    <p:sldId id="395" r:id="rId3"/>
    <p:sldId id="378" r:id="rId4"/>
    <p:sldId id="379" r:id="rId5"/>
    <p:sldId id="373" r:id="rId6"/>
    <p:sldId id="374" r:id="rId7"/>
    <p:sldId id="387" r:id="rId8"/>
    <p:sldId id="388" r:id="rId9"/>
    <p:sldId id="381" r:id="rId10"/>
    <p:sldId id="389" r:id="rId11"/>
    <p:sldId id="371" r:id="rId12"/>
    <p:sldId id="372" r:id="rId13"/>
    <p:sldId id="391" r:id="rId14"/>
    <p:sldId id="390" r:id="rId15"/>
    <p:sldId id="383" r:id="rId16"/>
    <p:sldId id="375" r:id="rId17"/>
    <p:sldId id="376" r:id="rId18"/>
    <p:sldId id="377" r:id="rId19"/>
    <p:sldId id="385" r:id="rId20"/>
    <p:sldId id="384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3092"/>
    <a:srgbClr val="002060"/>
    <a:srgbClr val="FFFFFF"/>
    <a:srgbClr val="B3FF80"/>
    <a:srgbClr val="FFD280"/>
    <a:srgbClr val="78F9FF"/>
    <a:srgbClr val="FF8481"/>
    <a:srgbClr val="B1F940"/>
    <a:srgbClr val="EE2C45"/>
    <a:srgbClr val="E100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93" autoAdjust="0"/>
    <p:restoredTop sz="94660"/>
  </p:normalViewPr>
  <p:slideViewPr>
    <p:cSldViewPr snapToGrid="0">
      <p:cViewPr varScale="1">
        <p:scale>
          <a:sx n="80" d="100"/>
          <a:sy n="80" d="100"/>
        </p:scale>
        <p:origin x="1243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674E0D-3A11-4986-9F38-6BE177D7B98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35569E0-3B33-4771-9CB9-8F1F8E92C0F5}">
      <dgm:prSet/>
      <dgm:spPr/>
      <dgm:t>
        <a:bodyPr/>
        <a:lstStyle/>
        <a:p>
          <a:r>
            <a:rPr lang="ru-RU" dirty="0"/>
            <a:t>🔹На первом этаже ремонтируемого 1 блока общежития РУДН будет создано </a:t>
          </a:r>
          <a:r>
            <a:rPr lang="ru-RU" b="1" dirty="0"/>
            <a:t>19 уютных комнат и отдельная детская комната</a:t>
          </a:r>
          <a:r>
            <a:rPr lang="ru-RU" dirty="0"/>
            <a:t> специально для размещения молодых семей студентов.</a:t>
          </a:r>
        </a:p>
      </dgm:t>
    </dgm:pt>
    <dgm:pt modelId="{AC43A16B-8379-4090-800E-C08199B4F658}" type="parTrans" cxnId="{906364CE-B7A5-479A-A280-75C0289B5EC0}">
      <dgm:prSet/>
      <dgm:spPr/>
      <dgm:t>
        <a:bodyPr/>
        <a:lstStyle/>
        <a:p>
          <a:endParaRPr lang="ru-RU"/>
        </a:p>
      </dgm:t>
    </dgm:pt>
    <dgm:pt modelId="{5BE28E2F-6C46-4FCA-BBAC-A3436B760A10}" type="sibTrans" cxnId="{906364CE-B7A5-479A-A280-75C0289B5EC0}">
      <dgm:prSet/>
      <dgm:spPr/>
      <dgm:t>
        <a:bodyPr/>
        <a:lstStyle/>
        <a:p>
          <a:endParaRPr lang="ru-RU"/>
        </a:p>
      </dgm:t>
    </dgm:pt>
    <dgm:pt modelId="{099437DB-06B7-425E-B9FD-E9868558AB26}">
      <dgm:prSet/>
      <dgm:spPr/>
      <dgm:t>
        <a:bodyPr/>
        <a:lstStyle/>
        <a:p>
          <a:r>
            <a:rPr lang="ru-RU" dirty="0"/>
            <a:t>🔹Заявление от студентов о записи ребенка в детский сад обычно требует лишь письма в департамент образования или префектуру, подписанного проректором или ректором. В этом вопросе </a:t>
          </a:r>
          <a:r>
            <a:rPr lang="ru-RU" b="1" dirty="0"/>
            <a:t>РУДН всегда готов помогать студентам</a:t>
          </a:r>
          <a:r>
            <a:rPr lang="ru-RU" dirty="0"/>
            <a:t>.</a:t>
          </a:r>
        </a:p>
      </dgm:t>
    </dgm:pt>
    <dgm:pt modelId="{4A2527FF-6E5F-4808-A0DB-2DD95335DA51}" type="parTrans" cxnId="{A6A3B1BC-C3F1-481F-807F-950C0F64E341}">
      <dgm:prSet/>
      <dgm:spPr/>
      <dgm:t>
        <a:bodyPr/>
        <a:lstStyle/>
        <a:p>
          <a:endParaRPr lang="ru-RU"/>
        </a:p>
      </dgm:t>
    </dgm:pt>
    <dgm:pt modelId="{8341717A-4FF9-43F9-ACC8-E3A85A0F90A7}" type="sibTrans" cxnId="{A6A3B1BC-C3F1-481F-807F-950C0F64E341}">
      <dgm:prSet/>
      <dgm:spPr/>
      <dgm:t>
        <a:bodyPr/>
        <a:lstStyle/>
        <a:p>
          <a:endParaRPr lang="ru-RU"/>
        </a:p>
      </dgm:t>
    </dgm:pt>
    <dgm:pt modelId="{A5190691-CD5F-403F-8429-1488988EFA04}">
      <dgm:prSet/>
      <dgm:spPr/>
      <dgm:t>
        <a:bodyPr/>
        <a:lstStyle/>
        <a:p>
          <a:r>
            <a:rPr lang="ru-RU" dirty="0"/>
            <a:t>🔹Когда у студенческой семьи есть маленький ребенок, деканатская комиссия, принимая во внимание ситуацию студента и специфику его образовательной программы, индивидуально </a:t>
          </a:r>
          <a:r>
            <a:rPr lang="ru-RU" b="1" dirty="0"/>
            <a:t>рассматривает возможность гибкого графика</a:t>
          </a:r>
          <a:r>
            <a:rPr lang="ru-RU" dirty="0"/>
            <a:t>.</a:t>
          </a:r>
        </a:p>
      </dgm:t>
    </dgm:pt>
    <dgm:pt modelId="{96C5BC0C-E2FB-4632-9A97-006592FEBD0D}" type="parTrans" cxnId="{92E07D8A-6A16-4501-8990-E564414E0BFB}">
      <dgm:prSet/>
      <dgm:spPr/>
      <dgm:t>
        <a:bodyPr/>
        <a:lstStyle/>
        <a:p>
          <a:endParaRPr lang="ru-RU"/>
        </a:p>
      </dgm:t>
    </dgm:pt>
    <dgm:pt modelId="{4B541AE3-CFB7-426C-BAF9-F153D1B7657E}" type="sibTrans" cxnId="{92E07D8A-6A16-4501-8990-E564414E0BFB}">
      <dgm:prSet/>
      <dgm:spPr/>
      <dgm:t>
        <a:bodyPr/>
        <a:lstStyle/>
        <a:p>
          <a:endParaRPr lang="ru-RU"/>
        </a:p>
      </dgm:t>
    </dgm:pt>
    <dgm:pt modelId="{DDF880A2-179F-4128-867D-8DFDE7FB6185}" type="pres">
      <dgm:prSet presAssocID="{5E674E0D-3A11-4986-9F38-6BE177D7B98D}" presName="linear" presStyleCnt="0">
        <dgm:presLayoutVars>
          <dgm:animLvl val="lvl"/>
          <dgm:resizeHandles val="exact"/>
        </dgm:presLayoutVars>
      </dgm:prSet>
      <dgm:spPr/>
    </dgm:pt>
    <dgm:pt modelId="{00D18F86-F2C5-4243-970E-9FEB9C8A7505}" type="pres">
      <dgm:prSet presAssocID="{835569E0-3B33-4771-9CB9-8F1F8E92C0F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6444489-4714-4124-A8E9-FB6476A5E30F}" type="pres">
      <dgm:prSet presAssocID="{5BE28E2F-6C46-4FCA-BBAC-A3436B760A10}" presName="spacer" presStyleCnt="0"/>
      <dgm:spPr/>
    </dgm:pt>
    <dgm:pt modelId="{CABED76D-C32D-40BB-A805-C4ACD794C1F5}" type="pres">
      <dgm:prSet presAssocID="{099437DB-06B7-425E-B9FD-E9868558AB2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E449E5B-B00F-4380-AA15-603ECD288876}" type="pres">
      <dgm:prSet presAssocID="{8341717A-4FF9-43F9-ACC8-E3A85A0F90A7}" presName="spacer" presStyleCnt="0"/>
      <dgm:spPr/>
    </dgm:pt>
    <dgm:pt modelId="{61012CD9-6563-40D9-836D-C77198826BBA}" type="pres">
      <dgm:prSet presAssocID="{A5190691-CD5F-403F-8429-1488988EFA0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CCB274A-6067-4A18-BD66-4F319A520992}" type="presOf" srcId="{099437DB-06B7-425E-B9FD-E9868558AB26}" destId="{CABED76D-C32D-40BB-A805-C4ACD794C1F5}" srcOrd="0" destOrd="0" presId="urn:microsoft.com/office/officeart/2005/8/layout/vList2"/>
    <dgm:cxn modelId="{0A240051-E5F1-4986-9899-F4BFBCF598DC}" type="presOf" srcId="{835569E0-3B33-4771-9CB9-8F1F8E92C0F5}" destId="{00D18F86-F2C5-4243-970E-9FEB9C8A7505}" srcOrd="0" destOrd="0" presId="urn:microsoft.com/office/officeart/2005/8/layout/vList2"/>
    <dgm:cxn modelId="{92E07D8A-6A16-4501-8990-E564414E0BFB}" srcId="{5E674E0D-3A11-4986-9F38-6BE177D7B98D}" destId="{A5190691-CD5F-403F-8429-1488988EFA04}" srcOrd="2" destOrd="0" parTransId="{96C5BC0C-E2FB-4632-9A97-006592FEBD0D}" sibTransId="{4B541AE3-CFB7-426C-BAF9-F153D1B7657E}"/>
    <dgm:cxn modelId="{A6A3B1BC-C3F1-481F-807F-950C0F64E341}" srcId="{5E674E0D-3A11-4986-9F38-6BE177D7B98D}" destId="{099437DB-06B7-425E-B9FD-E9868558AB26}" srcOrd="1" destOrd="0" parTransId="{4A2527FF-6E5F-4808-A0DB-2DD95335DA51}" sibTransId="{8341717A-4FF9-43F9-ACC8-E3A85A0F90A7}"/>
    <dgm:cxn modelId="{906364CE-B7A5-479A-A280-75C0289B5EC0}" srcId="{5E674E0D-3A11-4986-9F38-6BE177D7B98D}" destId="{835569E0-3B33-4771-9CB9-8F1F8E92C0F5}" srcOrd="0" destOrd="0" parTransId="{AC43A16B-8379-4090-800E-C08199B4F658}" sibTransId="{5BE28E2F-6C46-4FCA-BBAC-A3436B760A10}"/>
    <dgm:cxn modelId="{193423EA-9DD3-4171-9432-7C29277785B3}" type="presOf" srcId="{A5190691-CD5F-403F-8429-1488988EFA04}" destId="{61012CD9-6563-40D9-836D-C77198826BBA}" srcOrd="0" destOrd="0" presId="urn:microsoft.com/office/officeart/2005/8/layout/vList2"/>
    <dgm:cxn modelId="{8743FDFF-5590-40C7-A783-73B6D7AC1C8B}" type="presOf" srcId="{5E674E0D-3A11-4986-9F38-6BE177D7B98D}" destId="{DDF880A2-179F-4128-867D-8DFDE7FB6185}" srcOrd="0" destOrd="0" presId="urn:microsoft.com/office/officeart/2005/8/layout/vList2"/>
    <dgm:cxn modelId="{CD1E31AD-ADA8-46CC-9332-BD8F2426358D}" type="presParOf" srcId="{DDF880A2-179F-4128-867D-8DFDE7FB6185}" destId="{00D18F86-F2C5-4243-970E-9FEB9C8A7505}" srcOrd="0" destOrd="0" presId="urn:microsoft.com/office/officeart/2005/8/layout/vList2"/>
    <dgm:cxn modelId="{70678D3C-C785-44A6-9B1D-A929788AA471}" type="presParOf" srcId="{DDF880A2-179F-4128-867D-8DFDE7FB6185}" destId="{26444489-4714-4124-A8E9-FB6476A5E30F}" srcOrd="1" destOrd="0" presId="urn:microsoft.com/office/officeart/2005/8/layout/vList2"/>
    <dgm:cxn modelId="{04CE06FC-2054-4354-811E-74A19FB9852A}" type="presParOf" srcId="{DDF880A2-179F-4128-867D-8DFDE7FB6185}" destId="{CABED76D-C32D-40BB-A805-C4ACD794C1F5}" srcOrd="2" destOrd="0" presId="urn:microsoft.com/office/officeart/2005/8/layout/vList2"/>
    <dgm:cxn modelId="{BDF1C2A2-9AEE-4270-9073-8804BABF63A6}" type="presParOf" srcId="{DDF880A2-179F-4128-867D-8DFDE7FB6185}" destId="{5E449E5B-B00F-4380-AA15-603ECD288876}" srcOrd="3" destOrd="0" presId="urn:microsoft.com/office/officeart/2005/8/layout/vList2"/>
    <dgm:cxn modelId="{C9768F87-3373-45BC-9860-C17732E5CAB4}" type="presParOf" srcId="{DDF880A2-179F-4128-867D-8DFDE7FB6185}" destId="{61012CD9-6563-40D9-836D-C77198826BB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98EF57-5C78-489F-9BCB-F1F153AC1F3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D4EAD78-4E69-4333-862A-EE686E96C50A}">
      <dgm:prSet phldrT="[Текст]"/>
      <dgm:spPr>
        <a:ln>
          <a:noFill/>
        </a:ln>
      </dgm:spPr>
      <dgm:t>
        <a:bodyPr/>
        <a:lstStyle/>
        <a:p>
          <a:r>
            <a:rPr lang="ru-RU" dirty="0"/>
            <a:t>визуалы</a:t>
          </a:r>
        </a:p>
      </dgm:t>
    </dgm:pt>
    <dgm:pt modelId="{0F104CF6-C8B4-4A19-8255-28053960828A}" type="parTrans" cxnId="{C3E0F962-CA47-4894-B7C9-0F87935AD39F}">
      <dgm:prSet/>
      <dgm:spPr/>
      <dgm:t>
        <a:bodyPr/>
        <a:lstStyle/>
        <a:p>
          <a:endParaRPr lang="ru-RU"/>
        </a:p>
      </dgm:t>
    </dgm:pt>
    <dgm:pt modelId="{2C3315EF-0FA8-471B-A478-57BB8DDB34DA}" type="sibTrans" cxnId="{C3E0F962-CA47-4894-B7C9-0F87935AD39F}">
      <dgm:prSet/>
      <dgm:spPr/>
      <dgm:t>
        <a:bodyPr/>
        <a:lstStyle/>
        <a:p>
          <a:endParaRPr lang="ru-RU"/>
        </a:p>
      </dgm:t>
    </dgm:pt>
    <dgm:pt modelId="{ED8C8CFB-C110-4A5D-9BB4-9E39F09F7E8C}">
      <dgm:prSet phldrT="[Текст]"/>
      <dgm:spPr>
        <a:ln>
          <a:noFill/>
        </a:ln>
      </dgm:spPr>
      <dgm:t>
        <a:bodyPr/>
        <a:lstStyle/>
        <a:p>
          <a:r>
            <a:rPr lang="ru-RU" dirty="0"/>
            <a:t>кинестетики</a:t>
          </a:r>
        </a:p>
      </dgm:t>
    </dgm:pt>
    <dgm:pt modelId="{CEA459AF-6EE1-482F-981D-55D75D59E65B}" type="parTrans" cxnId="{522655A8-0B57-437B-BAE2-861295594AE4}">
      <dgm:prSet/>
      <dgm:spPr/>
      <dgm:t>
        <a:bodyPr/>
        <a:lstStyle/>
        <a:p>
          <a:endParaRPr lang="ru-RU"/>
        </a:p>
      </dgm:t>
    </dgm:pt>
    <dgm:pt modelId="{A2913205-064D-4865-9718-0BC608ABA37A}" type="sibTrans" cxnId="{522655A8-0B57-437B-BAE2-861295594AE4}">
      <dgm:prSet/>
      <dgm:spPr/>
      <dgm:t>
        <a:bodyPr/>
        <a:lstStyle/>
        <a:p>
          <a:endParaRPr lang="ru-RU"/>
        </a:p>
      </dgm:t>
    </dgm:pt>
    <dgm:pt modelId="{3D37BFA8-2787-4DAA-BCAF-2813F4DEDF50}">
      <dgm:prSet phldrT="[Текст]"/>
      <dgm:spPr>
        <a:ln>
          <a:noFill/>
        </a:ln>
      </dgm:spPr>
      <dgm:t>
        <a:bodyPr/>
        <a:lstStyle/>
        <a:p>
          <a:r>
            <a:rPr lang="ru-RU" dirty="0" err="1"/>
            <a:t>аудиалы</a:t>
          </a:r>
          <a:endParaRPr lang="ru-RU" dirty="0"/>
        </a:p>
      </dgm:t>
    </dgm:pt>
    <dgm:pt modelId="{450592DF-B620-4D13-A2DB-6E5B2A0E08F3}" type="parTrans" cxnId="{A8E6869A-4831-4440-97D9-BCC3B56C8D42}">
      <dgm:prSet/>
      <dgm:spPr/>
      <dgm:t>
        <a:bodyPr/>
        <a:lstStyle/>
        <a:p>
          <a:endParaRPr lang="ru-RU"/>
        </a:p>
      </dgm:t>
    </dgm:pt>
    <dgm:pt modelId="{BCECDF3F-1BBC-496E-9D43-60BA8F297437}" type="sibTrans" cxnId="{A8E6869A-4831-4440-97D9-BCC3B56C8D42}">
      <dgm:prSet/>
      <dgm:spPr/>
      <dgm:t>
        <a:bodyPr/>
        <a:lstStyle/>
        <a:p>
          <a:endParaRPr lang="ru-RU"/>
        </a:p>
      </dgm:t>
    </dgm:pt>
    <dgm:pt modelId="{361F0287-DA88-4C1B-A9C1-8B1CBCF41229}" type="pres">
      <dgm:prSet presAssocID="{1798EF57-5C78-489F-9BCB-F1F153AC1F3D}" presName="diagram" presStyleCnt="0">
        <dgm:presLayoutVars>
          <dgm:dir/>
          <dgm:resizeHandles val="exact"/>
        </dgm:presLayoutVars>
      </dgm:prSet>
      <dgm:spPr/>
    </dgm:pt>
    <dgm:pt modelId="{A769DA93-E7E0-437C-8E03-E8E5B532751B}" type="pres">
      <dgm:prSet presAssocID="{BD4EAD78-4E69-4333-862A-EE686E96C50A}" presName="node" presStyleLbl="node1" presStyleIdx="0" presStyleCnt="3" custScaleY="43369">
        <dgm:presLayoutVars>
          <dgm:bulletEnabled val="1"/>
        </dgm:presLayoutVars>
      </dgm:prSet>
      <dgm:spPr/>
    </dgm:pt>
    <dgm:pt modelId="{3A05C86F-EEFB-4857-976C-A383E20A06B0}" type="pres">
      <dgm:prSet presAssocID="{2C3315EF-0FA8-471B-A478-57BB8DDB34DA}" presName="sibTrans" presStyleCnt="0"/>
      <dgm:spPr/>
    </dgm:pt>
    <dgm:pt modelId="{A48A1123-8111-4FBC-9D12-2E0496359BA7}" type="pres">
      <dgm:prSet presAssocID="{3D37BFA8-2787-4DAA-BCAF-2813F4DEDF50}" presName="node" presStyleLbl="node1" presStyleIdx="1" presStyleCnt="3" custScaleY="43369">
        <dgm:presLayoutVars>
          <dgm:bulletEnabled val="1"/>
        </dgm:presLayoutVars>
      </dgm:prSet>
      <dgm:spPr/>
    </dgm:pt>
    <dgm:pt modelId="{7F276528-3BA4-43E0-BB9D-384B705623CF}" type="pres">
      <dgm:prSet presAssocID="{BCECDF3F-1BBC-496E-9D43-60BA8F297437}" presName="sibTrans" presStyleCnt="0"/>
      <dgm:spPr/>
    </dgm:pt>
    <dgm:pt modelId="{C6A1CAF8-6798-44F0-BF81-4B0C6B161BF7}" type="pres">
      <dgm:prSet presAssocID="{ED8C8CFB-C110-4A5D-9BB4-9E39F09F7E8C}" presName="node" presStyleLbl="node1" presStyleIdx="2" presStyleCnt="3" custScaleY="43369">
        <dgm:presLayoutVars>
          <dgm:bulletEnabled val="1"/>
        </dgm:presLayoutVars>
      </dgm:prSet>
      <dgm:spPr/>
    </dgm:pt>
  </dgm:ptLst>
  <dgm:cxnLst>
    <dgm:cxn modelId="{36029E03-65B8-47D2-9EE0-E57F687AE57E}" type="presOf" srcId="{1798EF57-5C78-489F-9BCB-F1F153AC1F3D}" destId="{361F0287-DA88-4C1B-A9C1-8B1CBCF41229}" srcOrd="0" destOrd="0" presId="urn:microsoft.com/office/officeart/2005/8/layout/default"/>
    <dgm:cxn modelId="{1E0B1C22-00A8-4317-BBBA-6A141FB8AA87}" type="presOf" srcId="{BD4EAD78-4E69-4333-862A-EE686E96C50A}" destId="{A769DA93-E7E0-437C-8E03-E8E5B532751B}" srcOrd="0" destOrd="0" presId="urn:microsoft.com/office/officeart/2005/8/layout/default"/>
    <dgm:cxn modelId="{C3E0F962-CA47-4894-B7C9-0F87935AD39F}" srcId="{1798EF57-5C78-489F-9BCB-F1F153AC1F3D}" destId="{BD4EAD78-4E69-4333-862A-EE686E96C50A}" srcOrd="0" destOrd="0" parTransId="{0F104CF6-C8B4-4A19-8255-28053960828A}" sibTransId="{2C3315EF-0FA8-471B-A478-57BB8DDB34DA}"/>
    <dgm:cxn modelId="{A8E6869A-4831-4440-97D9-BCC3B56C8D42}" srcId="{1798EF57-5C78-489F-9BCB-F1F153AC1F3D}" destId="{3D37BFA8-2787-4DAA-BCAF-2813F4DEDF50}" srcOrd="1" destOrd="0" parTransId="{450592DF-B620-4D13-A2DB-6E5B2A0E08F3}" sibTransId="{BCECDF3F-1BBC-496E-9D43-60BA8F297437}"/>
    <dgm:cxn modelId="{522655A8-0B57-437B-BAE2-861295594AE4}" srcId="{1798EF57-5C78-489F-9BCB-F1F153AC1F3D}" destId="{ED8C8CFB-C110-4A5D-9BB4-9E39F09F7E8C}" srcOrd="2" destOrd="0" parTransId="{CEA459AF-6EE1-482F-981D-55D75D59E65B}" sibTransId="{A2913205-064D-4865-9718-0BC608ABA37A}"/>
    <dgm:cxn modelId="{9189FFB1-2C25-4607-91E6-4915C403BBD5}" type="presOf" srcId="{3D37BFA8-2787-4DAA-BCAF-2813F4DEDF50}" destId="{A48A1123-8111-4FBC-9D12-2E0496359BA7}" srcOrd="0" destOrd="0" presId="urn:microsoft.com/office/officeart/2005/8/layout/default"/>
    <dgm:cxn modelId="{FE570AE8-F5A9-404F-90F2-2FA8E17EC939}" type="presOf" srcId="{ED8C8CFB-C110-4A5D-9BB4-9E39F09F7E8C}" destId="{C6A1CAF8-6798-44F0-BF81-4B0C6B161BF7}" srcOrd="0" destOrd="0" presId="urn:microsoft.com/office/officeart/2005/8/layout/default"/>
    <dgm:cxn modelId="{CF47FFDA-41C0-473B-AD90-0565995501C1}" type="presParOf" srcId="{361F0287-DA88-4C1B-A9C1-8B1CBCF41229}" destId="{A769DA93-E7E0-437C-8E03-E8E5B532751B}" srcOrd="0" destOrd="0" presId="urn:microsoft.com/office/officeart/2005/8/layout/default"/>
    <dgm:cxn modelId="{589BE23F-CF06-4F02-BAA1-D70327B2F938}" type="presParOf" srcId="{361F0287-DA88-4C1B-A9C1-8B1CBCF41229}" destId="{3A05C86F-EEFB-4857-976C-A383E20A06B0}" srcOrd="1" destOrd="0" presId="urn:microsoft.com/office/officeart/2005/8/layout/default"/>
    <dgm:cxn modelId="{D977BBCC-0E84-4024-A2BF-F966794E9A05}" type="presParOf" srcId="{361F0287-DA88-4C1B-A9C1-8B1CBCF41229}" destId="{A48A1123-8111-4FBC-9D12-2E0496359BA7}" srcOrd="2" destOrd="0" presId="urn:microsoft.com/office/officeart/2005/8/layout/default"/>
    <dgm:cxn modelId="{C524DCCE-C86C-40D3-855B-531D5432C096}" type="presParOf" srcId="{361F0287-DA88-4C1B-A9C1-8B1CBCF41229}" destId="{7F276528-3BA4-43E0-BB9D-384B705623CF}" srcOrd="3" destOrd="0" presId="urn:microsoft.com/office/officeart/2005/8/layout/default"/>
    <dgm:cxn modelId="{8D07C90F-840D-442A-B44B-A94031D8B01E}" type="presParOf" srcId="{361F0287-DA88-4C1B-A9C1-8B1CBCF41229}" destId="{C6A1CAF8-6798-44F0-BF81-4B0C6B161BF7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D18F86-F2C5-4243-970E-9FEB9C8A7505}">
      <dsp:nvSpPr>
        <dsp:cNvPr id="0" name=""/>
        <dsp:cNvSpPr/>
      </dsp:nvSpPr>
      <dsp:spPr>
        <a:xfrm>
          <a:off x="0" y="198279"/>
          <a:ext cx="5701903" cy="15913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🔹На первом этаже ремонтируемого 1 блока общежития РУДН будет создано </a:t>
          </a:r>
          <a:r>
            <a:rPr lang="ru-RU" sz="1800" b="1" kern="1200" dirty="0"/>
            <a:t>19 уютных комнат и отдельная детская комната</a:t>
          </a:r>
          <a:r>
            <a:rPr lang="ru-RU" sz="1800" kern="1200" dirty="0"/>
            <a:t> специально для размещения молодых семей студентов.</a:t>
          </a:r>
        </a:p>
      </dsp:txBody>
      <dsp:txXfrm>
        <a:off x="77683" y="275962"/>
        <a:ext cx="5546537" cy="1435980"/>
      </dsp:txXfrm>
    </dsp:sp>
    <dsp:sp modelId="{CABED76D-C32D-40BB-A805-C4ACD794C1F5}">
      <dsp:nvSpPr>
        <dsp:cNvPr id="0" name=""/>
        <dsp:cNvSpPr/>
      </dsp:nvSpPr>
      <dsp:spPr>
        <a:xfrm>
          <a:off x="0" y="1841465"/>
          <a:ext cx="5701903" cy="15913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🔹Заявление от студентов о записи ребенка в детский сад обычно требует лишь письма в департамент образования или префектуру, подписанного проректором или ректором. В этом вопросе </a:t>
          </a:r>
          <a:r>
            <a:rPr lang="ru-RU" sz="1800" b="1" kern="1200" dirty="0"/>
            <a:t>РУДН всегда готов помогать студентам</a:t>
          </a:r>
          <a:r>
            <a:rPr lang="ru-RU" sz="1800" kern="1200" dirty="0"/>
            <a:t>.</a:t>
          </a:r>
        </a:p>
      </dsp:txBody>
      <dsp:txXfrm>
        <a:off x="77683" y="1919148"/>
        <a:ext cx="5546537" cy="1435980"/>
      </dsp:txXfrm>
    </dsp:sp>
    <dsp:sp modelId="{61012CD9-6563-40D9-836D-C77198826BBA}">
      <dsp:nvSpPr>
        <dsp:cNvPr id="0" name=""/>
        <dsp:cNvSpPr/>
      </dsp:nvSpPr>
      <dsp:spPr>
        <a:xfrm>
          <a:off x="0" y="3484651"/>
          <a:ext cx="5701903" cy="15913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🔹Когда у студенческой семьи есть маленький ребенок, деканатская комиссия, принимая во внимание ситуацию студента и специфику его образовательной программы, индивидуально </a:t>
          </a:r>
          <a:r>
            <a:rPr lang="ru-RU" sz="1800" b="1" kern="1200" dirty="0"/>
            <a:t>рассматривает возможность гибкого графика</a:t>
          </a:r>
          <a:r>
            <a:rPr lang="ru-RU" sz="1800" kern="1200" dirty="0"/>
            <a:t>.</a:t>
          </a:r>
        </a:p>
      </dsp:txBody>
      <dsp:txXfrm>
        <a:off x="77683" y="3562334"/>
        <a:ext cx="5546537" cy="14359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69DA93-E7E0-437C-8E03-E8E5B532751B}">
      <dsp:nvSpPr>
        <dsp:cNvPr id="0" name=""/>
        <dsp:cNvSpPr/>
      </dsp:nvSpPr>
      <dsp:spPr>
        <a:xfrm>
          <a:off x="9201" y="743"/>
          <a:ext cx="3674788" cy="9562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400" kern="1200" dirty="0"/>
            <a:t>визуалы</a:t>
          </a:r>
        </a:p>
      </dsp:txBody>
      <dsp:txXfrm>
        <a:off x="9201" y="743"/>
        <a:ext cx="3674788" cy="956231"/>
      </dsp:txXfrm>
    </dsp:sp>
    <dsp:sp modelId="{A48A1123-8111-4FBC-9D12-2E0496359BA7}">
      <dsp:nvSpPr>
        <dsp:cNvPr id="0" name=""/>
        <dsp:cNvSpPr/>
      </dsp:nvSpPr>
      <dsp:spPr>
        <a:xfrm>
          <a:off x="4051468" y="743"/>
          <a:ext cx="3674788" cy="9562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400" kern="1200" dirty="0" err="1"/>
            <a:t>аудиалы</a:t>
          </a:r>
          <a:endParaRPr lang="ru-RU" sz="4400" kern="1200" dirty="0"/>
        </a:p>
      </dsp:txBody>
      <dsp:txXfrm>
        <a:off x="4051468" y="743"/>
        <a:ext cx="3674788" cy="956231"/>
      </dsp:txXfrm>
    </dsp:sp>
    <dsp:sp modelId="{C6A1CAF8-6798-44F0-BF81-4B0C6B161BF7}">
      <dsp:nvSpPr>
        <dsp:cNvPr id="0" name=""/>
        <dsp:cNvSpPr/>
      </dsp:nvSpPr>
      <dsp:spPr>
        <a:xfrm>
          <a:off x="8093736" y="743"/>
          <a:ext cx="3674788" cy="9562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400" kern="1200" dirty="0"/>
            <a:t>кинестетики</a:t>
          </a:r>
        </a:p>
      </dsp:txBody>
      <dsp:txXfrm>
        <a:off x="8093736" y="743"/>
        <a:ext cx="3674788" cy="9562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08DC9-48E3-4ABC-BE58-6854D059098B}" type="datetimeFigureOut">
              <a:rPr lang="ru-RU" smtClean="0"/>
              <a:t>23.09.2025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4FA6E8-849D-47CC-BFE3-7A530CFB6D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438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AE7F45-22C0-3755-4876-27C3A4FD9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898CB2-11BF-5143-5B99-39109A55C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E6FBF9-EAB2-A676-AB16-AA9310EC3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93059-A4B1-4F89-9A5E-D6BA2A7223C0}" type="datetime1">
              <a:rPr lang="ru-RU" smtClean="0"/>
              <a:t>23.09.2025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47C384-706B-4752-1FD4-83A1FEB00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E5DF13-632D-DFC3-8275-1E8C73C21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6845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098566-D971-33E9-8DF3-0036EA418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6FD9A0-D1FD-E6B4-6BD2-28B2D270F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41F12B-7E09-57FB-EB1E-385BA3319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47D49-FE97-4534-9399-61FA1DFE3A15}" type="datetime1">
              <a:rPr lang="ru-RU" smtClean="0"/>
              <a:t>23.09.2025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BBEF9A-026E-BB46-2736-B3A171F6A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3A777A-395A-1F6A-4745-650CB2197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7871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20DB0B-38CB-B7B6-19DD-B6BDEF4C3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6827E8A-645E-1582-FA5F-DC961A975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CFCC63-71EA-0937-AFAF-565691384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3BE77-0092-407F-9C3A-DAE1798E31BD}" type="datetime1">
              <a:rPr lang="ru-RU" smtClean="0"/>
              <a:t>23.09.2025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0E5CD9-3E16-4518-5027-E3A0E2409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DA5688-A25E-6FF8-0C6E-95A857B9F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4661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741FAE-8BEA-7920-602E-953C3DAA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3D5004-FE55-D18C-DBB3-09C34F9AAD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42ED678-78EB-8806-D0F2-2729082B6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24ACA8-8C91-BEA4-F5BF-59AD0C026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4C5D4-DB31-479A-83AA-9B0D78097B6E}" type="datetime1">
              <a:rPr lang="ru-RU" smtClean="0"/>
              <a:t>23.09.2025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AB578CD-1F47-45FC-67BC-510D1BFC1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4B34A73-08E3-64FB-8675-8FB11630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7699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052592-FE17-3F4A-53F4-E741EE093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99846D-70C3-1BC8-1E5F-B0FB170EF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79C27FC-D4D5-453E-97DB-F5F458954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174B9D7-7DEF-806E-06DC-46D8AEFF3E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F9A4598-F89F-129E-5695-03D42FF1FD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A1F9239-0756-9A7C-E85F-ADE894209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D6A3B-929D-4387-89DA-6D3C4C08F32D}" type="datetime1">
              <a:rPr lang="ru-RU" smtClean="0"/>
              <a:t>23.09.2025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808823F-DFB2-C50E-820F-5059C6637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1C5CEF5-0D11-2D10-AE6C-64A890AB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979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D2F36E-65F1-FEC9-0FF7-634EEE142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0AB1B1C-B95E-329C-C548-5C467B9D4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CFE3B-DA61-414E-979B-332CE4636471}" type="datetime1">
              <a:rPr lang="ru-RU" smtClean="0"/>
              <a:t>23.09.2025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2509588-C7A1-2BE6-561E-14A050B91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5156672-23AF-C582-FE21-0F33C1B2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0662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49D71F6-4BE9-7E1B-2903-499D02FE5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4D89-3FC7-49D3-B79F-205D84AB5CDF}" type="datetime1">
              <a:rPr lang="ru-RU" smtClean="0"/>
              <a:t>23.09.2025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4987A46-8CDB-298D-1113-5B479AE42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0B1345-4B76-6412-CB2E-BA7B16F45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891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A15DEA-388D-4977-E6B7-E598ACA31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5E70B0-5D25-6257-DFEC-07D64ABE2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090997D-B080-181A-48C9-C927D8055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ECCC85-A963-0848-B0E9-FDABE9A35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632BB-88F6-4460-991F-1645A534CF4B}" type="datetime1">
              <a:rPr lang="ru-RU" smtClean="0"/>
              <a:t>23.09.2025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11ED01-45FE-F34D-5134-9F38C1F0B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70FC121-51F9-83CD-FA70-51DE15B61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6258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728D05-6A82-F6B8-6DAF-169F620DD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B6A8E66-8047-3546-1AA4-D05A556D9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D12A6AC-B33B-0820-2ADE-BF2B523A6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36B7B4-A4C8-49C1-02A7-26FA3B8CF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D564D-C6CA-4D7F-8D0B-86900A4693DC}" type="datetime1">
              <a:rPr lang="ru-RU" smtClean="0"/>
              <a:t>23.09.2025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F3F352-1F38-D066-0AD3-8A41637BC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3AA7A0-82E9-9AE9-6FEB-27980E11A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6081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6B9492-6ADA-8A50-410F-D0CDFFEE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568F4F3-2256-1B6E-25D1-623B771355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E1122D-A8F8-0D37-A51D-6D4A65492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2CAB7-1EBC-4BF7-830D-3BEBBCFEDEE8}" type="datetime1">
              <a:rPr lang="ru-RU" smtClean="0"/>
              <a:t>23.09.2025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72637C-0929-6EFC-17A2-A095DA12A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7DB81C-B0BC-E666-920B-777529FC7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810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DE4B259-8597-372C-8F33-AB52C73DE5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1592995-794D-A29D-A96B-2C15C2682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8DA033-8ABD-5656-C140-0D703123B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1A71-4F18-4FA3-94C7-F6E1F4AC2105}" type="datetime1">
              <a:rPr lang="ru-RU" smtClean="0"/>
              <a:t>23.09.2025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C36A27-1D8D-3463-3887-AC09B8489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50BE79-CA70-6D5C-F7BB-580211061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1731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ED0978-A11D-8D7D-C2F1-0B4CA24C2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683307-6209-7D9D-2CAC-7DDFBF114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1AB120-01F3-5632-03FD-D7B43C8B2B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5F4285-8F88-4F6B-8DBD-84D36D194500}" type="datetime1">
              <a:rPr lang="ru-RU" smtClean="0"/>
              <a:t>23.09.2025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B4C7C4-E408-BADE-1F27-131C777DA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D58696-7E0C-E070-8156-B50F1F43D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860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2.jpg"/><Relationship Id="rId7" Type="http://schemas.openxmlformats.org/officeDocument/2006/relationships/diagramColors" Target="../diagrams/colors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gif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image" Target="../media/image21.jpeg"/><Relationship Id="rId7" Type="http://schemas.microsoft.com/office/2007/relationships/hdphoto" Target="../media/hdphoto1.wdp"/><Relationship Id="rId12" Type="http://schemas.microsoft.com/office/2007/relationships/diagramDrawing" Target="../diagrams/drawing2.xm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diagramColors" Target="../diagrams/colors2.xml"/><Relationship Id="rId5" Type="http://schemas.openxmlformats.org/officeDocument/2006/relationships/image" Target="../media/image2.png"/><Relationship Id="rId10" Type="http://schemas.openxmlformats.org/officeDocument/2006/relationships/diagramQuickStyle" Target="../diagrams/quickStyle2.xml"/><Relationship Id="rId4" Type="http://schemas.openxmlformats.org/officeDocument/2006/relationships/image" Target="../media/image22.jpeg"/><Relationship Id="rId9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omnistat@yandex.r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jpe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5E58A496-DC50-34BC-D120-15D4A0577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0855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77D5133-CE8C-ED37-CF85-1DCB1A3C7E6E}"/>
              </a:ext>
            </a:extLst>
          </p:cNvPr>
          <p:cNvSpPr/>
          <p:nvPr/>
        </p:nvSpPr>
        <p:spPr>
          <a:xfrm>
            <a:off x="0" y="3651"/>
            <a:ext cx="6096000" cy="6854349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700" b="1" dirty="0"/>
              <a:t>Заключительная </a:t>
            </a:r>
            <a:br>
              <a:rPr lang="ru-RU" sz="3700" b="1" dirty="0"/>
            </a:br>
            <a:r>
              <a:rPr lang="ru-RU" sz="3700" b="1" dirty="0"/>
              <a:t>лекция</a:t>
            </a:r>
          </a:p>
        </p:txBody>
      </p:sp>
      <p:sp>
        <p:nvSpPr>
          <p:cNvPr id="8" name="Объект 11">
            <a:extLst>
              <a:ext uri="{FF2B5EF4-FFF2-40B4-BE49-F238E27FC236}">
                <a16:creationId xmlns:a16="http://schemas.microsoft.com/office/drawing/2014/main" id="{DC36ACB2-ABB9-04E6-5DCC-8A048EAF2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0"/>
            <a:ext cx="6096000" cy="6858000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/>
          <a:lstStyle/>
          <a:p>
            <a:pPr marL="0" indent="0">
              <a:buNone/>
            </a:pPr>
            <a:r>
              <a:rPr lang="ru-RU" sz="3700" b="1" dirty="0">
                <a:solidFill>
                  <a:schemeClr val="bg1"/>
                </a:solidFill>
              </a:rPr>
              <a:t>Как быть успешным?</a:t>
            </a:r>
            <a:endParaRPr lang="en-US" sz="3700" b="1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ru-RU" sz="3700" dirty="0">
                <a:solidFill>
                  <a:schemeClr val="bg1"/>
                </a:solidFill>
              </a:rPr>
              <a:t>Время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700" dirty="0">
                <a:solidFill>
                  <a:schemeClr val="bg1"/>
                </a:solidFill>
              </a:rPr>
              <a:t>Цели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700" dirty="0">
                <a:solidFill>
                  <a:schemeClr val="bg1"/>
                </a:solidFill>
              </a:rPr>
              <a:t>Работа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700" dirty="0">
                <a:solidFill>
                  <a:schemeClr val="bg1"/>
                </a:solidFill>
              </a:rPr>
              <a:t>Развитие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562C7C0-DFFD-6207-957E-66333535AF0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155AFE7-FC64-5B4D-5099-4FD3E4BC3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4762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44B00-C1BA-5EE8-C2B0-1EF6487FC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F1D770A-9567-EF6A-EAE8-434AAE145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25562"/>
            <a:ext cx="12192000" cy="553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8F692B6-1F65-BD27-6A63-FBFABE417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Нейросети – путь к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деградации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53A6C22B-BEA3-BF34-7006-DE451EC7285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DB4F4D-BE3B-7E9D-C96E-EE72C02C6897}"/>
              </a:ext>
            </a:extLst>
          </p:cNvPr>
          <p:cNvSpPr txBox="1"/>
          <p:nvPr/>
        </p:nvSpPr>
        <p:spPr>
          <a:xfrm>
            <a:off x="1021644" y="3186734"/>
            <a:ext cx="5164667" cy="1477328"/>
          </a:xfrm>
          <a:prstGeom prst="rect">
            <a:avLst/>
          </a:prstGeom>
          <a:solidFill>
            <a:schemeClr val="bg1">
              <a:alpha val="61000"/>
            </a:schemeClr>
          </a:solidFill>
        </p:spPr>
        <p:txBody>
          <a:bodyPr wrap="square">
            <a:spAutoFit/>
          </a:bodyPr>
          <a:lstStyle/>
          <a:p>
            <a:pPr marL="717550"/>
            <a:r>
              <a:rPr lang="ru-RU" dirty="0"/>
              <a:t>Люди говорят о системах вроде ChatGPT, которые ничего не понимают и ничего не знают. Вот почему я называю эти системы генераторами бреда</a:t>
            </a:r>
          </a:p>
          <a:p>
            <a:pPr marL="717550"/>
            <a:r>
              <a:rPr lang="ru-RU" b="0" i="1" dirty="0">
                <a:solidFill>
                  <a:srgbClr val="333333"/>
                </a:solidFill>
                <a:effectLst/>
                <a:latin typeface="Fira Sans" panose="020B0503050000020004" pitchFamily="34" charset="0"/>
              </a:rPr>
              <a:t>Ричард </a:t>
            </a:r>
            <a:r>
              <a:rPr lang="ru-RU" b="0" i="1" dirty="0" err="1">
                <a:solidFill>
                  <a:srgbClr val="333333"/>
                </a:solidFill>
                <a:effectLst/>
                <a:latin typeface="Fira Sans" panose="020B0503050000020004" pitchFamily="34" charset="0"/>
              </a:rPr>
              <a:t>Столлман</a:t>
            </a:r>
            <a:endParaRPr lang="ru-RU" b="0" i="1" dirty="0">
              <a:solidFill>
                <a:srgbClr val="333333"/>
              </a:solidFill>
              <a:effectLst/>
              <a:latin typeface="Fira Sans" panose="020B05030500000200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996C548-059C-74B0-CDB4-B8C03D992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95" y="3200158"/>
            <a:ext cx="1428750" cy="1428750"/>
          </a:xfrm>
          <a:prstGeom prst="ellipse">
            <a:avLst/>
          </a:prstGeom>
          <a:noFill/>
          <a:ln w="28575">
            <a:solidFill>
              <a:srgbClr val="2E309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0CD91C2-FB25-9ADD-0DCD-879A803D08B2}"/>
              </a:ext>
            </a:extLst>
          </p:cNvPr>
          <p:cNvSpPr txBox="1"/>
          <p:nvPr/>
        </p:nvSpPr>
        <p:spPr>
          <a:xfrm>
            <a:off x="1371778" y="1555406"/>
            <a:ext cx="4814533" cy="1200329"/>
          </a:xfrm>
          <a:prstGeom prst="rect">
            <a:avLst/>
          </a:prstGeom>
          <a:solidFill>
            <a:schemeClr val="bg1">
              <a:alpha val="61000"/>
            </a:schemeClr>
          </a:solidFill>
        </p:spPr>
        <p:txBody>
          <a:bodyPr wrap="square">
            <a:spAutoFit/>
          </a:bodyPr>
          <a:lstStyle/>
          <a:p>
            <a:pPr marL="361950"/>
            <a:r>
              <a:rPr lang="ru-RU" dirty="0"/>
              <a:t>ИИ - это программное обеспечение, и точка. Как программное обеспечение, он получает числа и возвращает числа.</a:t>
            </a:r>
          </a:p>
          <a:p>
            <a:pPr marL="361950"/>
            <a:r>
              <a:rPr lang="ru-RU" i="1" dirty="0"/>
              <a:t>Дино Эспозито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862909BE-C966-3ED3-CE02-15C9E4645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95" y="1422872"/>
            <a:ext cx="1428750" cy="1428750"/>
          </a:xfrm>
          <a:prstGeom prst="ellipse">
            <a:avLst/>
          </a:prstGeom>
          <a:noFill/>
          <a:ln w="28575">
            <a:solidFill>
              <a:srgbClr val="2E309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E089CE5-6CB1-621B-F7CF-22D709A2559F}"/>
              </a:ext>
            </a:extLst>
          </p:cNvPr>
          <p:cNvSpPr txBox="1"/>
          <p:nvPr/>
        </p:nvSpPr>
        <p:spPr>
          <a:xfrm>
            <a:off x="1371778" y="5023160"/>
            <a:ext cx="4814533" cy="1200329"/>
          </a:xfrm>
          <a:prstGeom prst="rect">
            <a:avLst/>
          </a:prstGeom>
          <a:solidFill>
            <a:schemeClr val="bg1">
              <a:alpha val="61000"/>
            </a:schemeClr>
          </a:solidFill>
        </p:spPr>
        <p:txBody>
          <a:bodyPr wrap="square">
            <a:spAutoFit/>
          </a:bodyPr>
          <a:lstStyle/>
          <a:p>
            <a:pPr marL="361950"/>
            <a:r>
              <a:rPr lang="ru-RU" dirty="0"/>
              <a:t>Что-нибудь новое, инновационное, свежее – я не думаю, что AI в ближайшие 50 лет будет способен выдать</a:t>
            </a:r>
          </a:p>
          <a:p>
            <a:pPr marL="361950"/>
            <a:r>
              <a:rPr lang="ru-RU" i="1" dirty="0"/>
              <a:t>Алексей Пажитнов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109878A4-D78F-A440-74DF-885D44D09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95" y="4908912"/>
            <a:ext cx="1428750" cy="1428750"/>
          </a:xfrm>
          <a:prstGeom prst="ellipse">
            <a:avLst/>
          </a:prstGeom>
          <a:noFill/>
          <a:ln w="28575">
            <a:solidFill>
              <a:srgbClr val="2E309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8869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5CE52-CDED-75E1-FB14-CBD57C6EF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4BCCC46-BDD6-0C6B-A16E-5C1337DF8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Делать то, что говорят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старшие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3849A22-14C2-E060-7C37-4F061C46A68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732909-8697-AE27-C778-363120F11A3B}"/>
              </a:ext>
            </a:extLst>
          </p:cNvPr>
          <p:cNvSpPr txBox="1"/>
          <p:nvPr/>
        </p:nvSpPr>
        <p:spPr>
          <a:xfrm>
            <a:off x="6053774" y="2455711"/>
            <a:ext cx="5363596" cy="2962513"/>
          </a:xfrm>
          <a:prstGeom prst="wedgeRoundRectCallout">
            <a:avLst>
              <a:gd name="adj1" fmla="val -79149"/>
              <a:gd name="adj2" fmla="val 44240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sz="2800" dirty="0"/>
              <a:t>Если хочешь быть умным, научись разумно </a:t>
            </a:r>
            <a:r>
              <a:rPr lang="ru-RU" sz="2800" b="1" dirty="0"/>
              <a:t>спрашивать</a:t>
            </a:r>
            <a:r>
              <a:rPr lang="ru-RU" sz="2800" dirty="0"/>
              <a:t>, внимательно </a:t>
            </a:r>
            <a:r>
              <a:rPr lang="ru-RU" sz="2800" b="1" dirty="0"/>
              <a:t>слушать</a:t>
            </a:r>
            <a:r>
              <a:rPr lang="ru-RU" sz="2800" dirty="0"/>
              <a:t>, спокойно </a:t>
            </a:r>
            <a:r>
              <a:rPr lang="ru-RU" sz="2800" b="1" dirty="0"/>
              <a:t>отвечать</a:t>
            </a:r>
            <a:r>
              <a:rPr lang="ru-RU" sz="2800" dirty="0"/>
              <a:t> и </a:t>
            </a:r>
            <a:r>
              <a:rPr lang="ru-RU" sz="2800" b="1" dirty="0"/>
              <a:t>переставать говорить</a:t>
            </a:r>
            <a:r>
              <a:rPr lang="ru-RU" sz="2800" dirty="0"/>
              <a:t>, когда нечего больше сказать.</a:t>
            </a:r>
          </a:p>
        </p:txBody>
      </p:sp>
      <p:pic>
        <p:nvPicPr>
          <p:cNvPr id="12292" name="Picture 4">
            <a:extLst>
              <a:ext uri="{FF2B5EF4-FFF2-40B4-BE49-F238E27FC236}">
                <a16:creationId xmlns:a16="http://schemas.microsoft.com/office/drawing/2014/main" id="{45FF6218-7B64-D4BA-D62C-21A6EFC6F9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72" r="16095"/>
          <a:stretch/>
        </p:blipFill>
        <p:spPr bwMode="auto">
          <a:xfrm>
            <a:off x="303116" y="1409489"/>
            <a:ext cx="4506325" cy="5262641"/>
          </a:xfrm>
          <a:prstGeom prst="rect">
            <a:avLst/>
          </a:prstGeom>
          <a:noFill/>
          <a:effectLst>
            <a:softEdge rad="190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168E5F3-21FE-F4E4-5502-F742C2FD2007}"/>
              </a:ext>
            </a:extLst>
          </p:cNvPr>
          <p:cNvSpPr txBox="1"/>
          <p:nvPr/>
        </p:nvSpPr>
        <p:spPr>
          <a:xfrm>
            <a:off x="-442884" y="6487464"/>
            <a:ext cx="6102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Лев Николаевич Толстой</a:t>
            </a:r>
          </a:p>
        </p:txBody>
      </p:sp>
    </p:spTree>
    <p:extLst>
      <p:ext uri="{BB962C8B-B14F-4D97-AF65-F5344CB8AC3E}">
        <p14:creationId xmlns:p14="http://schemas.microsoft.com/office/powerpoint/2010/main" val="4065644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2DABA-3358-155B-5A8E-6CF111CD5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0" name="Picture 6">
            <a:extLst>
              <a:ext uri="{FF2B5EF4-FFF2-40B4-BE49-F238E27FC236}">
                <a16:creationId xmlns:a16="http://schemas.microsoft.com/office/drawing/2014/main" id="{97B47CEF-34FA-3080-8A3E-B8CC697ECE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16" r="8104"/>
          <a:stretch/>
        </p:blipFill>
        <p:spPr bwMode="auto">
          <a:xfrm>
            <a:off x="0" y="1302320"/>
            <a:ext cx="5339444" cy="5555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66EDA242-2869-4694-CFF4-7D130BC7A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Талант </a:t>
            </a:r>
            <a:r>
              <a:rPr lang="fr-FR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Трудолюбие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06532405-6155-5AFD-E84F-579CE159A8D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11266" name="Picture 2" descr="Picture background">
            <a:extLst>
              <a:ext uri="{FF2B5EF4-FFF2-40B4-BE49-F238E27FC236}">
                <a16:creationId xmlns:a16="http://schemas.microsoft.com/office/drawing/2014/main" id="{53D1A962-C6ED-5BDA-65F2-8BE9F4A290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83"/>
          <a:stretch/>
        </p:blipFill>
        <p:spPr bwMode="auto">
          <a:xfrm>
            <a:off x="5605168" y="1725692"/>
            <a:ext cx="6134092" cy="4541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38CD2AF-57D2-8F80-1400-A86F1CD290D7}"/>
              </a:ext>
            </a:extLst>
          </p:cNvPr>
          <p:cNvSpPr txBox="1"/>
          <p:nvPr/>
        </p:nvSpPr>
        <p:spPr>
          <a:xfrm>
            <a:off x="-71438" y="1914526"/>
            <a:ext cx="21193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</a:rPr>
              <a:t>Талант</a:t>
            </a:r>
            <a:endParaRPr lang="ru-RU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541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4FC0C-6AC5-68D6-AA6A-E2B0CA507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8AA9FA45-32E0-7D58-7EE7-6C44BC9CB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Молодость заканчивается в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 лет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B4554EE-A91B-5FE2-C475-EAB7173D54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3074" name="Picture 2" descr="Живи пока молодой Юмор, Картинка с текстом, Старость, После 30, Грустный юмор, 30 лет, Мемы, Организм, Старение">
            <a:extLst>
              <a:ext uri="{FF2B5EF4-FFF2-40B4-BE49-F238E27FC236}">
                <a16:creationId xmlns:a16="http://schemas.microsoft.com/office/drawing/2014/main" id="{32A7B0B0-8ADB-4E54-0CAD-77AF07292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5533" y="1325480"/>
            <a:ext cx="5797550" cy="5532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Живи пока молодой Юмор, Картинка с текстом, Старость, После 30, Грустный юмор, 30 лет, Мемы, Организм, Старение">
            <a:extLst>
              <a:ext uri="{FF2B5EF4-FFF2-40B4-BE49-F238E27FC236}">
                <a16:creationId xmlns:a16="http://schemas.microsoft.com/office/drawing/2014/main" id="{B516EED6-982B-E1ED-CC4B-589D9A0B7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65" y="1325480"/>
            <a:ext cx="5501003" cy="5532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9735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B84FF-E4FF-EDD3-919C-EC3AFD569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6D932469-01F5-6DFB-FAAC-A5B84CB07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Молодая (</a:t>
            </a:r>
            <a:r>
              <a:rPr lang="ru-RU" sz="37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студенческая</a:t>
            </a:r>
            <a:r>
              <a:rPr lang="ru-RU" sz="37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семья</a:t>
            </a:r>
            <a:endParaRPr lang="ru-RU" sz="37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E0B1DF28-D353-1674-2DF7-58CD59E23F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7" name="Рисунок 6" descr="Изображение выглядит как человек, костюм, одежда, в помещении&#10;&#10;Автоматически созданное описание">
            <a:extLst>
              <a:ext uri="{FF2B5EF4-FFF2-40B4-BE49-F238E27FC236}">
                <a16:creationId xmlns:a16="http://schemas.microsoft.com/office/drawing/2014/main" id="{39E87380-9C94-3325-A64A-AC154F1E1D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62" r="4535"/>
          <a:stretch/>
        </p:blipFill>
        <p:spPr>
          <a:xfrm>
            <a:off x="0" y="1325563"/>
            <a:ext cx="6229350" cy="5532437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AD18D12-4A83-F1BE-85C3-85FE63253691}"/>
              </a:ext>
            </a:extLst>
          </p:cNvPr>
          <p:cNvSpPr txBox="1"/>
          <p:nvPr/>
        </p:nvSpPr>
        <p:spPr>
          <a:xfrm>
            <a:off x="0" y="1325563"/>
            <a:ext cx="6229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Ректор РУДН </a:t>
            </a:r>
            <a:r>
              <a:rPr lang="ru-RU" b="1" dirty="0">
                <a:solidFill>
                  <a:srgbClr val="0070C0"/>
                </a:solidFill>
              </a:rPr>
              <a:t>Олег Александрович Ястребов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0744CB-45D8-E096-E3EE-C3B2BF05EB15}"/>
              </a:ext>
            </a:extLst>
          </p:cNvPr>
          <p:cNvSpPr txBox="1"/>
          <p:nvPr/>
        </p:nvSpPr>
        <p:spPr>
          <a:xfrm>
            <a:off x="2968228" y="1866296"/>
            <a:ext cx="3218260" cy="2860358"/>
          </a:xfrm>
          <a:prstGeom prst="wedgeRoundRectCallout">
            <a:avLst>
              <a:gd name="adj1" fmla="val -65376"/>
              <a:gd name="adj2" fmla="val 9386"/>
              <a:gd name="adj3" fmla="val 16667"/>
            </a:avLst>
          </a:prstGeom>
          <a:solidFill>
            <a:schemeClr val="lt1">
              <a:alpha val="69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dirty="0"/>
              <a:t>«Наличие маленького ребенка точно дает возможность просить </a:t>
            </a:r>
            <a:r>
              <a:rPr lang="ru-RU" b="1" dirty="0" err="1"/>
              <a:t>бóльшую</a:t>
            </a:r>
            <a:r>
              <a:rPr lang="ru-RU" b="1" dirty="0"/>
              <a:t> гибкость</a:t>
            </a:r>
            <a:r>
              <a:rPr lang="ru-RU" dirty="0"/>
              <a:t> в образовательном процессе. Уверен, что и деканы, и деканатские комиссии всегда будут это учитывать».</a:t>
            </a:r>
          </a:p>
        </p:txBody>
      </p:sp>
      <p:graphicFrame>
        <p:nvGraphicFramePr>
          <p:cNvPr id="20" name="Схема 19">
            <a:extLst>
              <a:ext uri="{FF2B5EF4-FFF2-40B4-BE49-F238E27FC236}">
                <a16:creationId xmlns:a16="http://schemas.microsoft.com/office/drawing/2014/main" id="{F1064458-75D2-0D6E-7729-C85A0986D9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2944542"/>
              </p:ext>
            </p:extLst>
          </p:nvPr>
        </p:nvGraphicFramePr>
        <p:xfrm>
          <a:off x="6303764" y="1414463"/>
          <a:ext cx="5701903" cy="527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277718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FEF93-D383-17E1-B8A7-E6382599B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2" name="Picture 4">
            <a:extLst>
              <a:ext uri="{FF2B5EF4-FFF2-40B4-BE49-F238E27FC236}">
                <a16:creationId xmlns:a16="http://schemas.microsoft.com/office/drawing/2014/main" id="{2B7ED266-D6EF-1EF5-663D-E9F5269A70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78"/>
          <a:stretch/>
        </p:blipFill>
        <p:spPr bwMode="auto">
          <a:xfrm>
            <a:off x="4914388" y="2022878"/>
            <a:ext cx="7277612" cy="3996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0" name="Picture 2">
            <a:extLst>
              <a:ext uri="{FF2B5EF4-FFF2-40B4-BE49-F238E27FC236}">
                <a16:creationId xmlns:a16="http://schemas.microsoft.com/office/drawing/2014/main" id="{2E18E36F-2352-D165-37E3-1D697997FD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46" r="21475"/>
          <a:stretch/>
        </p:blipFill>
        <p:spPr bwMode="auto">
          <a:xfrm>
            <a:off x="0" y="1325563"/>
            <a:ext cx="5245573" cy="5531233"/>
          </a:xfrm>
          <a:prstGeom prst="rect">
            <a:avLst/>
          </a:prstGeom>
          <a:noFill/>
          <a:effectLst>
            <a:softEdge rad="127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611E8B16-1644-F333-87BA-1994BDC6C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Долгосрочная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27400A15-EE0F-2E3D-F85E-94601ED5C3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A6080A-8632-1B6F-A197-B1517C60546E}"/>
              </a:ext>
            </a:extLst>
          </p:cNvPr>
          <p:cNvSpPr txBox="1"/>
          <p:nvPr/>
        </p:nvSpPr>
        <p:spPr>
          <a:xfrm>
            <a:off x="3695565" y="1444977"/>
            <a:ext cx="3141026" cy="2962513"/>
          </a:xfrm>
          <a:prstGeom prst="wedgeRoundRectCallout">
            <a:avLst>
              <a:gd name="adj1" fmla="val -79149"/>
              <a:gd name="adj2" fmla="val 44240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sz="2800" dirty="0"/>
              <a:t>«Дисциплина — это не ограничение свободы. Это </a:t>
            </a:r>
            <a:r>
              <a:rPr lang="ru-RU" sz="2800" b="1" dirty="0"/>
              <a:t>отсечение всего лишнего</a:t>
            </a:r>
            <a:r>
              <a:rPr lang="ru-RU" sz="2800" dirty="0"/>
              <a:t>»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4DB13F-FE4D-DE65-8457-9F82AA4BD114}"/>
              </a:ext>
            </a:extLst>
          </p:cNvPr>
          <p:cNvSpPr txBox="1"/>
          <p:nvPr/>
        </p:nvSpPr>
        <p:spPr>
          <a:xfrm>
            <a:off x="-471107" y="5733053"/>
            <a:ext cx="6102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Брюс Ли</a:t>
            </a:r>
          </a:p>
        </p:txBody>
      </p:sp>
    </p:spTree>
    <p:extLst>
      <p:ext uri="{BB962C8B-B14F-4D97-AF65-F5344CB8AC3E}">
        <p14:creationId xmlns:p14="http://schemas.microsoft.com/office/powerpoint/2010/main" val="3265914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EC1E54-049B-CE57-C8F5-844C5F0FC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>
            <a:extLst>
              <a:ext uri="{FF2B5EF4-FFF2-40B4-BE49-F238E27FC236}">
                <a16:creationId xmlns:a16="http://schemas.microsoft.com/office/drawing/2014/main" id="{66A67C4C-C0F2-2FD6-3AAB-656DD6B8C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60838"/>
            <a:ext cx="9417177" cy="5297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C8FA6A2E-0C2C-6012-AB78-DEBC33335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Помнить о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смерти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2D4E6581-7EC8-39CB-F924-8395882068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70D26D-C3E0-BA39-899E-AD778E5EE637}"/>
              </a:ext>
            </a:extLst>
          </p:cNvPr>
          <p:cNvSpPr txBox="1"/>
          <p:nvPr/>
        </p:nvSpPr>
        <p:spPr>
          <a:xfrm>
            <a:off x="4787899" y="2186106"/>
            <a:ext cx="2899834" cy="2485787"/>
          </a:xfrm>
          <a:prstGeom prst="wedgeRoundRectCallout">
            <a:avLst>
              <a:gd name="adj1" fmla="val -87207"/>
              <a:gd name="adj2" fmla="val 25532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sz="2800" dirty="0"/>
              <a:t>«Ваше </a:t>
            </a:r>
            <a:r>
              <a:rPr lang="ru-RU" sz="2800" b="1" dirty="0"/>
              <a:t>время</a:t>
            </a:r>
            <a:r>
              <a:rPr lang="ru-RU" sz="2800" dirty="0"/>
              <a:t> </a:t>
            </a:r>
            <a:r>
              <a:rPr lang="ru-RU" sz="2800" b="1" dirty="0"/>
              <a:t>ограничено</a:t>
            </a:r>
            <a:r>
              <a:rPr lang="ru-RU" sz="2800" dirty="0"/>
              <a:t>, не тратьте его, живя чужой жизнью»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7508FC-F793-38BD-9DAC-5E7CC77E96BB}"/>
              </a:ext>
            </a:extLst>
          </p:cNvPr>
          <p:cNvSpPr txBox="1"/>
          <p:nvPr/>
        </p:nvSpPr>
        <p:spPr>
          <a:xfrm>
            <a:off x="-837996" y="6286208"/>
            <a:ext cx="6102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Стив Джобс</a:t>
            </a:r>
          </a:p>
        </p:txBody>
      </p:sp>
      <p:pic>
        <p:nvPicPr>
          <p:cNvPr id="18436" name="Picture 4" descr="Picture background">
            <a:extLst>
              <a:ext uri="{FF2B5EF4-FFF2-40B4-BE49-F238E27FC236}">
                <a16:creationId xmlns:a16="http://schemas.microsoft.com/office/drawing/2014/main" id="{92360EF5-A6AF-9BD2-4DB1-DD11497856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60" t="35450" r="26198" b="47619"/>
          <a:stretch/>
        </p:blipFill>
        <p:spPr bwMode="auto">
          <a:xfrm>
            <a:off x="7687733" y="2269067"/>
            <a:ext cx="3872089" cy="722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8" name="Picture 6" descr="Picture background">
            <a:extLst>
              <a:ext uri="{FF2B5EF4-FFF2-40B4-BE49-F238E27FC236}">
                <a16:creationId xmlns:a16="http://schemas.microsoft.com/office/drawing/2014/main" id="{EA5CF523-7523-35D5-1AD7-C0EF8FEA4B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58" t="6297" r="20124" b="8337"/>
          <a:stretch/>
        </p:blipFill>
        <p:spPr bwMode="auto">
          <a:xfrm>
            <a:off x="8636000" y="3235363"/>
            <a:ext cx="2441693" cy="2374608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967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B468C-665F-70A6-B082-DE7CAA712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8A1D554C-84BD-90AD-D98C-81C70FD58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Берегите честь и трудовую книжку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смолоду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78973FF0-1B38-416F-FE5A-9DBB73454D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9218" name="Picture 2" descr="Picture background">
            <a:extLst>
              <a:ext uri="{FF2B5EF4-FFF2-40B4-BE49-F238E27FC236}">
                <a16:creationId xmlns:a16="http://schemas.microsoft.com/office/drawing/2014/main" id="{17FE44D2-CA28-1412-5CF5-EF0C769F62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08" r="-5508"/>
          <a:stretch/>
        </p:blipFill>
        <p:spPr bwMode="auto">
          <a:xfrm>
            <a:off x="0" y="1325562"/>
            <a:ext cx="8301217" cy="5532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Picture background">
            <a:extLst>
              <a:ext uri="{FF2B5EF4-FFF2-40B4-BE49-F238E27FC236}">
                <a16:creationId xmlns:a16="http://schemas.microsoft.com/office/drawing/2014/main" id="{A9F58EBE-5940-E952-EA0A-AD784B100F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37"/>
          <a:stretch/>
        </p:blipFill>
        <p:spPr bwMode="auto">
          <a:xfrm>
            <a:off x="7530412" y="1325561"/>
            <a:ext cx="4661588" cy="553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1102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87D71-F6EA-F858-89B2-B6B2048C2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4" name="Picture 8" descr="Picture background">
            <a:extLst>
              <a:ext uri="{FF2B5EF4-FFF2-40B4-BE49-F238E27FC236}">
                <a16:creationId xmlns:a16="http://schemas.microsoft.com/office/drawing/2014/main" id="{44B99F9B-4E5E-6591-18F7-19CE6453F4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67" r="32060" b="7294"/>
          <a:stretch/>
        </p:blipFill>
        <p:spPr bwMode="auto">
          <a:xfrm>
            <a:off x="8271935" y="2447323"/>
            <a:ext cx="3674532" cy="3962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2" name="Picture 6">
            <a:extLst>
              <a:ext uri="{FF2B5EF4-FFF2-40B4-BE49-F238E27FC236}">
                <a16:creationId xmlns:a16="http://schemas.microsoft.com/office/drawing/2014/main" id="{E25D2B0A-B738-55F5-EA4F-9BD90D9E5E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22" r="11934"/>
          <a:stretch/>
        </p:blipFill>
        <p:spPr bwMode="auto">
          <a:xfrm>
            <a:off x="177801" y="2551793"/>
            <a:ext cx="3674532" cy="3828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>
            <a:extLst>
              <a:ext uri="{FF2B5EF4-FFF2-40B4-BE49-F238E27FC236}">
                <a16:creationId xmlns:a16="http://schemas.microsoft.com/office/drawing/2014/main" id="{8025E01E-9DDF-2A2C-6779-E44D28637E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91" r="32655" b="19647"/>
          <a:stretch/>
        </p:blipFill>
        <p:spPr bwMode="auto">
          <a:xfrm>
            <a:off x="4224868" y="2125735"/>
            <a:ext cx="3674532" cy="425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B5BA7A-D90E-958B-9BE1-9D0CEA711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10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C114E116-E789-853C-12B6-849ADF80E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Влияние</a:t>
            </a: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окружающих</a:t>
            </a:r>
            <a:endParaRPr lang="ru-RU" sz="37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AD431BBB-7A88-4CA3-C590-359DF6A53BA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19458" name="Picture 2" descr="Picture background">
            <a:extLst>
              <a:ext uri="{FF2B5EF4-FFF2-40B4-BE49-F238E27FC236}">
                <a16:creationId xmlns:a16="http://schemas.microsoft.com/office/drawing/2014/main" id="{C0065630-EE8B-A524-628D-EF792E9305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705" b="89030" l="1159" r="96358">
                        <a14:foregroundMark x1="8444" y1="72996" x2="8444" y2="72996"/>
                        <a14:foregroundMark x1="4967" y1="65401" x2="5132" y2="44304"/>
                        <a14:foregroundMark x1="5132" y1="44304" x2="5960" y2="42616"/>
                        <a14:foregroundMark x1="6954" y1="57806" x2="15728" y2="58228"/>
                        <a14:foregroundMark x1="15728" y1="58228" x2="29967" y2="56118"/>
                        <a14:foregroundMark x1="29967" y1="56118" x2="28974" y2="55274"/>
                        <a14:foregroundMark x1="21523" y1="53165" x2="8940" y2="45148"/>
                        <a14:foregroundMark x1="8940" y1="45148" x2="5464" y2="48945"/>
                        <a14:foregroundMark x1="46026" y1="78903" x2="54801" y2="45992"/>
                        <a14:foregroundMark x1="54801" y1="45992" x2="56954" y2="25738"/>
                        <a14:foregroundMark x1="56954" y1="25738" x2="45861" y2="24473"/>
                        <a14:foregroundMark x1="45861" y1="24473" x2="45033" y2="32068"/>
                        <a14:foregroundMark x1="48675" y1="43882" x2="48510" y2="67511"/>
                        <a14:foregroundMark x1="48510" y1="67511" x2="46854" y2="75527"/>
                        <a14:foregroundMark x1="45695" y1="80169" x2="46192" y2="27426"/>
                        <a14:foregroundMark x1="89570" y1="40506" x2="82781" y2="70042"/>
                        <a14:foregroundMark x1="83609" y1="81013" x2="79967" y2="52743"/>
                        <a14:foregroundMark x1="79967" y1="52743" x2="77815" y2="45570"/>
                        <a14:foregroundMark x1="81623" y1="42616" x2="79801" y2="38819"/>
                        <a14:foregroundMark x1="84272" y1="39662" x2="85265" y2="26582"/>
                        <a14:foregroundMark x1="87086" y1="69198" x2="91391" y2="57806"/>
                        <a14:foregroundMark x1="94371" y1="52321" x2="96358" y2="51899"/>
                        <a14:foregroundMark x1="1159" y1="55274" x2="1159" y2="5527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63687"/>
          <a:stretch/>
        </p:blipFill>
        <p:spPr bwMode="auto">
          <a:xfrm>
            <a:off x="1076622" y="4152296"/>
            <a:ext cx="2089150" cy="225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Picture background">
            <a:extLst>
              <a:ext uri="{FF2B5EF4-FFF2-40B4-BE49-F238E27FC236}">
                <a16:creationId xmlns:a16="http://schemas.microsoft.com/office/drawing/2014/main" id="{81A34B2A-1CF2-84FA-C848-BE84D8A42B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705" b="89030" l="1159" r="96358">
                        <a14:foregroundMark x1="8444" y1="72996" x2="8444" y2="72996"/>
                        <a14:foregroundMark x1="4967" y1="65401" x2="5132" y2="44304"/>
                        <a14:foregroundMark x1="5132" y1="44304" x2="5960" y2="42616"/>
                        <a14:foregroundMark x1="6954" y1="57806" x2="15728" y2="58228"/>
                        <a14:foregroundMark x1="15728" y1="58228" x2="29967" y2="56118"/>
                        <a14:foregroundMark x1="29967" y1="56118" x2="28974" y2="55274"/>
                        <a14:foregroundMark x1="21523" y1="53165" x2="8940" y2="45148"/>
                        <a14:foregroundMark x1="8940" y1="45148" x2="5464" y2="48945"/>
                        <a14:foregroundMark x1="46026" y1="78903" x2="54801" y2="45992"/>
                        <a14:foregroundMark x1="54801" y1="45992" x2="56954" y2="25738"/>
                        <a14:foregroundMark x1="56954" y1="25738" x2="45861" y2="24473"/>
                        <a14:foregroundMark x1="45861" y1="24473" x2="45033" y2="32068"/>
                        <a14:foregroundMark x1="48675" y1="43882" x2="48510" y2="67511"/>
                        <a14:foregroundMark x1="48510" y1="67511" x2="46854" y2="75527"/>
                        <a14:foregroundMark x1="45695" y1="80169" x2="46192" y2="27426"/>
                        <a14:foregroundMark x1="89570" y1="40506" x2="82781" y2="70042"/>
                        <a14:foregroundMark x1="83609" y1="81013" x2="79967" y2="52743"/>
                        <a14:foregroundMark x1="79967" y1="52743" x2="77815" y2="45570"/>
                        <a14:foregroundMark x1="81623" y1="42616" x2="79801" y2="38819"/>
                        <a14:foregroundMark x1="84272" y1="39662" x2="85265" y2="26582"/>
                        <a14:foregroundMark x1="87086" y1="69198" x2="91391" y2="57806"/>
                        <a14:foregroundMark x1="94371" y1="52321" x2="96358" y2="51899"/>
                        <a14:foregroundMark x1="1159" y1="55274" x2="1159" y2="5527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701" r="29986"/>
          <a:stretch/>
        </p:blipFill>
        <p:spPr bwMode="auto">
          <a:xfrm>
            <a:off x="5123689" y="4231672"/>
            <a:ext cx="2089150" cy="225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>
            <a:extLst>
              <a:ext uri="{FF2B5EF4-FFF2-40B4-BE49-F238E27FC236}">
                <a16:creationId xmlns:a16="http://schemas.microsoft.com/office/drawing/2014/main" id="{2DCEEBB3-5F10-DE0F-185E-0F788EB465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705" b="89030" l="1159" r="96358">
                        <a14:foregroundMark x1="8444" y1="72996" x2="8444" y2="72996"/>
                        <a14:foregroundMark x1="4967" y1="65401" x2="5132" y2="44304"/>
                        <a14:foregroundMark x1="5132" y1="44304" x2="5960" y2="42616"/>
                        <a14:foregroundMark x1="6954" y1="57806" x2="15728" y2="58228"/>
                        <a14:foregroundMark x1="15728" y1="58228" x2="29967" y2="56118"/>
                        <a14:foregroundMark x1="29967" y1="56118" x2="28974" y2="55274"/>
                        <a14:foregroundMark x1="21523" y1="53165" x2="8940" y2="45148"/>
                        <a14:foregroundMark x1="8940" y1="45148" x2="5464" y2="48945"/>
                        <a14:foregroundMark x1="46026" y1="78903" x2="54801" y2="45992"/>
                        <a14:foregroundMark x1="54801" y1="45992" x2="56954" y2="25738"/>
                        <a14:foregroundMark x1="56954" y1="25738" x2="45861" y2="24473"/>
                        <a14:foregroundMark x1="45861" y1="24473" x2="45033" y2="32068"/>
                        <a14:foregroundMark x1="48675" y1="43882" x2="48510" y2="67511"/>
                        <a14:foregroundMark x1="48510" y1="67511" x2="46854" y2="75527"/>
                        <a14:foregroundMark x1="45695" y1="80169" x2="46192" y2="27426"/>
                        <a14:foregroundMark x1="89570" y1="40506" x2="82781" y2="70042"/>
                        <a14:foregroundMark x1="83609" y1="81013" x2="79967" y2="52743"/>
                        <a14:foregroundMark x1="79967" y1="52743" x2="77815" y2="45570"/>
                        <a14:foregroundMark x1="81623" y1="42616" x2="79801" y2="38819"/>
                        <a14:foregroundMark x1="84272" y1="39662" x2="85265" y2="26582"/>
                        <a14:foregroundMark x1="87086" y1="69198" x2="91391" y2="57806"/>
                        <a14:foregroundMark x1="94371" y1="52321" x2="96358" y2="51899"/>
                        <a14:foregroundMark x1="1159" y1="55274" x2="1159" y2="5527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5813" r="-2126"/>
          <a:stretch/>
        </p:blipFill>
        <p:spPr bwMode="auto">
          <a:xfrm>
            <a:off x="9170756" y="4231671"/>
            <a:ext cx="2089150" cy="225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Схема 9">
            <a:extLst>
              <a:ext uri="{FF2B5EF4-FFF2-40B4-BE49-F238E27FC236}">
                <a16:creationId xmlns:a16="http://schemas.microsoft.com/office/drawing/2014/main" id="{21B373B5-B225-8DF3-35BE-7C386CAF44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1198326"/>
              </p:ext>
            </p:extLst>
          </p:nvPr>
        </p:nvGraphicFramePr>
        <p:xfrm>
          <a:off x="177801" y="1497615"/>
          <a:ext cx="11777726" cy="957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4275852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0A0F7-7ADD-0616-F339-F12EF0256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2" name="Picture 10" descr="Picture background">
            <a:extLst>
              <a:ext uri="{FF2B5EF4-FFF2-40B4-BE49-F238E27FC236}">
                <a16:creationId xmlns:a16="http://schemas.microsoft.com/office/drawing/2014/main" id="{A795B4B6-8134-C299-35C0-C03DFB0EC8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71" r="27939"/>
          <a:stretch/>
        </p:blipFill>
        <p:spPr bwMode="auto">
          <a:xfrm>
            <a:off x="3079896" y="1311572"/>
            <a:ext cx="3134735" cy="5549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Picture background">
            <a:extLst>
              <a:ext uri="{FF2B5EF4-FFF2-40B4-BE49-F238E27FC236}">
                <a16:creationId xmlns:a16="http://schemas.microsoft.com/office/drawing/2014/main" id="{12546A8D-C330-AE23-CCF9-01F113754D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35" r="30830"/>
          <a:stretch/>
        </p:blipFill>
        <p:spPr bwMode="auto">
          <a:xfrm>
            <a:off x="-9474" y="1328424"/>
            <a:ext cx="3089370" cy="5532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Picture background">
            <a:extLst>
              <a:ext uri="{FF2B5EF4-FFF2-40B4-BE49-F238E27FC236}">
                <a16:creationId xmlns:a16="http://schemas.microsoft.com/office/drawing/2014/main" id="{9EC72B6B-A93C-94C3-E424-FBC800EDB1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85" t="-104" r="18846" b="31632"/>
          <a:stretch/>
        </p:blipFill>
        <p:spPr bwMode="auto">
          <a:xfrm>
            <a:off x="6214631" y="1311572"/>
            <a:ext cx="2894039" cy="5549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icture background">
            <a:extLst>
              <a:ext uri="{FF2B5EF4-FFF2-40B4-BE49-F238E27FC236}">
                <a16:creationId xmlns:a16="http://schemas.microsoft.com/office/drawing/2014/main" id="{D1139D57-576E-FED1-1F89-2CC568DDBA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40" t="152" r="13427" b="-152"/>
          <a:stretch/>
        </p:blipFill>
        <p:spPr bwMode="auto">
          <a:xfrm>
            <a:off x="9080878" y="1328424"/>
            <a:ext cx="3134735" cy="5540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AC75139-E49F-CD4C-D491-4E9356067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11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6C0EE85B-3C95-F242-C25A-948754D82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Внешний вид: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одежда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8BDC4B05-2832-EB9A-E0FB-3448039C5BA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8896F9-65E4-9DD6-75EE-7726EB3A0357}"/>
              </a:ext>
            </a:extLst>
          </p:cNvPr>
          <p:cNvSpPr txBox="1"/>
          <p:nvPr/>
        </p:nvSpPr>
        <p:spPr>
          <a:xfrm>
            <a:off x="1887279" y="3429000"/>
            <a:ext cx="10328335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900" b="1" i="0" dirty="0">
                <a:solidFill>
                  <a:srgbClr val="00B050"/>
                </a:solidFill>
                <a:effectLst/>
                <a:latin typeface="YS Text"/>
              </a:rPr>
              <a:t>✔</a:t>
            </a:r>
            <a:r>
              <a:rPr lang="ru-RU" sz="23900" b="1" i="0" dirty="0">
                <a:solidFill>
                  <a:srgbClr val="00B050"/>
                </a:solidFill>
                <a:effectLst/>
                <a:latin typeface="YS Text"/>
              </a:rPr>
              <a:t>     </a:t>
            </a:r>
            <a:r>
              <a:rPr lang="en-US" sz="23900" b="1" i="0" dirty="0">
                <a:solidFill>
                  <a:srgbClr val="FF0000"/>
                </a:solidFill>
                <a:effectLst/>
                <a:latin typeface="YS Text"/>
              </a:rPr>
              <a:t>✖</a:t>
            </a:r>
            <a:endParaRPr lang="en-US" sz="239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281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B738-896A-88BA-B502-EC8630197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255CFA7F-0546-50ED-6FB6-9D8D1E495B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055" r="8356"/>
          <a:stretch/>
        </p:blipFill>
        <p:spPr bwMode="auto">
          <a:xfrm>
            <a:off x="3056281" y="1329275"/>
            <a:ext cx="3039718" cy="5533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29ADADE-4AAF-7593-775A-DF7680994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12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2E83E62-2AA5-BF30-1CFD-2D8042D98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Внешний вид: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ухоженность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753BA054-062E-F152-0CD5-ACDE28163A9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20774EC3-079A-7792-789A-6F594CD95D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61" t="510" r="24227" b="-510"/>
          <a:stretch/>
        </p:blipFill>
        <p:spPr bwMode="auto">
          <a:xfrm>
            <a:off x="9175898" y="1337957"/>
            <a:ext cx="3039717" cy="5548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7D263260-CDA6-CFFC-D6C4-6F2AA4DB4D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99" t="581" r="38639" b="-581"/>
          <a:stretch/>
        </p:blipFill>
        <p:spPr bwMode="auto">
          <a:xfrm>
            <a:off x="1" y="1337957"/>
            <a:ext cx="3079898" cy="5555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icture background">
            <a:extLst>
              <a:ext uri="{FF2B5EF4-FFF2-40B4-BE49-F238E27FC236}">
                <a16:creationId xmlns:a16="http://schemas.microsoft.com/office/drawing/2014/main" id="{15088373-A209-A4FA-0771-CDBD2F11C3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93" r="6899"/>
          <a:stretch/>
        </p:blipFill>
        <p:spPr bwMode="auto">
          <a:xfrm>
            <a:off x="6096000" y="1333988"/>
            <a:ext cx="3079898" cy="5524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09247D-B5B5-E821-70BD-B055B91B9C31}"/>
              </a:ext>
            </a:extLst>
          </p:cNvPr>
          <p:cNvSpPr txBox="1"/>
          <p:nvPr/>
        </p:nvSpPr>
        <p:spPr>
          <a:xfrm>
            <a:off x="1887279" y="3429000"/>
            <a:ext cx="10328335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900" b="1" i="0" dirty="0">
                <a:solidFill>
                  <a:srgbClr val="00B050"/>
                </a:solidFill>
                <a:effectLst/>
                <a:latin typeface="YS Text"/>
              </a:rPr>
              <a:t>✔</a:t>
            </a:r>
            <a:r>
              <a:rPr lang="ru-RU" sz="23900" b="1" i="0" dirty="0">
                <a:solidFill>
                  <a:srgbClr val="00B050"/>
                </a:solidFill>
                <a:effectLst/>
                <a:latin typeface="YS Text"/>
              </a:rPr>
              <a:t>     </a:t>
            </a:r>
            <a:r>
              <a:rPr lang="en-US" sz="23900" b="1" i="0" dirty="0">
                <a:solidFill>
                  <a:srgbClr val="FF0000"/>
                </a:solidFill>
                <a:effectLst/>
                <a:latin typeface="YS Text"/>
              </a:rPr>
              <a:t>✖</a:t>
            </a:r>
            <a:endParaRPr lang="en-US" sz="239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6295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7AF9-8770-BB3B-6E41-236E6C30C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>
            <a:extLst>
              <a:ext uri="{FF2B5EF4-FFF2-40B4-BE49-F238E27FC236}">
                <a16:creationId xmlns:a16="http://schemas.microsoft.com/office/drawing/2014/main" id="{03EA6010-A3F2-5F37-B564-47FF9166CE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53" b="444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EA8A18-19EF-0A91-8673-BA3484F10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13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66A5B210-5715-EA7E-1243-3AFE87A90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Внешний вид: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образец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4B7E25D0-B3B1-10AD-9841-224E9FBA8CB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397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3E7CE9-685F-C2A4-4DCA-7A34F195B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14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D838CC-6AC7-0965-0C16-EB70404D4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Деловая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переписка</a:t>
            </a:r>
          </a:p>
        </p:txBody>
      </p:sp>
      <p:pic>
        <p:nvPicPr>
          <p:cNvPr id="6" name="Рисунок 5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E4DBD73D-5BA3-37D2-F46C-E3CF23E0367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F6A131-EA49-7489-E11E-1845AE25AA4B}"/>
              </a:ext>
            </a:extLst>
          </p:cNvPr>
          <p:cNvSpPr txBox="1"/>
          <p:nvPr/>
        </p:nvSpPr>
        <p:spPr>
          <a:xfrm>
            <a:off x="127178" y="1500118"/>
            <a:ext cx="543649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Здравствуйте! Вот наш готовый вариант. Посмотрите пожалуйста, очень хотим получить обратную связь.</a:t>
            </a:r>
          </a:p>
          <a:p>
            <a:pPr algn="l"/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Также мы хотим защитить курсовую досрочно.</a:t>
            </a:r>
            <a:br>
              <a:rPr lang="ru-RU" b="0" i="0" dirty="0">
                <a:solidFill>
                  <a:srgbClr val="1A1A1A"/>
                </a:solidFill>
                <a:effectLst/>
                <a:latin typeface="YS Text"/>
              </a:rPr>
            </a:br>
            <a:br>
              <a:rPr lang="ru-RU" b="0" i="0" dirty="0">
                <a:solidFill>
                  <a:srgbClr val="1A1A1A"/>
                </a:solidFill>
                <a:effectLst/>
                <a:latin typeface="YS Text"/>
              </a:rPr>
            </a:b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--</a:t>
            </a:r>
            <a:br>
              <a:rPr lang="ru-RU" b="0" i="0" dirty="0">
                <a:solidFill>
                  <a:srgbClr val="1A1A1A"/>
                </a:solidFill>
                <a:effectLst/>
                <a:latin typeface="YS Text"/>
              </a:rPr>
            </a:b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Отправлено из мобильной Яндекс Почты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92EBF3-7136-61DA-9C40-F947EEA36F65}"/>
              </a:ext>
            </a:extLst>
          </p:cNvPr>
          <p:cNvSpPr txBox="1"/>
          <p:nvPr/>
        </p:nvSpPr>
        <p:spPr>
          <a:xfrm>
            <a:off x="1432904" y="3254444"/>
            <a:ext cx="9326191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900" b="1" i="0" dirty="0">
                <a:solidFill>
                  <a:srgbClr val="FF0000"/>
                </a:solidFill>
                <a:effectLst/>
                <a:latin typeface="YS Text"/>
              </a:rPr>
              <a:t>✖</a:t>
            </a:r>
            <a:r>
              <a:rPr lang="ru-RU" sz="23900" b="1" i="0" dirty="0">
                <a:solidFill>
                  <a:srgbClr val="FF0000"/>
                </a:solidFill>
                <a:effectLst/>
                <a:latin typeface="YS Text"/>
              </a:rPr>
              <a:t>      </a:t>
            </a:r>
            <a:r>
              <a:rPr lang="en-US" sz="23900" b="1" dirty="0">
                <a:solidFill>
                  <a:srgbClr val="00B050"/>
                </a:solidFill>
                <a:latin typeface="YS Text"/>
              </a:rPr>
              <a:t>✔</a:t>
            </a:r>
            <a:endParaRPr lang="en-US" sz="23900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EDF71E-561D-D797-CDCF-7A0AB85059DA}"/>
              </a:ext>
            </a:extLst>
          </p:cNvPr>
          <p:cNvSpPr txBox="1"/>
          <p:nvPr/>
        </p:nvSpPr>
        <p:spPr>
          <a:xfrm>
            <a:off x="5725197" y="2632279"/>
            <a:ext cx="633962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times new roman, times"/>
              </a:rPr>
              <a:t>-- </a:t>
            </a:r>
            <a:endParaRPr lang="ru-RU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times new roman, times"/>
              </a:rPr>
              <a:t>С уважением, Ситковский Арсений Михайлович</a:t>
            </a:r>
            <a:endParaRPr lang="ru-RU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младший научный сотрудник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ИСЯМКиМ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РУДН,</a:t>
            </a:r>
            <a:endParaRPr lang="ru-RU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ассистент кафедры государственного и муниципального управления ФГСН РУДН,</a:t>
            </a:r>
            <a:endParaRPr lang="ru-RU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times new roman, times"/>
              </a:rPr>
              <a:t>✉ 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hlinkClick r:id="rId3"/>
              </a:rPr>
              <a:t>sitkovskiy_am@pfur.ru</a:t>
            </a:r>
            <a:b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ru-RU" b="0" i="0" dirty="0">
                <a:solidFill>
                  <a:srgbClr val="000000"/>
                </a:solidFill>
                <a:effectLst/>
                <a:latin typeface="ms mincho" panose="02020609040205080304" pitchFamily="49" charset="-128"/>
                <a:ea typeface="ms mincho" panose="02020609040205080304" pitchFamily="49" charset="-128"/>
              </a:rPr>
              <a:t>✆</a:t>
            </a:r>
            <a:r>
              <a:rPr lang="ru-RU" sz="115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+7(999)585-98-87</a:t>
            </a:r>
            <a:endParaRPr lang="ru-RU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550E6D-158A-E163-1D61-F2C9D0A52E48}"/>
              </a:ext>
            </a:extLst>
          </p:cNvPr>
          <p:cNvSpPr txBox="1"/>
          <p:nvPr/>
        </p:nvSpPr>
        <p:spPr>
          <a:xfrm>
            <a:off x="5725197" y="1465966"/>
            <a:ext cx="63396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Добрый день, Арсений Михайлович!</a:t>
            </a:r>
          </a:p>
          <a:p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Текст </a:t>
            </a:r>
            <a:r>
              <a:rPr lang="ru-RU" b="0" i="0" dirty="0" err="1">
                <a:solidFill>
                  <a:srgbClr val="1A1A1A"/>
                </a:solidFill>
                <a:effectLst/>
                <a:latin typeface="ys text"/>
              </a:rPr>
              <a:t>текст</a:t>
            </a: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 </a:t>
            </a:r>
            <a:r>
              <a:rPr lang="ru-RU" b="0" i="0" dirty="0" err="1">
                <a:solidFill>
                  <a:srgbClr val="1A1A1A"/>
                </a:solidFill>
                <a:effectLst/>
                <a:latin typeface="ys text"/>
              </a:rPr>
              <a:t>текст</a:t>
            </a: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 </a:t>
            </a:r>
            <a:r>
              <a:rPr lang="ru-RU" b="0" i="0" dirty="0" err="1">
                <a:solidFill>
                  <a:srgbClr val="1A1A1A"/>
                </a:solidFill>
                <a:effectLst/>
                <a:latin typeface="ys text"/>
              </a:rPr>
              <a:t>тексттекст</a:t>
            </a: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 текст  </a:t>
            </a:r>
            <a:r>
              <a:rPr lang="ru-RU" b="0" i="0" dirty="0" err="1">
                <a:solidFill>
                  <a:srgbClr val="1A1A1A"/>
                </a:solidFill>
                <a:effectLst/>
                <a:latin typeface="ys text"/>
              </a:rPr>
              <a:t>тексттекст</a:t>
            </a: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 текст  </a:t>
            </a:r>
            <a:r>
              <a:rPr lang="ru-RU" b="0" i="0" dirty="0" err="1">
                <a:solidFill>
                  <a:srgbClr val="1A1A1A"/>
                </a:solidFill>
                <a:effectLst/>
                <a:latin typeface="ys text"/>
              </a:rPr>
              <a:t>текст</a:t>
            </a:r>
            <a:endParaRPr lang="ru-RU" b="0" i="0" dirty="0">
              <a:solidFill>
                <a:srgbClr val="1A1A1A"/>
              </a:solidFill>
              <a:effectLst/>
              <a:latin typeface="ys text"/>
            </a:endParaRPr>
          </a:p>
          <a:p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текст </a:t>
            </a:r>
            <a:r>
              <a:rPr lang="ru-RU" b="0" i="0" dirty="0" err="1">
                <a:solidFill>
                  <a:srgbClr val="1A1A1A"/>
                </a:solidFill>
                <a:effectLst/>
                <a:latin typeface="ys text"/>
              </a:rPr>
              <a:t>текст</a:t>
            </a: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  </a:t>
            </a:r>
            <a:r>
              <a:rPr lang="ru-RU" b="0" i="0" dirty="0" err="1">
                <a:solidFill>
                  <a:srgbClr val="1A1A1A"/>
                </a:solidFill>
                <a:effectLst/>
                <a:latin typeface="ys text"/>
              </a:rPr>
              <a:t>тексттекст</a:t>
            </a: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 текст  </a:t>
            </a:r>
            <a:r>
              <a:rPr lang="ru-RU" b="0" i="0" dirty="0" err="1">
                <a:solidFill>
                  <a:srgbClr val="1A1A1A"/>
                </a:solidFill>
                <a:effectLst/>
                <a:latin typeface="ys text"/>
              </a:rPr>
              <a:t>тексттекст</a:t>
            </a: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 текст  </a:t>
            </a:r>
            <a:r>
              <a:rPr lang="ru-RU" b="0" i="0" dirty="0" err="1">
                <a:solidFill>
                  <a:srgbClr val="1A1A1A"/>
                </a:solidFill>
                <a:effectLst/>
                <a:latin typeface="ys text"/>
              </a:rPr>
              <a:t>тексттекст</a:t>
            </a: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 текст  </a:t>
            </a:r>
            <a:r>
              <a:rPr lang="ru-RU" b="0" i="0" dirty="0" err="1">
                <a:solidFill>
                  <a:srgbClr val="1A1A1A"/>
                </a:solidFill>
                <a:effectLst/>
                <a:latin typeface="ys text"/>
              </a:rPr>
              <a:t>тексттекст</a:t>
            </a:r>
            <a:r>
              <a:rPr lang="ru-RU" b="0" i="0" dirty="0">
                <a:solidFill>
                  <a:srgbClr val="1A1A1A"/>
                </a:solidFill>
                <a:effectLst/>
                <a:latin typeface="ys text"/>
              </a:rPr>
              <a:t> текст  </a:t>
            </a:r>
            <a:r>
              <a:rPr lang="ru-RU" b="0" i="0" dirty="0" err="1">
                <a:solidFill>
                  <a:srgbClr val="1A1A1A"/>
                </a:solidFill>
                <a:effectLst/>
                <a:latin typeface="ys text"/>
              </a:rPr>
              <a:t>текст</a:t>
            </a:r>
            <a:endParaRPr lang="ru-RU" b="0" i="0" dirty="0">
              <a:solidFill>
                <a:srgbClr val="1A1A1A"/>
              </a:solidFill>
              <a:effectLst/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2918288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65D49-D175-C8F0-63F1-0485006F7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Picture background">
            <a:extLst>
              <a:ext uri="{FF2B5EF4-FFF2-40B4-BE49-F238E27FC236}">
                <a16:creationId xmlns:a16="http://schemas.microsoft.com/office/drawing/2014/main" id="{E3DF01DE-8745-A802-9D43-576DABBD1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95338"/>
            <a:ext cx="12192000" cy="618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89F2DFD3-732D-E901-9F5F-FE41B6914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Мероприятия и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связи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08DD5478-1475-5FE8-3612-7F00D9097B2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E0EB41-3FD8-FDE9-904B-E5611D78B61E}"/>
              </a:ext>
            </a:extLst>
          </p:cNvPr>
          <p:cNvSpPr txBox="1"/>
          <p:nvPr/>
        </p:nvSpPr>
        <p:spPr>
          <a:xfrm>
            <a:off x="211667" y="1518656"/>
            <a:ext cx="4267200" cy="2972276"/>
          </a:xfrm>
          <a:prstGeom prst="verticalScroll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sz="3200" dirty="0"/>
              <a:t>«80% успеха — это появиться в нужном месте в нужное время» </a:t>
            </a:r>
          </a:p>
          <a:p>
            <a:pPr algn="ctr"/>
            <a:r>
              <a:rPr lang="ru-RU" sz="2400" i="1" dirty="0"/>
              <a:t>Вуди Аллен</a:t>
            </a:r>
            <a:endParaRPr lang="ru-RU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23942D-6354-9E6B-F03F-BA0875ED8C75}"/>
              </a:ext>
            </a:extLst>
          </p:cNvPr>
          <p:cNvSpPr txBox="1"/>
          <p:nvPr/>
        </p:nvSpPr>
        <p:spPr>
          <a:xfrm>
            <a:off x="6981913" y="3429000"/>
            <a:ext cx="4998420" cy="2972276"/>
          </a:xfrm>
          <a:prstGeom prst="verticalScroll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sz="3200" dirty="0"/>
              <a:t>«Главная валюта сегодняшнего дня — это люди, которые вам доверяют» </a:t>
            </a:r>
          </a:p>
          <a:p>
            <a:pPr algn="ctr"/>
            <a:r>
              <a:rPr lang="ru-RU" sz="2400" i="1" dirty="0"/>
              <a:t>Алексей Бабушкин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104680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80677-19BC-56B3-DC34-EDA87966F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4" descr="Picture background">
            <a:extLst>
              <a:ext uri="{FF2B5EF4-FFF2-40B4-BE49-F238E27FC236}">
                <a16:creationId xmlns:a16="http://schemas.microsoft.com/office/drawing/2014/main" id="{FBDAA0E2-4D9A-A30C-D9D9-F6A9F657E8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27" r="1427"/>
          <a:stretch/>
        </p:blipFill>
        <p:spPr bwMode="auto">
          <a:xfrm>
            <a:off x="3885774" y="1320515"/>
            <a:ext cx="8306225" cy="5537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10BAA954-7772-7FDB-B25B-F09FA4BFE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Бесплатная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работа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0D575D42-70C8-AB9F-22EF-E28699AB89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15362" name="Picture 2" descr="Picture background">
            <a:extLst>
              <a:ext uri="{FF2B5EF4-FFF2-40B4-BE49-F238E27FC236}">
                <a16:creationId xmlns:a16="http://schemas.microsoft.com/office/drawing/2014/main" id="{79D60FEA-8C65-C0A0-39F4-7D962B03BB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20516"/>
            <a:ext cx="4588933" cy="5537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0100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94B6D-175D-499C-72FB-E8D4E4720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6" name="Picture 6" descr="Picture background">
            <a:extLst>
              <a:ext uri="{FF2B5EF4-FFF2-40B4-BE49-F238E27FC236}">
                <a16:creationId xmlns:a16="http://schemas.microsoft.com/office/drawing/2014/main" id="{A31EAF9B-BDB4-EEB9-8272-465C9FB0CB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272"/>
          <a:stretch/>
        </p:blipFill>
        <p:spPr bwMode="auto">
          <a:xfrm>
            <a:off x="0" y="1325562"/>
            <a:ext cx="12192000" cy="553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CBC45E8-81AC-D666-D041-56948F54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Наука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260CFC4B-AAC9-7010-B589-AAA4FC4270B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D932F5-5942-D166-B398-177E5F0E80C3}"/>
              </a:ext>
            </a:extLst>
          </p:cNvPr>
          <p:cNvSpPr txBox="1"/>
          <p:nvPr/>
        </p:nvSpPr>
        <p:spPr>
          <a:xfrm>
            <a:off x="-792921" y="6287975"/>
            <a:ext cx="6102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Роберт Грин </a:t>
            </a:r>
            <a:r>
              <a:rPr lang="ru-RU" b="1" dirty="0" err="1">
                <a:solidFill>
                  <a:schemeClr val="bg1"/>
                </a:solidFill>
              </a:rPr>
              <a:t>Ингерсолл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14338" name="Picture 2" descr="Picture background">
            <a:extLst>
              <a:ext uri="{FF2B5EF4-FFF2-40B4-BE49-F238E27FC236}">
                <a16:creationId xmlns:a16="http://schemas.microsoft.com/office/drawing/2014/main" id="{6F4EEA06-7B04-2346-1E71-6C44511E3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634" y="1644076"/>
            <a:ext cx="3581473" cy="4740185"/>
          </a:xfrm>
          <a:prstGeom prst="rect">
            <a:avLst/>
          </a:prstGeom>
          <a:noFill/>
          <a:effectLst>
            <a:softEdge rad="127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A13E1C-2F17-E5F9-6635-75C71625CDB0}"/>
              </a:ext>
            </a:extLst>
          </p:cNvPr>
          <p:cNvSpPr txBox="1"/>
          <p:nvPr/>
        </p:nvSpPr>
        <p:spPr>
          <a:xfrm>
            <a:off x="4182593" y="1452011"/>
            <a:ext cx="2899834" cy="2145268"/>
          </a:xfrm>
          <a:prstGeom prst="wedgeRoundRectCallout">
            <a:avLst>
              <a:gd name="adj1" fmla="val -96534"/>
              <a:gd name="adj2" fmla="val 29290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sz="2400" dirty="0"/>
              <a:t>«</a:t>
            </a:r>
            <a:r>
              <a:rPr lang="ru-RU" sz="2400" b="1" dirty="0"/>
              <a:t>Школа</a:t>
            </a:r>
            <a:r>
              <a:rPr lang="ru-RU" sz="2400" dirty="0"/>
              <a:t> — это место, где шлифуют булыжники и </a:t>
            </a:r>
            <a:r>
              <a:rPr lang="ru-RU" sz="2400" b="1" dirty="0"/>
              <a:t>портят алмазы</a:t>
            </a:r>
            <a:r>
              <a:rPr lang="ru-RU" sz="2400" dirty="0"/>
              <a:t>»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A84C84-4C9E-E7DF-BA11-5826E6B5D87E}"/>
              </a:ext>
            </a:extLst>
          </p:cNvPr>
          <p:cNvSpPr txBox="1"/>
          <p:nvPr/>
        </p:nvSpPr>
        <p:spPr>
          <a:xfrm>
            <a:off x="6927263" y="6318784"/>
            <a:ext cx="6102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0070C0"/>
                </a:solidFill>
              </a:rPr>
              <a:t>Альберт Эйнштейн</a:t>
            </a:r>
          </a:p>
        </p:txBody>
      </p:sp>
      <p:pic>
        <p:nvPicPr>
          <p:cNvPr id="14342" name="Picture 6" descr="Picture background">
            <a:extLst>
              <a:ext uri="{FF2B5EF4-FFF2-40B4-BE49-F238E27FC236}">
                <a16:creationId xmlns:a16="http://schemas.microsoft.com/office/drawing/2014/main" id="{D97AED5D-8553-02C0-6454-F3516C40D7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00"/>
          <a:stretch/>
        </p:blipFill>
        <p:spPr bwMode="auto">
          <a:xfrm>
            <a:off x="8133009" y="1644075"/>
            <a:ext cx="3999448" cy="4738705"/>
          </a:xfrm>
          <a:prstGeom prst="rect">
            <a:avLst/>
          </a:prstGeom>
          <a:noFill/>
          <a:effectLst>
            <a:softEdge rad="127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B686BE-39B0-733E-F6DA-C95437087F10}"/>
              </a:ext>
            </a:extLst>
          </p:cNvPr>
          <p:cNvSpPr txBox="1"/>
          <p:nvPr/>
        </p:nvSpPr>
        <p:spPr>
          <a:xfrm>
            <a:off x="4661006" y="3797307"/>
            <a:ext cx="3581473" cy="2145268"/>
          </a:xfrm>
          <a:prstGeom prst="wedgeRoundRectCallout">
            <a:avLst>
              <a:gd name="adj1" fmla="val 87745"/>
              <a:gd name="adj2" fmla="val -67364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2400" dirty="0"/>
              <a:t>«Вся </a:t>
            </a:r>
            <a:r>
              <a:rPr lang="ru-RU" sz="2400" b="1" dirty="0"/>
              <a:t>наука</a:t>
            </a:r>
            <a:r>
              <a:rPr lang="ru-RU" sz="2400" dirty="0"/>
              <a:t> есть не что иное, как </a:t>
            </a:r>
            <a:r>
              <a:rPr lang="ru-RU" sz="2400" b="1" dirty="0"/>
              <a:t>усовершенствование</a:t>
            </a:r>
            <a:r>
              <a:rPr lang="ru-RU" sz="2400" dirty="0"/>
              <a:t> повседневного мышления»</a:t>
            </a:r>
          </a:p>
        </p:txBody>
      </p:sp>
    </p:spTree>
    <p:extLst>
      <p:ext uri="{BB962C8B-B14F-4D97-AF65-F5344CB8AC3E}">
        <p14:creationId xmlns:p14="http://schemas.microsoft.com/office/powerpoint/2010/main" val="27358670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F03C2-0270-4952-F481-A06E4D1E7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Picture background">
            <a:extLst>
              <a:ext uri="{FF2B5EF4-FFF2-40B4-BE49-F238E27FC236}">
                <a16:creationId xmlns:a16="http://schemas.microsoft.com/office/drawing/2014/main" id="{35AE5A3B-4BE0-F581-6402-627D2C8A78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40"/>
          <a:stretch/>
        </p:blipFill>
        <p:spPr bwMode="auto">
          <a:xfrm>
            <a:off x="4552429" y="1325562"/>
            <a:ext cx="7639571" cy="553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FEEEBE51-E8C0-BBC5-1C81-3ADE92B3E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Академическая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мобильность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3560C042-5E86-2B44-7B18-ADBE715141E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13316" name="Picture 4" descr="Центр академической мобильности">
            <a:extLst>
              <a:ext uri="{FF2B5EF4-FFF2-40B4-BE49-F238E27FC236}">
                <a16:creationId xmlns:a16="http://schemas.microsoft.com/office/drawing/2014/main" id="{2D0C7DAD-B7C6-A70D-196C-A73CD9AC7B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21" y="1413668"/>
            <a:ext cx="3622060" cy="1461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 descr="Изображение выглядит как Графика, Шрифт, графический дизайн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5FC89202-7474-4104-3918-5ED1BC72A5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41" y="2910945"/>
            <a:ext cx="2494492" cy="24944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99C03F-17E2-3929-D0ED-9E4627DC9A54}"/>
              </a:ext>
            </a:extLst>
          </p:cNvPr>
          <p:cNvSpPr txBox="1"/>
          <p:nvPr/>
        </p:nvSpPr>
        <p:spPr>
          <a:xfrm>
            <a:off x="376767" y="5556863"/>
            <a:ext cx="3865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https://vk.com/academicmobilitycenter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FCEBA2-D4D3-8520-EE6A-E6D222A1AF74}"/>
              </a:ext>
            </a:extLst>
          </p:cNvPr>
          <p:cNvSpPr txBox="1"/>
          <p:nvPr/>
        </p:nvSpPr>
        <p:spPr>
          <a:xfrm>
            <a:off x="653568" y="6174272"/>
            <a:ext cx="3196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https://academic-mobility.ru/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8356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A177C-B224-8B83-A092-5C0A904A4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01D8D137-0FBC-F52D-228A-5E8231FCB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Онлайн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самообразование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265CA305-6CB5-A891-93BE-E0E7F14131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A15143-6F43-C3E7-9BF4-0529DFE5A5DD}"/>
              </a:ext>
            </a:extLst>
          </p:cNvPr>
          <p:cNvSpPr txBox="1"/>
          <p:nvPr/>
        </p:nvSpPr>
        <p:spPr>
          <a:xfrm>
            <a:off x="2163108" y="2652510"/>
            <a:ext cx="2110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https://stepik.org</a:t>
            </a:r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AD2AE6DB-C63D-8DB7-94AD-C975D43C5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200" y="1541971"/>
            <a:ext cx="3313908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Picture background">
            <a:extLst>
              <a:ext uri="{FF2B5EF4-FFF2-40B4-BE49-F238E27FC236}">
                <a16:creationId xmlns:a16="http://schemas.microsoft.com/office/drawing/2014/main" id="{FDFFAA81-B2FB-5F06-B631-81A770DFC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3979" y="1575763"/>
            <a:ext cx="1979084" cy="111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Picture background">
            <a:extLst>
              <a:ext uri="{FF2B5EF4-FFF2-40B4-BE49-F238E27FC236}">
                <a16:creationId xmlns:a16="http://schemas.microsoft.com/office/drawing/2014/main" id="{AB8C3ACE-DE42-D3FC-9572-97F0685E6C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765"/>
          <a:stretch/>
        </p:blipFill>
        <p:spPr bwMode="auto">
          <a:xfrm>
            <a:off x="1664025" y="3222337"/>
            <a:ext cx="3222179" cy="1089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utoShape 14" descr="Логотип Академики">
            <a:extLst>
              <a:ext uri="{FF2B5EF4-FFF2-40B4-BE49-F238E27FC236}">
                <a16:creationId xmlns:a16="http://schemas.microsoft.com/office/drawing/2014/main" id="{75E4C2D8-1524-D97E-879D-C767C8BF1E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0200" y="3314700"/>
            <a:ext cx="1371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2" name="Рисунок 11" descr="Изображение выглядит как Шрифт, Графика, текст,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F1656B2C-4F5B-A56C-797C-43F5271F3996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406" y="5021778"/>
            <a:ext cx="3164494" cy="5418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C8A9030-3EE2-2F1D-133E-7058B285CCCD}"/>
              </a:ext>
            </a:extLst>
          </p:cNvPr>
          <p:cNvSpPr txBox="1"/>
          <p:nvPr/>
        </p:nvSpPr>
        <p:spPr>
          <a:xfrm>
            <a:off x="7458170" y="5578083"/>
            <a:ext cx="2830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https://www.coursera.org/</a:t>
            </a:r>
          </a:p>
        </p:txBody>
      </p:sp>
      <p:pic>
        <p:nvPicPr>
          <p:cNvPr id="5136" name="Picture 16" descr="Picture background">
            <a:extLst>
              <a:ext uri="{FF2B5EF4-FFF2-40B4-BE49-F238E27FC236}">
                <a16:creationId xmlns:a16="http://schemas.microsoft.com/office/drawing/2014/main" id="{17ACB7F0-32DB-27EB-2416-B6F4D2A06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4163" y="4512412"/>
            <a:ext cx="2980267" cy="1589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5CCB607-A28E-D2D7-05F5-A8BB507F2917}"/>
              </a:ext>
            </a:extLst>
          </p:cNvPr>
          <p:cNvSpPr txBox="1"/>
          <p:nvPr/>
        </p:nvSpPr>
        <p:spPr>
          <a:xfrm>
            <a:off x="7529893" y="4259721"/>
            <a:ext cx="3222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https://www.udemy.com/</a:t>
            </a:r>
          </a:p>
        </p:txBody>
      </p:sp>
      <p:pic>
        <p:nvPicPr>
          <p:cNvPr id="5138" name="Picture 18" descr="Picture background">
            <a:extLst>
              <a:ext uri="{FF2B5EF4-FFF2-40B4-BE49-F238E27FC236}">
                <a16:creationId xmlns:a16="http://schemas.microsoft.com/office/drawing/2014/main" id="{04B8B704-F2CC-51CC-8A10-40FE99055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9071" y="3395318"/>
            <a:ext cx="2628900" cy="983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6A31334-368B-D34F-E25C-B816FAE6F1C2}"/>
              </a:ext>
            </a:extLst>
          </p:cNvPr>
          <p:cNvSpPr txBox="1"/>
          <p:nvPr/>
        </p:nvSpPr>
        <p:spPr>
          <a:xfrm>
            <a:off x="7726892" y="2749564"/>
            <a:ext cx="2453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https://www.edx.org/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A80723-7AA4-5074-FBE9-2E3BF5EDB88A}"/>
              </a:ext>
            </a:extLst>
          </p:cNvPr>
          <p:cNvSpPr txBox="1"/>
          <p:nvPr/>
        </p:nvSpPr>
        <p:spPr>
          <a:xfrm>
            <a:off x="2115478" y="4445716"/>
            <a:ext cx="2291463" cy="376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https://openedu.ru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FA5B84-AA12-D585-22A6-B8200B1AA3AF}"/>
              </a:ext>
            </a:extLst>
          </p:cNvPr>
          <p:cNvSpPr txBox="1"/>
          <p:nvPr/>
        </p:nvSpPr>
        <p:spPr>
          <a:xfrm>
            <a:off x="2115478" y="5578083"/>
            <a:ext cx="2753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https://academika.ru</a:t>
            </a:r>
          </a:p>
        </p:txBody>
      </p:sp>
    </p:spTree>
    <p:extLst>
      <p:ext uri="{BB962C8B-B14F-4D97-AF65-F5344CB8AC3E}">
        <p14:creationId xmlns:p14="http://schemas.microsoft.com/office/powerpoint/2010/main" val="36723399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4A21B-15A2-17FC-70CB-45628E92A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5A9CE9BF-FA9A-E8FE-AC28-E9DFCFF85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Циклы </a:t>
            </a:r>
            <a:r>
              <a:rPr lang="ru-RU" sz="3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кризисов</a:t>
            </a:r>
          </a:p>
        </p:txBody>
      </p:sp>
      <p:pic>
        <p:nvPicPr>
          <p:cNvPr id="9" name="Рисунок 8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80F68D6-CCC1-9A0C-6F6F-FC8874A48D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93D3AFB8-DC0B-72ED-E3B0-F0965304DF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863"/>
          <a:stretch/>
        </p:blipFill>
        <p:spPr bwMode="auto">
          <a:xfrm>
            <a:off x="822179" y="1325562"/>
            <a:ext cx="10886190" cy="5532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Picture background">
            <a:extLst>
              <a:ext uri="{FF2B5EF4-FFF2-40B4-BE49-F238E27FC236}">
                <a16:creationId xmlns:a16="http://schemas.microsoft.com/office/drawing/2014/main" id="{73090F28-8657-C39B-1DF8-5E99946991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9" t="88671" r="27900" b="6376"/>
          <a:stretch/>
        </p:blipFill>
        <p:spPr bwMode="auto">
          <a:xfrm>
            <a:off x="4563533" y="1794932"/>
            <a:ext cx="5672667" cy="391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055382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002060"/>
      </a:accent1>
      <a:accent2>
        <a:srgbClr val="629DD1"/>
      </a:accent2>
      <a:accent3>
        <a:srgbClr val="0D7E04"/>
      </a:accent3>
      <a:accent4>
        <a:srgbClr val="7F8FA9"/>
      </a:accent4>
      <a:accent5>
        <a:srgbClr val="00B050"/>
      </a:accent5>
      <a:accent6>
        <a:srgbClr val="9D90A0"/>
      </a:accent6>
      <a:hlink>
        <a:srgbClr val="9454C3"/>
      </a:hlink>
      <a:folHlink>
        <a:srgbClr val="3EBBF0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8319</TotalTime>
  <Words>543</Words>
  <Application>Microsoft Office PowerPoint</Application>
  <PresentationFormat>Широкоэкранный</PresentationFormat>
  <Paragraphs>81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34" baseType="lpstr">
      <vt:lpstr>ms mincho</vt:lpstr>
      <vt:lpstr>Aptos</vt:lpstr>
      <vt:lpstr>Aptos Display</vt:lpstr>
      <vt:lpstr>arial</vt:lpstr>
      <vt:lpstr>arial</vt:lpstr>
      <vt:lpstr>Fira Sans</vt:lpstr>
      <vt:lpstr>Impact</vt:lpstr>
      <vt:lpstr>Times New Roman</vt:lpstr>
      <vt:lpstr>Times New Roman</vt:lpstr>
      <vt:lpstr>times new roman, times</vt:lpstr>
      <vt:lpstr>Wingdings</vt:lpstr>
      <vt:lpstr>YS Text</vt:lpstr>
      <vt:lpstr>YS Text</vt:lpstr>
      <vt:lpstr>Тема Office</vt:lpstr>
      <vt:lpstr>Презентация PowerPoint</vt:lpstr>
      <vt:lpstr>Нейросети – путь к деградации</vt:lpstr>
      <vt:lpstr>Делать то, что говорят старшие</vt:lpstr>
      <vt:lpstr>Талант vs Трудолюбие</vt:lpstr>
      <vt:lpstr>Молодость заканчивается в 25 лет</vt:lpstr>
      <vt:lpstr>Молодая (студенческая) семья</vt:lpstr>
      <vt:lpstr>Долгосрочная цель</vt:lpstr>
      <vt:lpstr>Помнить о смерти</vt:lpstr>
      <vt:lpstr>Берегите честь и трудовую книжку смолоду</vt:lpstr>
      <vt:lpstr>Влияние на окружающих</vt:lpstr>
      <vt:lpstr>Внешний вид: одежда</vt:lpstr>
      <vt:lpstr>Внешний вид: ухоженность</vt:lpstr>
      <vt:lpstr>Внешний вид: образец</vt:lpstr>
      <vt:lpstr>Деловая переписка</vt:lpstr>
      <vt:lpstr>Мероприятия и связи</vt:lpstr>
      <vt:lpstr>Бесплатная работа</vt:lpstr>
      <vt:lpstr>Наука</vt:lpstr>
      <vt:lpstr>Академическая мобильность</vt:lpstr>
      <vt:lpstr>Онлайн самообразование</vt:lpstr>
      <vt:lpstr>Циклы кризисов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Арсений Ситковский</dc:creator>
  <cp:lastModifiedBy>Арсений Ситковский</cp:lastModifiedBy>
  <cp:revision>121</cp:revision>
  <dcterms:created xsi:type="dcterms:W3CDTF">2024-05-16T08:01:39Z</dcterms:created>
  <dcterms:modified xsi:type="dcterms:W3CDTF">2025-09-23T10:22:20Z</dcterms:modified>
</cp:coreProperties>
</file>