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9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0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4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5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19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361" r:id="rId2"/>
    <p:sldId id="462" r:id="rId3"/>
    <p:sldId id="464" r:id="rId4"/>
    <p:sldId id="465" r:id="rId5"/>
    <p:sldId id="336" r:id="rId6"/>
    <p:sldId id="359" r:id="rId7"/>
    <p:sldId id="317" r:id="rId8"/>
    <p:sldId id="461" r:id="rId9"/>
    <p:sldId id="326" r:id="rId10"/>
    <p:sldId id="329" r:id="rId11"/>
    <p:sldId id="484" r:id="rId12"/>
    <p:sldId id="379" r:id="rId13"/>
    <p:sldId id="312" r:id="rId14"/>
    <p:sldId id="323" r:id="rId15"/>
    <p:sldId id="330" r:id="rId16"/>
    <p:sldId id="334" r:id="rId17"/>
    <p:sldId id="383" r:id="rId18"/>
    <p:sldId id="259" r:id="rId19"/>
    <p:sldId id="365" r:id="rId20"/>
    <p:sldId id="460" r:id="rId21"/>
    <p:sldId id="466" r:id="rId22"/>
    <p:sldId id="463" r:id="rId23"/>
    <p:sldId id="474" r:id="rId24"/>
    <p:sldId id="481" r:id="rId25"/>
    <p:sldId id="473" r:id="rId26"/>
    <p:sldId id="476" r:id="rId27"/>
    <p:sldId id="477" r:id="rId28"/>
    <p:sldId id="475" r:id="rId29"/>
    <p:sldId id="478" r:id="rId30"/>
    <p:sldId id="480" r:id="rId31"/>
    <p:sldId id="479" r:id="rId32"/>
    <p:sldId id="468" r:id="rId33"/>
    <p:sldId id="469" r:id="rId34"/>
    <p:sldId id="470" r:id="rId35"/>
    <p:sldId id="471" r:id="rId36"/>
    <p:sldId id="472" r:id="rId37"/>
    <p:sldId id="467" r:id="rId38"/>
    <p:sldId id="483" r:id="rId39"/>
    <p:sldId id="482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2E3092"/>
    <a:srgbClr val="FFFFFF"/>
    <a:srgbClr val="B3FF80"/>
    <a:srgbClr val="FFD280"/>
    <a:srgbClr val="78F9FF"/>
    <a:srgbClr val="FF8481"/>
    <a:srgbClr val="B1F940"/>
    <a:srgbClr val="EE2C45"/>
    <a:srgbClr val="E100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852" autoAdjust="0"/>
  </p:normalViewPr>
  <p:slideViewPr>
    <p:cSldViewPr snapToGrid="0">
      <p:cViewPr varScale="1">
        <p:scale>
          <a:sx n="74" d="100"/>
          <a:sy n="74" d="100"/>
        </p:scale>
        <p:origin x="1355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EC9237-FAA2-4F67-9024-7ECC46F687C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2A3132A-D84F-4597-A9EC-2D6A17605FDD}">
      <dgm:prSet/>
      <dgm:spPr/>
      <dgm:t>
        <a:bodyPr/>
        <a:lstStyle/>
        <a:p>
          <a:r>
            <a:rPr lang="ru-RU" b="1" i="0" baseline="0"/>
            <a:t>Целеполаганию</a:t>
          </a:r>
          <a:r>
            <a:rPr lang="ru-RU" b="0" i="0" baseline="0"/>
            <a:t> – определение приоритетных направлений, целей и задач развития;</a:t>
          </a:r>
          <a:endParaRPr lang="ru-RU"/>
        </a:p>
      </dgm:t>
    </dgm:pt>
    <dgm:pt modelId="{911E05CA-BA42-4124-AF24-75C110837B91}" type="parTrans" cxnId="{69E9031F-BC48-4EB6-A34A-45296B4AF1C0}">
      <dgm:prSet/>
      <dgm:spPr/>
      <dgm:t>
        <a:bodyPr/>
        <a:lstStyle/>
        <a:p>
          <a:endParaRPr lang="ru-RU"/>
        </a:p>
      </dgm:t>
    </dgm:pt>
    <dgm:pt modelId="{6086E503-0535-44B6-A3E9-337E99309B92}" type="sibTrans" cxnId="{69E9031F-BC48-4EB6-A34A-45296B4AF1C0}">
      <dgm:prSet/>
      <dgm:spPr/>
      <dgm:t>
        <a:bodyPr/>
        <a:lstStyle/>
        <a:p>
          <a:endParaRPr lang="ru-RU"/>
        </a:p>
      </dgm:t>
    </dgm:pt>
    <dgm:pt modelId="{28B907E6-439C-4D73-BB4C-F8D15FF8613E}">
      <dgm:prSet/>
      <dgm:spPr/>
      <dgm:t>
        <a:bodyPr/>
        <a:lstStyle/>
        <a:p>
          <a:r>
            <a:rPr lang="ru-RU" b="1" i="0" baseline="0"/>
            <a:t>Прогнозированию</a:t>
          </a:r>
          <a:r>
            <a:rPr lang="ru-RU" b="0" i="0" baseline="0"/>
            <a:t> – разработка научно обоснованных прогнозов социально-экономического развития и оценка рисков;</a:t>
          </a:r>
          <a:endParaRPr lang="ru-RU"/>
        </a:p>
      </dgm:t>
    </dgm:pt>
    <dgm:pt modelId="{367C94E2-33E9-4CC1-9D0F-0687A47ABA2E}" type="parTrans" cxnId="{8CAC6A96-A01F-4485-B838-21E22EF8400F}">
      <dgm:prSet/>
      <dgm:spPr/>
      <dgm:t>
        <a:bodyPr/>
        <a:lstStyle/>
        <a:p>
          <a:endParaRPr lang="ru-RU"/>
        </a:p>
      </dgm:t>
    </dgm:pt>
    <dgm:pt modelId="{1B7562D0-6EBE-4977-BDAA-1820A1A4AE5F}" type="sibTrans" cxnId="{8CAC6A96-A01F-4485-B838-21E22EF8400F}">
      <dgm:prSet/>
      <dgm:spPr/>
      <dgm:t>
        <a:bodyPr/>
        <a:lstStyle/>
        <a:p>
          <a:endParaRPr lang="ru-RU"/>
        </a:p>
      </dgm:t>
    </dgm:pt>
    <dgm:pt modelId="{A4DD6A39-FA9E-41B4-AD37-26EC1F8946C1}">
      <dgm:prSet/>
      <dgm:spPr/>
      <dgm:t>
        <a:bodyPr/>
        <a:lstStyle/>
        <a:p>
          <a:r>
            <a:rPr lang="ru-RU" b="1" i="0" baseline="0"/>
            <a:t>Планированию</a:t>
          </a:r>
          <a:r>
            <a:rPr lang="ru-RU" b="0" i="0" baseline="0"/>
            <a:t> – подготовка стратегических планов и основных направлений деятельности органов власти, направленных на достижение поставленных целей;</a:t>
          </a:r>
          <a:endParaRPr lang="ru-RU"/>
        </a:p>
      </dgm:t>
    </dgm:pt>
    <dgm:pt modelId="{B101330D-4A54-4239-8FEA-A1C7EA61A7EF}" type="parTrans" cxnId="{4111EFEA-E0E9-4A87-8C6A-5717DF9EBE7C}">
      <dgm:prSet/>
      <dgm:spPr/>
      <dgm:t>
        <a:bodyPr/>
        <a:lstStyle/>
        <a:p>
          <a:endParaRPr lang="ru-RU"/>
        </a:p>
      </dgm:t>
    </dgm:pt>
    <dgm:pt modelId="{B43988D5-A8C2-4F1B-94F7-FC2BC73A272C}" type="sibTrans" cxnId="{4111EFEA-E0E9-4A87-8C6A-5717DF9EBE7C}">
      <dgm:prSet/>
      <dgm:spPr/>
      <dgm:t>
        <a:bodyPr/>
        <a:lstStyle/>
        <a:p>
          <a:endParaRPr lang="ru-RU"/>
        </a:p>
      </dgm:t>
    </dgm:pt>
    <dgm:pt modelId="{5EAFDD28-5FBF-48A1-924E-2548CF4CA0F3}">
      <dgm:prSet/>
      <dgm:spPr/>
      <dgm:t>
        <a:bodyPr/>
        <a:lstStyle/>
        <a:p>
          <a:r>
            <a:rPr lang="ru-RU" b="1" i="0" baseline="0" dirty="0"/>
            <a:t>Программированию</a:t>
          </a:r>
          <a:r>
            <a:rPr lang="ru-RU" b="0" i="0" baseline="0" dirty="0"/>
            <a:t> – разработка и реализация государственных и муниципальных программ для достижения стратегических целей;</a:t>
          </a:r>
          <a:endParaRPr lang="ru-RU" dirty="0"/>
        </a:p>
      </dgm:t>
    </dgm:pt>
    <dgm:pt modelId="{4FDC6BD0-9337-4BB2-AA2E-CFD0BF3A7AA2}" type="parTrans" cxnId="{211810C2-D216-4EFA-99CE-1CA030E04C2E}">
      <dgm:prSet/>
      <dgm:spPr/>
      <dgm:t>
        <a:bodyPr/>
        <a:lstStyle/>
        <a:p>
          <a:endParaRPr lang="ru-RU"/>
        </a:p>
      </dgm:t>
    </dgm:pt>
    <dgm:pt modelId="{B90C8E81-735C-4A8C-9B52-1E3E36993B4B}" type="sibTrans" cxnId="{211810C2-D216-4EFA-99CE-1CA030E04C2E}">
      <dgm:prSet/>
      <dgm:spPr/>
      <dgm:t>
        <a:bodyPr/>
        <a:lstStyle/>
        <a:p>
          <a:endParaRPr lang="ru-RU"/>
        </a:p>
      </dgm:t>
    </dgm:pt>
    <dgm:pt modelId="{CBF34804-06FB-4DF9-9D94-5A280C54A583}">
      <dgm:prSet/>
      <dgm:spPr/>
      <dgm:t>
        <a:bodyPr/>
        <a:lstStyle/>
        <a:p>
          <a:r>
            <a:rPr lang="ru-RU" b="1" i="0" baseline="0" dirty="0"/>
            <a:t>Мониторингу и контролю</a:t>
          </a:r>
          <a:r>
            <a:rPr lang="ru-RU" b="0" i="0" baseline="0" dirty="0"/>
            <a:t> – оценка хода реализации стратегических документов и контроль за достижением целей</a:t>
          </a:r>
          <a:endParaRPr lang="ru-RU" dirty="0"/>
        </a:p>
      </dgm:t>
    </dgm:pt>
    <dgm:pt modelId="{7AC2C2B4-1146-4682-91E8-9E4366BD5D5E}" type="parTrans" cxnId="{9DFC67B9-85F0-4B66-92AC-F3FF72AB11AE}">
      <dgm:prSet/>
      <dgm:spPr/>
      <dgm:t>
        <a:bodyPr/>
        <a:lstStyle/>
        <a:p>
          <a:endParaRPr lang="ru-RU"/>
        </a:p>
      </dgm:t>
    </dgm:pt>
    <dgm:pt modelId="{E7E707E1-0509-4F9B-80E3-DAF9886E80D3}" type="sibTrans" cxnId="{9DFC67B9-85F0-4B66-92AC-F3FF72AB11AE}">
      <dgm:prSet/>
      <dgm:spPr/>
      <dgm:t>
        <a:bodyPr/>
        <a:lstStyle/>
        <a:p>
          <a:endParaRPr lang="ru-RU"/>
        </a:p>
      </dgm:t>
    </dgm:pt>
    <dgm:pt modelId="{EE1E9532-1FFE-477A-BC45-45726D2A58E4}" type="pres">
      <dgm:prSet presAssocID="{86EC9237-FAA2-4F67-9024-7ECC46F687C2}" presName="linear" presStyleCnt="0">
        <dgm:presLayoutVars>
          <dgm:animLvl val="lvl"/>
          <dgm:resizeHandles val="exact"/>
        </dgm:presLayoutVars>
      </dgm:prSet>
      <dgm:spPr/>
    </dgm:pt>
    <dgm:pt modelId="{E525CA45-E599-43E3-803C-FC7B07DEEA89}" type="pres">
      <dgm:prSet presAssocID="{E2A3132A-D84F-4597-A9EC-2D6A17605FDD}" presName="parentText" presStyleLbl="node1" presStyleIdx="0" presStyleCnt="5" custScaleY="75132">
        <dgm:presLayoutVars>
          <dgm:chMax val="0"/>
          <dgm:bulletEnabled val="1"/>
        </dgm:presLayoutVars>
      </dgm:prSet>
      <dgm:spPr/>
    </dgm:pt>
    <dgm:pt modelId="{FDD3E0A5-C776-4EF7-B434-26FA63BBB815}" type="pres">
      <dgm:prSet presAssocID="{6086E503-0535-44B6-A3E9-337E99309B92}" presName="spacer" presStyleCnt="0"/>
      <dgm:spPr/>
    </dgm:pt>
    <dgm:pt modelId="{98AA3954-0FF4-444A-9F8C-13195D420A2E}" type="pres">
      <dgm:prSet presAssocID="{28B907E6-439C-4D73-BB4C-F8D15FF8613E}" presName="parentText" presStyleLbl="node1" presStyleIdx="1" presStyleCnt="5" custScaleY="75132">
        <dgm:presLayoutVars>
          <dgm:chMax val="0"/>
          <dgm:bulletEnabled val="1"/>
        </dgm:presLayoutVars>
      </dgm:prSet>
      <dgm:spPr/>
    </dgm:pt>
    <dgm:pt modelId="{82C8E24D-A41A-474E-885B-99EF4B529F88}" type="pres">
      <dgm:prSet presAssocID="{1B7562D0-6EBE-4977-BDAA-1820A1A4AE5F}" presName="spacer" presStyleCnt="0"/>
      <dgm:spPr/>
    </dgm:pt>
    <dgm:pt modelId="{722BBC1D-C792-446E-965F-57C37357799A}" type="pres">
      <dgm:prSet presAssocID="{A4DD6A39-FA9E-41B4-AD37-26EC1F8946C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34FE6DB-93D5-4645-9A2E-0AF2DC444A95}" type="pres">
      <dgm:prSet presAssocID="{B43988D5-A8C2-4F1B-94F7-FC2BC73A272C}" presName="spacer" presStyleCnt="0"/>
      <dgm:spPr/>
    </dgm:pt>
    <dgm:pt modelId="{39EB8ECF-86FF-4105-966F-D2CE6B3FC8A4}" type="pres">
      <dgm:prSet presAssocID="{5EAFDD28-5FBF-48A1-924E-2548CF4CA0F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56D3209-D2D7-421A-8E62-617C3E6C59EF}" type="pres">
      <dgm:prSet presAssocID="{B90C8E81-735C-4A8C-9B52-1E3E36993B4B}" presName="spacer" presStyleCnt="0"/>
      <dgm:spPr/>
    </dgm:pt>
    <dgm:pt modelId="{3853859B-4675-4C2A-A773-50FE5EF675BA}" type="pres">
      <dgm:prSet presAssocID="{CBF34804-06FB-4DF9-9D94-5A280C54A583}" presName="parentText" presStyleLbl="node1" presStyleIdx="4" presStyleCnt="5" custScaleY="75132">
        <dgm:presLayoutVars>
          <dgm:chMax val="0"/>
          <dgm:bulletEnabled val="1"/>
        </dgm:presLayoutVars>
      </dgm:prSet>
      <dgm:spPr/>
    </dgm:pt>
  </dgm:ptLst>
  <dgm:cxnLst>
    <dgm:cxn modelId="{69E9031F-BC48-4EB6-A34A-45296B4AF1C0}" srcId="{86EC9237-FAA2-4F67-9024-7ECC46F687C2}" destId="{E2A3132A-D84F-4597-A9EC-2D6A17605FDD}" srcOrd="0" destOrd="0" parTransId="{911E05CA-BA42-4124-AF24-75C110837B91}" sibTransId="{6086E503-0535-44B6-A3E9-337E99309B92}"/>
    <dgm:cxn modelId="{AF7D2136-F180-4C14-BF02-D3E7D7F4C537}" type="presOf" srcId="{CBF34804-06FB-4DF9-9D94-5A280C54A583}" destId="{3853859B-4675-4C2A-A773-50FE5EF675BA}" srcOrd="0" destOrd="0" presId="urn:microsoft.com/office/officeart/2005/8/layout/vList2"/>
    <dgm:cxn modelId="{244C394E-6F8A-4C7B-9175-8FDF894CE9C8}" type="presOf" srcId="{86EC9237-FAA2-4F67-9024-7ECC46F687C2}" destId="{EE1E9532-1FFE-477A-BC45-45726D2A58E4}" srcOrd="0" destOrd="0" presId="urn:microsoft.com/office/officeart/2005/8/layout/vList2"/>
    <dgm:cxn modelId="{753F1884-8AFE-49C9-99D1-A341A96E9733}" type="presOf" srcId="{E2A3132A-D84F-4597-A9EC-2D6A17605FDD}" destId="{E525CA45-E599-43E3-803C-FC7B07DEEA89}" srcOrd="0" destOrd="0" presId="urn:microsoft.com/office/officeart/2005/8/layout/vList2"/>
    <dgm:cxn modelId="{8CAC6A96-A01F-4485-B838-21E22EF8400F}" srcId="{86EC9237-FAA2-4F67-9024-7ECC46F687C2}" destId="{28B907E6-439C-4D73-BB4C-F8D15FF8613E}" srcOrd="1" destOrd="0" parTransId="{367C94E2-33E9-4CC1-9D0F-0687A47ABA2E}" sibTransId="{1B7562D0-6EBE-4977-BDAA-1820A1A4AE5F}"/>
    <dgm:cxn modelId="{7EB33D9A-3E60-41D3-9B21-4B85A69D033F}" type="presOf" srcId="{A4DD6A39-FA9E-41B4-AD37-26EC1F8946C1}" destId="{722BBC1D-C792-446E-965F-57C37357799A}" srcOrd="0" destOrd="0" presId="urn:microsoft.com/office/officeart/2005/8/layout/vList2"/>
    <dgm:cxn modelId="{6EED20A8-B1AD-46F5-8C18-2B49E5F0AAB2}" type="presOf" srcId="{5EAFDD28-5FBF-48A1-924E-2548CF4CA0F3}" destId="{39EB8ECF-86FF-4105-966F-D2CE6B3FC8A4}" srcOrd="0" destOrd="0" presId="urn:microsoft.com/office/officeart/2005/8/layout/vList2"/>
    <dgm:cxn modelId="{9DFC67B9-85F0-4B66-92AC-F3FF72AB11AE}" srcId="{86EC9237-FAA2-4F67-9024-7ECC46F687C2}" destId="{CBF34804-06FB-4DF9-9D94-5A280C54A583}" srcOrd="4" destOrd="0" parTransId="{7AC2C2B4-1146-4682-91E8-9E4366BD5D5E}" sibTransId="{E7E707E1-0509-4F9B-80E3-DAF9886E80D3}"/>
    <dgm:cxn modelId="{211810C2-D216-4EFA-99CE-1CA030E04C2E}" srcId="{86EC9237-FAA2-4F67-9024-7ECC46F687C2}" destId="{5EAFDD28-5FBF-48A1-924E-2548CF4CA0F3}" srcOrd="3" destOrd="0" parTransId="{4FDC6BD0-9337-4BB2-AA2E-CFD0BF3A7AA2}" sibTransId="{B90C8E81-735C-4A8C-9B52-1E3E36993B4B}"/>
    <dgm:cxn modelId="{94951DC6-2F72-4E4A-B462-2E2ABF94F6DB}" type="presOf" srcId="{28B907E6-439C-4D73-BB4C-F8D15FF8613E}" destId="{98AA3954-0FF4-444A-9F8C-13195D420A2E}" srcOrd="0" destOrd="0" presId="urn:microsoft.com/office/officeart/2005/8/layout/vList2"/>
    <dgm:cxn modelId="{4111EFEA-E0E9-4A87-8C6A-5717DF9EBE7C}" srcId="{86EC9237-FAA2-4F67-9024-7ECC46F687C2}" destId="{A4DD6A39-FA9E-41B4-AD37-26EC1F8946C1}" srcOrd="2" destOrd="0" parTransId="{B101330D-4A54-4239-8FEA-A1C7EA61A7EF}" sibTransId="{B43988D5-A8C2-4F1B-94F7-FC2BC73A272C}"/>
    <dgm:cxn modelId="{C750144A-4B58-49B8-A47A-604BA82699EF}" type="presParOf" srcId="{EE1E9532-1FFE-477A-BC45-45726D2A58E4}" destId="{E525CA45-E599-43E3-803C-FC7B07DEEA89}" srcOrd="0" destOrd="0" presId="urn:microsoft.com/office/officeart/2005/8/layout/vList2"/>
    <dgm:cxn modelId="{8D2574EB-E833-43CF-82B0-FD60D213D222}" type="presParOf" srcId="{EE1E9532-1FFE-477A-BC45-45726D2A58E4}" destId="{FDD3E0A5-C776-4EF7-B434-26FA63BBB815}" srcOrd="1" destOrd="0" presId="urn:microsoft.com/office/officeart/2005/8/layout/vList2"/>
    <dgm:cxn modelId="{A1688ED9-7153-4A52-AD07-41E5DA65AA47}" type="presParOf" srcId="{EE1E9532-1FFE-477A-BC45-45726D2A58E4}" destId="{98AA3954-0FF4-444A-9F8C-13195D420A2E}" srcOrd="2" destOrd="0" presId="urn:microsoft.com/office/officeart/2005/8/layout/vList2"/>
    <dgm:cxn modelId="{C528970B-4F4F-4040-B2DA-C999874C2E20}" type="presParOf" srcId="{EE1E9532-1FFE-477A-BC45-45726D2A58E4}" destId="{82C8E24D-A41A-474E-885B-99EF4B529F88}" srcOrd="3" destOrd="0" presId="urn:microsoft.com/office/officeart/2005/8/layout/vList2"/>
    <dgm:cxn modelId="{6F28D06F-D76D-4C69-89AE-CD21F7B1DE7E}" type="presParOf" srcId="{EE1E9532-1FFE-477A-BC45-45726D2A58E4}" destId="{722BBC1D-C792-446E-965F-57C37357799A}" srcOrd="4" destOrd="0" presId="urn:microsoft.com/office/officeart/2005/8/layout/vList2"/>
    <dgm:cxn modelId="{DFB941CE-4D61-43A8-BF20-0065EAB1B136}" type="presParOf" srcId="{EE1E9532-1FFE-477A-BC45-45726D2A58E4}" destId="{034FE6DB-93D5-4645-9A2E-0AF2DC444A95}" srcOrd="5" destOrd="0" presId="urn:microsoft.com/office/officeart/2005/8/layout/vList2"/>
    <dgm:cxn modelId="{63903345-4C7C-4939-8ED1-C6A0ABD269FE}" type="presParOf" srcId="{EE1E9532-1FFE-477A-BC45-45726D2A58E4}" destId="{39EB8ECF-86FF-4105-966F-D2CE6B3FC8A4}" srcOrd="6" destOrd="0" presId="urn:microsoft.com/office/officeart/2005/8/layout/vList2"/>
    <dgm:cxn modelId="{2306A95F-130B-45B9-BA6A-8C092B7F2590}" type="presParOf" srcId="{EE1E9532-1FFE-477A-BC45-45726D2A58E4}" destId="{D56D3209-D2D7-421A-8E62-617C3E6C59EF}" srcOrd="7" destOrd="0" presId="urn:microsoft.com/office/officeart/2005/8/layout/vList2"/>
    <dgm:cxn modelId="{D89E38D5-AFDE-4DCA-AF0A-B65B6A400AEB}" type="presParOf" srcId="{EE1E9532-1FFE-477A-BC45-45726D2A58E4}" destId="{3853859B-4675-4C2A-A773-50FE5EF675B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21AEE2-995E-4B56-9D2B-3FFE1ABCE8F5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0270349-CE19-4B35-9A9F-B7B204A4FDF0}">
      <dgm:prSet phldrT="[Текст]" phldr="0"/>
      <dgm:spPr/>
      <dgm:t>
        <a:bodyPr/>
        <a:lstStyle/>
        <a:p>
          <a:r>
            <a:rPr lang="ru-RU" b="1" dirty="0"/>
            <a:t>Определение стратегических приоритетов</a:t>
          </a:r>
        </a:p>
      </dgm:t>
    </dgm:pt>
    <dgm:pt modelId="{ECCCF492-81EB-4762-A518-A4E9D0B90D80}" type="parTrans" cxnId="{5ED8EC50-952B-4C54-A898-11C646E6383C}">
      <dgm:prSet/>
      <dgm:spPr/>
      <dgm:t>
        <a:bodyPr/>
        <a:lstStyle/>
        <a:p>
          <a:endParaRPr lang="ru-RU"/>
        </a:p>
      </dgm:t>
    </dgm:pt>
    <dgm:pt modelId="{5B044ADB-01A2-41C7-B2B0-98F003F79FBC}" type="sibTrans" cxnId="{5ED8EC50-952B-4C54-A898-11C646E6383C}">
      <dgm:prSet/>
      <dgm:spPr/>
      <dgm:t>
        <a:bodyPr/>
        <a:lstStyle/>
        <a:p>
          <a:endParaRPr lang="ru-RU"/>
        </a:p>
      </dgm:t>
    </dgm:pt>
    <dgm:pt modelId="{F1C3A5CF-2A62-4532-9F08-763AA2D0DD16}">
      <dgm:prSet phldrT="[Текст]" phldr="0"/>
      <dgm:spPr/>
      <dgm:t>
        <a:bodyPr/>
        <a:lstStyle/>
        <a:p>
          <a:r>
            <a:rPr lang="ru-RU" dirty="0"/>
            <a:t>Разработка программы и бюджета</a:t>
          </a:r>
        </a:p>
      </dgm:t>
    </dgm:pt>
    <dgm:pt modelId="{6E2E0AC1-4C70-4221-B323-03546778FB4C}" type="parTrans" cxnId="{FA0A08C7-DB46-408D-9D0B-B11F73E93FC4}">
      <dgm:prSet/>
      <dgm:spPr/>
      <dgm:t>
        <a:bodyPr/>
        <a:lstStyle/>
        <a:p>
          <a:endParaRPr lang="ru-RU"/>
        </a:p>
      </dgm:t>
    </dgm:pt>
    <dgm:pt modelId="{A2336FB2-58B9-491D-83C6-4703CFA8B4B3}" type="sibTrans" cxnId="{FA0A08C7-DB46-408D-9D0B-B11F73E93FC4}">
      <dgm:prSet/>
      <dgm:spPr/>
      <dgm:t>
        <a:bodyPr/>
        <a:lstStyle/>
        <a:p>
          <a:endParaRPr lang="ru-RU"/>
        </a:p>
      </dgm:t>
    </dgm:pt>
    <dgm:pt modelId="{911A249F-EFFD-4F32-9F6A-375BED821776}">
      <dgm:prSet phldrT="[Текст]" phldr="0"/>
      <dgm:spPr/>
      <dgm:t>
        <a:bodyPr/>
        <a:lstStyle/>
        <a:p>
          <a:r>
            <a:rPr lang="ru-RU" dirty="0"/>
            <a:t>Реализация программы и бюджета</a:t>
          </a:r>
        </a:p>
      </dgm:t>
    </dgm:pt>
    <dgm:pt modelId="{37D71745-1A53-44B6-8272-588CC0E95C41}" type="parTrans" cxnId="{5D35E72B-8685-487D-A056-2ACB7BD74EEB}">
      <dgm:prSet/>
      <dgm:spPr/>
      <dgm:t>
        <a:bodyPr/>
        <a:lstStyle/>
        <a:p>
          <a:endParaRPr lang="ru-RU"/>
        </a:p>
      </dgm:t>
    </dgm:pt>
    <dgm:pt modelId="{7E5930A4-3A46-44CF-853C-30C5CF67DB78}" type="sibTrans" cxnId="{5D35E72B-8685-487D-A056-2ACB7BD74EEB}">
      <dgm:prSet/>
      <dgm:spPr/>
      <dgm:t>
        <a:bodyPr/>
        <a:lstStyle/>
        <a:p>
          <a:endParaRPr lang="ru-RU"/>
        </a:p>
      </dgm:t>
    </dgm:pt>
    <dgm:pt modelId="{2D391C12-96E4-4C66-8DD7-A60644C89996}">
      <dgm:prSet phldrT="[Текст]" phldr="0"/>
      <dgm:spPr/>
      <dgm:t>
        <a:bodyPr/>
        <a:lstStyle/>
        <a:p>
          <a:r>
            <a:rPr lang="ru-RU" dirty="0"/>
            <a:t>Оценка достижения </a:t>
          </a:r>
          <a:r>
            <a:rPr lang="ru-RU"/>
            <a:t>целевых приоритетов</a:t>
          </a:r>
          <a:endParaRPr lang="ru-RU" dirty="0"/>
        </a:p>
      </dgm:t>
    </dgm:pt>
    <dgm:pt modelId="{E0DF3DD1-F60B-4F3E-83E9-8BA29E0EF2A4}" type="parTrans" cxnId="{9F6C0C8F-14FF-44D9-A989-C289383D844E}">
      <dgm:prSet/>
      <dgm:spPr/>
      <dgm:t>
        <a:bodyPr/>
        <a:lstStyle/>
        <a:p>
          <a:endParaRPr lang="ru-RU"/>
        </a:p>
      </dgm:t>
    </dgm:pt>
    <dgm:pt modelId="{8DFAF4C0-A764-4C54-9D57-C72E70ACA9D0}" type="sibTrans" cxnId="{9F6C0C8F-14FF-44D9-A989-C289383D844E}">
      <dgm:prSet/>
      <dgm:spPr/>
      <dgm:t>
        <a:bodyPr/>
        <a:lstStyle/>
        <a:p>
          <a:endParaRPr lang="ru-RU"/>
        </a:p>
      </dgm:t>
    </dgm:pt>
    <dgm:pt modelId="{5B0333E3-53CC-420C-9438-AA5D8FBA033F}" type="pres">
      <dgm:prSet presAssocID="{5421AEE2-995E-4B56-9D2B-3FFE1ABCE8F5}" presName="cycle" presStyleCnt="0">
        <dgm:presLayoutVars>
          <dgm:dir/>
          <dgm:resizeHandles val="exact"/>
        </dgm:presLayoutVars>
      </dgm:prSet>
      <dgm:spPr/>
    </dgm:pt>
    <dgm:pt modelId="{58BB118A-3635-4B0A-8E97-D0C0186C321B}" type="pres">
      <dgm:prSet presAssocID="{B0270349-CE19-4B35-9A9F-B7B204A4FDF0}" presName="node" presStyleLbl="node1" presStyleIdx="0" presStyleCnt="4" custScaleX="194872">
        <dgm:presLayoutVars>
          <dgm:bulletEnabled val="1"/>
        </dgm:presLayoutVars>
      </dgm:prSet>
      <dgm:spPr>
        <a:prstGeom prst="roundRect">
          <a:avLst/>
        </a:prstGeom>
      </dgm:spPr>
    </dgm:pt>
    <dgm:pt modelId="{35ABDAC3-89B2-4585-8C1F-D6607ABB54C0}" type="pres">
      <dgm:prSet presAssocID="{5B044ADB-01A2-41C7-B2B0-98F003F79FBC}" presName="sibTrans" presStyleLbl="sibTrans2D1" presStyleIdx="0" presStyleCnt="4"/>
      <dgm:spPr/>
    </dgm:pt>
    <dgm:pt modelId="{6E83C49B-5D46-4D02-B9F2-0532385CBEF1}" type="pres">
      <dgm:prSet presAssocID="{5B044ADB-01A2-41C7-B2B0-98F003F79FBC}" presName="connectorText" presStyleLbl="sibTrans2D1" presStyleIdx="0" presStyleCnt="4"/>
      <dgm:spPr/>
    </dgm:pt>
    <dgm:pt modelId="{065721E9-D9FC-4DB5-BE4F-60758653B970}" type="pres">
      <dgm:prSet presAssocID="{F1C3A5CF-2A62-4532-9F08-763AA2D0DD16}" presName="node" presStyleLbl="node1" presStyleIdx="1" presStyleCnt="4" custScaleX="194872" custRadScaleRad="246691" custRadScaleInc="2180">
        <dgm:presLayoutVars>
          <dgm:bulletEnabled val="1"/>
        </dgm:presLayoutVars>
      </dgm:prSet>
      <dgm:spPr>
        <a:prstGeom prst="roundRect">
          <a:avLst/>
        </a:prstGeom>
      </dgm:spPr>
    </dgm:pt>
    <dgm:pt modelId="{99476A64-84EC-40C8-ABA7-C9FA15CDE416}" type="pres">
      <dgm:prSet presAssocID="{A2336FB2-58B9-491D-83C6-4703CFA8B4B3}" presName="sibTrans" presStyleLbl="sibTrans2D1" presStyleIdx="1" presStyleCnt="4"/>
      <dgm:spPr/>
    </dgm:pt>
    <dgm:pt modelId="{2F1D0DCE-34C9-4906-9F95-C93732734644}" type="pres">
      <dgm:prSet presAssocID="{A2336FB2-58B9-491D-83C6-4703CFA8B4B3}" presName="connectorText" presStyleLbl="sibTrans2D1" presStyleIdx="1" presStyleCnt="4"/>
      <dgm:spPr/>
    </dgm:pt>
    <dgm:pt modelId="{B9EA0BBB-219C-48F8-94A0-8C36DDE33A9D}" type="pres">
      <dgm:prSet presAssocID="{911A249F-EFFD-4F32-9F6A-375BED821776}" presName="node" presStyleLbl="node1" presStyleIdx="2" presStyleCnt="4" custScaleX="194872">
        <dgm:presLayoutVars>
          <dgm:bulletEnabled val="1"/>
        </dgm:presLayoutVars>
      </dgm:prSet>
      <dgm:spPr>
        <a:prstGeom prst="roundRect">
          <a:avLst/>
        </a:prstGeom>
      </dgm:spPr>
    </dgm:pt>
    <dgm:pt modelId="{D1009601-11EF-47CE-BEDC-7F811A2C3154}" type="pres">
      <dgm:prSet presAssocID="{7E5930A4-3A46-44CF-853C-30C5CF67DB78}" presName="sibTrans" presStyleLbl="sibTrans2D1" presStyleIdx="2" presStyleCnt="4"/>
      <dgm:spPr/>
    </dgm:pt>
    <dgm:pt modelId="{1972D578-72D3-4A3C-9AD6-7D237EA31113}" type="pres">
      <dgm:prSet presAssocID="{7E5930A4-3A46-44CF-853C-30C5CF67DB78}" presName="connectorText" presStyleLbl="sibTrans2D1" presStyleIdx="2" presStyleCnt="4"/>
      <dgm:spPr/>
    </dgm:pt>
    <dgm:pt modelId="{AACE703C-0045-4835-B9DB-020076B239A2}" type="pres">
      <dgm:prSet presAssocID="{2D391C12-96E4-4C66-8DD7-A60644C89996}" presName="node" presStyleLbl="node1" presStyleIdx="3" presStyleCnt="4" custScaleX="194872" custRadScaleRad="249409" custRadScaleInc="-2940">
        <dgm:presLayoutVars>
          <dgm:bulletEnabled val="1"/>
        </dgm:presLayoutVars>
      </dgm:prSet>
      <dgm:spPr>
        <a:prstGeom prst="roundRect">
          <a:avLst/>
        </a:prstGeom>
      </dgm:spPr>
    </dgm:pt>
    <dgm:pt modelId="{46253186-A4AB-41FA-9E1B-4068FBAA70EF}" type="pres">
      <dgm:prSet presAssocID="{8DFAF4C0-A764-4C54-9D57-C72E70ACA9D0}" presName="sibTrans" presStyleLbl="sibTrans2D1" presStyleIdx="3" presStyleCnt="4"/>
      <dgm:spPr/>
    </dgm:pt>
    <dgm:pt modelId="{545B1F36-80B9-4C57-BDF6-9B771D6D59B1}" type="pres">
      <dgm:prSet presAssocID="{8DFAF4C0-A764-4C54-9D57-C72E70ACA9D0}" presName="connectorText" presStyleLbl="sibTrans2D1" presStyleIdx="3" presStyleCnt="4"/>
      <dgm:spPr/>
    </dgm:pt>
  </dgm:ptLst>
  <dgm:cxnLst>
    <dgm:cxn modelId="{834B920E-7EB0-4BE0-B32B-40C49A733124}" type="presOf" srcId="{A2336FB2-58B9-491D-83C6-4703CFA8B4B3}" destId="{99476A64-84EC-40C8-ABA7-C9FA15CDE416}" srcOrd="0" destOrd="0" presId="urn:microsoft.com/office/officeart/2005/8/layout/cycle2"/>
    <dgm:cxn modelId="{7491B513-7E24-4A22-A4F0-7214E99F17C3}" type="presOf" srcId="{8DFAF4C0-A764-4C54-9D57-C72E70ACA9D0}" destId="{46253186-A4AB-41FA-9E1B-4068FBAA70EF}" srcOrd="0" destOrd="0" presId="urn:microsoft.com/office/officeart/2005/8/layout/cycle2"/>
    <dgm:cxn modelId="{CEF08A25-3400-48F5-87D0-16B022F9CE57}" type="presOf" srcId="{5B044ADB-01A2-41C7-B2B0-98F003F79FBC}" destId="{6E83C49B-5D46-4D02-B9F2-0532385CBEF1}" srcOrd="1" destOrd="0" presId="urn:microsoft.com/office/officeart/2005/8/layout/cycle2"/>
    <dgm:cxn modelId="{5D35E72B-8685-487D-A056-2ACB7BD74EEB}" srcId="{5421AEE2-995E-4B56-9D2B-3FFE1ABCE8F5}" destId="{911A249F-EFFD-4F32-9F6A-375BED821776}" srcOrd="2" destOrd="0" parTransId="{37D71745-1A53-44B6-8272-588CC0E95C41}" sibTransId="{7E5930A4-3A46-44CF-853C-30C5CF67DB78}"/>
    <dgm:cxn modelId="{36994D5C-92C6-4D58-AB46-F3DF2F35C1EA}" type="presOf" srcId="{7E5930A4-3A46-44CF-853C-30C5CF67DB78}" destId="{D1009601-11EF-47CE-BEDC-7F811A2C3154}" srcOrd="0" destOrd="0" presId="urn:microsoft.com/office/officeart/2005/8/layout/cycle2"/>
    <dgm:cxn modelId="{4A81A85C-FCDE-4B56-A21F-B329B621D31E}" type="presOf" srcId="{7E5930A4-3A46-44CF-853C-30C5CF67DB78}" destId="{1972D578-72D3-4A3C-9AD6-7D237EA31113}" srcOrd="1" destOrd="0" presId="urn:microsoft.com/office/officeart/2005/8/layout/cycle2"/>
    <dgm:cxn modelId="{A41D606A-EE63-4736-AB80-8D664CF36C3E}" type="presOf" srcId="{2D391C12-96E4-4C66-8DD7-A60644C89996}" destId="{AACE703C-0045-4835-B9DB-020076B239A2}" srcOrd="0" destOrd="0" presId="urn:microsoft.com/office/officeart/2005/8/layout/cycle2"/>
    <dgm:cxn modelId="{8092504A-37B2-4760-B76B-0C7655A7AB93}" type="presOf" srcId="{5421AEE2-995E-4B56-9D2B-3FFE1ABCE8F5}" destId="{5B0333E3-53CC-420C-9438-AA5D8FBA033F}" srcOrd="0" destOrd="0" presId="urn:microsoft.com/office/officeart/2005/8/layout/cycle2"/>
    <dgm:cxn modelId="{5ED8EC50-952B-4C54-A898-11C646E6383C}" srcId="{5421AEE2-995E-4B56-9D2B-3FFE1ABCE8F5}" destId="{B0270349-CE19-4B35-9A9F-B7B204A4FDF0}" srcOrd="0" destOrd="0" parTransId="{ECCCF492-81EB-4762-A518-A4E9D0B90D80}" sibTransId="{5B044ADB-01A2-41C7-B2B0-98F003F79FBC}"/>
    <dgm:cxn modelId="{2C2FB752-D8A3-48CA-B314-BFC4FB8DB3FC}" type="presOf" srcId="{911A249F-EFFD-4F32-9F6A-375BED821776}" destId="{B9EA0BBB-219C-48F8-94A0-8C36DDE33A9D}" srcOrd="0" destOrd="0" presId="urn:microsoft.com/office/officeart/2005/8/layout/cycle2"/>
    <dgm:cxn modelId="{C0A91256-9C97-40D1-925C-9D3F941E6A81}" type="presOf" srcId="{5B044ADB-01A2-41C7-B2B0-98F003F79FBC}" destId="{35ABDAC3-89B2-4585-8C1F-D6607ABB54C0}" srcOrd="0" destOrd="0" presId="urn:microsoft.com/office/officeart/2005/8/layout/cycle2"/>
    <dgm:cxn modelId="{6F363E84-8E17-4088-B7A5-ED810E8B05A1}" type="presOf" srcId="{8DFAF4C0-A764-4C54-9D57-C72E70ACA9D0}" destId="{545B1F36-80B9-4C57-BDF6-9B771D6D59B1}" srcOrd="1" destOrd="0" presId="urn:microsoft.com/office/officeart/2005/8/layout/cycle2"/>
    <dgm:cxn modelId="{9F6C0C8F-14FF-44D9-A989-C289383D844E}" srcId="{5421AEE2-995E-4B56-9D2B-3FFE1ABCE8F5}" destId="{2D391C12-96E4-4C66-8DD7-A60644C89996}" srcOrd="3" destOrd="0" parTransId="{E0DF3DD1-F60B-4F3E-83E9-8BA29E0EF2A4}" sibTransId="{8DFAF4C0-A764-4C54-9D57-C72E70ACA9D0}"/>
    <dgm:cxn modelId="{DA2C7695-30E6-44FE-AA14-AD4319E5E30C}" type="presOf" srcId="{B0270349-CE19-4B35-9A9F-B7B204A4FDF0}" destId="{58BB118A-3635-4B0A-8E97-D0C0186C321B}" srcOrd="0" destOrd="0" presId="urn:microsoft.com/office/officeart/2005/8/layout/cycle2"/>
    <dgm:cxn modelId="{1F0339A3-46A0-48D6-936D-AC7071B70F57}" type="presOf" srcId="{F1C3A5CF-2A62-4532-9F08-763AA2D0DD16}" destId="{065721E9-D9FC-4DB5-BE4F-60758653B970}" srcOrd="0" destOrd="0" presId="urn:microsoft.com/office/officeart/2005/8/layout/cycle2"/>
    <dgm:cxn modelId="{8C86B1B6-ABB5-40F1-89F1-2246403917E6}" type="presOf" srcId="{A2336FB2-58B9-491D-83C6-4703CFA8B4B3}" destId="{2F1D0DCE-34C9-4906-9F95-C93732734644}" srcOrd="1" destOrd="0" presId="urn:microsoft.com/office/officeart/2005/8/layout/cycle2"/>
    <dgm:cxn modelId="{FA0A08C7-DB46-408D-9D0B-B11F73E93FC4}" srcId="{5421AEE2-995E-4B56-9D2B-3FFE1ABCE8F5}" destId="{F1C3A5CF-2A62-4532-9F08-763AA2D0DD16}" srcOrd="1" destOrd="0" parTransId="{6E2E0AC1-4C70-4221-B323-03546778FB4C}" sibTransId="{A2336FB2-58B9-491D-83C6-4703CFA8B4B3}"/>
    <dgm:cxn modelId="{951A5EEA-9083-4B7C-8810-00FD722337E3}" type="presParOf" srcId="{5B0333E3-53CC-420C-9438-AA5D8FBA033F}" destId="{58BB118A-3635-4B0A-8E97-D0C0186C321B}" srcOrd="0" destOrd="0" presId="urn:microsoft.com/office/officeart/2005/8/layout/cycle2"/>
    <dgm:cxn modelId="{3EE6C40D-E6DD-4622-95FD-BBF04C753F03}" type="presParOf" srcId="{5B0333E3-53CC-420C-9438-AA5D8FBA033F}" destId="{35ABDAC3-89B2-4585-8C1F-D6607ABB54C0}" srcOrd="1" destOrd="0" presId="urn:microsoft.com/office/officeart/2005/8/layout/cycle2"/>
    <dgm:cxn modelId="{C2423933-41EB-49E1-97A7-7A0878676B7E}" type="presParOf" srcId="{35ABDAC3-89B2-4585-8C1F-D6607ABB54C0}" destId="{6E83C49B-5D46-4D02-B9F2-0532385CBEF1}" srcOrd="0" destOrd="0" presId="urn:microsoft.com/office/officeart/2005/8/layout/cycle2"/>
    <dgm:cxn modelId="{A8D351CF-6E63-4F22-AF01-86D73868E025}" type="presParOf" srcId="{5B0333E3-53CC-420C-9438-AA5D8FBA033F}" destId="{065721E9-D9FC-4DB5-BE4F-60758653B970}" srcOrd="2" destOrd="0" presId="urn:microsoft.com/office/officeart/2005/8/layout/cycle2"/>
    <dgm:cxn modelId="{90A25B58-F3CB-48F6-A251-1494E65724FF}" type="presParOf" srcId="{5B0333E3-53CC-420C-9438-AA5D8FBA033F}" destId="{99476A64-84EC-40C8-ABA7-C9FA15CDE416}" srcOrd="3" destOrd="0" presId="urn:microsoft.com/office/officeart/2005/8/layout/cycle2"/>
    <dgm:cxn modelId="{95B43E70-01A6-4749-BE9E-CCDD7AEBA576}" type="presParOf" srcId="{99476A64-84EC-40C8-ABA7-C9FA15CDE416}" destId="{2F1D0DCE-34C9-4906-9F95-C93732734644}" srcOrd="0" destOrd="0" presId="urn:microsoft.com/office/officeart/2005/8/layout/cycle2"/>
    <dgm:cxn modelId="{DA31CDDA-D56A-4C3E-8810-0A61C136B3F2}" type="presParOf" srcId="{5B0333E3-53CC-420C-9438-AA5D8FBA033F}" destId="{B9EA0BBB-219C-48F8-94A0-8C36DDE33A9D}" srcOrd="4" destOrd="0" presId="urn:microsoft.com/office/officeart/2005/8/layout/cycle2"/>
    <dgm:cxn modelId="{49BBA105-FFBE-455F-8D6E-FE56B862B0EB}" type="presParOf" srcId="{5B0333E3-53CC-420C-9438-AA5D8FBA033F}" destId="{D1009601-11EF-47CE-BEDC-7F811A2C3154}" srcOrd="5" destOrd="0" presId="urn:microsoft.com/office/officeart/2005/8/layout/cycle2"/>
    <dgm:cxn modelId="{DDF500EA-1C8A-4791-B03C-4946F1B39ED5}" type="presParOf" srcId="{D1009601-11EF-47CE-BEDC-7F811A2C3154}" destId="{1972D578-72D3-4A3C-9AD6-7D237EA31113}" srcOrd="0" destOrd="0" presId="urn:microsoft.com/office/officeart/2005/8/layout/cycle2"/>
    <dgm:cxn modelId="{69C2A3FB-CD02-46A1-8ACA-960A32861A46}" type="presParOf" srcId="{5B0333E3-53CC-420C-9438-AA5D8FBA033F}" destId="{AACE703C-0045-4835-B9DB-020076B239A2}" srcOrd="6" destOrd="0" presId="urn:microsoft.com/office/officeart/2005/8/layout/cycle2"/>
    <dgm:cxn modelId="{A670CB0C-20A7-441C-AA4B-D6B5E4294215}" type="presParOf" srcId="{5B0333E3-53CC-420C-9438-AA5D8FBA033F}" destId="{46253186-A4AB-41FA-9E1B-4068FBAA70EF}" srcOrd="7" destOrd="0" presId="urn:microsoft.com/office/officeart/2005/8/layout/cycle2"/>
    <dgm:cxn modelId="{74A157C5-A9C4-4D71-A099-C6439541B448}" type="presParOf" srcId="{46253186-A4AB-41FA-9E1B-4068FBAA70EF}" destId="{545B1F36-80B9-4C57-BDF6-9B771D6D59B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11D2AF-10D8-403B-ABF4-30D7A30062AA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39618E8-BC1C-4BEA-BC56-04F4613CCC90}">
      <dgm:prSet/>
      <dgm:spPr/>
      <dgm:t>
        <a:bodyPr/>
        <a:lstStyle/>
        <a:p>
          <a:r>
            <a:rPr lang="ru-RU"/>
            <a:t>координация действий органов власти</a:t>
          </a:r>
        </a:p>
      </dgm:t>
    </dgm:pt>
    <dgm:pt modelId="{D1082654-9E86-4342-8611-209A1C1EE100}" type="parTrans" cxnId="{79591162-BB4A-462C-A0DA-D78AD06FEAE8}">
      <dgm:prSet/>
      <dgm:spPr/>
      <dgm:t>
        <a:bodyPr/>
        <a:lstStyle/>
        <a:p>
          <a:endParaRPr lang="ru-RU"/>
        </a:p>
      </dgm:t>
    </dgm:pt>
    <dgm:pt modelId="{EA441287-5D81-474F-AE0E-E61BF2C69988}" type="sibTrans" cxnId="{79591162-BB4A-462C-A0DA-D78AD06FEAE8}">
      <dgm:prSet/>
      <dgm:spPr/>
      <dgm:t>
        <a:bodyPr/>
        <a:lstStyle/>
        <a:p>
          <a:endParaRPr lang="ru-RU"/>
        </a:p>
      </dgm:t>
    </dgm:pt>
    <dgm:pt modelId="{51949561-E912-42B9-A097-0EC91D025DEC}">
      <dgm:prSet/>
      <dgm:spPr/>
      <dgm:t>
        <a:bodyPr/>
        <a:lstStyle/>
        <a:p>
          <a:r>
            <a:rPr lang="ru-RU"/>
            <a:t>анализ условий и ограничений развития</a:t>
          </a:r>
        </a:p>
      </dgm:t>
    </dgm:pt>
    <dgm:pt modelId="{DD1C90BB-14A4-461F-8851-65EC0B01A781}" type="parTrans" cxnId="{902FE4BD-078E-40F7-88A1-FC813C2FEA50}">
      <dgm:prSet/>
      <dgm:spPr/>
      <dgm:t>
        <a:bodyPr/>
        <a:lstStyle/>
        <a:p>
          <a:endParaRPr lang="ru-RU"/>
        </a:p>
      </dgm:t>
    </dgm:pt>
    <dgm:pt modelId="{B9FF5A09-34F9-4593-AA45-34153E4173A2}" type="sibTrans" cxnId="{902FE4BD-078E-40F7-88A1-FC813C2FEA50}">
      <dgm:prSet/>
      <dgm:spPr/>
      <dgm:t>
        <a:bodyPr/>
        <a:lstStyle/>
        <a:p>
          <a:endParaRPr lang="ru-RU"/>
        </a:p>
      </dgm:t>
    </dgm:pt>
    <dgm:pt modelId="{865C9649-419C-45CA-B11A-39B6EDEA3AE0}">
      <dgm:prSet/>
      <dgm:spPr/>
      <dgm:t>
        <a:bodyPr/>
        <a:lstStyle/>
        <a:p>
          <a:r>
            <a:rPr lang="ru-RU"/>
            <a:t>определение приоритетов политики</a:t>
          </a:r>
        </a:p>
      </dgm:t>
    </dgm:pt>
    <dgm:pt modelId="{8A6D7153-0C88-4D42-8053-3DAB06FC6BBC}" type="parTrans" cxnId="{EBF425BF-740A-4B55-AB36-CCD5A29E2CCA}">
      <dgm:prSet/>
      <dgm:spPr/>
      <dgm:t>
        <a:bodyPr/>
        <a:lstStyle/>
        <a:p>
          <a:endParaRPr lang="ru-RU"/>
        </a:p>
      </dgm:t>
    </dgm:pt>
    <dgm:pt modelId="{5141770C-5117-4D1A-8F56-F1A847BA86DD}" type="sibTrans" cxnId="{EBF425BF-740A-4B55-AB36-CCD5A29E2CCA}">
      <dgm:prSet/>
      <dgm:spPr/>
      <dgm:t>
        <a:bodyPr/>
        <a:lstStyle/>
        <a:p>
          <a:endParaRPr lang="ru-RU"/>
        </a:p>
      </dgm:t>
    </dgm:pt>
    <dgm:pt modelId="{E33B59B4-5910-4A96-9A7A-280E56AAC638}">
      <dgm:prSet/>
      <dgm:spPr/>
      <dgm:t>
        <a:bodyPr/>
        <a:lstStyle/>
        <a:p>
          <a:r>
            <a:rPr lang="ru-RU"/>
            <a:t>выбор оптимальных способов достижения целей,</a:t>
          </a:r>
        </a:p>
      </dgm:t>
    </dgm:pt>
    <dgm:pt modelId="{B1301201-8C88-4B53-AD2F-5EC45D716851}" type="parTrans" cxnId="{A39CF692-B06B-413E-87C0-E0B0EDA72038}">
      <dgm:prSet/>
      <dgm:spPr/>
      <dgm:t>
        <a:bodyPr/>
        <a:lstStyle/>
        <a:p>
          <a:endParaRPr lang="ru-RU"/>
        </a:p>
      </dgm:t>
    </dgm:pt>
    <dgm:pt modelId="{9FFD267B-BA4D-4D50-9102-DE4ABF05C057}" type="sibTrans" cxnId="{A39CF692-B06B-413E-87C0-E0B0EDA72038}">
      <dgm:prSet/>
      <dgm:spPr/>
      <dgm:t>
        <a:bodyPr/>
        <a:lstStyle/>
        <a:p>
          <a:endParaRPr lang="ru-RU"/>
        </a:p>
      </dgm:t>
    </dgm:pt>
    <dgm:pt modelId="{0D4CCB57-1AB6-4BB3-8D5C-BF861DA2A420}">
      <dgm:prSet/>
      <dgm:spPr/>
      <dgm:t>
        <a:bodyPr/>
        <a:lstStyle/>
        <a:p>
          <a:r>
            <a:rPr lang="ru-RU"/>
            <a:t>формирование комплекса мероприятий</a:t>
          </a:r>
        </a:p>
      </dgm:t>
    </dgm:pt>
    <dgm:pt modelId="{C78E85F2-0699-442B-AF14-615DACAC54AA}" type="parTrans" cxnId="{961FE912-C46F-47C8-892C-3A72AC54BA4D}">
      <dgm:prSet/>
      <dgm:spPr/>
      <dgm:t>
        <a:bodyPr/>
        <a:lstStyle/>
        <a:p>
          <a:endParaRPr lang="ru-RU"/>
        </a:p>
      </dgm:t>
    </dgm:pt>
    <dgm:pt modelId="{B119653B-09BF-41BF-9296-4D88047AA0D7}" type="sibTrans" cxnId="{961FE912-C46F-47C8-892C-3A72AC54BA4D}">
      <dgm:prSet/>
      <dgm:spPr/>
      <dgm:t>
        <a:bodyPr/>
        <a:lstStyle/>
        <a:p>
          <a:endParaRPr lang="ru-RU"/>
        </a:p>
      </dgm:t>
    </dgm:pt>
    <dgm:pt modelId="{C1CA7957-EE1C-40BA-88E1-A33C2A4BC3C5}">
      <dgm:prSet/>
      <dgm:spPr/>
      <dgm:t>
        <a:bodyPr/>
        <a:lstStyle/>
        <a:p>
          <a:r>
            <a:rPr lang="ru-RU"/>
            <a:t>ресурсное обеспечение </a:t>
          </a:r>
        </a:p>
      </dgm:t>
    </dgm:pt>
    <dgm:pt modelId="{2A5A1745-29ED-40F6-A0F2-3C0D4B597A94}" type="parTrans" cxnId="{B7E3552A-54CA-450F-9FA4-31546B253584}">
      <dgm:prSet/>
      <dgm:spPr/>
      <dgm:t>
        <a:bodyPr/>
        <a:lstStyle/>
        <a:p>
          <a:endParaRPr lang="ru-RU"/>
        </a:p>
      </dgm:t>
    </dgm:pt>
    <dgm:pt modelId="{B7C42716-0927-4E9E-8703-B8032378782A}" type="sibTrans" cxnId="{B7E3552A-54CA-450F-9FA4-31546B253584}">
      <dgm:prSet/>
      <dgm:spPr/>
      <dgm:t>
        <a:bodyPr/>
        <a:lstStyle/>
        <a:p>
          <a:endParaRPr lang="ru-RU"/>
        </a:p>
      </dgm:t>
    </dgm:pt>
    <dgm:pt modelId="{C0E76CC5-BCBD-42E0-9176-DAF2C9AB35E7}">
      <dgm:prSet/>
      <dgm:spPr/>
      <dgm:t>
        <a:bodyPr/>
        <a:lstStyle/>
        <a:p>
          <a:r>
            <a:rPr lang="ru-RU"/>
            <a:t>организация мониторинга исполнения стратегических документов</a:t>
          </a:r>
        </a:p>
      </dgm:t>
    </dgm:pt>
    <dgm:pt modelId="{4EE4F49C-1124-4786-BCBC-E15EFE255C26}" type="parTrans" cxnId="{E18284D2-6FA1-46A1-8FBF-238F9557C3A3}">
      <dgm:prSet/>
      <dgm:spPr/>
      <dgm:t>
        <a:bodyPr/>
        <a:lstStyle/>
        <a:p>
          <a:endParaRPr lang="ru-RU"/>
        </a:p>
      </dgm:t>
    </dgm:pt>
    <dgm:pt modelId="{12B57FC9-A957-459B-8118-EE3048FE89A7}" type="sibTrans" cxnId="{E18284D2-6FA1-46A1-8FBF-238F9557C3A3}">
      <dgm:prSet/>
      <dgm:spPr/>
      <dgm:t>
        <a:bodyPr/>
        <a:lstStyle/>
        <a:p>
          <a:endParaRPr lang="ru-RU"/>
        </a:p>
      </dgm:t>
    </dgm:pt>
    <dgm:pt modelId="{340CBC75-6034-4DED-8545-295DFD976BBF}" type="pres">
      <dgm:prSet presAssocID="{F311D2AF-10D8-403B-ABF4-30D7A30062AA}" presName="diagram" presStyleCnt="0">
        <dgm:presLayoutVars>
          <dgm:dir/>
          <dgm:resizeHandles val="exact"/>
        </dgm:presLayoutVars>
      </dgm:prSet>
      <dgm:spPr/>
    </dgm:pt>
    <dgm:pt modelId="{E0C6497B-023A-429A-99A4-D8777BC72EB9}" type="pres">
      <dgm:prSet presAssocID="{539618E8-BC1C-4BEA-BC56-04F4613CCC90}" presName="node" presStyleLbl="node1" presStyleIdx="0" presStyleCnt="7" custScaleX="177156">
        <dgm:presLayoutVars>
          <dgm:bulletEnabled val="1"/>
        </dgm:presLayoutVars>
      </dgm:prSet>
      <dgm:spPr/>
    </dgm:pt>
    <dgm:pt modelId="{A1EC5466-CB06-488B-8F41-F6B897B9989E}" type="pres">
      <dgm:prSet presAssocID="{EA441287-5D81-474F-AE0E-E61BF2C69988}" presName="sibTrans" presStyleLbl="sibTrans2D1" presStyleIdx="0" presStyleCnt="6"/>
      <dgm:spPr/>
    </dgm:pt>
    <dgm:pt modelId="{DC8AE77D-912C-4CE9-A5D0-D361F74E5087}" type="pres">
      <dgm:prSet presAssocID="{EA441287-5D81-474F-AE0E-E61BF2C69988}" presName="connectorText" presStyleLbl="sibTrans2D1" presStyleIdx="0" presStyleCnt="6"/>
      <dgm:spPr/>
    </dgm:pt>
    <dgm:pt modelId="{593575F8-6AD4-4DF8-9656-12E236040F19}" type="pres">
      <dgm:prSet presAssocID="{51949561-E912-42B9-A097-0EC91D025DEC}" presName="node" presStyleLbl="node1" presStyleIdx="1" presStyleCnt="7" custScaleX="177156">
        <dgm:presLayoutVars>
          <dgm:bulletEnabled val="1"/>
        </dgm:presLayoutVars>
      </dgm:prSet>
      <dgm:spPr/>
    </dgm:pt>
    <dgm:pt modelId="{C86AF7CF-3767-4558-ABEE-056D062B177F}" type="pres">
      <dgm:prSet presAssocID="{B9FF5A09-34F9-4593-AA45-34153E4173A2}" presName="sibTrans" presStyleLbl="sibTrans2D1" presStyleIdx="1" presStyleCnt="6"/>
      <dgm:spPr/>
    </dgm:pt>
    <dgm:pt modelId="{AC930B3E-A4A1-486E-9989-22CD85123993}" type="pres">
      <dgm:prSet presAssocID="{B9FF5A09-34F9-4593-AA45-34153E4173A2}" presName="connectorText" presStyleLbl="sibTrans2D1" presStyleIdx="1" presStyleCnt="6"/>
      <dgm:spPr/>
    </dgm:pt>
    <dgm:pt modelId="{FB63AC80-6416-4CEC-95DC-1C996CE301ED}" type="pres">
      <dgm:prSet presAssocID="{865C9649-419C-45CA-B11A-39B6EDEA3AE0}" presName="node" presStyleLbl="node1" presStyleIdx="2" presStyleCnt="7" custScaleX="177156">
        <dgm:presLayoutVars>
          <dgm:bulletEnabled val="1"/>
        </dgm:presLayoutVars>
      </dgm:prSet>
      <dgm:spPr/>
    </dgm:pt>
    <dgm:pt modelId="{5114E33A-609E-44D0-889C-E6A1C46CC9F2}" type="pres">
      <dgm:prSet presAssocID="{5141770C-5117-4D1A-8F56-F1A847BA86DD}" presName="sibTrans" presStyleLbl="sibTrans2D1" presStyleIdx="2" presStyleCnt="6"/>
      <dgm:spPr/>
    </dgm:pt>
    <dgm:pt modelId="{1F3EFC13-1E32-4918-AAFD-991009C1C1BA}" type="pres">
      <dgm:prSet presAssocID="{5141770C-5117-4D1A-8F56-F1A847BA86DD}" presName="connectorText" presStyleLbl="sibTrans2D1" presStyleIdx="2" presStyleCnt="6"/>
      <dgm:spPr/>
    </dgm:pt>
    <dgm:pt modelId="{5B3EF824-1FA4-436E-B70E-820450F672EB}" type="pres">
      <dgm:prSet presAssocID="{E33B59B4-5910-4A96-9A7A-280E56AAC638}" presName="node" presStyleLbl="node1" presStyleIdx="3" presStyleCnt="7" custScaleX="177156">
        <dgm:presLayoutVars>
          <dgm:bulletEnabled val="1"/>
        </dgm:presLayoutVars>
      </dgm:prSet>
      <dgm:spPr/>
    </dgm:pt>
    <dgm:pt modelId="{7F313073-4322-4CF8-A15D-AB381F080B73}" type="pres">
      <dgm:prSet presAssocID="{9FFD267B-BA4D-4D50-9102-DE4ABF05C057}" presName="sibTrans" presStyleLbl="sibTrans2D1" presStyleIdx="3" presStyleCnt="6"/>
      <dgm:spPr/>
    </dgm:pt>
    <dgm:pt modelId="{7597A22E-F850-434A-BC45-59A437E8AF3B}" type="pres">
      <dgm:prSet presAssocID="{9FFD267B-BA4D-4D50-9102-DE4ABF05C057}" presName="connectorText" presStyleLbl="sibTrans2D1" presStyleIdx="3" presStyleCnt="6"/>
      <dgm:spPr/>
    </dgm:pt>
    <dgm:pt modelId="{768D2EB4-6BB7-4BF7-86E7-5E84DFBEAFFC}" type="pres">
      <dgm:prSet presAssocID="{0D4CCB57-1AB6-4BB3-8D5C-BF861DA2A420}" presName="node" presStyleLbl="node1" presStyleIdx="4" presStyleCnt="7" custScaleX="177156">
        <dgm:presLayoutVars>
          <dgm:bulletEnabled val="1"/>
        </dgm:presLayoutVars>
      </dgm:prSet>
      <dgm:spPr/>
    </dgm:pt>
    <dgm:pt modelId="{B25AF6A1-36A1-45A9-B474-1BD9FCDAD0BE}" type="pres">
      <dgm:prSet presAssocID="{B119653B-09BF-41BF-9296-4D88047AA0D7}" presName="sibTrans" presStyleLbl="sibTrans2D1" presStyleIdx="4" presStyleCnt="6"/>
      <dgm:spPr/>
    </dgm:pt>
    <dgm:pt modelId="{E77FC18E-0029-483F-8AF4-25FEEDCA6849}" type="pres">
      <dgm:prSet presAssocID="{B119653B-09BF-41BF-9296-4D88047AA0D7}" presName="connectorText" presStyleLbl="sibTrans2D1" presStyleIdx="4" presStyleCnt="6"/>
      <dgm:spPr/>
    </dgm:pt>
    <dgm:pt modelId="{6A945354-BF45-48CE-BDB0-BDCB665E9BC5}" type="pres">
      <dgm:prSet presAssocID="{C1CA7957-EE1C-40BA-88E1-A33C2A4BC3C5}" presName="node" presStyleLbl="node1" presStyleIdx="5" presStyleCnt="7" custScaleX="177156">
        <dgm:presLayoutVars>
          <dgm:bulletEnabled val="1"/>
        </dgm:presLayoutVars>
      </dgm:prSet>
      <dgm:spPr/>
    </dgm:pt>
    <dgm:pt modelId="{A1654175-7CF3-4E88-BAE7-044EAB16D659}" type="pres">
      <dgm:prSet presAssocID="{B7C42716-0927-4E9E-8703-B8032378782A}" presName="sibTrans" presStyleLbl="sibTrans2D1" presStyleIdx="5" presStyleCnt="6"/>
      <dgm:spPr/>
    </dgm:pt>
    <dgm:pt modelId="{EABDF2FB-41FA-4226-84D3-CBBF09CB9E8A}" type="pres">
      <dgm:prSet presAssocID="{B7C42716-0927-4E9E-8703-B8032378782A}" presName="connectorText" presStyleLbl="sibTrans2D1" presStyleIdx="5" presStyleCnt="6"/>
      <dgm:spPr/>
    </dgm:pt>
    <dgm:pt modelId="{412661D2-6038-4ADB-ACFB-1819010BA9A8}" type="pres">
      <dgm:prSet presAssocID="{C0E76CC5-BCBD-42E0-9176-DAF2C9AB35E7}" presName="node" presStyleLbl="node1" presStyleIdx="6" presStyleCnt="7" custScaleX="177156">
        <dgm:presLayoutVars>
          <dgm:bulletEnabled val="1"/>
        </dgm:presLayoutVars>
      </dgm:prSet>
      <dgm:spPr/>
    </dgm:pt>
  </dgm:ptLst>
  <dgm:cxnLst>
    <dgm:cxn modelId="{C3D1D909-3D07-4518-9A52-E223C69DE72F}" type="presOf" srcId="{5141770C-5117-4D1A-8F56-F1A847BA86DD}" destId="{1F3EFC13-1E32-4918-AAFD-991009C1C1BA}" srcOrd="1" destOrd="0" presId="urn:microsoft.com/office/officeart/2005/8/layout/process5"/>
    <dgm:cxn modelId="{961FE912-C46F-47C8-892C-3A72AC54BA4D}" srcId="{F311D2AF-10D8-403B-ABF4-30D7A30062AA}" destId="{0D4CCB57-1AB6-4BB3-8D5C-BF861DA2A420}" srcOrd="4" destOrd="0" parTransId="{C78E85F2-0699-442B-AF14-615DACAC54AA}" sibTransId="{B119653B-09BF-41BF-9296-4D88047AA0D7}"/>
    <dgm:cxn modelId="{E5FE291A-4D2F-4804-8987-07986D49F35C}" type="presOf" srcId="{EA441287-5D81-474F-AE0E-E61BF2C69988}" destId="{DC8AE77D-912C-4CE9-A5D0-D361F74E5087}" srcOrd="1" destOrd="0" presId="urn:microsoft.com/office/officeart/2005/8/layout/process5"/>
    <dgm:cxn modelId="{B7E3552A-54CA-450F-9FA4-31546B253584}" srcId="{F311D2AF-10D8-403B-ABF4-30D7A30062AA}" destId="{C1CA7957-EE1C-40BA-88E1-A33C2A4BC3C5}" srcOrd="5" destOrd="0" parTransId="{2A5A1745-29ED-40F6-A0F2-3C0D4B597A94}" sibTransId="{B7C42716-0927-4E9E-8703-B8032378782A}"/>
    <dgm:cxn modelId="{72B9272D-9B4D-4F41-8DF7-7973987887E5}" type="presOf" srcId="{C1CA7957-EE1C-40BA-88E1-A33C2A4BC3C5}" destId="{6A945354-BF45-48CE-BDB0-BDCB665E9BC5}" srcOrd="0" destOrd="0" presId="urn:microsoft.com/office/officeart/2005/8/layout/process5"/>
    <dgm:cxn modelId="{12F3BD60-57FD-4139-9D74-5F780992FC09}" type="presOf" srcId="{5141770C-5117-4D1A-8F56-F1A847BA86DD}" destId="{5114E33A-609E-44D0-889C-E6A1C46CC9F2}" srcOrd="0" destOrd="0" presId="urn:microsoft.com/office/officeart/2005/8/layout/process5"/>
    <dgm:cxn modelId="{79591162-BB4A-462C-A0DA-D78AD06FEAE8}" srcId="{F311D2AF-10D8-403B-ABF4-30D7A30062AA}" destId="{539618E8-BC1C-4BEA-BC56-04F4613CCC90}" srcOrd="0" destOrd="0" parTransId="{D1082654-9E86-4342-8611-209A1C1EE100}" sibTransId="{EA441287-5D81-474F-AE0E-E61BF2C69988}"/>
    <dgm:cxn modelId="{9D50044A-69A6-4640-B401-D2574D700C64}" type="presOf" srcId="{9FFD267B-BA4D-4D50-9102-DE4ABF05C057}" destId="{7597A22E-F850-434A-BC45-59A437E8AF3B}" srcOrd="1" destOrd="0" presId="urn:microsoft.com/office/officeart/2005/8/layout/process5"/>
    <dgm:cxn modelId="{91BE6E6D-A650-4BFD-A22B-43596431ECA2}" type="presOf" srcId="{B119653B-09BF-41BF-9296-4D88047AA0D7}" destId="{B25AF6A1-36A1-45A9-B474-1BD9FCDAD0BE}" srcOrd="0" destOrd="0" presId="urn:microsoft.com/office/officeart/2005/8/layout/process5"/>
    <dgm:cxn modelId="{5E8D886D-17E2-4949-A15C-CE1CC9162046}" type="presOf" srcId="{C0E76CC5-BCBD-42E0-9176-DAF2C9AB35E7}" destId="{412661D2-6038-4ADB-ACFB-1819010BA9A8}" srcOrd="0" destOrd="0" presId="urn:microsoft.com/office/officeart/2005/8/layout/process5"/>
    <dgm:cxn modelId="{9E78F351-CF16-4228-BBB3-44621E6C5668}" type="presOf" srcId="{9FFD267B-BA4D-4D50-9102-DE4ABF05C057}" destId="{7F313073-4322-4CF8-A15D-AB381F080B73}" srcOrd="0" destOrd="0" presId="urn:microsoft.com/office/officeart/2005/8/layout/process5"/>
    <dgm:cxn modelId="{16DBB374-876E-4187-A4EF-AC0FE06572F1}" type="presOf" srcId="{E33B59B4-5910-4A96-9A7A-280E56AAC638}" destId="{5B3EF824-1FA4-436E-B70E-820450F672EB}" srcOrd="0" destOrd="0" presId="urn:microsoft.com/office/officeart/2005/8/layout/process5"/>
    <dgm:cxn modelId="{C0CE2078-4FE2-4436-842A-788937AF9657}" type="presOf" srcId="{B7C42716-0927-4E9E-8703-B8032378782A}" destId="{EABDF2FB-41FA-4226-84D3-CBBF09CB9E8A}" srcOrd="1" destOrd="0" presId="urn:microsoft.com/office/officeart/2005/8/layout/process5"/>
    <dgm:cxn modelId="{28169778-2CC5-498F-9442-8BD4DACAE0A9}" type="presOf" srcId="{865C9649-419C-45CA-B11A-39B6EDEA3AE0}" destId="{FB63AC80-6416-4CEC-95DC-1C996CE301ED}" srcOrd="0" destOrd="0" presId="urn:microsoft.com/office/officeart/2005/8/layout/process5"/>
    <dgm:cxn modelId="{58880B7C-E4C0-4A23-AAEC-C7E5F29767F2}" type="presOf" srcId="{B9FF5A09-34F9-4593-AA45-34153E4173A2}" destId="{AC930B3E-A4A1-486E-9989-22CD85123993}" srcOrd="1" destOrd="0" presId="urn:microsoft.com/office/officeart/2005/8/layout/process5"/>
    <dgm:cxn modelId="{D9DA5F91-4D88-4798-B693-98227ADE455B}" type="presOf" srcId="{F311D2AF-10D8-403B-ABF4-30D7A30062AA}" destId="{340CBC75-6034-4DED-8545-295DFD976BBF}" srcOrd="0" destOrd="0" presId="urn:microsoft.com/office/officeart/2005/8/layout/process5"/>
    <dgm:cxn modelId="{1593DC91-40FA-4365-9845-BEA3E1D4779E}" type="presOf" srcId="{EA441287-5D81-474F-AE0E-E61BF2C69988}" destId="{A1EC5466-CB06-488B-8F41-F6B897B9989E}" srcOrd="0" destOrd="0" presId="urn:microsoft.com/office/officeart/2005/8/layout/process5"/>
    <dgm:cxn modelId="{A39CF692-B06B-413E-87C0-E0B0EDA72038}" srcId="{F311D2AF-10D8-403B-ABF4-30D7A30062AA}" destId="{E33B59B4-5910-4A96-9A7A-280E56AAC638}" srcOrd="3" destOrd="0" parTransId="{B1301201-8C88-4B53-AD2F-5EC45D716851}" sibTransId="{9FFD267B-BA4D-4D50-9102-DE4ABF05C057}"/>
    <dgm:cxn modelId="{A1CF50AA-C807-48D2-8757-5C5AA88DA742}" type="presOf" srcId="{0D4CCB57-1AB6-4BB3-8D5C-BF861DA2A420}" destId="{768D2EB4-6BB7-4BF7-86E7-5E84DFBEAFFC}" srcOrd="0" destOrd="0" presId="urn:microsoft.com/office/officeart/2005/8/layout/process5"/>
    <dgm:cxn modelId="{737865AE-F507-4795-9ECB-DECBB4C71836}" type="presOf" srcId="{51949561-E912-42B9-A097-0EC91D025DEC}" destId="{593575F8-6AD4-4DF8-9656-12E236040F19}" srcOrd="0" destOrd="0" presId="urn:microsoft.com/office/officeart/2005/8/layout/process5"/>
    <dgm:cxn modelId="{271965BA-F953-4B42-9E0B-5EE0218C3595}" type="presOf" srcId="{B119653B-09BF-41BF-9296-4D88047AA0D7}" destId="{E77FC18E-0029-483F-8AF4-25FEEDCA6849}" srcOrd="1" destOrd="0" presId="urn:microsoft.com/office/officeart/2005/8/layout/process5"/>
    <dgm:cxn modelId="{902FE4BD-078E-40F7-88A1-FC813C2FEA50}" srcId="{F311D2AF-10D8-403B-ABF4-30D7A30062AA}" destId="{51949561-E912-42B9-A097-0EC91D025DEC}" srcOrd="1" destOrd="0" parTransId="{DD1C90BB-14A4-461F-8851-65EC0B01A781}" sibTransId="{B9FF5A09-34F9-4593-AA45-34153E4173A2}"/>
    <dgm:cxn modelId="{EBF425BF-740A-4B55-AB36-CCD5A29E2CCA}" srcId="{F311D2AF-10D8-403B-ABF4-30D7A30062AA}" destId="{865C9649-419C-45CA-B11A-39B6EDEA3AE0}" srcOrd="2" destOrd="0" parTransId="{8A6D7153-0C88-4D42-8053-3DAB06FC6BBC}" sibTransId="{5141770C-5117-4D1A-8F56-F1A847BA86DD}"/>
    <dgm:cxn modelId="{1BF7C4CF-D878-43F1-AD93-9A4771E2663B}" type="presOf" srcId="{539618E8-BC1C-4BEA-BC56-04F4613CCC90}" destId="{E0C6497B-023A-429A-99A4-D8777BC72EB9}" srcOrd="0" destOrd="0" presId="urn:microsoft.com/office/officeart/2005/8/layout/process5"/>
    <dgm:cxn modelId="{E18284D2-6FA1-46A1-8FBF-238F9557C3A3}" srcId="{F311D2AF-10D8-403B-ABF4-30D7A30062AA}" destId="{C0E76CC5-BCBD-42E0-9176-DAF2C9AB35E7}" srcOrd="6" destOrd="0" parTransId="{4EE4F49C-1124-4786-BCBC-E15EFE255C26}" sibTransId="{12B57FC9-A957-459B-8118-EE3048FE89A7}"/>
    <dgm:cxn modelId="{2242E6E1-3727-4E9A-A8CA-37493BA8F98F}" type="presOf" srcId="{B7C42716-0927-4E9E-8703-B8032378782A}" destId="{A1654175-7CF3-4E88-BAE7-044EAB16D659}" srcOrd="0" destOrd="0" presId="urn:microsoft.com/office/officeart/2005/8/layout/process5"/>
    <dgm:cxn modelId="{31939AE3-C803-4D8D-AB63-CDCCD1917443}" type="presOf" srcId="{B9FF5A09-34F9-4593-AA45-34153E4173A2}" destId="{C86AF7CF-3767-4558-ABEE-056D062B177F}" srcOrd="0" destOrd="0" presId="urn:microsoft.com/office/officeart/2005/8/layout/process5"/>
    <dgm:cxn modelId="{1D79AE83-43F9-499B-8031-43B9C575450E}" type="presParOf" srcId="{340CBC75-6034-4DED-8545-295DFD976BBF}" destId="{E0C6497B-023A-429A-99A4-D8777BC72EB9}" srcOrd="0" destOrd="0" presId="urn:microsoft.com/office/officeart/2005/8/layout/process5"/>
    <dgm:cxn modelId="{F5398C62-A1AC-4174-824F-6CEFA7E7FBDD}" type="presParOf" srcId="{340CBC75-6034-4DED-8545-295DFD976BBF}" destId="{A1EC5466-CB06-488B-8F41-F6B897B9989E}" srcOrd="1" destOrd="0" presId="urn:microsoft.com/office/officeart/2005/8/layout/process5"/>
    <dgm:cxn modelId="{24A5A696-2510-4767-94C5-B6168D5E4E99}" type="presParOf" srcId="{A1EC5466-CB06-488B-8F41-F6B897B9989E}" destId="{DC8AE77D-912C-4CE9-A5D0-D361F74E5087}" srcOrd="0" destOrd="0" presId="urn:microsoft.com/office/officeart/2005/8/layout/process5"/>
    <dgm:cxn modelId="{B67A958B-38B0-4240-936E-572C903D2858}" type="presParOf" srcId="{340CBC75-6034-4DED-8545-295DFD976BBF}" destId="{593575F8-6AD4-4DF8-9656-12E236040F19}" srcOrd="2" destOrd="0" presId="urn:microsoft.com/office/officeart/2005/8/layout/process5"/>
    <dgm:cxn modelId="{DBA3E472-3E30-499F-8FD8-342A1CFD0662}" type="presParOf" srcId="{340CBC75-6034-4DED-8545-295DFD976BBF}" destId="{C86AF7CF-3767-4558-ABEE-056D062B177F}" srcOrd="3" destOrd="0" presId="urn:microsoft.com/office/officeart/2005/8/layout/process5"/>
    <dgm:cxn modelId="{6ADCA0E7-782E-4EFE-B3E3-F392DADF0177}" type="presParOf" srcId="{C86AF7CF-3767-4558-ABEE-056D062B177F}" destId="{AC930B3E-A4A1-486E-9989-22CD85123993}" srcOrd="0" destOrd="0" presId="urn:microsoft.com/office/officeart/2005/8/layout/process5"/>
    <dgm:cxn modelId="{BF7F7411-874B-4AC7-B83A-C93F84956309}" type="presParOf" srcId="{340CBC75-6034-4DED-8545-295DFD976BBF}" destId="{FB63AC80-6416-4CEC-95DC-1C996CE301ED}" srcOrd="4" destOrd="0" presId="urn:microsoft.com/office/officeart/2005/8/layout/process5"/>
    <dgm:cxn modelId="{2284A14B-CE8D-483A-8BC0-4DFB6975223B}" type="presParOf" srcId="{340CBC75-6034-4DED-8545-295DFD976BBF}" destId="{5114E33A-609E-44D0-889C-E6A1C46CC9F2}" srcOrd="5" destOrd="0" presId="urn:microsoft.com/office/officeart/2005/8/layout/process5"/>
    <dgm:cxn modelId="{EB0916B6-01E2-492E-9B2F-0707D454E7B6}" type="presParOf" srcId="{5114E33A-609E-44D0-889C-E6A1C46CC9F2}" destId="{1F3EFC13-1E32-4918-AAFD-991009C1C1BA}" srcOrd="0" destOrd="0" presId="urn:microsoft.com/office/officeart/2005/8/layout/process5"/>
    <dgm:cxn modelId="{EB31E159-41FB-41F8-BF57-DC3788246095}" type="presParOf" srcId="{340CBC75-6034-4DED-8545-295DFD976BBF}" destId="{5B3EF824-1FA4-436E-B70E-820450F672EB}" srcOrd="6" destOrd="0" presId="urn:microsoft.com/office/officeart/2005/8/layout/process5"/>
    <dgm:cxn modelId="{2BDF96AF-7C96-40D5-94B4-D7F68567D1CD}" type="presParOf" srcId="{340CBC75-6034-4DED-8545-295DFD976BBF}" destId="{7F313073-4322-4CF8-A15D-AB381F080B73}" srcOrd="7" destOrd="0" presId="urn:microsoft.com/office/officeart/2005/8/layout/process5"/>
    <dgm:cxn modelId="{0AE20813-E087-45F5-A3DC-F5F3432DBA9E}" type="presParOf" srcId="{7F313073-4322-4CF8-A15D-AB381F080B73}" destId="{7597A22E-F850-434A-BC45-59A437E8AF3B}" srcOrd="0" destOrd="0" presId="urn:microsoft.com/office/officeart/2005/8/layout/process5"/>
    <dgm:cxn modelId="{A35E8AFD-3096-42E7-9FD8-5E31B0AA9BAE}" type="presParOf" srcId="{340CBC75-6034-4DED-8545-295DFD976BBF}" destId="{768D2EB4-6BB7-4BF7-86E7-5E84DFBEAFFC}" srcOrd="8" destOrd="0" presId="urn:microsoft.com/office/officeart/2005/8/layout/process5"/>
    <dgm:cxn modelId="{372D8F1D-BA59-4B2F-87C6-A1529DD2EB9E}" type="presParOf" srcId="{340CBC75-6034-4DED-8545-295DFD976BBF}" destId="{B25AF6A1-36A1-45A9-B474-1BD9FCDAD0BE}" srcOrd="9" destOrd="0" presId="urn:microsoft.com/office/officeart/2005/8/layout/process5"/>
    <dgm:cxn modelId="{1EC54328-9F01-4EC1-8CE1-69F17E56F35E}" type="presParOf" srcId="{B25AF6A1-36A1-45A9-B474-1BD9FCDAD0BE}" destId="{E77FC18E-0029-483F-8AF4-25FEEDCA6849}" srcOrd="0" destOrd="0" presId="urn:microsoft.com/office/officeart/2005/8/layout/process5"/>
    <dgm:cxn modelId="{C93A19E9-5D28-40B2-B4FA-E4A59369FF01}" type="presParOf" srcId="{340CBC75-6034-4DED-8545-295DFD976BBF}" destId="{6A945354-BF45-48CE-BDB0-BDCB665E9BC5}" srcOrd="10" destOrd="0" presId="urn:microsoft.com/office/officeart/2005/8/layout/process5"/>
    <dgm:cxn modelId="{91B58D5F-D3F8-4C16-B54C-EA5165F3789E}" type="presParOf" srcId="{340CBC75-6034-4DED-8545-295DFD976BBF}" destId="{A1654175-7CF3-4E88-BAE7-044EAB16D659}" srcOrd="11" destOrd="0" presId="urn:microsoft.com/office/officeart/2005/8/layout/process5"/>
    <dgm:cxn modelId="{F92E601B-8E55-41D6-B50C-80F6069AE28C}" type="presParOf" srcId="{A1654175-7CF3-4E88-BAE7-044EAB16D659}" destId="{EABDF2FB-41FA-4226-84D3-CBBF09CB9E8A}" srcOrd="0" destOrd="0" presId="urn:microsoft.com/office/officeart/2005/8/layout/process5"/>
    <dgm:cxn modelId="{86AF71B3-D443-42A5-BC12-FB1816E712A2}" type="presParOf" srcId="{340CBC75-6034-4DED-8545-295DFD976BBF}" destId="{412661D2-6038-4ADB-ACFB-1819010BA9A8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557CBAD-73B8-42A7-9207-846EF0482A9E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8F0E7C2-4479-4426-A858-DCCA2A7F9B83}">
      <dgm:prSet/>
      <dgm:spPr/>
      <dgm:t>
        <a:bodyPr/>
        <a:lstStyle/>
        <a:p>
          <a:r>
            <a:rPr lang="ru-RU"/>
            <a:t>единства и целостности</a:t>
          </a:r>
          <a:endParaRPr lang="en-US"/>
        </a:p>
      </dgm:t>
    </dgm:pt>
    <dgm:pt modelId="{8D4E03F4-4B5E-4178-B95B-7D6A500D18DF}" type="parTrans" cxnId="{ED15FA81-2EA8-4BCF-8AF6-4FFC044E0278}">
      <dgm:prSet/>
      <dgm:spPr/>
      <dgm:t>
        <a:bodyPr/>
        <a:lstStyle/>
        <a:p>
          <a:endParaRPr lang="en-US"/>
        </a:p>
      </dgm:t>
    </dgm:pt>
    <dgm:pt modelId="{259289B2-774E-4A2F-8D77-0E4CB5916687}" type="sibTrans" cxnId="{ED15FA81-2EA8-4BCF-8AF6-4FFC044E0278}">
      <dgm:prSet/>
      <dgm:spPr/>
      <dgm:t>
        <a:bodyPr/>
        <a:lstStyle/>
        <a:p>
          <a:endParaRPr lang="en-US"/>
        </a:p>
      </dgm:t>
    </dgm:pt>
    <dgm:pt modelId="{C926A168-E2F2-4D1D-A322-E2C853671569}">
      <dgm:prSet/>
      <dgm:spPr/>
      <dgm:t>
        <a:bodyPr/>
        <a:lstStyle/>
        <a:p>
          <a:r>
            <a:rPr lang="ru-RU" dirty="0"/>
            <a:t>разграничения полномочий</a:t>
          </a:r>
          <a:endParaRPr lang="en-US" dirty="0"/>
        </a:p>
      </dgm:t>
    </dgm:pt>
    <dgm:pt modelId="{3BBF715D-C6E2-4548-9F0E-3419D5FA6129}" type="parTrans" cxnId="{9E1E5FDA-F25B-4EB5-8BD3-31D0661EC977}">
      <dgm:prSet/>
      <dgm:spPr/>
      <dgm:t>
        <a:bodyPr/>
        <a:lstStyle/>
        <a:p>
          <a:endParaRPr lang="en-US"/>
        </a:p>
      </dgm:t>
    </dgm:pt>
    <dgm:pt modelId="{A837707E-D3D6-441C-895D-EFFE9334B242}" type="sibTrans" cxnId="{9E1E5FDA-F25B-4EB5-8BD3-31D0661EC977}">
      <dgm:prSet/>
      <dgm:spPr/>
      <dgm:t>
        <a:bodyPr/>
        <a:lstStyle/>
        <a:p>
          <a:endParaRPr lang="en-US"/>
        </a:p>
      </dgm:t>
    </dgm:pt>
    <dgm:pt modelId="{84B10A75-48E3-4219-B37E-6AD07D7B8E16}">
      <dgm:prSet/>
      <dgm:spPr/>
      <dgm:t>
        <a:bodyPr/>
        <a:lstStyle/>
        <a:p>
          <a:r>
            <a:rPr lang="ru-RU"/>
            <a:t>преемственности и непрерывности</a:t>
          </a:r>
          <a:endParaRPr lang="en-US"/>
        </a:p>
      </dgm:t>
    </dgm:pt>
    <dgm:pt modelId="{2BDDA2EF-43C5-4B83-977D-14677F107A7E}" type="parTrans" cxnId="{FC94D5E1-1394-4D5A-83AF-8EAA0122D1ED}">
      <dgm:prSet/>
      <dgm:spPr/>
      <dgm:t>
        <a:bodyPr/>
        <a:lstStyle/>
        <a:p>
          <a:endParaRPr lang="en-US"/>
        </a:p>
      </dgm:t>
    </dgm:pt>
    <dgm:pt modelId="{701683E4-372A-47F7-9D66-2B0ABDD3CD08}" type="sibTrans" cxnId="{FC94D5E1-1394-4D5A-83AF-8EAA0122D1ED}">
      <dgm:prSet/>
      <dgm:spPr/>
      <dgm:t>
        <a:bodyPr/>
        <a:lstStyle/>
        <a:p>
          <a:endParaRPr lang="en-US"/>
        </a:p>
      </dgm:t>
    </dgm:pt>
    <dgm:pt modelId="{62A2F668-1600-4634-A1DB-002E7CCB8FD6}">
      <dgm:prSet/>
      <dgm:spPr/>
      <dgm:t>
        <a:bodyPr/>
        <a:lstStyle/>
        <a:p>
          <a:r>
            <a:rPr lang="ru-RU"/>
            <a:t>сбалансированности системы стратегического планирования</a:t>
          </a:r>
          <a:endParaRPr lang="en-US"/>
        </a:p>
      </dgm:t>
    </dgm:pt>
    <dgm:pt modelId="{4D7E1F8F-6FF4-497A-81DD-125543B6E7A5}" type="parTrans" cxnId="{86E17CA1-8F6E-4CA7-952E-C903E087C55E}">
      <dgm:prSet/>
      <dgm:spPr/>
      <dgm:t>
        <a:bodyPr/>
        <a:lstStyle/>
        <a:p>
          <a:endParaRPr lang="en-US"/>
        </a:p>
      </dgm:t>
    </dgm:pt>
    <dgm:pt modelId="{5361FF05-0BAD-4C53-9ACF-81EEEAF0C7F7}" type="sibTrans" cxnId="{86E17CA1-8F6E-4CA7-952E-C903E087C55E}">
      <dgm:prSet/>
      <dgm:spPr/>
      <dgm:t>
        <a:bodyPr/>
        <a:lstStyle/>
        <a:p>
          <a:endParaRPr lang="en-US"/>
        </a:p>
      </dgm:t>
    </dgm:pt>
    <dgm:pt modelId="{40C426F6-19CF-4A79-BCAC-88A0B668318A}">
      <dgm:prSet/>
      <dgm:spPr/>
      <dgm:t>
        <a:bodyPr/>
        <a:lstStyle/>
        <a:p>
          <a:r>
            <a:rPr lang="ru-RU"/>
            <a:t>результативности и эффективности стратегического планирования</a:t>
          </a:r>
          <a:endParaRPr lang="en-US"/>
        </a:p>
      </dgm:t>
    </dgm:pt>
    <dgm:pt modelId="{D56EC8C3-AEDC-4159-B0F5-C0927DCAC11D}" type="parTrans" cxnId="{D1A6E466-0129-40F3-A0D7-2BEA0760D5B3}">
      <dgm:prSet/>
      <dgm:spPr/>
      <dgm:t>
        <a:bodyPr/>
        <a:lstStyle/>
        <a:p>
          <a:endParaRPr lang="en-US"/>
        </a:p>
      </dgm:t>
    </dgm:pt>
    <dgm:pt modelId="{F296A36B-B696-4C99-99E9-8AB65FBFE55A}" type="sibTrans" cxnId="{D1A6E466-0129-40F3-A0D7-2BEA0760D5B3}">
      <dgm:prSet/>
      <dgm:spPr/>
      <dgm:t>
        <a:bodyPr/>
        <a:lstStyle/>
        <a:p>
          <a:endParaRPr lang="en-US"/>
        </a:p>
      </dgm:t>
    </dgm:pt>
    <dgm:pt modelId="{1F37C710-C620-40FF-92BA-82B7B57B3C41}">
      <dgm:prSet/>
      <dgm:spPr/>
      <dgm:t>
        <a:bodyPr/>
        <a:lstStyle/>
        <a:p>
          <a:r>
            <a:rPr lang="ru-RU"/>
            <a:t>ответственности участников стратегического планирования</a:t>
          </a:r>
          <a:endParaRPr lang="en-US"/>
        </a:p>
      </dgm:t>
    </dgm:pt>
    <dgm:pt modelId="{8C856821-2DD6-4BA7-90CB-DFD8D5E56B46}" type="parTrans" cxnId="{1B0A50E4-7B5F-4BC4-A35E-1126CDC23EB8}">
      <dgm:prSet/>
      <dgm:spPr/>
      <dgm:t>
        <a:bodyPr/>
        <a:lstStyle/>
        <a:p>
          <a:endParaRPr lang="en-US"/>
        </a:p>
      </dgm:t>
    </dgm:pt>
    <dgm:pt modelId="{CEDC1E43-9945-42A2-9CC2-3367922BF267}" type="sibTrans" cxnId="{1B0A50E4-7B5F-4BC4-A35E-1126CDC23EB8}">
      <dgm:prSet/>
      <dgm:spPr/>
      <dgm:t>
        <a:bodyPr/>
        <a:lstStyle/>
        <a:p>
          <a:endParaRPr lang="en-US"/>
        </a:p>
      </dgm:t>
    </dgm:pt>
    <dgm:pt modelId="{8CAC7446-DEF3-4E5E-9A0E-8C22A9CD403E}">
      <dgm:prSet/>
      <dgm:spPr/>
      <dgm:t>
        <a:bodyPr/>
        <a:lstStyle/>
        <a:p>
          <a:r>
            <a:rPr lang="ru-RU"/>
            <a:t>прозрачности (открытости) стратегического планирования</a:t>
          </a:r>
          <a:endParaRPr lang="en-US"/>
        </a:p>
      </dgm:t>
    </dgm:pt>
    <dgm:pt modelId="{0810E330-77D2-41F0-9D5F-88A4EB413007}" type="parTrans" cxnId="{4834E0E2-1E02-48D5-86B4-5A95B50E9ECD}">
      <dgm:prSet/>
      <dgm:spPr/>
      <dgm:t>
        <a:bodyPr/>
        <a:lstStyle/>
        <a:p>
          <a:endParaRPr lang="en-US"/>
        </a:p>
      </dgm:t>
    </dgm:pt>
    <dgm:pt modelId="{CE99BBD8-22EC-44A9-BEF9-8BB4C87ABCE4}" type="sibTrans" cxnId="{4834E0E2-1E02-48D5-86B4-5A95B50E9ECD}">
      <dgm:prSet/>
      <dgm:spPr/>
      <dgm:t>
        <a:bodyPr/>
        <a:lstStyle/>
        <a:p>
          <a:endParaRPr lang="en-US"/>
        </a:p>
      </dgm:t>
    </dgm:pt>
    <dgm:pt modelId="{BD2E7187-5B82-4A36-98A7-367724A0E3C7}">
      <dgm:prSet/>
      <dgm:spPr/>
      <dgm:t>
        <a:bodyPr/>
        <a:lstStyle/>
        <a:p>
          <a:r>
            <a:rPr lang="ru-RU"/>
            <a:t>реалистичности</a:t>
          </a:r>
          <a:endParaRPr lang="en-US"/>
        </a:p>
      </dgm:t>
    </dgm:pt>
    <dgm:pt modelId="{FBD1FF21-8352-419C-A5B7-325DC44F5372}" type="parTrans" cxnId="{36AB01C4-4851-4BA8-94C7-CEFCAD458C6E}">
      <dgm:prSet/>
      <dgm:spPr/>
      <dgm:t>
        <a:bodyPr/>
        <a:lstStyle/>
        <a:p>
          <a:endParaRPr lang="en-US"/>
        </a:p>
      </dgm:t>
    </dgm:pt>
    <dgm:pt modelId="{979B7DCF-F131-4A5D-B695-02FBF353181B}" type="sibTrans" cxnId="{36AB01C4-4851-4BA8-94C7-CEFCAD458C6E}">
      <dgm:prSet/>
      <dgm:spPr/>
      <dgm:t>
        <a:bodyPr/>
        <a:lstStyle/>
        <a:p>
          <a:endParaRPr lang="en-US"/>
        </a:p>
      </dgm:t>
    </dgm:pt>
    <dgm:pt modelId="{66453A44-6B7D-475D-986B-05D8ECBC3B95}">
      <dgm:prSet/>
      <dgm:spPr/>
      <dgm:t>
        <a:bodyPr/>
        <a:lstStyle/>
        <a:p>
          <a:r>
            <a:rPr lang="ru-RU"/>
            <a:t>ресурсной обеспеченности</a:t>
          </a:r>
          <a:endParaRPr lang="en-US"/>
        </a:p>
      </dgm:t>
    </dgm:pt>
    <dgm:pt modelId="{861CC46E-690C-4D07-90C7-8347ECB172A8}" type="parTrans" cxnId="{52933FD1-B770-4676-AE34-942CF1C3D543}">
      <dgm:prSet/>
      <dgm:spPr/>
      <dgm:t>
        <a:bodyPr/>
        <a:lstStyle/>
        <a:p>
          <a:endParaRPr lang="en-US"/>
        </a:p>
      </dgm:t>
    </dgm:pt>
    <dgm:pt modelId="{308226B3-8446-4F40-B451-E41EB0CE67AE}" type="sibTrans" cxnId="{52933FD1-B770-4676-AE34-942CF1C3D543}">
      <dgm:prSet/>
      <dgm:spPr/>
      <dgm:t>
        <a:bodyPr/>
        <a:lstStyle/>
        <a:p>
          <a:endParaRPr lang="en-US"/>
        </a:p>
      </dgm:t>
    </dgm:pt>
    <dgm:pt modelId="{AA5B9E7C-C66B-46F5-AB9B-7E412162869B}">
      <dgm:prSet/>
      <dgm:spPr/>
      <dgm:t>
        <a:bodyPr/>
        <a:lstStyle/>
        <a:p>
          <a:r>
            <a:rPr lang="ru-RU"/>
            <a:t>измеряемости целей</a:t>
          </a:r>
          <a:endParaRPr lang="en-US"/>
        </a:p>
      </dgm:t>
    </dgm:pt>
    <dgm:pt modelId="{A12DBB19-EE19-4EC6-ADA4-F0A8143D228E}" type="parTrans" cxnId="{16590995-075F-4813-86FC-4FFDB5838913}">
      <dgm:prSet/>
      <dgm:spPr/>
      <dgm:t>
        <a:bodyPr/>
        <a:lstStyle/>
        <a:p>
          <a:endParaRPr lang="en-US"/>
        </a:p>
      </dgm:t>
    </dgm:pt>
    <dgm:pt modelId="{70D5B42E-D6FC-42D4-9C2D-9D9A378C070D}" type="sibTrans" cxnId="{16590995-075F-4813-86FC-4FFDB5838913}">
      <dgm:prSet/>
      <dgm:spPr/>
      <dgm:t>
        <a:bodyPr/>
        <a:lstStyle/>
        <a:p>
          <a:endParaRPr lang="en-US"/>
        </a:p>
      </dgm:t>
    </dgm:pt>
    <dgm:pt modelId="{C5B1759F-9CB2-4952-8B97-140A54460D5D}">
      <dgm:prSet/>
      <dgm:spPr/>
      <dgm:t>
        <a:bodyPr/>
        <a:lstStyle/>
        <a:p>
          <a:r>
            <a:rPr lang="ru-RU"/>
            <a:t>соответствия показателей целям</a:t>
          </a:r>
          <a:endParaRPr lang="en-US"/>
        </a:p>
      </dgm:t>
    </dgm:pt>
    <dgm:pt modelId="{92230C30-CEE8-4625-90C4-D6CF754EBAA8}" type="parTrans" cxnId="{B7087162-C576-4867-AEBD-CC17B59C3088}">
      <dgm:prSet/>
      <dgm:spPr/>
      <dgm:t>
        <a:bodyPr/>
        <a:lstStyle/>
        <a:p>
          <a:endParaRPr lang="en-US"/>
        </a:p>
      </dgm:t>
    </dgm:pt>
    <dgm:pt modelId="{306116E3-AA20-40AF-A9E1-CC6AA34598D0}" type="sibTrans" cxnId="{B7087162-C576-4867-AEBD-CC17B59C3088}">
      <dgm:prSet/>
      <dgm:spPr/>
      <dgm:t>
        <a:bodyPr/>
        <a:lstStyle/>
        <a:p>
          <a:endParaRPr lang="en-US"/>
        </a:p>
      </dgm:t>
    </dgm:pt>
    <dgm:pt modelId="{CAB40234-B13E-4511-9055-EBFF38420DA1}">
      <dgm:prSet/>
      <dgm:spPr/>
      <dgm:t>
        <a:bodyPr/>
        <a:lstStyle/>
        <a:p>
          <a:r>
            <a:rPr lang="ru-RU"/>
            <a:t>программно-целевом принципе</a:t>
          </a:r>
          <a:endParaRPr lang="en-US"/>
        </a:p>
      </dgm:t>
    </dgm:pt>
    <dgm:pt modelId="{CF5FF0F7-3AD0-44DB-9833-42F31AA4977C}" type="parTrans" cxnId="{4EF713B7-964A-474B-AC78-4874A89387EA}">
      <dgm:prSet/>
      <dgm:spPr/>
      <dgm:t>
        <a:bodyPr/>
        <a:lstStyle/>
        <a:p>
          <a:endParaRPr lang="en-US"/>
        </a:p>
      </dgm:t>
    </dgm:pt>
    <dgm:pt modelId="{3D1FCDD6-33D4-4442-A35A-146727A4F719}" type="sibTrans" cxnId="{4EF713B7-964A-474B-AC78-4874A89387EA}">
      <dgm:prSet/>
      <dgm:spPr/>
      <dgm:t>
        <a:bodyPr/>
        <a:lstStyle/>
        <a:p>
          <a:endParaRPr lang="en-US"/>
        </a:p>
      </dgm:t>
    </dgm:pt>
    <dgm:pt modelId="{3CE0F477-FFCC-4475-A448-852FEF0D7198}" type="pres">
      <dgm:prSet presAssocID="{8557CBAD-73B8-42A7-9207-846EF0482A9E}" presName="diagram" presStyleCnt="0">
        <dgm:presLayoutVars>
          <dgm:dir/>
          <dgm:resizeHandles val="exact"/>
        </dgm:presLayoutVars>
      </dgm:prSet>
      <dgm:spPr/>
    </dgm:pt>
    <dgm:pt modelId="{38878882-A907-4EE9-A222-CC3F484415E1}" type="pres">
      <dgm:prSet presAssocID="{A8F0E7C2-4479-4426-A858-DCCA2A7F9B83}" presName="node" presStyleLbl="node1" presStyleIdx="0" presStyleCnt="12" custScaleX="121000">
        <dgm:presLayoutVars>
          <dgm:bulletEnabled val="1"/>
        </dgm:presLayoutVars>
      </dgm:prSet>
      <dgm:spPr/>
    </dgm:pt>
    <dgm:pt modelId="{1967A959-B038-463F-A983-BBF993023F53}" type="pres">
      <dgm:prSet presAssocID="{259289B2-774E-4A2F-8D77-0E4CB5916687}" presName="sibTrans" presStyleCnt="0"/>
      <dgm:spPr/>
    </dgm:pt>
    <dgm:pt modelId="{8647102A-0096-474B-B896-BD1B45B37FA7}" type="pres">
      <dgm:prSet presAssocID="{C926A168-E2F2-4D1D-A322-E2C853671569}" presName="node" presStyleLbl="node1" presStyleIdx="1" presStyleCnt="12" custScaleX="121000">
        <dgm:presLayoutVars>
          <dgm:bulletEnabled val="1"/>
        </dgm:presLayoutVars>
      </dgm:prSet>
      <dgm:spPr/>
    </dgm:pt>
    <dgm:pt modelId="{658A5514-1F45-4101-98A1-0A8CF716B704}" type="pres">
      <dgm:prSet presAssocID="{A837707E-D3D6-441C-895D-EFFE9334B242}" presName="sibTrans" presStyleCnt="0"/>
      <dgm:spPr/>
    </dgm:pt>
    <dgm:pt modelId="{2D6CD5D4-EA29-4BD4-B749-CDCB7F43E42F}" type="pres">
      <dgm:prSet presAssocID="{84B10A75-48E3-4219-B37E-6AD07D7B8E16}" presName="node" presStyleLbl="node1" presStyleIdx="2" presStyleCnt="12" custScaleX="121000">
        <dgm:presLayoutVars>
          <dgm:bulletEnabled val="1"/>
        </dgm:presLayoutVars>
      </dgm:prSet>
      <dgm:spPr/>
    </dgm:pt>
    <dgm:pt modelId="{93214AF6-2385-41E8-90E7-6B520527651E}" type="pres">
      <dgm:prSet presAssocID="{701683E4-372A-47F7-9D66-2B0ABDD3CD08}" presName="sibTrans" presStyleCnt="0"/>
      <dgm:spPr/>
    </dgm:pt>
    <dgm:pt modelId="{6B1328B0-965A-4B9A-A878-E053A0E94596}" type="pres">
      <dgm:prSet presAssocID="{62A2F668-1600-4634-A1DB-002E7CCB8FD6}" presName="node" presStyleLbl="node1" presStyleIdx="3" presStyleCnt="12" custScaleX="121000">
        <dgm:presLayoutVars>
          <dgm:bulletEnabled val="1"/>
        </dgm:presLayoutVars>
      </dgm:prSet>
      <dgm:spPr/>
    </dgm:pt>
    <dgm:pt modelId="{70247C73-912F-4B6A-9B7D-D4CC131CF209}" type="pres">
      <dgm:prSet presAssocID="{5361FF05-0BAD-4C53-9ACF-81EEEAF0C7F7}" presName="sibTrans" presStyleCnt="0"/>
      <dgm:spPr/>
    </dgm:pt>
    <dgm:pt modelId="{2144B823-40DA-492B-B7D7-36AA2BEDDB10}" type="pres">
      <dgm:prSet presAssocID="{40C426F6-19CF-4A79-BCAC-88A0B668318A}" presName="node" presStyleLbl="node1" presStyleIdx="4" presStyleCnt="12" custScaleX="121000">
        <dgm:presLayoutVars>
          <dgm:bulletEnabled val="1"/>
        </dgm:presLayoutVars>
      </dgm:prSet>
      <dgm:spPr/>
    </dgm:pt>
    <dgm:pt modelId="{6312A11B-7539-463A-B4A8-CCEF5AAB1DED}" type="pres">
      <dgm:prSet presAssocID="{F296A36B-B696-4C99-99E9-8AB65FBFE55A}" presName="sibTrans" presStyleCnt="0"/>
      <dgm:spPr/>
    </dgm:pt>
    <dgm:pt modelId="{E8DD9BAE-A684-4233-A97F-A74140FA5B98}" type="pres">
      <dgm:prSet presAssocID="{1F37C710-C620-40FF-92BA-82B7B57B3C41}" presName="node" presStyleLbl="node1" presStyleIdx="5" presStyleCnt="12" custScaleX="121000">
        <dgm:presLayoutVars>
          <dgm:bulletEnabled val="1"/>
        </dgm:presLayoutVars>
      </dgm:prSet>
      <dgm:spPr/>
    </dgm:pt>
    <dgm:pt modelId="{E7884F4B-CA4B-46EF-A982-5ACF2F74C96E}" type="pres">
      <dgm:prSet presAssocID="{CEDC1E43-9945-42A2-9CC2-3367922BF267}" presName="sibTrans" presStyleCnt="0"/>
      <dgm:spPr/>
    </dgm:pt>
    <dgm:pt modelId="{87132504-98E7-4905-88A7-89D78C336C7C}" type="pres">
      <dgm:prSet presAssocID="{8CAC7446-DEF3-4E5E-9A0E-8C22A9CD403E}" presName="node" presStyleLbl="node1" presStyleIdx="6" presStyleCnt="12" custScaleX="121000">
        <dgm:presLayoutVars>
          <dgm:bulletEnabled val="1"/>
        </dgm:presLayoutVars>
      </dgm:prSet>
      <dgm:spPr/>
    </dgm:pt>
    <dgm:pt modelId="{D2E613A6-1B62-4C4C-A92B-0A8A02152AA2}" type="pres">
      <dgm:prSet presAssocID="{CE99BBD8-22EC-44A9-BEF9-8BB4C87ABCE4}" presName="sibTrans" presStyleCnt="0"/>
      <dgm:spPr/>
    </dgm:pt>
    <dgm:pt modelId="{6DE5FAEB-2089-44A0-97AD-58871C24997E}" type="pres">
      <dgm:prSet presAssocID="{BD2E7187-5B82-4A36-98A7-367724A0E3C7}" presName="node" presStyleLbl="node1" presStyleIdx="7" presStyleCnt="12" custScaleX="121000">
        <dgm:presLayoutVars>
          <dgm:bulletEnabled val="1"/>
        </dgm:presLayoutVars>
      </dgm:prSet>
      <dgm:spPr/>
    </dgm:pt>
    <dgm:pt modelId="{A19F886F-B2BB-4906-88CC-7BCE062D0A8B}" type="pres">
      <dgm:prSet presAssocID="{979B7DCF-F131-4A5D-B695-02FBF353181B}" presName="sibTrans" presStyleCnt="0"/>
      <dgm:spPr/>
    </dgm:pt>
    <dgm:pt modelId="{AD82AFB8-410F-42E0-8F51-DF3B8E2B1197}" type="pres">
      <dgm:prSet presAssocID="{66453A44-6B7D-475D-986B-05D8ECBC3B95}" presName="node" presStyleLbl="node1" presStyleIdx="8" presStyleCnt="12" custScaleX="121000">
        <dgm:presLayoutVars>
          <dgm:bulletEnabled val="1"/>
        </dgm:presLayoutVars>
      </dgm:prSet>
      <dgm:spPr/>
    </dgm:pt>
    <dgm:pt modelId="{475DD34E-F1AC-479A-94A8-073785A94527}" type="pres">
      <dgm:prSet presAssocID="{308226B3-8446-4F40-B451-E41EB0CE67AE}" presName="sibTrans" presStyleCnt="0"/>
      <dgm:spPr/>
    </dgm:pt>
    <dgm:pt modelId="{189FA425-3749-41EE-BA3B-0EDE1722B926}" type="pres">
      <dgm:prSet presAssocID="{AA5B9E7C-C66B-46F5-AB9B-7E412162869B}" presName="node" presStyleLbl="node1" presStyleIdx="9" presStyleCnt="12" custScaleX="121000">
        <dgm:presLayoutVars>
          <dgm:bulletEnabled val="1"/>
        </dgm:presLayoutVars>
      </dgm:prSet>
      <dgm:spPr/>
    </dgm:pt>
    <dgm:pt modelId="{34AB71C3-8FC8-4409-95D7-335BE84BC721}" type="pres">
      <dgm:prSet presAssocID="{70D5B42E-D6FC-42D4-9C2D-9D9A378C070D}" presName="sibTrans" presStyleCnt="0"/>
      <dgm:spPr/>
    </dgm:pt>
    <dgm:pt modelId="{A2192263-C1E3-4E62-9081-59F890944F0F}" type="pres">
      <dgm:prSet presAssocID="{C5B1759F-9CB2-4952-8B97-140A54460D5D}" presName="node" presStyleLbl="node1" presStyleIdx="10" presStyleCnt="12" custScaleX="121000">
        <dgm:presLayoutVars>
          <dgm:bulletEnabled val="1"/>
        </dgm:presLayoutVars>
      </dgm:prSet>
      <dgm:spPr/>
    </dgm:pt>
    <dgm:pt modelId="{1E3059A4-13EE-4B6C-8CAA-6B88D48EFF94}" type="pres">
      <dgm:prSet presAssocID="{306116E3-AA20-40AF-A9E1-CC6AA34598D0}" presName="sibTrans" presStyleCnt="0"/>
      <dgm:spPr/>
    </dgm:pt>
    <dgm:pt modelId="{B597C3A4-8205-4118-BA50-4DF160B98658}" type="pres">
      <dgm:prSet presAssocID="{CAB40234-B13E-4511-9055-EBFF38420DA1}" presName="node" presStyleLbl="node1" presStyleIdx="11" presStyleCnt="12" custScaleX="121000">
        <dgm:presLayoutVars>
          <dgm:bulletEnabled val="1"/>
        </dgm:presLayoutVars>
      </dgm:prSet>
      <dgm:spPr/>
    </dgm:pt>
  </dgm:ptLst>
  <dgm:cxnLst>
    <dgm:cxn modelId="{942E6F1B-D5BB-4C77-ACCC-D464EF0FA92B}" type="presOf" srcId="{8557CBAD-73B8-42A7-9207-846EF0482A9E}" destId="{3CE0F477-FFCC-4475-A448-852FEF0D7198}" srcOrd="0" destOrd="0" presId="urn:microsoft.com/office/officeart/2005/8/layout/default"/>
    <dgm:cxn modelId="{9EB20930-B402-4F06-B739-4997543EBD1F}" type="presOf" srcId="{66453A44-6B7D-475D-986B-05D8ECBC3B95}" destId="{AD82AFB8-410F-42E0-8F51-DF3B8E2B1197}" srcOrd="0" destOrd="0" presId="urn:microsoft.com/office/officeart/2005/8/layout/default"/>
    <dgm:cxn modelId="{B5E2A438-2F89-46B6-AD35-298F6E1A4AA7}" type="presOf" srcId="{8CAC7446-DEF3-4E5E-9A0E-8C22A9CD403E}" destId="{87132504-98E7-4905-88A7-89D78C336C7C}" srcOrd="0" destOrd="0" presId="urn:microsoft.com/office/officeart/2005/8/layout/default"/>
    <dgm:cxn modelId="{D1E3075B-DA4F-41E3-86F5-868BAB863B30}" type="presOf" srcId="{AA5B9E7C-C66B-46F5-AB9B-7E412162869B}" destId="{189FA425-3749-41EE-BA3B-0EDE1722B926}" srcOrd="0" destOrd="0" presId="urn:microsoft.com/office/officeart/2005/8/layout/default"/>
    <dgm:cxn modelId="{02CF5F42-9A0A-4398-B856-4E7C6D766C75}" type="presOf" srcId="{1F37C710-C620-40FF-92BA-82B7B57B3C41}" destId="{E8DD9BAE-A684-4233-A97F-A74140FA5B98}" srcOrd="0" destOrd="0" presId="urn:microsoft.com/office/officeart/2005/8/layout/default"/>
    <dgm:cxn modelId="{B7087162-C576-4867-AEBD-CC17B59C3088}" srcId="{8557CBAD-73B8-42A7-9207-846EF0482A9E}" destId="{C5B1759F-9CB2-4952-8B97-140A54460D5D}" srcOrd="10" destOrd="0" parTransId="{92230C30-CEE8-4625-90C4-D6CF754EBAA8}" sibTransId="{306116E3-AA20-40AF-A9E1-CC6AA34598D0}"/>
    <dgm:cxn modelId="{A00AB746-08D3-4339-8556-76BF423D841B}" type="presOf" srcId="{40C426F6-19CF-4A79-BCAC-88A0B668318A}" destId="{2144B823-40DA-492B-B7D7-36AA2BEDDB10}" srcOrd="0" destOrd="0" presId="urn:microsoft.com/office/officeart/2005/8/layout/default"/>
    <dgm:cxn modelId="{D1A6E466-0129-40F3-A0D7-2BEA0760D5B3}" srcId="{8557CBAD-73B8-42A7-9207-846EF0482A9E}" destId="{40C426F6-19CF-4A79-BCAC-88A0B668318A}" srcOrd="4" destOrd="0" parTransId="{D56EC8C3-AEDC-4159-B0F5-C0927DCAC11D}" sibTransId="{F296A36B-B696-4C99-99E9-8AB65FBFE55A}"/>
    <dgm:cxn modelId="{19E8F54E-872C-4696-9FBB-0E27491AA201}" type="presOf" srcId="{84B10A75-48E3-4219-B37E-6AD07D7B8E16}" destId="{2D6CD5D4-EA29-4BD4-B749-CDCB7F43E42F}" srcOrd="0" destOrd="0" presId="urn:microsoft.com/office/officeart/2005/8/layout/default"/>
    <dgm:cxn modelId="{A59BF66E-F795-485B-9B66-683F9A481652}" type="presOf" srcId="{A8F0E7C2-4479-4426-A858-DCCA2A7F9B83}" destId="{38878882-A907-4EE9-A222-CC3F484415E1}" srcOrd="0" destOrd="0" presId="urn:microsoft.com/office/officeart/2005/8/layout/default"/>
    <dgm:cxn modelId="{ED15FA81-2EA8-4BCF-8AF6-4FFC044E0278}" srcId="{8557CBAD-73B8-42A7-9207-846EF0482A9E}" destId="{A8F0E7C2-4479-4426-A858-DCCA2A7F9B83}" srcOrd="0" destOrd="0" parTransId="{8D4E03F4-4B5E-4178-B95B-7D6A500D18DF}" sibTransId="{259289B2-774E-4A2F-8D77-0E4CB5916687}"/>
    <dgm:cxn modelId="{16590995-075F-4813-86FC-4FFDB5838913}" srcId="{8557CBAD-73B8-42A7-9207-846EF0482A9E}" destId="{AA5B9E7C-C66B-46F5-AB9B-7E412162869B}" srcOrd="9" destOrd="0" parTransId="{A12DBB19-EE19-4EC6-ADA4-F0A8143D228E}" sibTransId="{70D5B42E-D6FC-42D4-9C2D-9D9A378C070D}"/>
    <dgm:cxn modelId="{1BB2239E-8AC1-4557-AE3C-84FEEABB7FB4}" type="presOf" srcId="{C926A168-E2F2-4D1D-A322-E2C853671569}" destId="{8647102A-0096-474B-B896-BD1B45B37FA7}" srcOrd="0" destOrd="0" presId="urn:microsoft.com/office/officeart/2005/8/layout/default"/>
    <dgm:cxn modelId="{86E17CA1-8F6E-4CA7-952E-C903E087C55E}" srcId="{8557CBAD-73B8-42A7-9207-846EF0482A9E}" destId="{62A2F668-1600-4634-A1DB-002E7CCB8FD6}" srcOrd="3" destOrd="0" parTransId="{4D7E1F8F-6FF4-497A-81DD-125543B6E7A5}" sibTransId="{5361FF05-0BAD-4C53-9ACF-81EEEAF0C7F7}"/>
    <dgm:cxn modelId="{81F874A3-1164-48A4-90C9-C2940E5ADA2B}" type="presOf" srcId="{CAB40234-B13E-4511-9055-EBFF38420DA1}" destId="{B597C3A4-8205-4118-BA50-4DF160B98658}" srcOrd="0" destOrd="0" presId="urn:microsoft.com/office/officeart/2005/8/layout/default"/>
    <dgm:cxn modelId="{61EEEEAF-D62B-4258-8C8E-1BA6FFEA3627}" type="presOf" srcId="{C5B1759F-9CB2-4952-8B97-140A54460D5D}" destId="{A2192263-C1E3-4E62-9081-59F890944F0F}" srcOrd="0" destOrd="0" presId="urn:microsoft.com/office/officeart/2005/8/layout/default"/>
    <dgm:cxn modelId="{4EF713B7-964A-474B-AC78-4874A89387EA}" srcId="{8557CBAD-73B8-42A7-9207-846EF0482A9E}" destId="{CAB40234-B13E-4511-9055-EBFF38420DA1}" srcOrd="11" destOrd="0" parTransId="{CF5FF0F7-3AD0-44DB-9833-42F31AA4977C}" sibTransId="{3D1FCDD6-33D4-4442-A35A-146727A4F719}"/>
    <dgm:cxn modelId="{6CEA9FC0-02B4-4D3B-A1C6-A56835A3BA70}" type="presOf" srcId="{BD2E7187-5B82-4A36-98A7-367724A0E3C7}" destId="{6DE5FAEB-2089-44A0-97AD-58871C24997E}" srcOrd="0" destOrd="0" presId="urn:microsoft.com/office/officeart/2005/8/layout/default"/>
    <dgm:cxn modelId="{36AB01C4-4851-4BA8-94C7-CEFCAD458C6E}" srcId="{8557CBAD-73B8-42A7-9207-846EF0482A9E}" destId="{BD2E7187-5B82-4A36-98A7-367724A0E3C7}" srcOrd="7" destOrd="0" parTransId="{FBD1FF21-8352-419C-A5B7-325DC44F5372}" sibTransId="{979B7DCF-F131-4A5D-B695-02FBF353181B}"/>
    <dgm:cxn modelId="{52933FD1-B770-4676-AE34-942CF1C3D543}" srcId="{8557CBAD-73B8-42A7-9207-846EF0482A9E}" destId="{66453A44-6B7D-475D-986B-05D8ECBC3B95}" srcOrd="8" destOrd="0" parTransId="{861CC46E-690C-4D07-90C7-8347ECB172A8}" sibTransId="{308226B3-8446-4F40-B451-E41EB0CE67AE}"/>
    <dgm:cxn modelId="{9E1E5FDA-F25B-4EB5-8BD3-31D0661EC977}" srcId="{8557CBAD-73B8-42A7-9207-846EF0482A9E}" destId="{C926A168-E2F2-4D1D-A322-E2C853671569}" srcOrd="1" destOrd="0" parTransId="{3BBF715D-C6E2-4548-9F0E-3419D5FA6129}" sibTransId="{A837707E-D3D6-441C-895D-EFFE9334B242}"/>
    <dgm:cxn modelId="{FC94D5E1-1394-4D5A-83AF-8EAA0122D1ED}" srcId="{8557CBAD-73B8-42A7-9207-846EF0482A9E}" destId="{84B10A75-48E3-4219-B37E-6AD07D7B8E16}" srcOrd="2" destOrd="0" parTransId="{2BDDA2EF-43C5-4B83-977D-14677F107A7E}" sibTransId="{701683E4-372A-47F7-9D66-2B0ABDD3CD08}"/>
    <dgm:cxn modelId="{4834E0E2-1E02-48D5-86B4-5A95B50E9ECD}" srcId="{8557CBAD-73B8-42A7-9207-846EF0482A9E}" destId="{8CAC7446-DEF3-4E5E-9A0E-8C22A9CD403E}" srcOrd="6" destOrd="0" parTransId="{0810E330-77D2-41F0-9D5F-88A4EB413007}" sibTransId="{CE99BBD8-22EC-44A9-BEF9-8BB4C87ABCE4}"/>
    <dgm:cxn modelId="{1B0A50E4-7B5F-4BC4-A35E-1126CDC23EB8}" srcId="{8557CBAD-73B8-42A7-9207-846EF0482A9E}" destId="{1F37C710-C620-40FF-92BA-82B7B57B3C41}" srcOrd="5" destOrd="0" parTransId="{8C856821-2DD6-4BA7-90CB-DFD8D5E56B46}" sibTransId="{CEDC1E43-9945-42A2-9CC2-3367922BF267}"/>
    <dgm:cxn modelId="{42AF2DE9-A84B-403F-8FC4-0A20A7C3BD13}" type="presOf" srcId="{62A2F668-1600-4634-A1DB-002E7CCB8FD6}" destId="{6B1328B0-965A-4B9A-A878-E053A0E94596}" srcOrd="0" destOrd="0" presId="urn:microsoft.com/office/officeart/2005/8/layout/default"/>
    <dgm:cxn modelId="{614C8702-FE58-4FA3-A20F-CD24C411DD7E}" type="presParOf" srcId="{3CE0F477-FFCC-4475-A448-852FEF0D7198}" destId="{38878882-A907-4EE9-A222-CC3F484415E1}" srcOrd="0" destOrd="0" presId="urn:microsoft.com/office/officeart/2005/8/layout/default"/>
    <dgm:cxn modelId="{E6A5073F-05E5-40BE-A085-A7FE70118712}" type="presParOf" srcId="{3CE0F477-FFCC-4475-A448-852FEF0D7198}" destId="{1967A959-B038-463F-A983-BBF993023F53}" srcOrd="1" destOrd="0" presId="urn:microsoft.com/office/officeart/2005/8/layout/default"/>
    <dgm:cxn modelId="{14840A84-A9DE-476D-A044-FB1247310E0C}" type="presParOf" srcId="{3CE0F477-FFCC-4475-A448-852FEF0D7198}" destId="{8647102A-0096-474B-B896-BD1B45B37FA7}" srcOrd="2" destOrd="0" presId="urn:microsoft.com/office/officeart/2005/8/layout/default"/>
    <dgm:cxn modelId="{95AB8709-3ADC-4665-B33B-BFDBED02AE26}" type="presParOf" srcId="{3CE0F477-FFCC-4475-A448-852FEF0D7198}" destId="{658A5514-1F45-4101-98A1-0A8CF716B704}" srcOrd="3" destOrd="0" presId="urn:microsoft.com/office/officeart/2005/8/layout/default"/>
    <dgm:cxn modelId="{5E9744B0-D815-412B-833C-0F5F0FCD3C4B}" type="presParOf" srcId="{3CE0F477-FFCC-4475-A448-852FEF0D7198}" destId="{2D6CD5D4-EA29-4BD4-B749-CDCB7F43E42F}" srcOrd="4" destOrd="0" presId="urn:microsoft.com/office/officeart/2005/8/layout/default"/>
    <dgm:cxn modelId="{7C394A1F-299C-4D9E-AD04-D34D98EB16CF}" type="presParOf" srcId="{3CE0F477-FFCC-4475-A448-852FEF0D7198}" destId="{93214AF6-2385-41E8-90E7-6B520527651E}" srcOrd="5" destOrd="0" presId="urn:microsoft.com/office/officeart/2005/8/layout/default"/>
    <dgm:cxn modelId="{3A29EABA-A0AF-4FA9-99D5-F398B3E3A39B}" type="presParOf" srcId="{3CE0F477-FFCC-4475-A448-852FEF0D7198}" destId="{6B1328B0-965A-4B9A-A878-E053A0E94596}" srcOrd="6" destOrd="0" presId="urn:microsoft.com/office/officeart/2005/8/layout/default"/>
    <dgm:cxn modelId="{2BCF6806-CC61-4AC3-91BD-449DABE77538}" type="presParOf" srcId="{3CE0F477-FFCC-4475-A448-852FEF0D7198}" destId="{70247C73-912F-4B6A-9B7D-D4CC131CF209}" srcOrd="7" destOrd="0" presId="urn:microsoft.com/office/officeart/2005/8/layout/default"/>
    <dgm:cxn modelId="{92079A4D-60A6-483C-9B71-7FC57AB5AF61}" type="presParOf" srcId="{3CE0F477-FFCC-4475-A448-852FEF0D7198}" destId="{2144B823-40DA-492B-B7D7-36AA2BEDDB10}" srcOrd="8" destOrd="0" presId="urn:microsoft.com/office/officeart/2005/8/layout/default"/>
    <dgm:cxn modelId="{97038F82-1CD0-4995-B59E-A78DA9B5FDD9}" type="presParOf" srcId="{3CE0F477-FFCC-4475-A448-852FEF0D7198}" destId="{6312A11B-7539-463A-B4A8-CCEF5AAB1DED}" srcOrd="9" destOrd="0" presId="urn:microsoft.com/office/officeart/2005/8/layout/default"/>
    <dgm:cxn modelId="{16FF5C3D-C23D-490E-AAC3-2DFBF5B1370E}" type="presParOf" srcId="{3CE0F477-FFCC-4475-A448-852FEF0D7198}" destId="{E8DD9BAE-A684-4233-A97F-A74140FA5B98}" srcOrd="10" destOrd="0" presId="urn:microsoft.com/office/officeart/2005/8/layout/default"/>
    <dgm:cxn modelId="{4CF2C0AA-B2DC-46B9-91C5-55E85C7CC2FE}" type="presParOf" srcId="{3CE0F477-FFCC-4475-A448-852FEF0D7198}" destId="{E7884F4B-CA4B-46EF-A982-5ACF2F74C96E}" srcOrd="11" destOrd="0" presId="urn:microsoft.com/office/officeart/2005/8/layout/default"/>
    <dgm:cxn modelId="{710A1185-9FEB-4727-9628-D510D3E0F529}" type="presParOf" srcId="{3CE0F477-FFCC-4475-A448-852FEF0D7198}" destId="{87132504-98E7-4905-88A7-89D78C336C7C}" srcOrd="12" destOrd="0" presId="urn:microsoft.com/office/officeart/2005/8/layout/default"/>
    <dgm:cxn modelId="{29258D45-9B96-4E87-BB74-7FD3A869FD6E}" type="presParOf" srcId="{3CE0F477-FFCC-4475-A448-852FEF0D7198}" destId="{D2E613A6-1B62-4C4C-A92B-0A8A02152AA2}" srcOrd="13" destOrd="0" presId="urn:microsoft.com/office/officeart/2005/8/layout/default"/>
    <dgm:cxn modelId="{913A3241-87E6-446B-AB32-9A159C2B4C5C}" type="presParOf" srcId="{3CE0F477-FFCC-4475-A448-852FEF0D7198}" destId="{6DE5FAEB-2089-44A0-97AD-58871C24997E}" srcOrd="14" destOrd="0" presId="urn:microsoft.com/office/officeart/2005/8/layout/default"/>
    <dgm:cxn modelId="{65478CAA-8857-495C-AFB5-E86A77D1E8F7}" type="presParOf" srcId="{3CE0F477-FFCC-4475-A448-852FEF0D7198}" destId="{A19F886F-B2BB-4906-88CC-7BCE062D0A8B}" srcOrd="15" destOrd="0" presId="urn:microsoft.com/office/officeart/2005/8/layout/default"/>
    <dgm:cxn modelId="{F6674ADB-91AE-4D50-8BD2-6927C27DA227}" type="presParOf" srcId="{3CE0F477-FFCC-4475-A448-852FEF0D7198}" destId="{AD82AFB8-410F-42E0-8F51-DF3B8E2B1197}" srcOrd="16" destOrd="0" presId="urn:microsoft.com/office/officeart/2005/8/layout/default"/>
    <dgm:cxn modelId="{C35B940B-F73D-415E-8910-9D94EFF9389E}" type="presParOf" srcId="{3CE0F477-FFCC-4475-A448-852FEF0D7198}" destId="{475DD34E-F1AC-479A-94A8-073785A94527}" srcOrd="17" destOrd="0" presId="urn:microsoft.com/office/officeart/2005/8/layout/default"/>
    <dgm:cxn modelId="{F2BB77CA-F8ED-4FFC-9F7C-8A6EB3516893}" type="presParOf" srcId="{3CE0F477-FFCC-4475-A448-852FEF0D7198}" destId="{189FA425-3749-41EE-BA3B-0EDE1722B926}" srcOrd="18" destOrd="0" presId="urn:microsoft.com/office/officeart/2005/8/layout/default"/>
    <dgm:cxn modelId="{70D2D8BB-0FD3-4F5F-97EA-DD153EF2DCFF}" type="presParOf" srcId="{3CE0F477-FFCC-4475-A448-852FEF0D7198}" destId="{34AB71C3-8FC8-4409-95D7-335BE84BC721}" srcOrd="19" destOrd="0" presId="urn:microsoft.com/office/officeart/2005/8/layout/default"/>
    <dgm:cxn modelId="{A166127A-F88F-4981-8E6B-DC2CF0EDA8BD}" type="presParOf" srcId="{3CE0F477-FFCC-4475-A448-852FEF0D7198}" destId="{A2192263-C1E3-4E62-9081-59F890944F0F}" srcOrd="20" destOrd="0" presId="urn:microsoft.com/office/officeart/2005/8/layout/default"/>
    <dgm:cxn modelId="{BD0B352E-815D-4ACF-8D78-3A904D935058}" type="presParOf" srcId="{3CE0F477-FFCC-4475-A448-852FEF0D7198}" destId="{1E3059A4-13EE-4B6C-8CAA-6B88D48EFF94}" srcOrd="21" destOrd="0" presId="urn:microsoft.com/office/officeart/2005/8/layout/default"/>
    <dgm:cxn modelId="{7EEF453A-F52C-4F11-9B36-A2EAEF37142E}" type="presParOf" srcId="{3CE0F477-FFCC-4475-A448-852FEF0D7198}" destId="{B597C3A4-8205-4118-BA50-4DF160B98658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AB933DB-C0B8-460E-B50C-1B6B8504E107}" type="doc">
      <dgm:prSet loTypeId="urn:microsoft.com/office/officeart/2005/8/layout/process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724CC714-7036-4ED7-B860-7B9B91094C7A}">
      <dgm:prSet phldrT="[Текст]"/>
      <dgm:spPr/>
      <dgm:t>
        <a:bodyPr/>
        <a:lstStyle/>
        <a:p>
          <a:r>
            <a:rPr lang="ru-RU" dirty="0"/>
            <a:t>федеральный проект</a:t>
          </a:r>
        </a:p>
      </dgm:t>
    </dgm:pt>
    <dgm:pt modelId="{647D3446-8FD0-4AF8-8BD6-E4EA74F8E047}" type="parTrans" cxnId="{07F449FE-C13D-43C6-A3B7-CF7DA8D80CC0}">
      <dgm:prSet/>
      <dgm:spPr/>
      <dgm:t>
        <a:bodyPr/>
        <a:lstStyle/>
        <a:p>
          <a:endParaRPr lang="ru-RU"/>
        </a:p>
      </dgm:t>
    </dgm:pt>
    <dgm:pt modelId="{9FC7A73A-31AC-462D-8910-825CDC128C27}" type="sibTrans" cxnId="{07F449FE-C13D-43C6-A3B7-CF7DA8D80CC0}">
      <dgm:prSet/>
      <dgm:spPr/>
      <dgm:t>
        <a:bodyPr/>
        <a:lstStyle/>
        <a:p>
          <a:endParaRPr lang="ru-RU"/>
        </a:p>
      </dgm:t>
    </dgm:pt>
    <dgm:pt modelId="{8FCE0034-D169-4556-9F03-E819EC791D2C}">
      <dgm:prSet phldrT="[Текст]"/>
      <dgm:spPr/>
      <dgm:t>
        <a:bodyPr/>
        <a:lstStyle/>
        <a:p>
          <a:r>
            <a:rPr lang="ru-RU" dirty="0"/>
            <a:t>ведомственный проект</a:t>
          </a:r>
        </a:p>
      </dgm:t>
    </dgm:pt>
    <dgm:pt modelId="{6E2F4E50-C01A-445B-B17B-CA1DCD80AA48}" type="parTrans" cxnId="{6BFDE59F-0EAD-4AEA-9747-FA0EF78754DB}">
      <dgm:prSet/>
      <dgm:spPr/>
      <dgm:t>
        <a:bodyPr/>
        <a:lstStyle/>
        <a:p>
          <a:endParaRPr lang="ru-RU"/>
        </a:p>
      </dgm:t>
    </dgm:pt>
    <dgm:pt modelId="{72A2F0E2-A9C5-4FD9-8695-074B829A0520}" type="sibTrans" cxnId="{6BFDE59F-0EAD-4AEA-9747-FA0EF78754DB}">
      <dgm:prSet/>
      <dgm:spPr/>
      <dgm:t>
        <a:bodyPr/>
        <a:lstStyle/>
        <a:p>
          <a:endParaRPr lang="ru-RU"/>
        </a:p>
      </dgm:t>
    </dgm:pt>
    <dgm:pt modelId="{9DF48DD0-04A9-423F-962B-2FDA94D35FC2}">
      <dgm:prSet phldrT="[Текст]"/>
      <dgm:spPr/>
      <dgm:t>
        <a:bodyPr/>
        <a:lstStyle/>
        <a:p>
          <a:r>
            <a:rPr lang="ru-RU" dirty="0"/>
            <a:t>региональный проект</a:t>
          </a:r>
        </a:p>
      </dgm:t>
    </dgm:pt>
    <dgm:pt modelId="{25D5275E-3E0E-40F6-81AF-07726B37082B}" type="parTrans" cxnId="{4A57B3F6-4A5A-44F1-BD64-05E8B3E509E0}">
      <dgm:prSet/>
      <dgm:spPr/>
      <dgm:t>
        <a:bodyPr/>
        <a:lstStyle/>
        <a:p>
          <a:endParaRPr lang="ru-RU"/>
        </a:p>
      </dgm:t>
    </dgm:pt>
    <dgm:pt modelId="{57DC9445-6B7D-4BD8-B6A1-5B6BFC86A4B0}" type="sibTrans" cxnId="{4A57B3F6-4A5A-44F1-BD64-05E8B3E509E0}">
      <dgm:prSet/>
      <dgm:spPr/>
      <dgm:t>
        <a:bodyPr/>
        <a:lstStyle/>
        <a:p>
          <a:endParaRPr lang="ru-RU"/>
        </a:p>
      </dgm:t>
    </dgm:pt>
    <dgm:pt modelId="{40E5D686-D5AA-468D-AD45-DE878837DBD0}">
      <dgm:prSet phldrT="[Текст]"/>
      <dgm:spPr/>
      <dgm:t>
        <a:bodyPr/>
        <a:lstStyle/>
        <a:p>
          <a:r>
            <a:rPr lang="ru-RU" dirty="0"/>
            <a:t>муниципальный проект</a:t>
          </a:r>
        </a:p>
      </dgm:t>
    </dgm:pt>
    <dgm:pt modelId="{FAB3D2C1-C5BA-4CAA-B564-8919538CA53C}" type="parTrans" cxnId="{49FBCD9D-8410-436A-88BD-9EF6E8CB1A02}">
      <dgm:prSet/>
      <dgm:spPr/>
      <dgm:t>
        <a:bodyPr/>
        <a:lstStyle/>
        <a:p>
          <a:endParaRPr lang="ru-RU"/>
        </a:p>
      </dgm:t>
    </dgm:pt>
    <dgm:pt modelId="{319A575D-28AB-4D15-9F22-C6393300BD2A}" type="sibTrans" cxnId="{49FBCD9D-8410-436A-88BD-9EF6E8CB1A02}">
      <dgm:prSet/>
      <dgm:spPr/>
      <dgm:t>
        <a:bodyPr/>
        <a:lstStyle/>
        <a:p>
          <a:endParaRPr lang="ru-RU"/>
        </a:p>
      </dgm:t>
    </dgm:pt>
    <dgm:pt modelId="{1897D4BB-C644-48CA-B40B-AE86E722CEDB}" type="pres">
      <dgm:prSet presAssocID="{6AB933DB-C0B8-460E-B50C-1B6B8504E107}" presName="Name0" presStyleCnt="0">
        <dgm:presLayoutVars>
          <dgm:dir/>
          <dgm:resizeHandles val="exact"/>
        </dgm:presLayoutVars>
      </dgm:prSet>
      <dgm:spPr/>
    </dgm:pt>
    <dgm:pt modelId="{19AC0B62-A2D1-4DCD-B23D-74D6FB385A53}" type="pres">
      <dgm:prSet presAssocID="{724CC714-7036-4ED7-B860-7B9B91094C7A}" presName="node" presStyleLbl="node1" presStyleIdx="0" presStyleCnt="4">
        <dgm:presLayoutVars>
          <dgm:bulletEnabled val="1"/>
        </dgm:presLayoutVars>
      </dgm:prSet>
      <dgm:spPr/>
    </dgm:pt>
    <dgm:pt modelId="{D772165A-D57E-4187-83D4-CA0928C5F71A}" type="pres">
      <dgm:prSet presAssocID="{9FC7A73A-31AC-462D-8910-825CDC128C27}" presName="sibTrans" presStyleLbl="sibTrans2D1" presStyleIdx="0" presStyleCnt="3"/>
      <dgm:spPr/>
    </dgm:pt>
    <dgm:pt modelId="{81176706-FFB4-4574-9AF0-40C777BEAE23}" type="pres">
      <dgm:prSet presAssocID="{9FC7A73A-31AC-462D-8910-825CDC128C27}" presName="connectorText" presStyleLbl="sibTrans2D1" presStyleIdx="0" presStyleCnt="3"/>
      <dgm:spPr/>
    </dgm:pt>
    <dgm:pt modelId="{8754FE98-F624-48AD-9745-8BBA59A87742}" type="pres">
      <dgm:prSet presAssocID="{8FCE0034-D169-4556-9F03-E819EC791D2C}" presName="node" presStyleLbl="node1" presStyleIdx="1" presStyleCnt="4">
        <dgm:presLayoutVars>
          <dgm:bulletEnabled val="1"/>
        </dgm:presLayoutVars>
      </dgm:prSet>
      <dgm:spPr/>
    </dgm:pt>
    <dgm:pt modelId="{C36D8540-C9BC-40F6-9DDD-CAB6C0594A59}" type="pres">
      <dgm:prSet presAssocID="{72A2F0E2-A9C5-4FD9-8695-074B829A0520}" presName="sibTrans" presStyleLbl="sibTrans2D1" presStyleIdx="1" presStyleCnt="3"/>
      <dgm:spPr/>
    </dgm:pt>
    <dgm:pt modelId="{6EFA76E0-A4DA-412B-95A9-E1BBDEA2AB1C}" type="pres">
      <dgm:prSet presAssocID="{72A2F0E2-A9C5-4FD9-8695-074B829A0520}" presName="connectorText" presStyleLbl="sibTrans2D1" presStyleIdx="1" presStyleCnt="3"/>
      <dgm:spPr/>
    </dgm:pt>
    <dgm:pt modelId="{71BD4521-090C-4437-8FBD-1F7325A41BA2}" type="pres">
      <dgm:prSet presAssocID="{9DF48DD0-04A9-423F-962B-2FDA94D35FC2}" presName="node" presStyleLbl="node1" presStyleIdx="2" presStyleCnt="4">
        <dgm:presLayoutVars>
          <dgm:bulletEnabled val="1"/>
        </dgm:presLayoutVars>
      </dgm:prSet>
      <dgm:spPr/>
    </dgm:pt>
    <dgm:pt modelId="{1EB8EF69-E1C6-46ED-9306-AAC85B3F3D4C}" type="pres">
      <dgm:prSet presAssocID="{57DC9445-6B7D-4BD8-B6A1-5B6BFC86A4B0}" presName="sibTrans" presStyleLbl="sibTrans2D1" presStyleIdx="2" presStyleCnt="3"/>
      <dgm:spPr/>
    </dgm:pt>
    <dgm:pt modelId="{24122411-6DB6-4C74-838F-0A82D0E792AA}" type="pres">
      <dgm:prSet presAssocID="{57DC9445-6B7D-4BD8-B6A1-5B6BFC86A4B0}" presName="connectorText" presStyleLbl="sibTrans2D1" presStyleIdx="2" presStyleCnt="3"/>
      <dgm:spPr/>
    </dgm:pt>
    <dgm:pt modelId="{647FC170-F389-4445-B732-41A9F004E1FD}" type="pres">
      <dgm:prSet presAssocID="{40E5D686-D5AA-468D-AD45-DE878837DBD0}" presName="node" presStyleLbl="node1" presStyleIdx="3" presStyleCnt="4">
        <dgm:presLayoutVars>
          <dgm:bulletEnabled val="1"/>
        </dgm:presLayoutVars>
      </dgm:prSet>
      <dgm:spPr/>
    </dgm:pt>
  </dgm:ptLst>
  <dgm:cxnLst>
    <dgm:cxn modelId="{F5FCA50A-FC8E-40D8-AE8F-25B8A2CA9122}" type="presOf" srcId="{57DC9445-6B7D-4BD8-B6A1-5B6BFC86A4B0}" destId="{24122411-6DB6-4C74-838F-0A82D0E792AA}" srcOrd="1" destOrd="0" presId="urn:microsoft.com/office/officeart/2005/8/layout/process1"/>
    <dgm:cxn modelId="{C4B3681C-DB5D-47EC-9DBF-A74431C255DC}" type="presOf" srcId="{8FCE0034-D169-4556-9F03-E819EC791D2C}" destId="{8754FE98-F624-48AD-9745-8BBA59A87742}" srcOrd="0" destOrd="0" presId="urn:microsoft.com/office/officeart/2005/8/layout/process1"/>
    <dgm:cxn modelId="{4DF43834-6782-4533-9863-5D5D45CE58AF}" type="presOf" srcId="{57DC9445-6B7D-4BD8-B6A1-5B6BFC86A4B0}" destId="{1EB8EF69-E1C6-46ED-9306-AAC85B3F3D4C}" srcOrd="0" destOrd="0" presId="urn:microsoft.com/office/officeart/2005/8/layout/process1"/>
    <dgm:cxn modelId="{30D4386D-DDCD-47A4-944C-9B9C01EFA5FE}" type="presOf" srcId="{9FC7A73A-31AC-462D-8910-825CDC128C27}" destId="{D772165A-D57E-4187-83D4-CA0928C5F71A}" srcOrd="0" destOrd="0" presId="urn:microsoft.com/office/officeart/2005/8/layout/process1"/>
    <dgm:cxn modelId="{3E11C570-20F1-444E-AB9D-3659E3BECCFB}" type="presOf" srcId="{724CC714-7036-4ED7-B860-7B9B91094C7A}" destId="{19AC0B62-A2D1-4DCD-B23D-74D6FB385A53}" srcOrd="0" destOrd="0" presId="urn:microsoft.com/office/officeart/2005/8/layout/process1"/>
    <dgm:cxn modelId="{B6C33473-422C-49B6-AFBC-554027346E91}" type="presOf" srcId="{9DF48DD0-04A9-423F-962B-2FDA94D35FC2}" destId="{71BD4521-090C-4437-8FBD-1F7325A41BA2}" srcOrd="0" destOrd="0" presId="urn:microsoft.com/office/officeart/2005/8/layout/process1"/>
    <dgm:cxn modelId="{4353277C-FBF3-478A-AB39-77157CB19966}" type="presOf" srcId="{72A2F0E2-A9C5-4FD9-8695-074B829A0520}" destId="{6EFA76E0-A4DA-412B-95A9-E1BBDEA2AB1C}" srcOrd="1" destOrd="0" presId="urn:microsoft.com/office/officeart/2005/8/layout/process1"/>
    <dgm:cxn modelId="{19E5AD82-9BCE-4563-9AA0-F8F29F8CD2A0}" type="presOf" srcId="{72A2F0E2-A9C5-4FD9-8695-074B829A0520}" destId="{C36D8540-C9BC-40F6-9DDD-CAB6C0594A59}" srcOrd="0" destOrd="0" presId="urn:microsoft.com/office/officeart/2005/8/layout/process1"/>
    <dgm:cxn modelId="{49FBCD9D-8410-436A-88BD-9EF6E8CB1A02}" srcId="{6AB933DB-C0B8-460E-B50C-1B6B8504E107}" destId="{40E5D686-D5AA-468D-AD45-DE878837DBD0}" srcOrd="3" destOrd="0" parTransId="{FAB3D2C1-C5BA-4CAA-B564-8919538CA53C}" sibTransId="{319A575D-28AB-4D15-9F22-C6393300BD2A}"/>
    <dgm:cxn modelId="{1A17EE9D-6E8A-4BB7-9160-87D8AAA07B16}" type="presOf" srcId="{6AB933DB-C0B8-460E-B50C-1B6B8504E107}" destId="{1897D4BB-C644-48CA-B40B-AE86E722CEDB}" srcOrd="0" destOrd="0" presId="urn:microsoft.com/office/officeart/2005/8/layout/process1"/>
    <dgm:cxn modelId="{6BFDE59F-0EAD-4AEA-9747-FA0EF78754DB}" srcId="{6AB933DB-C0B8-460E-B50C-1B6B8504E107}" destId="{8FCE0034-D169-4556-9F03-E819EC791D2C}" srcOrd="1" destOrd="0" parTransId="{6E2F4E50-C01A-445B-B17B-CA1DCD80AA48}" sibTransId="{72A2F0E2-A9C5-4FD9-8695-074B829A0520}"/>
    <dgm:cxn modelId="{3302EAA6-EDB0-4550-930C-655B4688810C}" type="presOf" srcId="{9FC7A73A-31AC-462D-8910-825CDC128C27}" destId="{81176706-FFB4-4574-9AF0-40C777BEAE23}" srcOrd="1" destOrd="0" presId="urn:microsoft.com/office/officeart/2005/8/layout/process1"/>
    <dgm:cxn modelId="{0AE176A8-3901-405B-8912-92A3D682C702}" type="presOf" srcId="{40E5D686-D5AA-468D-AD45-DE878837DBD0}" destId="{647FC170-F389-4445-B732-41A9F004E1FD}" srcOrd="0" destOrd="0" presId="urn:microsoft.com/office/officeart/2005/8/layout/process1"/>
    <dgm:cxn modelId="{4A57B3F6-4A5A-44F1-BD64-05E8B3E509E0}" srcId="{6AB933DB-C0B8-460E-B50C-1B6B8504E107}" destId="{9DF48DD0-04A9-423F-962B-2FDA94D35FC2}" srcOrd="2" destOrd="0" parTransId="{25D5275E-3E0E-40F6-81AF-07726B37082B}" sibTransId="{57DC9445-6B7D-4BD8-B6A1-5B6BFC86A4B0}"/>
    <dgm:cxn modelId="{07F449FE-C13D-43C6-A3B7-CF7DA8D80CC0}" srcId="{6AB933DB-C0B8-460E-B50C-1B6B8504E107}" destId="{724CC714-7036-4ED7-B860-7B9B91094C7A}" srcOrd="0" destOrd="0" parTransId="{647D3446-8FD0-4AF8-8BD6-E4EA74F8E047}" sibTransId="{9FC7A73A-31AC-462D-8910-825CDC128C27}"/>
    <dgm:cxn modelId="{3216CBFA-D5AE-4551-976D-BF77C0605A1A}" type="presParOf" srcId="{1897D4BB-C644-48CA-B40B-AE86E722CEDB}" destId="{19AC0B62-A2D1-4DCD-B23D-74D6FB385A53}" srcOrd="0" destOrd="0" presId="urn:microsoft.com/office/officeart/2005/8/layout/process1"/>
    <dgm:cxn modelId="{23E73922-4F52-4650-979C-59CAA4FF8EDD}" type="presParOf" srcId="{1897D4BB-C644-48CA-B40B-AE86E722CEDB}" destId="{D772165A-D57E-4187-83D4-CA0928C5F71A}" srcOrd="1" destOrd="0" presId="urn:microsoft.com/office/officeart/2005/8/layout/process1"/>
    <dgm:cxn modelId="{CCB5BA6B-8884-4FDA-A75E-2391E5FB2398}" type="presParOf" srcId="{D772165A-D57E-4187-83D4-CA0928C5F71A}" destId="{81176706-FFB4-4574-9AF0-40C777BEAE23}" srcOrd="0" destOrd="0" presId="urn:microsoft.com/office/officeart/2005/8/layout/process1"/>
    <dgm:cxn modelId="{74DA9376-4C67-4C3D-85C3-EFFEC2B1495D}" type="presParOf" srcId="{1897D4BB-C644-48CA-B40B-AE86E722CEDB}" destId="{8754FE98-F624-48AD-9745-8BBA59A87742}" srcOrd="2" destOrd="0" presId="urn:microsoft.com/office/officeart/2005/8/layout/process1"/>
    <dgm:cxn modelId="{4B27FAFF-E010-42E8-B36F-332A5777782C}" type="presParOf" srcId="{1897D4BB-C644-48CA-B40B-AE86E722CEDB}" destId="{C36D8540-C9BC-40F6-9DDD-CAB6C0594A59}" srcOrd="3" destOrd="0" presId="urn:microsoft.com/office/officeart/2005/8/layout/process1"/>
    <dgm:cxn modelId="{4430386D-2580-4970-9170-818EFD56161A}" type="presParOf" srcId="{C36D8540-C9BC-40F6-9DDD-CAB6C0594A59}" destId="{6EFA76E0-A4DA-412B-95A9-E1BBDEA2AB1C}" srcOrd="0" destOrd="0" presId="urn:microsoft.com/office/officeart/2005/8/layout/process1"/>
    <dgm:cxn modelId="{52CE5D10-3438-4940-8E13-EDC23695F3AD}" type="presParOf" srcId="{1897D4BB-C644-48CA-B40B-AE86E722CEDB}" destId="{71BD4521-090C-4437-8FBD-1F7325A41BA2}" srcOrd="4" destOrd="0" presId="urn:microsoft.com/office/officeart/2005/8/layout/process1"/>
    <dgm:cxn modelId="{03B7D231-B0D2-49BD-81E9-C9497B83CC16}" type="presParOf" srcId="{1897D4BB-C644-48CA-B40B-AE86E722CEDB}" destId="{1EB8EF69-E1C6-46ED-9306-AAC85B3F3D4C}" srcOrd="5" destOrd="0" presId="urn:microsoft.com/office/officeart/2005/8/layout/process1"/>
    <dgm:cxn modelId="{C7997D05-B776-4472-B092-428E8D83F30D}" type="presParOf" srcId="{1EB8EF69-E1C6-46ED-9306-AAC85B3F3D4C}" destId="{24122411-6DB6-4C74-838F-0A82D0E792AA}" srcOrd="0" destOrd="0" presId="urn:microsoft.com/office/officeart/2005/8/layout/process1"/>
    <dgm:cxn modelId="{71F6631A-CAFD-4D99-835D-3406786B5102}" type="presParOf" srcId="{1897D4BB-C644-48CA-B40B-AE86E722CEDB}" destId="{647FC170-F389-4445-B732-41A9F004E1F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A3F2EB4-9C61-4571-8DA1-6B10C16787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1A41365C-BB5B-479D-859D-8650B4568DE5}">
      <dgm:prSet/>
      <dgm:spPr/>
      <dgm:t>
        <a:bodyPr/>
        <a:lstStyle/>
        <a:p>
          <a:r>
            <a:rPr lang="ru-RU"/>
            <a:t>Государственная политика</a:t>
          </a:r>
        </a:p>
      </dgm:t>
    </dgm:pt>
    <dgm:pt modelId="{75DFC68A-F7B0-4B45-B990-862A508DACB5}" type="parTrans" cxnId="{8CB530EE-D737-4E39-9E94-50CDDAB007C3}">
      <dgm:prSet/>
      <dgm:spPr/>
      <dgm:t>
        <a:bodyPr/>
        <a:lstStyle/>
        <a:p>
          <a:endParaRPr lang="ru-RU"/>
        </a:p>
      </dgm:t>
    </dgm:pt>
    <dgm:pt modelId="{A7F21239-774F-4E69-8EEF-C92A777D5766}" type="sibTrans" cxnId="{8CB530EE-D737-4E39-9E94-50CDDAB007C3}">
      <dgm:prSet/>
      <dgm:spPr/>
      <dgm:t>
        <a:bodyPr/>
        <a:lstStyle/>
        <a:p>
          <a:endParaRPr lang="ru-RU"/>
        </a:p>
      </dgm:t>
    </dgm:pt>
    <dgm:pt modelId="{52951F4B-7D45-442C-83D6-6EBF09506101}">
      <dgm:prSet/>
      <dgm:spPr/>
      <dgm:t>
        <a:bodyPr/>
        <a:lstStyle/>
        <a:p>
          <a:r>
            <a:rPr lang="ru-RU"/>
            <a:t>Концепция</a:t>
          </a:r>
        </a:p>
      </dgm:t>
    </dgm:pt>
    <dgm:pt modelId="{F58163EF-FAE2-42CD-B7EC-119B695CAAEC}" type="parTrans" cxnId="{1CD8DA5B-E3B5-40C5-9863-FB67D95270BF}">
      <dgm:prSet/>
      <dgm:spPr/>
      <dgm:t>
        <a:bodyPr/>
        <a:lstStyle/>
        <a:p>
          <a:endParaRPr lang="ru-RU"/>
        </a:p>
      </dgm:t>
    </dgm:pt>
    <dgm:pt modelId="{8AD7CFA1-1272-478B-8F61-95B0797FE4C3}" type="sibTrans" cxnId="{1CD8DA5B-E3B5-40C5-9863-FB67D95270BF}">
      <dgm:prSet/>
      <dgm:spPr/>
      <dgm:t>
        <a:bodyPr/>
        <a:lstStyle/>
        <a:p>
          <a:endParaRPr lang="ru-RU"/>
        </a:p>
      </dgm:t>
    </dgm:pt>
    <dgm:pt modelId="{D5970860-0A09-4883-8168-A18D0942E6CA}">
      <dgm:prSet/>
      <dgm:spPr/>
      <dgm:t>
        <a:bodyPr/>
        <a:lstStyle/>
        <a:p>
          <a:r>
            <a:rPr lang="ru-RU"/>
            <a:t>Стратегия</a:t>
          </a:r>
        </a:p>
      </dgm:t>
    </dgm:pt>
    <dgm:pt modelId="{D943C8C2-47BE-4E40-8447-DE7A8C254FDB}" type="parTrans" cxnId="{6B5B8242-1BAA-4F27-A515-7DC45025FFC7}">
      <dgm:prSet/>
      <dgm:spPr/>
      <dgm:t>
        <a:bodyPr/>
        <a:lstStyle/>
        <a:p>
          <a:endParaRPr lang="ru-RU"/>
        </a:p>
      </dgm:t>
    </dgm:pt>
    <dgm:pt modelId="{5583CA86-26D9-4D96-89C2-3A8D02183BEC}" type="sibTrans" cxnId="{6B5B8242-1BAA-4F27-A515-7DC45025FFC7}">
      <dgm:prSet/>
      <dgm:spPr/>
      <dgm:t>
        <a:bodyPr/>
        <a:lstStyle/>
        <a:p>
          <a:endParaRPr lang="ru-RU"/>
        </a:p>
      </dgm:t>
    </dgm:pt>
    <dgm:pt modelId="{7A47E7EC-51DA-45C1-A10A-5A3848D04B00}">
      <dgm:prSet/>
      <dgm:spPr/>
      <dgm:t>
        <a:bodyPr/>
        <a:lstStyle/>
        <a:p>
          <a:r>
            <a:rPr lang="ru-RU"/>
            <a:t>Национальный проект</a:t>
          </a:r>
        </a:p>
      </dgm:t>
    </dgm:pt>
    <dgm:pt modelId="{1E887D71-68C0-4FAE-9F87-FB5416898B1B}" type="parTrans" cxnId="{8C6C9A98-BF39-415F-B22A-BA35F4247D01}">
      <dgm:prSet/>
      <dgm:spPr/>
      <dgm:t>
        <a:bodyPr/>
        <a:lstStyle/>
        <a:p>
          <a:endParaRPr lang="ru-RU"/>
        </a:p>
      </dgm:t>
    </dgm:pt>
    <dgm:pt modelId="{7650CD6C-26C6-4E01-B1FD-9FCA46E60DFF}" type="sibTrans" cxnId="{8C6C9A98-BF39-415F-B22A-BA35F4247D01}">
      <dgm:prSet/>
      <dgm:spPr/>
      <dgm:t>
        <a:bodyPr/>
        <a:lstStyle/>
        <a:p>
          <a:endParaRPr lang="ru-RU"/>
        </a:p>
      </dgm:t>
    </dgm:pt>
    <dgm:pt modelId="{194D136F-6541-4C94-9191-D6B4B4FB7867}">
      <dgm:prSet/>
      <dgm:spPr/>
      <dgm:t>
        <a:bodyPr/>
        <a:lstStyle/>
        <a:p>
          <a:r>
            <a:rPr lang="ru-RU"/>
            <a:t>Государственная программа</a:t>
          </a:r>
        </a:p>
      </dgm:t>
    </dgm:pt>
    <dgm:pt modelId="{4F6FE63E-32CE-4E4E-9375-4C0FFE68E08E}" type="parTrans" cxnId="{B948166C-B83E-41D8-95FE-1DB35FABEF05}">
      <dgm:prSet/>
      <dgm:spPr/>
      <dgm:t>
        <a:bodyPr/>
        <a:lstStyle/>
        <a:p>
          <a:endParaRPr lang="ru-RU"/>
        </a:p>
      </dgm:t>
    </dgm:pt>
    <dgm:pt modelId="{3058416A-4217-47EC-917F-8365CBC668DE}" type="sibTrans" cxnId="{B948166C-B83E-41D8-95FE-1DB35FABEF05}">
      <dgm:prSet/>
      <dgm:spPr/>
      <dgm:t>
        <a:bodyPr/>
        <a:lstStyle/>
        <a:p>
          <a:endParaRPr lang="ru-RU"/>
        </a:p>
      </dgm:t>
    </dgm:pt>
    <dgm:pt modelId="{D12C3EE5-3387-4D4A-876B-5424719B97ED}">
      <dgm:prSet/>
      <dgm:spPr/>
      <dgm:t>
        <a:bodyPr/>
        <a:lstStyle/>
        <a:p>
          <a:r>
            <a:rPr lang="ru-RU"/>
            <a:t>Федеральная целевая программа (ФЦП)</a:t>
          </a:r>
        </a:p>
      </dgm:t>
    </dgm:pt>
    <dgm:pt modelId="{00D61F77-EBD4-4C0B-B43C-B7FE7B9C31DA}" type="parTrans" cxnId="{1A848246-B0CD-4474-97C8-63E1C1E9C435}">
      <dgm:prSet/>
      <dgm:spPr/>
      <dgm:t>
        <a:bodyPr/>
        <a:lstStyle/>
        <a:p>
          <a:endParaRPr lang="ru-RU"/>
        </a:p>
      </dgm:t>
    </dgm:pt>
    <dgm:pt modelId="{8BC3C2FD-16FB-4C9A-8B83-6D93A568CAD1}" type="sibTrans" cxnId="{1A848246-B0CD-4474-97C8-63E1C1E9C435}">
      <dgm:prSet/>
      <dgm:spPr/>
      <dgm:t>
        <a:bodyPr/>
        <a:lstStyle/>
        <a:p>
          <a:endParaRPr lang="ru-RU"/>
        </a:p>
      </dgm:t>
    </dgm:pt>
    <dgm:pt modelId="{E0622C86-6002-47EE-8BCC-D8E980DBAFE6}">
      <dgm:prSet/>
      <dgm:spPr/>
      <dgm:t>
        <a:bodyPr/>
        <a:lstStyle/>
        <a:p>
          <a:r>
            <a:rPr lang="ru-RU"/>
            <a:t>Проекты:</a:t>
          </a:r>
        </a:p>
      </dgm:t>
    </dgm:pt>
    <dgm:pt modelId="{7E89C4C0-7888-4A60-B845-2A78907CE443}" type="parTrans" cxnId="{5868A0F2-339A-4DBF-8980-88B8F47DD373}">
      <dgm:prSet/>
      <dgm:spPr/>
      <dgm:t>
        <a:bodyPr/>
        <a:lstStyle/>
        <a:p>
          <a:endParaRPr lang="ru-RU"/>
        </a:p>
      </dgm:t>
    </dgm:pt>
    <dgm:pt modelId="{8542B9F2-1A63-4758-933A-7450F5CBEDCC}" type="sibTrans" cxnId="{5868A0F2-339A-4DBF-8980-88B8F47DD373}">
      <dgm:prSet/>
      <dgm:spPr/>
      <dgm:t>
        <a:bodyPr/>
        <a:lstStyle/>
        <a:p>
          <a:endParaRPr lang="ru-RU"/>
        </a:p>
      </dgm:t>
    </dgm:pt>
    <dgm:pt modelId="{9124CBDC-BF5F-4E22-AF66-C48F88A0AF02}" type="pres">
      <dgm:prSet presAssocID="{7A3F2EB4-9C61-4571-8DA1-6B10C16787FC}" presName="linear" presStyleCnt="0">
        <dgm:presLayoutVars>
          <dgm:animLvl val="lvl"/>
          <dgm:resizeHandles val="exact"/>
        </dgm:presLayoutVars>
      </dgm:prSet>
      <dgm:spPr/>
    </dgm:pt>
    <dgm:pt modelId="{EB5530FD-F988-4D45-853D-541E2BE92D47}" type="pres">
      <dgm:prSet presAssocID="{1A41365C-BB5B-479D-859D-8650B4568DE5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5FAA9B7B-4DCB-4A7A-9809-03E86BD87225}" type="pres">
      <dgm:prSet presAssocID="{A7F21239-774F-4E69-8EEF-C92A777D5766}" presName="spacer" presStyleCnt="0"/>
      <dgm:spPr/>
    </dgm:pt>
    <dgm:pt modelId="{FD906926-2F5E-4BEF-A434-BD10B05F21F4}" type="pres">
      <dgm:prSet presAssocID="{52951F4B-7D45-442C-83D6-6EBF0950610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8EAACC96-0EAA-4E1E-A9B7-1DD5781712CF}" type="pres">
      <dgm:prSet presAssocID="{8AD7CFA1-1272-478B-8F61-95B0797FE4C3}" presName="spacer" presStyleCnt="0"/>
      <dgm:spPr/>
    </dgm:pt>
    <dgm:pt modelId="{1E4D112F-F42D-4754-88BE-5A39AC3F5AD2}" type="pres">
      <dgm:prSet presAssocID="{D5970860-0A09-4883-8168-A18D0942E6C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928AD2B-3EE8-4AD9-98CC-D8D4BEA6BE45}" type="pres">
      <dgm:prSet presAssocID="{5583CA86-26D9-4D96-89C2-3A8D02183BEC}" presName="spacer" presStyleCnt="0"/>
      <dgm:spPr/>
    </dgm:pt>
    <dgm:pt modelId="{3A45BC48-2FFB-4C94-AC30-5F35FD500436}" type="pres">
      <dgm:prSet presAssocID="{7A47E7EC-51DA-45C1-A10A-5A3848D04B00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DEDAD1B5-3648-43E6-B888-5F0D3C0D456C}" type="pres">
      <dgm:prSet presAssocID="{7650CD6C-26C6-4E01-B1FD-9FCA46E60DFF}" presName="spacer" presStyleCnt="0"/>
      <dgm:spPr/>
    </dgm:pt>
    <dgm:pt modelId="{9235937C-6DC7-4E52-8E5E-E100FCF3BD3A}" type="pres">
      <dgm:prSet presAssocID="{194D136F-6541-4C94-9191-D6B4B4FB786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BDA36EE-4814-4D16-8455-A38F3E287B44}" type="pres">
      <dgm:prSet presAssocID="{3058416A-4217-47EC-917F-8365CBC668DE}" presName="spacer" presStyleCnt="0"/>
      <dgm:spPr/>
    </dgm:pt>
    <dgm:pt modelId="{4DBD4246-726A-496E-9643-AED6C590760F}" type="pres">
      <dgm:prSet presAssocID="{D12C3EE5-3387-4D4A-876B-5424719B97ED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0D777CF3-7152-4B53-8D85-926E55CF41BE}" type="pres">
      <dgm:prSet presAssocID="{8BC3C2FD-16FB-4C9A-8B83-6D93A568CAD1}" presName="spacer" presStyleCnt="0"/>
      <dgm:spPr/>
    </dgm:pt>
    <dgm:pt modelId="{14ECA52B-49DE-4AD8-8C8A-CC50BAE5D14A}" type="pres">
      <dgm:prSet presAssocID="{E0622C86-6002-47EE-8BCC-D8E980DBAFE6}" presName="parentText" presStyleLbl="node1" presStyleIdx="6" presStyleCnt="7" custLinFactNeighborX="145" custLinFactNeighborY="49687">
        <dgm:presLayoutVars>
          <dgm:chMax val="0"/>
          <dgm:bulletEnabled val="1"/>
        </dgm:presLayoutVars>
      </dgm:prSet>
      <dgm:spPr/>
    </dgm:pt>
  </dgm:ptLst>
  <dgm:cxnLst>
    <dgm:cxn modelId="{C970E51C-7BB0-4C24-9600-FF7430B75044}" type="presOf" srcId="{7A3F2EB4-9C61-4571-8DA1-6B10C16787FC}" destId="{9124CBDC-BF5F-4E22-AF66-C48F88A0AF02}" srcOrd="0" destOrd="0" presId="urn:microsoft.com/office/officeart/2005/8/layout/vList2"/>
    <dgm:cxn modelId="{58390B36-D721-49CB-9699-FC07EF0ED087}" type="presOf" srcId="{52951F4B-7D45-442C-83D6-6EBF09506101}" destId="{FD906926-2F5E-4BEF-A434-BD10B05F21F4}" srcOrd="0" destOrd="0" presId="urn:microsoft.com/office/officeart/2005/8/layout/vList2"/>
    <dgm:cxn modelId="{1CD8DA5B-E3B5-40C5-9863-FB67D95270BF}" srcId="{7A3F2EB4-9C61-4571-8DA1-6B10C16787FC}" destId="{52951F4B-7D45-442C-83D6-6EBF09506101}" srcOrd="1" destOrd="0" parTransId="{F58163EF-FAE2-42CD-B7EC-119B695CAAEC}" sibTransId="{8AD7CFA1-1272-478B-8F61-95B0797FE4C3}"/>
    <dgm:cxn modelId="{6B5B8242-1BAA-4F27-A515-7DC45025FFC7}" srcId="{7A3F2EB4-9C61-4571-8DA1-6B10C16787FC}" destId="{D5970860-0A09-4883-8168-A18D0942E6CA}" srcOrd="2" destOrd="0" parTransId="{D943C8C2-47BE-4E40-8447-DE7A8C254FDB}" sibTransId="{5583CA86-26D9-4D96-89C2-3A8D02183BEC}"/>
    <dgm:cxn modelId="{1A848246-B0CD-4474-97C8-63E1C1E9C435}" srcId="{7A3F2EB4-9C61-4571-8DA1-6B10C16787FC}" destId="{D12C3EE5-3387-4D4A-876B-5424719B97ED}" srcOrd="5" destOrd="0" parTransId="{00D61F77-EBD4-4C0B-B43C-B7FE7B9C31DA}" sibTransId="{8BC3C2FD-16FB-4C9A-8B83-6D93A568CAD1}"/>
    <dgm:cxn modelId="{B948166C-B83E-41D8-95FE-1DB35FABEF05}" srcId="{7A3F2EB4-9C61-4571-8DA1-6B10C16787FC}" destId="{194D136F-6541-4C94-9191-D6B4B4FB7867}" srcOrd="4" destOrd="0" parTransId="{4F6FE63E-32CE-4E4E-9375-4C0FFE68E08E}" sibTransId="{3058416A-4217-47EC-917F-8365CBC668DE}"/>
    <dgm:cxn modelId="{900E2D4E-D9EA-4B04-96D6-CBA443AFDA03}" type="presOf" srcId="{D5970860-0A09-4883-8168-A18D0942E6CA}" destId="{1E4D112F-F42D-4754-88BE-5A39AC3F5AD2}" srcOrd="0" destOrd="0" presId="urn:microsoft.com/office/officeart/2005/8/layout/vList2"/>
    <dgm:cxn modelId="{F20E3E7B-735D-4116-A99A-9271FCA924B8}" type="presOf" srcId="{E0622C86-6002-47EE-8BCC-D8E980DBAFE6}" destId="{14ECA52B-49DE-4AD8-8C8A-CC50BAE5D14A}" srcOrd="0" destOrd="0" presId="urn:microsoft.com/office/officeart/2005/8/layout/vList2"/>
    <dgm:cxn modelId="{8C6C9A98-BF39-415F-B22A-BA35F4247D01}" srcId="{7A3F2EB4-9C61-4571-8DA1-6B10C16787FC}" destId="{7A47E7EC-51DA-45C1-A10A-5A3848D04B00}" srcOrd="3" destOrd="0" parTransId="{1E887D71-68C0-4FAE-9F87-FB5416898B1B}" sibTransId="{7650CD6C-26C6-4E01-B1FD-9FCA46E60DFF}"/>
    <dgm:cxn modelId="{3AC982B3-085C-41E1-A454-04BEA2AC0B56}" type="presOf" srcId="{7A47E7EC-51DA-45C1-A10A-5A3848D04B00}" destId="{3A45BC48-2FFB-4C94-AC30-5F35FD500436}" srcOrd="0" destOrd="0" presId="urn:microsoft.com/office/officeart/2005/8/layout/vList2"/>
    <dgm:cxn modelId="{7E2B21C0-4C73-406B-BFE0-028496D352F6}" type="presOf" srcId="{194D136F-6541-4C94-9191-D6B4B4FB7867}" destId="{9235937C-6DC7-4E52-8E5E-E100FCF3BD3A}" srcOrd="0" destOrd="0" presId="urn:microsoft.com/office/officeart/2005/8/layout/vList2"/>
    <dgm:cxn modelId="{BAA21CC4-0C02-40B9-ABCD-A37CB011FEF2}" type="presOf" srcId="{D12C3EE5-3387-4D4A-876B-5424719B97ED}" destId="{4DBD4246-726A-496E-9643-AED6C590760F}" srcOrd="0" destOrd="0" presId="urn:microsoft.com/office/officeart/2005/8/layout/vList2"/>
    <dgm:cxn modelId="{7F9AECEC-4444-46EC-9F22-FC5F020AE0B9}" type="presOf" srcId="{1A41365C-BB5B-479D-859D-8650B4568DE5}" destId="{EB5530FD-F988-4D45-853D-541E2BE92D47}" srcOrd="0" destOrd="0" presId="urn:microsoft.com/office/officeart/2005/8/layout/vList2"/>
    <dgm:cxn modelId="{8CB530EE-D737-4E39-9E94-50CDDAB007C3}" srcId="{7A3F2EB4-9C61-4571-8DA1-6B10C16787FC}" destId="{1A41365C-BB5B-479D-859D-8650B4568DE5}" srcOrd="0" destOrd="0" parTransId="{75DFC68A-F7B0-4B45-B990-862A508DACB5}" sibTransId="{A7F21239-774F-4E69-8EEF-C92A777D5766}"/>
    <dgm:cxn modelId="{5868A0F2-339A-4DBF-8980-88B8F47DD373}" srcId="{7A3F2EB4-9C61-4571-8DA1-6B10C16787FC}" destId="{E0622C86-6002-47EE-8BCC-D8E980DBAFE6}" srcOrd="6" destOrd="0" parTransId="{7E89C4C0-7888-4A60-B845-2A78907CE443}" sibTransId="{8542B9F2-1A63-4758-933A-7450F5CBEDCC}"/>
    <dgm:cxn modelId="{37DA8BE2-ECFE-4606-B1A5-924A26B38FB2}" type="presParOf" srcId="{9124CBDC-BF5F-4E22-AF66-C48F88A0AF02}" destId="{EB5530FD-F988-4D45-853D-541E2BE92D47}" srcOrd="0" destOrd="0" presId="urn:microsoft.com/office/officeart/2005/8/layout/vList2"/>
    <dgm:cxn modelId="{CAB675F3-79B6-445F-8975-389E3713DF2C}" type="presParOf" srcId="{9124CBDC-BF5F-4E22-AF66-C48F88A0AF02}" destId="{5FAA9B7B-4DCB-4A7A-9809-03E86BD87225}" srcOrd="1" destOrd="0" presId="urn:microsoft.com/office/officeart/2005/8/layout/vList2"/>
    <dgm:cxn modelId="{FC9A75AF-798F-49A2-A918-C9FE173AF109}" type="presParOf" srcId="{9124CBDC-BF5F-4E22-AF66-C48F88A0AF02}" destId="{FD906926-2F5E-4BEF-A434-BD10B05F21F4}" srcOrd="2" destOrd="0" presId="urn:microsoft.com/office/officeart/2005/8/layout/vList2"/>
    <dgm:cxn modelId="{A869F532-2CA0-4291-ADF6-5AAC93624D19}" type="presParOf" srcId="{9124CBDC-BF5F-4E22-AF66-C48F88A0AF02}" destId="{8EAACC96-0EAA-4E1E-A9B7-1DD5781712CF}" srcOrd="3" destOrd="0" presId="urn:microsoft.com/office/officeart/2005/8/layout/vList2"/>
    <dgm:cxn modelId="{E53D2E47-0B29-47C4-9238-C5D7E191952D}" type="presParOf" srcId="{9124CBDC-BF5F-4E22-AF66-C48F88A0AF02}" destId="{1E4D112F-F42D-4754-88BE-5A39AC3F5AD2}" srcOrd="4" destOrd="0" presId="urn:microsoft.com/office/officeart/2005/8/layout/vList2"/>
    <dgm:cxn modelId="{670A7232-9169-4726-8791-37F94BA031B5}" type="presParOf" srcId="{9124CBDC-BF5F-4E22-AF66-C48F88A0AF02}" destId="{B928AD2B-3EE8-4AD9-98CC-D8D4BEA6BE45}" srcOrd="5" destOrd="0" presId="urn:microsoft.com/office/officeart/2005/8/layout/vList2"/>
    <dgm:cxn modelId="{853465C7-A7F6-43DC-958B-649947406163}" type="presParOf" srcId="{9124CBDC-BF5F-4E22-AF66-C48F88A0AF02}" destId="{3A45BC48-2FFB-4C94-AC30-5F35FD500436}" srcOrd="6" destOrd="0" presId="urn:microsoft.com/office/officeart/2005/8/layout/vList2"/>
    <dgm:cxn modelId="{21EE1B77-4BC5-4A65-A6CC-B88EBA365C1F}" type="presParOf" srcId="{9124CBDC-BF5F-4E22-AF66-C48F88A0AF02}" destId="{DEDAD1B5-3648-43E6-B888-5F0D3C0D456C}" srcOrd="7" destOrd="0" presId="urn:microsoft.com/office/officeart/2005/8/layout/vList2"/>
    <dgm:cxn modelId="{64BACFC0-6C0D-4C74-864E-DA0FAADAADC0}" type="presParOf" srcId="{9124CBDC-BF5F-4E22-AF66-C48F88A0AF02}" destId="{9235937C-6DC7-4E52-8E5E-E100FCF3BD3A}" srcOrd="8" destOrd="0" presId="urn:microsoft.com/office/officeart/2005/8/layout/vList2"/>
    <dgm:cxn modelId="{6C043ADA-3AD9-4C08-95ED-0252D70881B6}" type="presParOf" srcId="{9124CBDC-BF5F-4E22-AF66-C48F88A0AF02}" destId="{4BDA36EE-4814-4D16-8455-A38F3E287B44}" srcOrd="9" destOrd="0" presId="urn:microsoft.com/office/officeart/2005/8/layout/vList2"/>
    <dgm:cxn modelId="{DAC5F78C-E632-4B64-8554-C14B3B117869}" type="presParOf" srcId="{9124CBDC-BF5F-4E22-AF66-C48F88A0AF02}" destId="{4DBD4246-726A-496E-9643-AED6C590760F}" srcOrd="10" destOrd="0" presId="urn:microsoft.com/office/officeart/2005/8/layout/vList2"/>
    <dgm:cxn modelId="{08ADCC9F-3E45-4CE5-86E4-B95C9874F903}" type="presParOf" srcId="{9124CBDC-BF5F-4E22-AF66-C48F88A0AF02}" destId="{0D777CF3-7152-4B53-8D85-926E55CF41BE}" srcOrd="11" destOrd="0" presId="urn:microsoft.com/office/officeart/2005/8/layout/vList2"/>
    <dgm:cxn modelId="{40C816E0-8582-47F6-A3FD-45E2284B1C6F}" type="presParOf" srcId="{9124CBDC-BF5F-4E22-AF66-C48F88A0AF02}" destId="{14ECA52B-49DE-4AD8-8C8A-CC50BAE5D14A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E6001E7-A44B-4C60-918D-3FD64AB3BA9E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ru-RU"/>
        </a:p>
      </dgm:t>
    </dgm:pt>
    <dgm:pt modelId="{4EB5D5E0-CB93-468D-A4FD-22DA82C36F7F}">
      <dgm:prSet/>
      <dgm:spPr/>
      <dgm:t>
        <a:bodyPr/>
        <a:lstStyle/>
        <a:p>
          <a:r>
            <a:rPr lang="ru-RU"/>
            <a:t>Анализ документов</a:t>
          </a:r>
        </a:p>
      </dgm:t>
    </dgm:pt>
    <dgm:pt modelId="{59BBA74D-669E-49F9-8FDB-409ECE944E4D}" type="parTrans" cxnId="{E0EBCD7E-C274-4D1D-8400-E8D9F12CDF15}">
      <dgm:prSet/>
      <dgm:spPr/>
      <dgm:t>
        <a:bodyPr/>
        <a:lstStyle/>
        <a:p>
          <a:endParaRPr lang="ru-RU"/>
        </a:p>
      </dgm:t>
    </dgm:pt>
    <dgm:pt modelId="{2CB1C151-C088-4478-AA8E-41ADA47C8FD1}" type="sibTrans" cxnId="{E0EBCD7E-C274-4D1D-8400-E8D9F12CDF15}">
      <dgm:prSet/>
      <dgm:spPr/>
      <dgm:t>
        <a:bodyPr/>
        <a:lstStyle/>
        <a:p>
          <a:endParaRPr lang="ru-RU"/>
        </a:p>
      </dgm:t>
    </dgm:pt>
    <dgm:pt modelId="{20B88DB8-2D25-4F2B-84D8-D3FDC4DDB49A}">
      <dgm:prSet/>
      <dgm:spPr/>
      <dgm:t>
        <a:bodyPr/>
        <a:lstStyle/>
        <a:p>
          <a:r>
            <a:rPr lang="ru-RU"/>
            <a:t>Социологический опрос</a:t>
          </a:r>
        </a:p>
      </dgm:t>
    </dgm:pt>
    <dgm:pt modelId="{A8DB75F1-0DEF-4C9F-B49E-0EEA0D3BC5E1}" type="parTrans" cxnId="{0A59EE26-39DE-4911-AD5D-757B738208BE}">
      <dgm:prSet/>
      <dgm:spPr/>
      <dgm:t>
        <a:bodyPr/>
        <a:lstStyle/>
        <a:p>
          <a:endParaRPr lang="ru-RU"/>
        </a:p>
      </dgm:t>
    </dgm:pt>
    <dgm:pt modelId="{97735D69-2695-4778-BADF-B43295CAA055}" type="sibTrans" cxnId="{0A59EE26-39DE-4911-AD5D-757B738208BE}">
      <dgm:prSet/>
      <dgm:spPr/>
      <dgm:t>
        <a:bodyPr/>
        <a:lstStyle/>
        <a:p>
          <a:endParaRPr lang="ru-RU"/>
        </a:p>
      </dgm:t>
    </dgm:pt>
    <dgm:pt modelId="{5D86E3EE-52E3-4970-8892-90FF1208B11B}">
      <dgm:prSet/>
      <dgm:spPr/>
      <dgm:t>
        <a:bodyPr/>
        <a:lstStyle/>
        <a:p>
          <a:r>
            <a:rPr lang="ru-RU"/>
            <a:t>Экспертные интервью</a:t>
          </a:r>
        </a:p>
      </dgm:t>
    </dgm:pt>
    <dgm:pt modelId="{92F12966-52DB-48E8-8060-208E361C4E60}" type="parTrans" cxnId="{DD067AC3-D075-4E67-BACE-8891433E330B}">
      <dgm:prSet/>
      <dgm:spPr/>
      <dgm:t>
        <a:bodyPr/>
        <a:lstStyle/>
        <a:p>
          <a:endParaRPr lang="ru-RU"/>
        </a:p>
      </dgm:t>
    </dgm:pt>
    <dgm:pt modelId="{533D9B6F-39A8-426D-A17D-90F3111D1708}" type="sibTrans" cxnId="{DD067AC3-D075-4E67-BACE-8891433E330B}">
      <dgm:prSet/>
      <dgm:spPr/>
      <dgm:t>
        <a:bodyPr/>
        <a:lstStyle/>
        <a:p>
          <a:endParaRPr lang="ru-RU"/>
        </a:p>
      </dgm:t>
    </dgm:pt>
    <dgm:pt modelId="{3944306F-719F-4E27-95E0-D62758B2D19C}">
      <dgm:prSet/>
      <dgm:spPr/>
      <dgm:t>
        <a:bodyPr/>
        <a:lstStyle/>
        <a:p>
          <a:r>
            <a:rPr lang="ru-RU"/>
            <a:t>Форсайт-сессия</a:t>
          </a:r>
        </a:p>
      </dgm:t>
    </dgm:pt>
    <dgm:pt modelId="{E3615FFD-054B-4BAB-A2F7-1FB53F88C437}" type="parTrans" cxnId="{CE76B3B0-137F-45E7-AEA1-0608B047A97C}">
      <dgm:prSet/>
      <dgm:spPr/>
      <dgm:t>
        <a:bodyPr/>
        <a:lstStyle/>
        <a:p>
          <a:endParaRPr lang="ru-RU"/>
        </a:p>
      </dgm:t>
    </dgm:pt>
    <dgm:pt modelId="{760EBD65-92AC-40D0-971F-9ADEFCA83CC5}" type="sibTrans" cxnId="{CE76B3B0-137F-45E7-AEA1-0608B047A97C}">
      <dgm:prSet/>
      <dgm:spPr/>
      <dgm:t>
        <a:bodyPr/>
        <a:lstStyle/>
        <a:p>
          <a:endParaRPr lang="ru-RU"/>
        </a:p>
      </dgm:t>
    </dgm:pt>
    <dgm:pt modelId="{1AA7EC7D-ADD6-4BB0-8D8A-2ED8B845BA55}">
      <dgm:prSet/>
      <dgm:spPr/>
      <dgm:t>
        <a:bodyPr/>
        <a:lstStyle/>
        <a:p>
          <a:r>
            <a:rPr lang="ru-RU"/>
            <a:t>Фокус-группа</a:t>
          </a:r>
        </a:p>
      </dgm:t>
    </dgm:pt>
    <dgm:pt modelId="{6CD09AE8-4C47-4A42-AAA3-75510CE865DA}" type="parTrans" cxnId="{9D989226-EA82-428F-933B-60BB7596A640}">
      <dgm:prSet/>
      <dgm:spPr/>
      <dgm:t>
        <a:bodyPr/>
        <a:lstStyle/>
        <a:p>
          <a:endParaRPr lang="ru-RU"/>
        </a:p>
      </dgm:t>
    </dgm:pt>
    <dgm:pt modelId="{793927FC-130C-424B-8C5C-DD6BCCC514D3}" type="sibTrans" cxnId="{9D989226-EA82-428F-933B-60BB7596A640}">
      <dgm:prSet/>
      <dgm:spPr/>
      <dgm:t>
        <a:bodyPr/>
        <a:lstStyle/>
        <a:p>
          <a:endParaRPr lang="ru-RU"/>
        </a:p>
      </dgm:t>
    </dgm:pt>
    <dgm:pt modelId="{19BFC6A5-8CBD-4BCE-AA5F-957628D884E9}">
      <dgm:prSet/>
      <dgm:spPr/>
      <dgm:t>
        <a:bodyPr/>
        <a:lstStyle/>
        <a:p>
          <a:r>
            <a:rPr lang="ru-RU"/>
            <a:t>Анализ рисков</a:t>
          </a:r>
        </a:p>
      </dgm:t>
    </dgm:pt>
    <dgm:pt modelId="{D59C5121-464A-48D8-B12F-5DADFC8CF21F}" type="parTrans" cxnId="{0EBC5413-2C8A-4BAB-956A-C885C094867E}">
      <dgm:prSet/>
      <dgm:spPr/>
      <dgm:t>
        <a:bodyPr/>
        <a:lstStyle/>
        <a:p>
          <a:endParaRPr lang="ru-RU"/>
        </a:p>
      </dgm:t>
    </dgm:pt>
    <dgm:pt modelId="{254A593C-CEE8-4B96-B937-6BA2A40807DA}" type="sibTrans" cxnId="{0EBC5413-2C8A-4BAB-956A-C885C094867E}">
      <dgm:prSet/>
      <dgm:spPr/>
      <dgm:t>
        <a:bodyPr/>
        <a:lstStyle/>
        <a:p>
          <a:endParaRPr lang="ru-RU"/>
        </a:p>
      </dgm:t>
    </dgm:pt>
    <dgm:pt modelId="{B161ABE3-9B5A-4920-A35B-E31279A85263}" type="pres">
      <dgm:prSet presAssocID="{EE6001E7-A44B-4C60-918D-3FD64AB3BA9E}" presName="linear" presStyleCnt="0">
        <dgm:presLayoutVars>
          <dgm:animLvl val="lvl"/>
          <dgm:resizeHandles val="exact"/>
        </dgm:presLayoutVars>
      </dgm:prSet>
      <dgm:spPr/>
    </dgm:pt>
    <dgm:pt modelId="{C7760E82-6F58-4CDF-802C-18FE0C54E3FB}" type="pres">
      <dgm:prSet presAssocID="{4EB5D5E0-CB93-468D-A4FD-22DA82C36F7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4D65F63-46F7-4645-87CF-2C1119D248B6}" type="pres">
      <dgm:prSet presAssocID="{2CB1C151-C088-4478-AA8E-41ADA47C8FD1}" presName="spacer" presStyleCnt="0"/>
      <dgm:spPr/>
    </dgm:pt>
    <dgm:pt modelId="{F25A3280-7F34-4ED7-8AD8-016FB83CE303}" type="pres">
      <dgm:prSet presAssocID="{20B88DB8-2D25-4F2B-84D8-D3FDC4DDB49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D4D0497-0979-463C-ACB6-5D2A16B43977}" type="pres">
      <dgm:prSet presAssocID="{97735D69-2695-4778-BADF-B43295CAA055}" presName="spacer" presStyleCnt="0"/>
      <dgm:spPr/>
    </dgm:pt>
    <dgm:pt modelId="{C6D49A36-8388-43FA-9E23-709AA00DA549}" type="pres">
      <dgm:prSet presAssocID="{5D86E3EE-52E3-4970-8892-90FF1208B11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E59AF4D-C4F8-4663-8F46-88D0E4EF52AA}" type="pres">
      <dgm:prSet presAssocID="{533D9B6F-39A8-426D-A17D-90F3111D1708}" presName="spacer" presStyleCnt="0"/>
      <dgm:spPr/>
    </dgm:pt>
    <dgm:pt modelId="{1C8B7D17-5F0C-469D-A25B-BC05CB8F4E03}" type="pres">
      <dgm:prSet presAssocID="{3944306F-719F-4E27-95E0-D62758B2D19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86F1885-0FC2-4112-8963-CCF40C63A020}" type="pres">
      <dgm:prSet presAssocID="{760EBD65-92AC-40D0-971F-9ADEFCA83CC5}" presName="spacer" presStyleCnt="0"/>
      <dgm:spPr/>
    </dgm:pt>
    <dgm:pt modelId="{95FA710A-9906-4E25-8ACA-CA4B2FE53382}" type="pres">
      <dgm:prSet presAssocID="{1AA7EC7D-ADD6-4BB0-8D8A-2ED8B845BA5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5DAA6F8-E824-418F-99C3-0AC8A2383D2F}" type="pres">
      <dgm:prSet presAssocID="{793927FC-130C-424B-8C5C-DD6BCCC514D3}" presName="spacer" presStyleCnt="0"/>
      <dgm:spPr/>
    </dgm:pt>
    <dgm:pt modelId="{9915D92F-7730-4D68-A939-C9BF866CD153}" type="pres">
      <dgm:prSet presAssocID="{19BFC6A5-8CBD-4BCE-AA5F-957628D884E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EBC5413-2C8A-4BAB-956A-C885C094867E}" srcId="{EE6001E7-A44B-4C60-918D-3FD64AB3BA9E}" destId="{19BFC6A5-8CBD-4BCE-AA5F-957628D884E9}" srcOrd="5" destOrd="0" parTransId="{D59C5121-464A-48D8-B12F-5DADFC8CF21F}" sibTransId="{254A593C-CEE8-4B96-B937-6BA2A40807DA}"/>
    <dgm:cxn modelId="{9547CE24-F1F6-47FC-A144-7568FBDFE07D}" type="presOf" srcId="{3944306F-719F-4E27-95E0-D62758B2D19C}" destId="{1C8B7D17-5F0C-469D-A25B-BC05CB8F4E03}" srcOrd="0" destOrd="0" presId="urn:microsoft.com/office/officeart/2005/8/layout/vList2"/>
    <dgm:cxn modelId="{9D989226-EA82-428F-933B-60BB7596A640}" srcId="{EE6001E7-A44B-4C60-918D-3FD64AB3BA9E}" destId="{1AA7EC7D-ADD6-4BB0-8D8A-2ED8B845BA55}" srcOrd="4" destOrd="0" parTransId="{6CD09AE8-4C47-4A42-AAA3-75510CE865DA}" sibTransId="{793927FC-130C-424B-8C5C-DD6BCCC514D3}"/>
    <dgm:cxn modelId="{0A59EE26-39DE-4911-AD5D-757B738208BE}" srcId="{EE6001E7-A44B-4C60-918D-3FD64AB3BA9E}" destId="{20B88DB8-2D25-4F2B-84D8-D3FDC4DDB49A}" srcOrd="1" destOrd="0" parTransId="{A8DB75F1-0DEF-4C9F-B49E-0EEA0D3BC5E1}" sibTransId="{97735D69-2695-4778-BADF-B43295CAA055}"/>
    <dgm:cxn modelId="{743AFB2C-BC6A-404A-B08A-A7017C1640F5}" type="presOf" srcId="{1AA7EC7D-ADD6-4BB0-8D8A-2ED8B845BA55}" destId="{95FA710A-9906-4E25-8ACA-CA4B2FE53382}" srcOrd="0" destOrd="0" presId="urn:microsoft.com/office/officeart/2005/8/layout/vList2"/>
    <dgm:cxn modelId="{934C4F2E-058A-45B6-B5AB-66EDAB7451F3}" type="presOf" srcId="{20B88DB8-2D25-4F2B-84D8-D3FDC4DDB49A}" destId="{F25A3280-7F34-4ED7-8AD8-016FB83CE303}" srcOrd="0" destOrd="0" presId="urn:microsoft.com/office/officeart/2005/8/layout/vList2"/>
    <dgm:cxn modelId="{10F21548-BFCC-43D9-8564-9CF07EE95B44}" type="presOf" srcId="{EE6001E7-A44B-4C60-918D-3FD64AB3BA9E}" destId="{B161ABE3-9B5A-4920-A35B-E31279A85263}" srcOrd="0" destOrd="0" presId="urn:microsoft.com/office/officeart/2005/8/layout/vList2"/>
    <dgm:cxn modelId="{E0EBCD7E-C274-4D1D-8400-E8D9F12CDF15}" srcId="{EE6001E7-A44B-4C60-918D-3FD64AB3BA9E}" destId="{4EB5D5E0-CB93-468D-A4FD-22DA82C36F7F}" srcOrd="0" destOrd="0" parTransId="{59BBA74D-669E-49F9-8FDB-409ECE944E4D}" sibTransId="{2CB1C151-C088-4478-AA8E-41ADA47C8FD1}"/>
    <dgm:cxn modelId="{6D3E2C99-FA2A-4EAB-A7C9-25108FE45F42}" type="presOf" srcId="{5D86E3EE-52E3-4970-8892-90FF1208B11B}" destId="{C6D49A36-8388-43FA-9E23-709AA00DA549}" srcOrd="0" destOrd="0" presId="urn:microsoft.com/office/officeart/2005/8/layout/vList2"/>
    <dgm:cxn modelId="{CE76B3B0-137F-45E7-AEA1-0608B047A97C}" srcId="{EE6001E7-A44B-4C60-918D-3FD64AB3BA9E}" destId="{3944306F-719F-4E27-95E0-D62758B2D19C}" srcOrd="3" destOrd="0" parTransId="{E3615FFD-054B-4BAB-A2F7-1FB53F88C437}" sibTransId="{760EBD65-92AC-40D0-971F-9ADEFCA83CC5}"/>
    <dgm:cxn modelId="{DD067AC3-D075-4E67-BACE-8891433E330B}" srcId="{EE6001E7-A44B-4C60-918D-3FD64AB3BA9E}" destId="{5D86E3EE-52E3-4970-8892-90FF1208B11B}" srcOrd="2" destOrd="0" parTransId="{92F12966-52DB-48E8-8060-208E361C4E60}" sibTransId="{533D9B6F-39A8-426D-A17D-90F3111D1708}"/>
    <dgm:cxn modelId="{E11694D1-2CFE-42B3-BFEC-80320900334A}" type="presOf" srcId="{19BFC6A5-8CBD-4BCE-AA5F-957628D884E9}" destId="{9915D92F-7730-4D68-A939-C9BF866CD153}" srcOrd="0" destOrd="0" presId="urn:microsoft.com/office/officeart/2005/8/layout/vList2"/>
    <dgm:cxn modelId="{4AECF3F0-2C18-461E-8B3B-20B1068E3F4F}" type="presOf" srcId="{4EB5D5E0-CB93-468D-A4FD-22DA82C36F7F}" destId="{C7760E82-6F58-4CDF-802C-18FE0C54E3FB}" srcOrd="0" destOrd="0" presId="urn:microsoft.com/office/officeart/2005/8/layout/vList2"/>
    <dgm:cxn modelId="{CE59EA36-058C-4633-9731-9AAC5D0F3457}" type="presParOf" srcId="{B161ABE3-9B5A-4920-A35B-E31279A85263}" destId="{C7760E82-6F58-4CDF-802C-18FE0C54E3FB}" srcOrd="0" destOrd="0" presId="urn:microsoft.com/office/officeart/2005/8/layout/vList2"/>
    <dgm:cxn modelId="{74D025C5-42B7-4112-B499-823B177D27D8}" type="presParOf" srcId="{B161ABE3-9B5A-4920-A35B-E31279A85263}" destId="{94D65F63-46F7-4645-87CF-2C1119D248B6}" srcOrd="1" destOrd="0" presId="urn:microsoft.com/office/officeart/2005/8/layout/vList2"/>
    <dgm:cxn modelId="{66CA0D1A-72A3-4266-A86E-A421195CD0A6}" type="presParOf" srcId="{B161ABE3-9B5A-4920-A35B-E31279A85263}" destId="{F25A3280-7F34-4ED7-8AD8-016FB83CE303}" srcOrd="2" destOrd="0" presId="urn:microsoft.com/office/officeart/2005/8/layout/vList2"/>
    <dgm:cxn modelId="{02872404-FBA7-4BFF-8571-50BCBB101FDB}" type="presParOf" srcId="{B161ABE3-9B5A-4920-A35B-E31279A85263}" destId="{ED4D0497-0979-463C-ACB6-5D2A16B43977}" srcOrd="3" destOrd="0" presId="urn:microsoft.com/office/officeart/2005/8/layout/vList2"/>
    <dgm:cxn modelId="{C9E7E1CC-ED7E-4582-BACE-55EA553621B5}" type="presParOf" srcId="{B161ABE3-9B5A-4920-A35B-E31279A85263}" destId="{C6D49A36-8388-43FA-9E23-709AA00DA549}" srcOrd="4" destOrd="0" presId="urn:microsoft.com/office/officeart/2005/8/layout/vList2"/>
    <dgm:cxn modelId="{D0E0853D-E4D4-4EE0-9F70-A9726DA30BA4}" type="presParOf" srcId="{B161ABE3-9B5A-4920-A35B-E31279A85263}" destId="{2E59AF4D-C4F8-4663-8F46-88D0E4EF52AA}" srcOrd="5" destOrd="0" presId="urn:microsoft.com/office/officeart/2005/8/layout/vList2"/>
    <dgm:cxn modelId="{DCDB2891-1B8B-4F81-A589-49D7D2C9F8DC}" type="presParOf" srcId="{B161ABE3-9B5A-4920-A35B-E31279A85263}" destId="{1C8B7D17-5F0C-469D-A25B-BC05CB8F4E03}" srcOrd="6" destOrd="0" presId="urn:microsoft.com/office/officeart/2005/8/layout/vList2"/>
    <dgm:cxn modelId="{58DBDAE4-043C-4332-9712-5BBD10A6D372}" type="presParOf" srcId="{B161ABE3-9B5A-4920-A35B-E31279A85263}" destId="{486F1885-0FC2-4112-8963-CCF40C63A020}" srcOrd="7" destOrd="0" presId="urn:microsoft.com/office/officeart/2005/8/layout/vList2"/>
    <dgm:cxn modelId="{C5F798DB-4984-498D-9E11-6EA0DD4256AF}" type="presParOf" srcId="{B161ABE3-9B5A-4920-A35B-E31279A85263}" destId="{95FA710A-9906-4E25-8ACA-CA4B2FE53382}" srcOrd="8" destOrd="0" presId="urn:microsoft.com/office/officeart/2005/8/layout/vList2"/>
    <dgm:cxn modelId="{8BED0B45-7D0A-483B-A583-76C7044B4A4F}" type="presParOf" srcId="{B161ABE3-9B5A-4920-A35B-E31279A85263}" destId="{B5DAA6F8-E824-418F-99C3-0AC8A2383D2F}" srcOrd="9" destOrd="0" presId="urn:microsoft.com/office/officeart/2005/8/layout/vList2"/>
    <dgm:cxn modelId="{68B72487-E596-4524-A35E-2AD2EF26BB8E}" type="presParOf" srcId="{B161ABE3-9B5A-4920-A35B-E31279A85263}" destId="{9915D92F-7730-4D68-A939-C9BF866CD15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56048DF-6A09-4DCB-A6F2-4F4C03B7EF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082EB0C-FC41-4E52-BB0D-EFA705B363DC}">
      <dgm:prSet/>
      <dgm:spPr/>
      <dgm:t>
        <a:bodyPr/>
        <a:lstStyle/>
        <a:p>
          <a:r>
            <a:rPr lang="ru-RU" dirty="0"/>
            <a:t>Ключевым инструментом количественной оценки достижения целей являются </a:t>
          </a:r>
          <a:r>
            <a:rPr lang="ru-RU" b="1" i="0" dirty="0"/>
            <a:t>ключевые показатели эффективности (KPI)</a:t>
          </a:r>
          <a:r>
            <a:rPr lang="ru-RU" b="0" i="0" dirty="0"/>
            <a:t> и </a:t>
          </a:r>
          <a:r>
            <a:rPr lang="ru-RU" b="1" i="0" dirty="0"/>
            <a:t>целевые индикаторы</a:t>
          </a:r>
          <a:r>
            <a:rPr lang="ru-RU" dirty="0"/>
            <a:t>. </a:t>
          </a:r>
        </a:p>
      </dgm:t>
    </dgm:pt>
    <dgm:pt modelId="{07FD640E-BF87-4E5F-85D8-59F402D70AA6}" type="parTrans" cxnId="{564DE33B-D414-4796-8BF2-0C4A13F796E0}">
      <dgm:prSet/>
      <dgm:spPr/>
      <dgm:t>
        <a:bodyPr/>
        <a:lstStyle/>
        <a:p>
          <a:endParaRPr lang="ru-RU"/>
        </a:p>
      </dgm:t>
    </dgm:pt>
    <dgm:pt modelId="{8D6E4C11-5A23-4571-9162-F363437A3A30}" type="sibTrans" cxnId="{564DE33B-D414-4796-8BF2-0C4A13F796E0}">
      <dgm:prSet/>
      <dgm:spPr/>
      <dgm:t>
        <a:bodyPr/>
        <a:lstStyle/>
        <a:p>
          <a:endParaRPr lang="ru-RU"/>
        </a:p>
      </dgm:t>
    </dgm:pt>
    <dgm:pt modelId="{D2F010E3-C133-42DF-9C0C-BD23F3FA6F09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KPI представляют собой </a:t>
          </a:r>
          <a:r>
            <a:rPr lang="ru-RU" b="1" dirty="0"/>
            <a:t>конкретные измеримые метрики</a:t>
          </a:r>
          <a:r>
            <a:rPr lang="ru-RU" dirty="0"/>
            <a:t>, привязанные к целям стратегии</a:t>
          </a:r>
        </a:p>
      </dgm:t>
    </dgm:pt>
    <dgm:pt modelId="{14B9D7B1-9006-4DD4-8AD6-86BA28AA3E1C}" type="parTrans" cxnId="{FE6A921A-0141-4A41-A17F-DA1E4D465442}">
      <dgm:prSet/>
      <dgm:spPr/>
      <dgm:t>
        <a:bodyPr/>
        <a:lstStyle/>
        <a:p>
          <a:endParaRPr lang="ru-RU"/>
        </a:p>
      </dgm:t>
    </dgm:pt>
    <dgm:pt modelId="{8B2530CD-057C-420B-83B1-03237DB5D6A3}" type="sibTrans" cxnId="{FE6A921A-0141-4A41-A17F-DA1E4D465442}">
      <dgm:prSet/>
      <dgm:spPr/>
      <dgm:t>
        <a:bodyPr/>
        <a:lstStyle/>
        <a:p>
          <a:endParaRPr lang="ru-RU"/>
        </a:p>
      </dgm:t>
    </dgm:pt>
    <dgm:pt modelId="{5F71739D-92FE-4B24-AA45-4C6CFDE43563}" type="pres">
      <dgm:prSet presAssocID="{456048DF-6A09-4DCB-A6F2-4F4C03B7EFC0}" presName="linear" presStyleCnt="0">
        <dgm:presLayoutVars>
          <dgm:animLvl val="lvl"/>
          <dgm:resizeHandles val="exact"/>
        </dgm:presLayoutVars>
      </dgm:prSet>
      <dgm:spPr/>
    </dgm:pt>
    <dgm:pt modelId="{E68D8A0A-504D-4930-A5CE-A6663709F450}" type="pres">
      <dgm:prSet presAssocID="{7082EB0C-FC41-4E52-BB0D-EFA705B363D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2CDD32F-7AE6-4E45-8031-D022C44C3D17}" type="pres">
      <dgm:prSet presAssocID="{8D6E4C11-5A23-4571-9162-F363437A3A30}" presName="spacer" presStyleCnt="0"/>
      <dgm:spPr/>
    </dgm:pt>
    <dgm:pt modelId="{B3F65D51-EBFD-429B-9C70-6DDC115CAA61}" type="pres">
      <dgm:prSet presAssocID="{D2F010E3-C133-42DF-9C0C-BD23F3FA6F09}" presName="parentText" presStyleLbl="node1" presStyleIdx="1" presStyleCnt="2" custScaleY="75132">
        <dgm:presLayoutVars>
          <dgm:chMax val="0"/>
          <dgm:bulletEnabled val="1"/>
        </dgm:presLayoutVars>
      </dgm:prSet>
      <dgm:spPr/>
    </dgm:pt>
  </dgm:ptLst>
  <dgm:cxnLst>
    <dgm:cxn modelId="{20F1A105-B38C-495C-B823-3B1C7139202D}" type="presOf" srcId="{D2F010E3-C133-42DF-9C0C-BD23F3FA6F09}" destId="{B3F65D51-EBFD-429B-9C70-6DDC115CAA61}" srcOrd="0" destOrd="0" presId="urn:microsoft.com/office/officeart/2005/8/layout/vList2"/>
    <dgm:cxn modelId="{73A19115-3E9C-4018-91FB-C49B8C351DFA}" type="presOf" srcId="{456048DF-6A09-4DCB-A6F2-4F4C03B7EFC0}" destId="{5F71739D-92FE-4B24-AA45-4C6CFDE43563}" srcOrd="0" destOrd="0" presId="urn:microsoft.com/office/officeart/2005/8/layout/vList2"/>
    <dgm:cxn modelId="{FE6A921A-0141-4A41-A17F-DA1E4D465442}" srcId="{456048DF-6A09-4DCB-A6F2-4F4C03B7EFC0}" destId="{D2F010E3-C133-42DF-9C0C-BD23F3FA6F09}" srcOrd="1" destOrd="0" parTransId="{14B9D7B1-9006-4DD4-8AD6-86BA28AA3E1C}" sibTransId="{8B2530CD-057C-420B-83B1-03237DB5D6A3}"/>
    <dgm:cxn modelId="{564DE33B-D414-4796-8BF2-0C4A13F796E0}" srcId="{456048DF-6A09-4DCB-A6F2-4F4C03B7EFC0}" destId="{7082EB0C-FC41-4E52-BB0D-EFA705B363DC}" srcOrd="0" destOrd="0" parTransId="{07FD640E-BF87-4E5F-85D8-59F402D70AA6}" sibTransId="{8D6E4C11-5A23-4571-9162-F363437A3A30}"/>
    <dgm:cxn modelId="{2303D645-9E1A-4D81-8487-3A77E055295A}" type="presOf" srcId="{7082EB0C-FC41-4E52-BB0D-EFA705B363DC}" destId="{E68D8A0A-504D-4930-A5CE-A6663709F450}" srcOrd="0" destOrd="0" presId="urn:microsoft.com/office/officeart/2005/8/layout/vList2"/>
    <dgm:cxn modelId="{8021B7E3-FB83-4C17-8E45-A092AB323D82}" type="presParOf" srcId="{5F71739D-92FE-4B24-AA45-4C6CFDE43563}" destId="{E68D8A0A-504D-4930-A5CE-A6663709F450}" srcOrd="0" destOrd="0" presId="urn:microsoft.com/office/officeart/2005/8/layout/vList2"/>
    <dgm:cxn modelId="{6D400501-65B8-4D03-874A-4CF914C77B77}" type="presParOf" srcId="{5F71739D-92FE-4B24-AA45-4C6CFDE43563}" destId="{62CDD32F-7AE6-4E45-8031-D022C44C3D17}" srcOrd="1" destOrd="0" presId="urn:microsoft.com/office/officeart/2005/8/layout/vList2"/>
    <dgm:cxn modelId="{47496C88-248E-4044-BFAC-359FEE16402A}" type="presParOf" srcId="{5F71739D-92FE-4B24-AA45-4C6CFDE43563}" destId="{B3F65D51-EBFD-429B-9C70-6DDC115CAA6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6A8587C-7110-40C1-AB32-026F7C37BC2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0A213D7-CEE5-4561-9F53-5B2342E45BC7}">
      <dgm:prSet/>
      <dgm:spPr/>
      <dgm:t>
        <a:bodyPr/>
        <a:lstStyle/>
        <a:p>
          <a:r>
            <a:rPr lang="ru-RU" dirty="0"/>
            <a:t>Мониторинг строится вокруг </a:t>
          </a:r>
          <a:r>
            <a:rPr lang="ru-RU" b="1" dirty="0"/>
            <a:t>отслеживания динамики KPI</a:t>
          </a:r>
          <a:r>
            <a:rPr lang="ru-RU" dirty="0"/>
            <a:t>. </a:t>
          </a:r>
        </a:p>
      </dgm:t>
    </dgm:pt>
    <dgm:pt modelId="{36B258D3-A5BA-4884-870A-87CFE8242751}" type="parTrans" cxnId="{A3D66AC2-565C-4C51-9697-1E4E94952F8C}">
      <dgm:prSet/>
      <dgm:spPr/>
      <dgm:t>
        <a:bodyPr/>
        <a:lstStyle/>
        <a:p>
          <a:endParaRPr lang="ru-RU"/>
        </a:p>
      </dgm:t>
    </dgm:pt>
    <dgm:pt modelId="{CBE949E7-AB54-454C-AF5E-0ADB41964784}" type="sibTrans" cxnId="{A3D66AC2-565C-4C51-9697-1E4E94952F8C}">
      <dgm:prSet/>
      <dgm:spPr/>
      <dgm:t>
        <a:bodyPr/>
        <a:lstStyle/>
        <a:p>
          <a:endParaRPr lang="ru-RU"/>
        </a:p>
      </dgm:t>
    </dgm:pt>
    <dgm:pt modelId="{A8847C5E-03CB-436D-8433-FEEDE548FD9C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Если </a:t>
          </a:r>
          <a:r>
            <a:rPr lang="ru-RU" b="1" dirty="0"/>
            <a:t>показатели улучшаются </a:t>
          </a:r>
          <a:r>
            <a:rPr lang="ru-RU" dirty="0"/>
            <a:t>в соответствии с планом, стратегия считается </a:t>
          </a:r>
          <a:r>
            <a:rPr lang="ru-RU" b="1" dirty="0"/>
            <a:t>успешно реализующейся</a:t>
          </a:r>
          <a:r>
            <a:rPr lang="ru-RU" dirty="0"/>
            <a:t>; если отстают – требуются дополнительные меры. </a:t>
          </a:r>
        </a:p>
      </dgm:t>
    </dgm:pt>
    <dgm:pt modelId="{E707DB79-606C-4505-8F24-6BDECC44257F}" type="parTrans" cxnId="{C494DC6F-0036-4ADD-BD43-267C999E86E6}">
      <dgm:prSet/>
      <dgm:spPr/>
      <dgm:t>
        <a:bodyPr/>
        <a:lstStyle/>
        <a:p>
          <a:endParaRPr lang="ru-RU"/>
        </a:p>
      </dgm:t>
    </dgm:pt>
    <dgm:pt modelId="{DB1A22C4-21B5-4A10-ADC2-C95F312522FB}" type="sibTrans" cxnId="{C494DC6F-0036-4ADD-BD43-267C999E86E6}">
      <dgm:prSet/>
      <dgm:spPr/>
      <dgm:t>
        <a:bodyPr/>
        <a:lstStyle/>
        <a:p>
          <a:endParaRPr lang="ru-RU"/>
        </a:p>
      </dgm:t>
    </dgm:pt>
    <dgm:pt modelId="{FDEF336E-2932-412D-9C94-6BEFDDC05E4E}">
      <dgm:prSet/>
      <dgm:spPr/>
      <dgm:t>
        <a:bodyPr/>
        <a:lstStyle/>
        <a:p>
          <a:r>
            <a:rPr lang="ru-RU" dirty="0"/>
            <a:t>Применение KPI позволяет руководителям и обществу </a:t>
          </a:r>
          <a:r>
            <a:rPr lang="ru-RU" b="1" dirty="0"/>
            <a:t>объективно судить о прогрессе</a:t>
          </a:r>
        </a:p>
      </dgm:t>
    </dgm:pt>
    <dgm:pt modelId="{F9873CAD-0B4E-4C60-A0D4-CCDA02017189}" type="parTrans" cxnId="{99AB9E4B-6723-4868-B291-3B9C2D8816E1}">
      <dgm:prSet/>
      <dgm:spPr/>
      <dgm:t>
        <a:bodyPr/>
        <a:lstStyle/>
        <a:p>
          <a:endParaRPr lang="ru-RU"/>
        </a:p>
      </dgm:t>
    </dgm:pt>
    <dgm:pt modelId="{E02357C0-6BBF-460B-A016-9D17396EF42E}" type="sibTrans" cxnId="{99AB9E4B-6723-4868-B291-3B9C2D8816E1}">
      <dgm:prSet/>
      <dgm:spPr/>
      <dgm:t>
        <a:bodyPr/>
        <a:lstStyle/>
        <a:p>
          <a:endParaRPr lang="ru-RU"/>
        </a:p>
      </dgm:t>
    </dgm:pt>
    <dgm:pt modelId="{35219DA0-E7C5-48CD-9FAC-A1CEF9925113}" type="pres">
      <dgm:prSet presAssocID="{96A8587C-7110-40C1-AB32-026F7C37BC23}" presName="linear" presStyleCnt="0">
        <dgm:presLayoutVars>
          <dgm:animLvl val="lvl"/>
          <dgm:resizeHandles val="exact"/>
        </dgm:presLayoutVars>
      </dgm:prSet>
      <dgm:spPr/>
    </dgm:pt>
    <dgm:pt modelId="{3AD5F4D6-C3CB-4661-B267-53E91C462F1C}" type="pres">
      <dgm:prSet presAssocID="{20A213D7-CEE5-4561-9F53-5B2342E45BC7}" presName="parentText" presStyleLbl="node1" presStyleIdx="0" presStyleCnt="3" custScaleY="68302">
        <dgm:presLayoutVars>
          <dgm:chMax val="0"/>
          <dgm:bulletEnabled val="1"/>
        </dgm:presLayoutVars>
      </dgm:prSet>
      <dgm:spPr/>
    </dgm:pt>
    <dgm:pt modelId="{F0A30579-EFAA-4683-9C21-FB56C56EA3B7}" type="pres">
      <dgm:prSet presAssocID="{CBE949E7-AB54-454C-AF5E-0ADB41964784}" presName="spacer" presStyleCnt="0"/>
      <dgm:spPr/>
    </dgm:pt>
    <dgm:pt modelId="{9E3AF293-D6B5-4D7E-942D-C87EF7D1B2C6}" type="pres">
      <dgm:prSet presAssocID="{A8847C5E-03CB-436D-8433-FEEDE548FD9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A0D6F06-4C6B-4FC5-BE4E-2B327A6CB481}" type="pres">
      <dgm:prSet presAssocID="{DB1A22C4-21B5-4A10-ADC2-C95F312522FB}" presName="spacer" presStyleCnt="0"/>
      <dgm:spPr/>
    </dgm:pt>
    <dgm:pt modelId="{50A074EE-97FF-44FE-931D-FCF4085EDA19}" type="pres">
      <dgm:prSet presAssocID="{FDEF336E-2932-412D-9C94-6BEFDDC05E4E}" presName="parentText" presStyleLbl="node1" presStyleIdx="2" presStyleCnt="3" custScaleY="68302">
        <dgm:presLayoutVars>
          <dgm:chMax val="0"/>
          <dgm:bulletEnabled val="1"/>
        </dgm:presLayoutVars>
      </dgm:prSet>
      <dgm:spPr/>
    </dgm:pt>
  </dgm:ptLst>
  <dgm:cxnLst>
    <dgm:cxn modelId="{DC674248-0270-4F76-9484-679B58EE2F1C}" type="presOf" srcId="{FDEF336E-2932-412D-9C94-6BEFDDC05E4E}" destId="{50A074EE-97FF-44FE-931D-FCF4085EDA19}" srcOrd="0" destOrd="0" presId="urn:microsoft.com/office/officeart/2005/8/layout/vList2"/>
    <dgm:cxn modelId="{99AB9E4B-6723-4868-B291-3B9C2D8816E1}" srcId="{96A8587C-7110-40C1-AB32-026F7C37BC23}" destId="{FDEF336E-2932-412D-9C94-6BEFDDC05E4E}" srcOrd="2" destOrd="0" parTransId="{F9873CAD-0B4E-4C60-A0D4-CCDA02017189}" sibTransId="{E02357C0-6BBF-460B-A016-9D17396EF42E}"/>
    <dgm:cxn modelId="{C494DC6F-0036-4ADD-BD43-267C999E86E6}" srcId="{96A8587C-7110-40C1-AB32-026F7C37BC23}" destId="{A8847C5E-03CB-436D-8433-FEEDE548FD9C}" srcOrd="1" destOrd="0" parTransId="{E707DB79-606C-4505-8F24-6BDECC44257F}" sibTransId="{DB1A22C4-21B5-4A10-ADC2-C95F312522FB}"/>
    <dgm:cxn modelId="{0760F9B3-F7B8-438B-A2BC-92F6B9C2FAA8}" type="presOf" srcId="{96A8587C-7110-40C1-AB32-026F7C37BC23}" destId="{35219DA0-E7C5-48CD-9FAC-A1CEF9925113}" srcOrd="0" destOrd="0" presId="urn:microsoft.com/office/officeart/2005/8/layout/vList2"/>
    <dgm:cxn modelId="{A3D66AC2-565C-4C51-9697-1E4E94952F8C}" srcId="{96A8587C-7110-40C1-AB32-026F7C37BC23}" destId="{20A213D7-CEE5-4561-9F53-5B2342E45BC7}" srcOrd="0" destOrd="0" parTransId="{36B258D3-A5BA-4884-870A-87CFE8242751}" sibTransId="{CBE949E7-AB54-454C-AF5E-0ADB41964784}"/>
    <dgm:cxn modelId="{F95B92C3-D32F-42CE-B717-BD0A518D61A6}" type="presOf" srcId="{A8847C5E-03CB-436D-8433-FEEDE548FD9C}" destId="{9E3AF293-D6B5-4D7E-942D-C87EF7D1B2C6}" srcOrd="0" destOrd="0" presId="urn:microsoft.com/office/officeart/2005/8/layout/vList2"/>
    <dgm:cxn modelId="{EA2874E0-B1DA-456B-AE92-5A36CB1F8262}" type="presOf" srcId="{20A213D7-CEE5-4561-9F53-5B2342E45BC7}" destId="{3AD5F4D6-C3CB-4661-B267-53E91C462F1C}" srcOrd="0" destOrd="0" presId="urn:microsoft.com/office/officeart/2005/8/layout/vList2"/>
    <dgm:cxn modelId="{C3B6894E-0C84-496D-8DF3-C8D9C4AA0654}" type="presParOf" srcId="{35219DA0-E7C5-48CD-9FAC-A1CEF9925113}" destId="{3AD5F4D6-C3CB-4661-B267-53E91C462F1C}" srcOrd="0" destOrd="0" presId="urn:microsoft.com/office/officeart/2005/8/layout/vList2"/>
    <dgm:cxn modelId="{2235F28D-CB02-4862-A851-29007197ECDC}" type="presParOf" srcId="{35219DA0-E7C5-48CD-9FAC-A1CEF9925113}" destId="{F0A30579-EFAA-4683-9C21-FB56C56EA3B7}" srcOrd="1" destOrd="0" presId="urn:microsoft.com/office/officeart/2005/8/layout/vList2"/>
    <dgm:cxn modelId="{DC195093-F2EB-41E3-8DFF-F98709D219B9}" type="presParOf" srcId="{35219DA0-E7C5-48CD-9FAC-A1CEF9925113}" destId="{9E3AF293-D6B5-4D7E-942D-C87EF7D1B2C6}" srcOrd="2" destOrd="0" presId="urn:microsoft.com/office/officeart/2005/8/layout/vList2"/>
    <dgm:cxn modelId="{38E9A95E-C920-403B-964A-00F488EF66DB}" type="presParOf" srcId="{35219DA0-E7C5-48CD-9FAC-A1CEF9925113}" destId="{FA0D6F06-4C6B-4FC5-BE4E-2B327A6CB481}" srcOrd="3" destOrd="0" presId="urn:microsoft.com/office/officeart/2005/8/layout/vList2"/>
    <dgm:cxn modelId="{C8561577-6CAE-42B9-BE8E-7F680A3E5DB3}" type="presParOf" srcId="{35219DA0-E7C5-48CD-9FAC-A1CEF9925113}" destId="{50A074EE-97FF-44FE-931D-FCF4085EDA1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8BE6FFC-B19B-47BF-98E7-C2B810B80976}" type="doc">
      <dgm:prSet loTypeId="urn:microsoft.com/office/officeart/2005/8/layout/venn3" loCatId="relationship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F6FD3689-D14B-494C-B1ED-64A8A9F65A2F}">
      <dgm:prSet/>
      <dgm:spPr>
        <a:ln>
          <a:solidFill>
            <a:srgbClr val="2E3092"/>
          </a:solidFill>
        </a:ln>
      </dgm:spPr>
      <dgm:t>
        <a:bodyPr/>
        <a:lstStyle/>
        <a:p>
          <a:r>
            <a:rPr lang="ru-RU" dirty="0"/>
            <a:t>Эффективность </a:t>
          </a:r>
          <a:r>
            <a:rPr lang="ru-RU" b="1" dirty="0">
              <a:solidFill>
                <a:srgbClr val="2E3092"/>
              </a:solidFill>
            </a:rPr>
            <a:t>целеполагания</a:t>
          </a:r>
          <a:endParaRPr lang="en-US" b="1" dirty="0">
            <a:solidFill>
              <a:srgbClr val="2E3092"/>
            </a:solidFill>
          </a:endParaRPr>
        </a:p>
      </dgm:t>
    </dgm:pt>
    <dgm:pt modelId="{1E9C20AE-F4A0-4246-904C-C921E5969AAF}" type="parTrans" cxnId="{5B11F5B8-E4BD-4C1C-9A52-5D8DF41AC328}">
      <dgm:prSet/>
      <dgm:spPr/>
      <dgm:t>
        <a:bodyPr/>
        <a:lstStyle/>
        <a:p>
          <a:endParaRPr lang="en-US"/>
        </a:p>
      </dgm:t>
    </dgm:pt>
    <dgm:pt modelId="{79965809-0AB3-4FC8-9083-D8DC64799918}" type="sibTrans" cxnId="{5B11F5B8-E4BD-4C1C-9A52-5D8DF41AC328}">
      <dgm:prSet/>
      <dgm:spPr/>
      <dgm:t>
        <a:bodyPr/>
        <a:lstStyle/>
        <a:p>
          <a:endParaRPr lang="en-US"/>
        </a:p>
      </dgm:t>
    </dgm:pt>
    <dgm:pt modelId="{4DA1D15D-C1AC-4311-B072-8DBE77EB6337}">
      <dgm:prSet/>
      <dgm:spPr/>
      <dgm:t>
        <a:bodyPr/>
        <a:lstStyle/>
        <a:p>
          <a:r>
            <a:rPr lang="ru-RU" dirty="0"/>
            <a:t>Эффективность </a:t>
          </a:r>
          <a:r>
            <a:rPr lang="ru-RU" b="1" dirty="0"/>
            <a:t>целедостижения</a:t>
          </a:r>
          <a:endParaRPr lang="en-US" b="1" dirty="0"/>
        </a:p>
      </dgm:t>
    </dgm:pt>
    <dgm:pt modelId="{BE46BBF4-175B-4FAA-A513-BDA1AA24530B}" type="parTrans" cxnId="{ACDE1B57-D998-4052-B76D-E54B19FA9FB6}">
      <dgm:prSet/>
      <dgm:spPr/>
      <dgm:t>
        <a:bodyPr/>
        <a:lstStyle/>
        <a:p>
          <a:endParaRPr lang="en-US"/>
        </a:p>
      </dgm:t>
    </dgm:pt>
    <dgm:pt modelId="{1212D612-A36A-4332-B702-4541768D72EF}" type="sibTrans" cxnId="{ACDE1B57-D998-4052-B76D-E54B19FA9FB6}">
      <dgm:prSet/>
      <dgm:spPr/>
      <dgm:t>
        <a:bodyPr/>
        <a:lstStyle/>
        <a:p>
          <a:endParaRPr lang="en-US"/>
        </a:p>
      </dgm:t>
    </dgm:pt>
    <dgm:pt modelId="{B845392E-1EDA-410A-B650-866C454A704A}" type="pres">
      <dgm:prSet presAssocID="{18BE6FFC-B19B-47BF-98E7-C2B810B80976}" presName="Name0" presStyleCnt="0">
        <dgm:presLayoutVars>
          <dgm:dir/>
          <dgm:resizeHandles val="exact"/>
        </dgm:presLayoutVars>
      </dgm:prSet>
      <dgm:spPr/>
    </dgm:pt>
    <dgm:pt modelId="{CD35507F-C240-4529-AA89-CF0501EAB537}" type="pres">
      <dgm:prSet presAssocID="{F6FD3689-D14B-494C-B1ED-64A8A9F65A2F}" presName="Name5" presStyleLbl="vennNode1" presStyleIdx="0" presStyleCnt="2" custScaleY="46651" custLinFactNeighborY="229">
        <dgm:presLayoutVars>
          <dgm:bulletEnabled val="1"/>
        </dgm:presLayoutVars>
      </dgm:prSet>
      <dgm:spPr/>
    </dgm:pt>
    <dgm:pt modelId="{FD285626-80C2-4FAB-B960-08DEB41AAC7D}" type="pres">
      <dgm:prSet presAssocID="{79965809-0AB3-4FC8-9083-D8DC64799918}" presName="space" presStyleCnt="0"/>
      <dgm:spPr/>
    </dgm:pt>
    <dgm:pt modelId="{E0BE1493-F5ED-4EE1-84ED-E18B7351DE73}" type="pres">
      <dgm:prSet presAssocID="{4DA1D15D-C1AC-4311-B072-8DBE77EB6337}" presName="Name5" presStyleLbl="vennNode1" presStyleIdx="1" presStyleCnt="2" custScaleY="46651" custLinFactNeighborY="305">
        <dgm:presLayoutVars>
          <dgm:bulletEnabled val="1"/>
        </dgm:presLayoutVars>
      </dgm:prSet>
      <dgm:spPr/>
    </dgm:pt>
  </dgm:ptLst>
  <dgm:cxnLst>
    <dgm:cxn modelId="{ACDE1B57-D998-4052-B76D-E54B19FA9FB6}" srcId="{18BE6FFC-B19B-47BF-98E7-C2B810B80976}" destId="{4DA1D15D-C1AC-4311-B072-8DBE77EB6337}" srcOrd="1" destOrd="0" parTransId="{BE46BBF4-175B-4FAA-A513-BDA1AA24530B}" sibTransId="{1212D612-A36A-4332-B702-4541768D72EF}"/>
    <dgm:cxn modelId="{22D742B0-F261-4069-9650-8FCA28D32D49}" type="presOf" srcId="{4DA1D15D-C1AC-4311-B072-8DBE77EB6337}" destId="{E0BE1493-F5ED-4EE1-84ED-E18B7351DE73}" srcOrd="0" destOrd="0" presId="urn:microsoft.com/office/officeart/2005/8/layout/venn3"/>
    <dgm:cxn modelId="{5B11F5B8-E4BD-4C1C-9A52-5D8DF41AC328}" srcId="{18BE6FFC-B19B-47BF-98E7-C2B810B80976}" destId="{F6FD3689-D14B-494C-B1ED-64A8A9F65A2F}" srcOrd="0" destOrd="0" parTransId="{1E9C20AE-F4A0-4246-904C-C921E5969AAF}" sibTransId="{79965809-0AB3-4FC8-9083-D8DC64799918}"/>
    <dgm:cxn modelId="{E310E5BE-25B2-49A1-AB90-0256B6DB6520}" type="presOf" srcId="{F6FD3689-D14B-494C-B1ED-64A8A9F65A2F}" destId="{CD35507F-C240-4529-AA89-CF0501EAB537}" srcOrd="0" destOrd="0" presId="urn:microsoft.com/office/officeart/2005/8/layout/venn3"/>
    <dgm:cxn modelId="{2C57E5EA-290B-47BA-A740-854F63DB2C05}" type="presOf" srcId="{18BE6FFC-B19B-47BF-98E7-C2B810B80976}" destId="{B845392E-1EDA-410A-B650-866C454A704A}" srcOrd="0" destOrd="0" presId="urn:microsoft.com/office/officeart/2005/8/layout/venn3"/>
    <dgm:cxn modelId="{990130B2-3A1A-4921-8A8D-CC0CF6301767}" type="presParOf" srcId="{B845392E-1EDA-410A-B650-866C454A704A}" destId="{CD35507F-C240-4529-AA89-CF0501EAB537}" srcOrd="0" destOrd="0" presId="urn:microsoft.com/office/officeart/2005/8/layout/venn3"/>
    <dgm:cxn modelId="{E3914910-EC25-4798-B757-FC02DA62C5A8}" type="presParOf" srcId="{B845392E-1EDA-410A-B650-866C454A704A}" destId="{FD285626-80C2-4FAB-B960-08DEB41AAC7D}" srcOrd="1" destOrd="0" presId="urn:microsoft.com/office/officeart/2005/8/layout/venn3"/>
    <dgm:cxn modelId="{FC19F4F4-1CED-4F6A-9129-08AEC7EBD97A}" type="presParOf" srcId="{B845392E-1EDA-410A-B650-866C454A704A}" destId="{E0BE1493-F5ED-4EE1-84ED-E18B7351DE73}" srcOrd="2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5AFBE70-6D38-4D21-8F86-5A0AB261B89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084E30FC-4154-4C9B-9080-E9E47014EC28}">
      <dgm:prSet/>
      <dgm:spPr/>
      <dgm:t>
        <a:bodyPr/>
        <a:lstStyle/>
        <a:p>
          <a:r>
            <a:rPr lang="ru-RU"/>
            <a:t>Организационная</a:t>
          </a:r>
        </a:p>
      </dgm:t>
    </dgm:pt>
    <dgm:pt modelId="{CDCF927E-28DA-41C6-B3EA-405C054A0BEC}" type="parTrans" cxnId="{2270F057-D06B-4354-A5AA-275383D225AD}">
      <dgm:prSet/>
      <dgm:spPr/>
      <dgm:t>
        <a:bodyPr/>
        <a:lstStyle/>
        <a:p>
          <a:endParaRPr lang="ru-RU"/>
        </a:p>
      </dgm:t>
    </dgm:pt>
    <dgm:pt modelId="{8F33A178-D7E9-4816-9F38-96395D394261}" type="sibTrans" cxnId="{2270F057-D06B-4354-A5AA-275383D225AD}">
      <dgm:prSet/>
      <dgm:spPr/>
      <dgm:t>
        <a:bodyPr/>
        <a:lstStyle/>
        <a:p>
          <a:endParaRPr lang="ru-RU"/>
        </a:p>
      </dgm:t>
    </dgm:pt>
    <dgm:pt modelId="{E97DA3C7-1B1E-4F02-A986-64204E63AD87}">
      <dgm:prSet/>
      <dgm:spPr/>
      <dgm:t>
        <a:bodyPr/>
        <a:lstStyle/>
        <a:p>
          <a:r>
            <a:rPr lang="ru-RU"/>
            <a:t>Экономическая</a:t>
          </a:r>
        </a:p>
      </dgm:t>
    </dgm:pt>
    <dgm:pt modelId="{64E63C8C-BD8B-43B4-95B7-04CC795CD8FC}" type="parTrans" cxnId="{A97C21C0-D7F4-41D0-A4A7-B3EAF9F75097}">
      <dgm:prSet/>
      <dgm:spPr/>
      <dgm:t>
        <a:bodyPr/>
        <a:lstStyle/>
        <a:p>
          <a:endParaRPr lang="ru-RU"/>
        </a:p>
      </dgm:t>
    </dgm:pt>
    <dgm:pt modelId="{4B0191C6-3F95-4310-9389-72C1109A1010}" type="sibTrans" cxnId="{A97C21C0-D7F4-41D0-A4A7-B3EAF9F75097}">
      <dgm:prSet/>
      <dgm:spPr/>
      <dgm:t>
        <a:bodyPr/>
        <a:lstStyle/>
        <a:p>
          <a:endParaRPr lang="ru-RU"/>
        </a:p>
      </dgm:t>
    </dgm:pt>
    <dgm:pt modelId="{E26B6066-F780-46D8-B7B1-953782315A52}">
      <dgm:prSet/>
      <dgm:spPr/>
      <dgm:t>
        <a:bodyPr/>
        <a:lstStyle/>
        <a:p>
          <a:r>
            <a:rPr lang="ru-RU"/>
            <a:t>Социальная</a:t>
          </a:r>
        </a:p>
      </dgm:t>
    </dgm:pt>
    <dgm:pt modelId="{C29C7F68-EE87-4D5B-ABC0-EBA3A973B125}" type="parTrans" cxnId="{81537B92-CEF4-491C-BF1A-8B67FE643EA9}">
      <dgm:prSet/>
      <dgm:spPr/>
      <dgm:t>
        <a:bodyPr/>
        <a:lstStyle/>
        <a:p>
          <a:endParaRPr lang="ru-RU"/>
        </a:p>
      </dgm:t>
    </dgm:pt>
    <dgm:pt modelId="{3E6E99E3-FD31-415C-BE2C-1EA706DA53E2}" type="sibTrans" cxnId="{81537B92-CEF4-491C-BF1A-8B67FE643EA9}">
      <dgm:prSet/>
      <dgm:spPr/>
      <dgm:t>
        <a:bodyPr/>
        <a:lstStyle/>
        <a:p>
          <a:endParaRPr lang="ru-RU"/>
        </a:p>
      </dgm:t>
    </dgm:pt>
    <dgm:pt modelId="{570BF8DD-2C24-47EF-84C3-A0CCACA3CF7C}" type="pres">
      <dgm:prSet presAssocID="{55AFBE70-6D38-4D21-8F86-5A0AB261B897}" presName="linear" presStyleCnt="0">
        <dgm:presLayoutVars>
          <dgm:animLvl val="lvl"/>
          <dgm:resizeHandles val="exact"/>
        </dgm:presLayoutVars>
      </dgm:prSet>
      <dgm:spPr/>
    </dgm:pt>
    <dgm:pt modelId="{4B2B521F-100B-4380-9BBC-6B6C4C9B1707}" type="pres">
      <dgm:prSet presAssocID="{084E30FC-4154-4C9B-9080-E9E47014EC2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B8E808F-EA1B-4050-89E2-DC341A6659C1}" type="pres">
      <dgm:prSet presAssocID="{8F33A178-D7E9-4816-9F38-96395D394261}" presName="spacer" presStyleCnt="0"/>
      <dgm:spPr/>
    </dgm:pt>
    <dgm:pt modelId="{4EDBEF0E-0B56-40AB-8AC3-5677E7F773D4}" type="pres">
      <dgm:prSet presAssocID="{E97DA3C7-1B1E-4F02-A986-64204E63AD8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D682496-DEAA-461A-84AA-E0B8855117C1}" type="pres">
      <dgm:prSet presAssocID="{4B0191C6-3F95-4310-9389-72C1109A1010}" presName="spacer" presStyleCnt="0"/>
      <dgm:spPr/>
    </dgm:pt>
    <dgm:pt modelId="{D30BB774-D3ED-4ABF-B653-2712FCF39084}" type="pres">
      <dgm:prSet presAssocID="{E26B6066-F780-46D8-B7B1-953782315A5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A9E7055-C319-4FB2-86CE-7EE45EB9C7F5}" type="presOf" srcId="{E26B6066-F780-46D8-B7B1-953782315A52}" destId="{D30BB774-D3ED-4ABF-B653-2712FCF39084}" srcOrd="0" destOrd="0" presId="urn:microsoft.com/office/officeart/2005/8/layout/vList2"/>
    <dgm:cxn modelId="{2270F057-D06B-4354-A5AA-275383D225AD}" srcId="{55AFBE70-6D38-4D21-8F86-5A0AB261B897}" destId="{084E30FC-4154-4C9B-9080-E9E47014EC28}" srcOrd="0" destOrd="0" parTransId="{CDCF927E-28DA-41C6-B3EA-405C054A0BEC}" sibTransId="{8F33A178-D7E9-4816-9F38-96395D394261}"/>
    <dgm:cxn modelId="{81537B92-CEF4-491C-BF1A-8B67FE643EA9}" srcId="{55AFBE70-6D38-4D21-8F86-5A0AB261B897}" destId="{E26B6066-F780-46D8-B7B1-953782315A52}" srcOrd="2" destOrd="0" parTransId="{C29C7F68-EE87-4D5B-ABC0-EBA3A973B125}" sibTransId="{3E6E99E3-FD31-415C-BE2C-1EA706DA53E2}"/>
    <dgm:cxn modelId="{7E43E7B9-CF21-4F5D-9C85-51A83BC303A1}" type="presOf" srcId="{E97DA3C7-1B1E-4F02-A986-64204E63AD87}" destId="{4EDBEF0E-0B56-40AB-8AC3-5677E7F773D4}" srcOrd="0" destOrd="0" presId="urn:microsoft.com/office/officeart/2005/8/layout/vList2"/>
    <dgm:cxn modelId="{A97C21C0-D7F4-41D0-A4A7-B3EAF9F75097}" srcId="{55AFBE70-6D38-4D21-8F86-5A0AB261B897}" destId="{E97DA3C7-1B1E-4F02-A986-64204E63AD87}" srcOrd="1" destOrd="0" parTransId="{64E63C8C-BD8B-43B4-95B7-04CC795CD8FC}" sibTransId="{4B0191C6-3F95-4310-9389-72C1109A1010}"/>
    <dgm:cxn modelId="{192DD2C1-8AE8-40E4-A614-A315F4A89876}" type="presOf" srcId="{084E30FC-4154-4C9B-9080-E9E47014EC28}" destId="{4B2B521F-100B-4380-9BBC-6B6C4C9B1707}" srcOrd="0" destOrd="0" presId="urn:microsoft.com/office/officeart/2005/8/layout/vList2"/>
    <dgm:cxn modelId="{74FA5DD6-1F44-4E38-89B6-0D7BC05E573D}" type="presOf" srcId="{55AFBE70-6D38-4D21-8F86-5A0AB261B897}" destId="{570BF8DD-2C24-47EF-84C3-A0CCACA3CF7C}" srcOrd="0" destOrd="0" presId="urn:microsoft.com/office/officeart/2005/8/layout/vList2"/>
    <dgm:cxn modelId="{BDF28895-C231-483A-8189-D84A92DC0E14}" type="presParOf" srcId="{570BF8DD-2C24-47EF-84C3-A0CCACA3CF7C}" destId="{4B2B521F-100B-4380-9BBC-6B6C4C9B1707}" srcOrd="0" destOrd="0" presId="urn:microsoft.com/office/officeart/2005/8/layout/vList2"/>
    <dgm:cxn modelId="{1C2844A2-1782-46EA-94FC-AA668F0BBE13}" type="presParOf" srcId="{570BF8DD-2C24-47EF-84C3-A0CCACA3CF7C}" destId="{CB8E808F-EA1B-4050-89E2-DC341A6659C1}" srcOrd="1" destOrd="0" presId="urn:microsoft.com/office/officeart/2005/8/layout/vList2"/>
    <dgm:cxn modelId="{3E665ACC-7BBA-41E2-AEF3-6EBE485949CB}" type="presParOf" srcId="{570BF8DD-2C24-47EF-84C3-A0CCACA3CF7C}" destId="{4EDBEF0E-0B56-40AB-8AC3-5677E7F773D4}" srcOrd="2" destOrd="0" presId="urn:microsoft.com/office/officeart/2005/8/layout/vList2"/>
    <dgm:cxn modelId="{F637B977-DDBD-4FF5-A56E-E4ACCEE2C57B}" type="presParOf" srcId="{570BF8DD-2C24-47EF-84C3-A0CCACA3CF7C}" destId="{9D682496-DEAA-461A-84AA-E0B8855117C1}" srcOrd="3" destOrd="0" presId="urn:microsoft.com/office/officeart/2005/8/layout/vList2"/>
    <dgm:cxn modelId="{FB53CAE1-60BC-4776-B658-C0ED86897B6A}" type="presParOf" srcId="{570BF8DD-2C24-47EF-84C3-A0CCACA3CF7C}" destId="{D30BB774-D3ED-4ABF-B653-2712FCF3908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5458F96-3BDA-47C7-8EBF-2084EAB62B6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ru-RU"/>
        </a:p>
      </dgm:t>
    </dgm:pt>
    <dgm:pt modelId="{DBE6E85C-7B94-41AB-ACEC-3991EDC12FD0}">
      <dgm:prSet/>
      <dgm:spPr/>
      <dgm:t>
        <a:bodyPr/>
        <a:lstStyle/>
        <a:p>
          <a:r>
            <a:rPr lang="ru-RU" b="1" dirty="0"/>
            <a:t>Оценка эффективности управленческих решений </a:t>
          </a:r>
          <a:r>
            <a:rPr lang="ru-RU" dirty="0"/>
            <a:t>— это отношение величины эффекта управленческой деятельности к какой-либо базовой или нормативной величине.</a:t>
          </a:r>
        </a:p>
      </dgm:t>
    </dgm:pt>
    <dgm:pt modelId="{B64901C7-0EA0-48E6-A6EC-F6D6F2A3F60C}" type="parTrans" cxnId="{83B20351-72A6-4160-AAFE-29985BE23EA0}">
      <dgm:prSet/>
      <dgm:spPr/>
      <dgm:t>
        <a:bodyPr/>
        <a:lstStyle/>
        <a:p>
          <a:endParaRPr lang="ru-RU"/>
        </a:p>
      </dgm:t>
    </dgm:pt>
    <dgm:pt modelId="{92A15C60-03F1-44CA-AD0C-FB33C48BF3A2}" type="sibTrans" cxnId="{83B20351-72A6-4160-AAFE-29985BE23EA0}">
      <dgm:prSet/>
      <dgm:spPr/>
      <dgm:t>
        <a:bodyPr/>
        <a:lstStyle/>
        <a:p>
          <a:endParaRPr lang="ru-RU"/>
        </a:p>
      </dgm:t>
    </dgm:pt>
    <dgm:pt modelId="{A1D4A7D2-6ED1-464D-ADAB-D258AAA50DE9}" type="pres">
      <dgm:prSet presAssocID="{25458F96-3BDA-47C7-8EBF-2084EAB62B68}" presName="linear" presStyleCnt="0">
        <dgm:presLayoutVars>
          <dgm:animLvl val="lvl"/>
          <dgm:resizeHandles val="exact"/>
        </dgm:presLayoutVars>
      </dgm:prSet>
      <dgm:spPr/>
    </dgm:pt>
    <dgm:pt modelId="{888D7250-3CBB-4FD9-8D7E-24C14C59672D}" type="pres">
      <dgm:prSet presAssocID="{DBE6E85C-7B94-41AB-ACEC-3991EDC12FD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1B0AA3B-1153-4580-A427-77123188822E}" type="presOf" srcId="{25458F96-3BDA-47C7-8EBF-2084EAB62B68}" destId="{A1D4A7D2-6ED1-464D-ADAB-D258AAA50DE9}" srcOrd="0" destOrd="0" presId="urn:microsoft.com/office/officeart/2005/8/layout/vList2"/>
    <dgm:cxn modelId="{83B20351-72A6-4160-AAFE-29985BE23EA0}" srcId="{25458F96-3BDA-47C7-8EBF-2084EAB62B68}" destId="{DBE6E85C-7B94-41AB-ACEC-3991EDC12FD0}" srcOrd="0" destOrd="0" parTransId="{B64901C7-0EA0-48E6-A6EC-F6D6F2A3F60C}" sibTransId="{92A15C60-03F1-44CA-AD0C-FB33C48BF3A2}"/>
    <dgm:cxn modelId="{90691F79-B9C1-4632-839B-A07510ADC606}" type="presOf" srcId="{DBE6E85C-7B94-41AB-ACEC-3991EDC12FD0}" destId="{888D7250-3CBB-4FD9-8D7E-24C14C59672D}" srcOrd="0" destOrd="0" presId="urn:microsoft.com/office/officeart/2005/8/layout/vList2"/>
    <dgm:cxn modelId="{6CA48B37-8B3D-4021-88CD-57F450EFBC10}" type="presParOf" srcId="{A1D4A7D2-6ED1-464D-ADAB-D258AAA50DE9}" destId="{888D7250-3CBB-4FD9-8D7E-24C14C59672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BC3CE03-AE15-481A-A7C4-A4AA99DCF09F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68B625BF-BBE4-4881-9178-A5A7BAEE2707}">
      <dgm:prSet custT="1"/>
      <dgm:spPr/>
      <dgm:t>
        <a:bodyPr/>
        <a:lstStyle/>
        <a:p>
          <a:r>
            <a:rPr lang="ru-RU" sz="1700" b="0" dirty="0"/>
            <a:t>Федеральный закон от 28.06.2014 № 172-ФЗ «</a:t>
          </a:r>
          <a:r>
            <a:rPr lang="ru-RU" sz="1700" b="1" dirty="0"/>
            <a:t>О стратегическом планировании в Российской Федерации</a:t>
          </a:r>
          <a:r>
            <a:rPr lang="ru-RU" sz="1700" b="0" dirty="0"/>
            <a:t>»</a:t>
          </a:r>
          <a:endParaRPr lang="ru-RU" sz="1700" dirty="0"/>
        </a:p>
      </dgm:t>
    </dgm:pt>
    <dgm:pt modelId="{6D22C724-3F57-4E18-8AFA-5F6AB46D89D4}" type="parTrans" cxnId="{A3CDDE88-7546-43AC-9D24-8FFDA974A69E}">
      <dgm:prSet/>
      <dgm:spPr/>
      <dgm:t>
        <a:bodyPr/>
        <a:lstStyle/>
        <a:p>
          <a:endParaRPr lang="ru-RU" sz="1700"/>
        </a:p>
      </dgm:t>
    </dgm:pt>
    <dgm:pt modelId="{8B10AF58-19D7-41C2-8BB0-0AB35810F1B0}" type="sibTrans" cxnId="{A3CDDE88-7546-43AC-9D24-8FFDA974A69E}">
      <dgm:prSet/>
      <dgm:spPr/>
      <dgm:t>
        <a:bodyPr/>
        <a:lstStyle/>
        <a:p>
          <a:endParaRPr lang="ru-RU" sz="1700"/>
        </a:p>
      </dgm:t>
    </dgm:pt>
    <dgm:pt modelId="{952BE7AC-D44B-4E9B-9D0B-072A43471C16}">
      <dgm:prSet custT="1"/>
      <dgm:spPr/>
      <dgm:t>
        <a:bodyPr/>
        <a:lstStyle/>
        <a:p>
          <a:r>
            <a:rPr lang="ru-RU" sz="1700" dirty="0"/>
            <a:t>Указ Президента Российской Федерации от 28.11.2024 г. № 1014 «</a:t>
          </a:r>
          <a:r>
            <a:rPr lang="ru-RU" sz="1700" b="1" dirty="0"/>
            <a:t>Об оценке эффективности деятельности высших должностных лиц субъектов Российской Федерации и деятельности исполнительных органов субъектов Российской Федерации</a:t>
          </a:r>
          <a:r>
            <a:rPr lang="ru-RU" sz="1700" dirty="0"/>
            <a:t>» </a:t>
          </a:r>
        </a:p>
      </dgm:t>
    </dgm:pt>
    <dgm:pt modelId="{40FA3C87-C30B-40F9-A1A1-FE56E8624FE2}" type="parTrans" cxnId="{4EFC6897-FDD9-4C50-8EC1-4797E62F4987}">
      <dgm:prSet/>
      <dgm:spPr/>
      <dgm:t>
        <a:bodyPr/>
        <a:lstStyle/>
        <a:p>
          <a:endParaRPr lang="ru-RU" sz="1700"/>
        </a:p>
      </dgm:t>
    </dgm:pt>
    <dgm:pt modelId="{0F88100F-6049-401D-BCC2-72120C35E829}" type="sibTrans" cxnId="{4EFC6897-FDD9-4C50-8EC1-4797E62F4987}">
      <dgm:prSet/>
      <dgm:spPr/>
      <dgm:t>
        <a:bodyPr/>
        <a:lstStyle/>
        <a:p>
          <a:endParaRPr lang="ru-RU" sz="1700"/>
        </a:p>
      </dgm:t>
    </dgm:pt>
    <dgm:pt modelId="{F7C1974F-EFC8-426F-BADB-A369F5F63D54}">
      <dgm:prSet custT="1"/>
      <dgm:spPr/>
      <dgm:t>
        <a:bodyPr/>
        <a:lstStyle/>
        <a:p>
          <a:r>
            <a:rPr lang="ru-RU" sz="1700" dirty="0"/>
            <a:t>Постановление Правительства РФ от 26.05.2021 № 786 «</a:t>
          </a:r>
          <a:r>
            <a:rPr lang="ru-RU" sz="1700" b="1" dirty="0"/>
            <a:t>О системе управления государственными программами Российской Федерации</a:t>
          </a:r>
          <a:r>
            <a:rPr lang="ru-RU" sz="1700" dirty="0"/>
            <a:t>»</a:t>
          </a:r>
        </a:p>
      </dgm:t>
    </dgm:pt>
    <dgm:pt modelId="{51869053-A0A6-411D-8720-63DD19ABEA8C}" type="parTrans" cxnId="{528ECCE0-A581-4E0B-985A-9EFC958DE34F}">
      <dgm:prSet/>
      <dgm:spPr/>
      <dgm:t>
        <a:bodyPr/>
        <a:lstStyle/>
        <a:p>
          <a:endParaRPr lang="ru-RU" sz="1700"/>
        </a:p>
      </dgm:t>
    </dgm:pt>
    <dgm:pt modelId="{65516939-AE3A-4FCE-AE1C-229F63FBCE43}" type="sibTrans" cxnId="{528ECCE0-A581-4E0B-985A-9EFC958DE34F}">
      <dgm:prSet/>
      <dgm:spPr/>
      <dgm:t>
        <a:bodyPr/>
        <a:lstStyle/>
        <a:p>
          <a:endParaRPr lang="ru-RU" sz="1700"/>
        </a:p>
      </dgm:t>
    </dgm:pt>
    <dgm:pt modelId="{1A6973D6-7723-4BF4-9E0A-911A2562A386}" type="pres">
      <dgm:prSet presAssocID="{EBC3CE03-AE15-481A-A7C4-A4AA99DCF09F}" presName="linear" presStyleCnt="0">
        <dgm:presLayoutVars>
          <dgm:animLvl val="lvl"/>
          <dgm:resizeHandles val="exact"/>
        </dgm:presLayoutVars>
      </dgm:prSet>
      <dgm:spPr/>
    </dgm:pt>
    <dgm:pt modelId="{5E2BD36C-A1CD-451F-8334-45B4FA891F1B}" type="pres">
      <dgm:prSet presAssocID="{68B625BF-BBE4-4881-9178-A5A7BAEE2707}" presName="parentText" presStyleLbl="node1" presStyleIdx="0" presStyleCnt="3" custScaleY="75132">
        <dgm:presLayoutVars>
          <dgm:chMax val="0"/>
          <dgm:bulletEnabled val="1"/>
        </dgm:presLayoutVars>
      </dgm:prSet>
      <dgm:spPr/>
    </dgm:pt>
    <dgm:pt modelId="{59EF7DD1-1ACE-4A5A-881E-9E9961B70B38}" type="pres">
      <dgm:prSet presAssocID="{8B10AF58-19D7-41C2-8BB0-0AB35810F1B0}" presName="spacer" presStyleCnt="0"/>
      <dgm:spPr/>
    </dgm:pt>
    <dgm:pt modelId="{9648EA87-DAB5-460D-A324-E743EE4132BF}" type="pres">
      <dgm:prSet presAssocID="{952BE7AC-D44B-4E9B-9D0B-072A43471C16}" presName="parentText" presStyleLbl="node1" presStyleIdx="1" presStyleCnt="3" custScaleY="110000">
        <dgm:presLayoutVars>
          <dgm:chMax val="0"/>
          <dgm:bulletEnabled val="1"/>
        </dgm:presLayoutVars>
      </dgm:prSet>
      <dgm:spPr/>
    </dgm:pt>
    <dgm:pt modelId="{17A8DDE2-4AFC-4869-9A4B-64093078CC7C}" type="pres">
      <dgm:prSet presAssocID="{0F88100F-6049-401D-BCC2-72120C35E829}" presName="spacer" presStyleCnt="0"/>
      <dgm:spPr/>
    </dgm:pt>
    <dgm:pt modelId="{19A1A9F8-748F-4B5B-B55D-9D394E2E0099}" type="pres">
      <dgm:prSet presAssocID="{F7C1974F-EFC8-426F-BADB-A369F5F63D54}" presName="parentText" presStyleLbl="node1" presStyleIdx="2" presStyleCnt="3" custScaleY="75132">
        <dgm:presLayoutVars>
          <dgm:chMax val="0"/>
          <dgm:bulletEnabled val="1"/>
        </dgm:presLayoutVars>
      </dgm:prSet>
      <dgm:spPr/>
    </dgm:pt>
  </dgm:ptLst>
  <dgm:cxnLst>
    <dgm:cxn modelId="{FF75870F-AF9E-41F3-AB76-C17CFF13B597}" type="presOf" srcId="{68B625BF-BBE4-4881-9178-A5A7BAEE2707}" destId="{5E2BD36C-A1CD-451F-8334-45B4FA891F1B}" srcOrd="0" destOrd="0" presId="urn:microsoft.com/office/officeart/2005/8/layout/vList2"/>
    <dgm:cxn modelId="{D4465732-8C6C-44E6-8D7E-B216EF6234ED}" type="presOf" srcId="{EBC3CE03-AE15-481A-A7C4-A4AA99DCF09F}" destId="{1A6973D6-7723-4BF4-9E0A-911A2562A386}" srcOrd="0" destOrd="0" presId="urn:microsoft.com/office/officeart/2005/8/layout/vList2"/>
    <dgm:cxn modelId="{EA4B4067-C859-4CE1-8336-B9E42EBFE11B}" type="presOf" srcId="{F7C1974F-EFC8-426F-BADB-A369F5F63D54}" destId="{19A1A9F8-748F-4B5B-B55D-9D394E2E0099}" srcOrd="0" destOrd="0" presId="urn:microsoft.com/office/officeart/2005/8/layout/vList2"/>
    <dgm:cxn modelId="{37846B80-022B-42B7-8594-40D7D0FA8855}" type="presOf" srcId="{952BE7AC-D44B-4E9B-9D0B-072A43471C16}" destId="{9648EA87-DAB5-460D-A324-E743EE4132BF}" srcOrd="0" destOrd="0" presId="urn:microsoft.com/office/officeart/2005/8/layout/vList2"/>
    <dgm:cxn modelId="{A3CDDE88-7546-43AC-9D24-8FFDA974A69E}" srcId="{EBC3CE03-AE15-481A-A7C4-A4AA99DCF09F}" destId="{68B625BF-BBE4-4881-9178-A5A7BAEE2707}" srcOrd="0" destOrd="0" parTransId="{6D22C724-3F57-4E18-8AFA-5F6AB46D89D4}" sibTransId="{8B10AF58-19D7-41C2-8BB0-0AB35810F1B0}"/>
    <dgm:cxn modelId="{4EFC6897-FDD9-4C50-8EC1-4797E62F4987}" srcId="{EBC3CE03-AE15-481A-A7C4-A4AA99DCF09F}" destId="{952BE7AC-D44B-4E9B-9D0B-072A43471C16}" srcOrd="1" destOrd="0" parTransId="{40FA3C87-C30B-40F9-A1A1-FE56E8624FE2}" sibTransId="{0F88100F-6049-401D-BCC2-72120C35E829}"/>
    <dgm:cxn modelId="{528ECCE0-A581-4E0B-985A-9EFC958DE34F}" srcId="{EBC3CE03-AE15-481A-A7C4-A4AA99DCF09F}" destId="{F7C1974F-EFC8-426F-BADB-A369F5F63D54}" srcOrd="2" destOrd="0" parTransId="{51869053-A0A6-411D-8720-63DD19ABEA8C}" sibTransId="{65516939-AE3A-4FCE-AE1C-229F63FBCE43}"/>
    <dgm:cxn modelId="{9AE2D8B9-4173-4C1C-86E3-B8B15DDF3663}" type="presParOf" srcId="{1A6973D6-7723-4BF4-9E0A-911A2562A386}" destId="{5E2BD36C-A1CD-451F-8334-45B4FA891F1B}" srcOrd="0" destOrd="0" presId="urn:microsoft.com/office/officeart/2005/8/layout/vList2"/>
    <dgm:cxn modelId="{86F44F50-A546-4144-AED0-7C0F96C18DFD}" type="presParOf" srcId="{1A6973D6-7723-4BF4-9E0A-911A2562A386}" destId="{59EF7DD1-1ACE-4A5A-881E-9E9961B70B38}" srcOrd="1" destOrd="0" presId="urn:microsoft.com/office/officeart/2005/8/layout/vList2"/>
    <dgm:cxn modelId="{68C8EDE9-78AA-4E68-B495-2572CF781F63}" type="presParOf" srcId="{1A6973D6-7723-4BF4-9E0A-911A2562A386}" destId="{9648EA87-DAB5-460D-A324-E743EE4132BF}" srcOrd="2" destOrd="0" presId="urn:microsoft.com/office/officeart/2005/8/layout/vList2"/>
    <dgm:cxn modelId="{2224F6A5-FD2D-4669-8ADA-0741FF159597}" type="presParOf" srcId="{1A6973D6-7723-4BF4-9E0A-911A2562A386}" destId="{17A8DDE2-4AFC-4869-9A4B-64093078CC7C}" srcOrd="3" destOrd="0" presId="urn:microsoft.com/office/officeart/2005/8/layout/vList2"/>
    <dgm:cxn modelId="{7B688E7E-8856-4ADC-AC2F-D8F32D40EC72}" type="presParOf" srcId="{1A6973D6-7723-4BF4-9E0A-911A2562A386}" destId="{19A1A9F8-748F-4B5B-B55D-9D394E2E009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BC3CE03-AE15-481A-A7C4-A4AA99DCF09F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1F77FDCB-34EF-4A0A-B71E-51F6AAA5D9B9}">
      <dgm:prSet custT="1"/>
      <dgm:spPr>
        <a:solidFill>
          <a:srgbClr val="002060"/>
        </a:solidFill>
      </dgm:spPr>
      <dgm:t>
        <a:bodyPr/>
        <a:lstStyle/>
        <a:p>
          <a:r>
            <a:rPr lang="ru-RU" sz="1700" dirty="0"/>
            <a:t>Федеральный закон от 31.07.1998 № 145-ФЗ «</a:t>
          </a:r>
          <a:r>
            <a:rPr lang="ru-RU" sz="1700" b="1" dirty="0"/>
            <a:t>Бюджетный кодекс Российской Федерации</a:t>
          </a:r>
          <a:r>
            <a:rPr lang="ru-RU" sz="1700" dirty="0"/>
            <a:t>»</a:t>
          </a:r>
        </a:p>
      </dgm:t>
    </dgm:pt>
    <dgm:pt modelId="{327E67E1-F8D2-4408-908E-E7E704AC9CBE}" type="parTrans" cxnId="{DBBF42D2-E465-4ED6-B867-A718F1998210}">
      <dgm:prSet/>
      <dgm:spPr/>
      <dgm:t>
        <a:bodyPr/>
        <a:lstStyle/>
        <a:p>
          <a:endParaRPr lang="ru-RU" sz="1700"/>
        </a:p>
      </dgm:t>
    </dgm:pt>
    <dgm:pt modelId="{88526D9E-9C10-46B3-AD96-40779B51BB6A}" type="sibTrans" cxnId="{DBBF42D2-E465-4ED6-B867-A718F1998210}">
      <dgm:prSet/>
      <dgm:spPr/>
      <dgm:t>
        <a:bodyPr/>
        <a:lstStyle/>
        <a:p>
          <a:endParaRPr lang="ru-RU" sz="1700"/>
        </a:p>
      </dgm:t>
    </dgm:pt>
    <dgm:pt modelId="{0185760B-A76C-4758-96D3-3C59F9138110}">
      <dgm:prSet custT="1"/>
      <dgm:spPr>
        <a:solidFill>
          <a:srgbClr val="002060"/>
        </a:solidFill>
      </dgm:spPr>
      <dgm:t>
        <a:bodyPr/>
        <a:lstStyle/>
        <a:p>
          <a:r>
            <a:rPr lang="ru-RU" sz="1700" dirty="0"/>
            <a:t>«</a:t>
          </a:r>
          <a:r>
            <a:rPr lang="ru-RU" sz="1700" b="1" dirty="0"/>
            <a:t>Налоговый кодекс Российской Федерации</a:t>
          </a:r>
          <a:r>
            <a:rPr lang="ru-RU" sz="1700" dirty="0"/>
            <a:t>»</a:t>
          </a:r>
          <a:r>
            <a:rPr lang="ru-RU" sz="1700" b="1" dirty="0"/>
            <a:t> </a:t>
          </a:r>
          <a:r>
            <a:rPr lang="ru-RU" sz="1700" dirty="0"/>
            <a:t>(часть первая - Федеральный закон от 31.07.1998 № 146-ФЗ и часть вторая - Федеральный закон от 05.08.2000 № 117-ФЗ)</a:t>
          </a:r>
        </a:p>
      </dgm:t>
    </dgm:pt>
    <dgm:pt modelId="{7134BFCD-273E-4026-8C4A-FCA896702A31}" type="sibTrans" cxnId="{1CECB33F-BF3F-4BA9-9525-67B34CA89BE5}">
      <dgm:prSet/>
      <dgm:spPr/>
      <dgm:t>
        <a:bodyPr/>
        <a:lstStyle/>
        <a:p>
          <a:endParaRPr lang="ru-RU" sz="1700"/>
        </a:p>
      </dgm:t>
    </dgm:pt>
    <dgm:pt modelId="{D07D312D-E87B-480E-B063-F714E9AA87CA}" type="parTrans" cxnId="{1CECB33F-BF3F-4BA9-9525-67B34CA89BE5}">
      <dgm:prSet/>
      <dgm:spPr/>
      <dgm:t>
        <a:bodyPr/>
        <a:lstStyle/>
        <a:p>
          <a:endParaRPr lang="ru-RU" sz="1700"/>
        </a:p>
      </dgm:t>
    </dgm:pt>
    <dgm:pt modelId="{1779BB95-318B-409D-82DE-42C8FA8D36EA}">
      <dgm:prSet custT="1"/>
      <dgm:spPr>
        <a:solidFill>
          <a:srgbClr val="002060"/>
        </a:solidFill>
      </dgm:spPr>
      <dgm:t>
        <a:bodyPr/>
        <a:lstStyle/>
        <a:p>
          <a:r>
            <a:rPr lang="ru-RU" sz="1700" dirty="0"/>
            <a:t>Федеральный закон от 11.12.2024 № 539-ФЗ «</a:t>
          </a:r>
          <a:r>
            <a:rPr lang="ru-RU" sz="1700" b="1" dirty="0"/>
            <a:t>О федеральном бюджете </a:t>
          </a:r>
          <a:r>
            <a:rPr lang="ru-RU" sz="1700" dirty="0"/>
            <a:t>на 2025 год и на плановый период 2026 и 2027 годов»</a:t>
          </a:r>
        </a:p>
      </dgm:t>
    </dgm:pt>
    <dgm:pt modelId="{470DE577-9EF6-4450-93D0-E8DFED10AA42}" type="parTrans" cxnId="{C7705F7D-CBA1-4BCF-A84F-648611C71A55}">
      <dgm:prSet/>
      <dgm:spPr/>
      <dgm:t>
        <a:bodyPr/>
        <a:lstStyle/>
        <a:p>
          <a:endParaRPr lang="ru-RU" sz="1700"/>
        </a:p>
      </dgm:t>
    </dgm:pt>
    <dgm:pt modelId="{8715AE4D-D638-4FE1-9B6A-2ABCAFBA4C8C}" type="sibTrans" cxnId="{C7705F7D-CBA1-4BCF-A84F-648611C71A55}">
      <dgm:prSet/>
      <dgm:spPr/>
      <dgm:t>
        <a:bodyPr/>
        <a:lstStyle/>
        <a:p>
          <a:endParaRPr lang="ru-RU" sz="1700"/>
        </a:p>
      </dgm:t>
    </dgm:pt>
    <dgm:pt modelId="{1A6973D6-7723-4BF4-9E0A-911A2562A386}" type="pres">
      <dgm:prSet presAssocID="{EBC3CE03-AE15-481A-A7C4-A4AA99DCF09F}" presName="linear" presStyleCnt="0">
        <dgm:presLayoutVars>
          <dgm:animLvl val="lvl"/>
          <dgm:resizeHandles val="exact"/>
        </dgm:presLayoutVars>
      </dgm:prSet>
      <dgm:spPr/>
    </dgm:pt>
    <dgm:pt modelId="{14FD0229-EAFA-4291-9D32-C058B53C61A7}" type="pres">
      <dgm:prSet presAssocID="{1F77FDCB-34EF-4A0A-B71E-51F6AAA5D9B9}" presName="parentText" presStyleLbl="node1" presStyleIdx="0" presStyleCnt="3" custScaleY="90910">
        <dgm:presLayoutVars>
          <dgm:chMax val="0"/>
          <dgm:bulletEnabled val="1"/>
        </dgm:presLayoutVars>
      </dgm:prSet>
      <dgm:spPr/>
    </dgm:pt>
    <dgm:pt modelId="{7142B18A-EB1E-4439-A7F9-F44ED7329606}" type="pres">
      <dgm:prSet presAssocID="{88526D9E-9C10-46B3-AD96-40779B51BB6A}" presName="spacer" presStyleCnt="0"/>
      <dgm:spPr/>
    </dgm:pt>
    <dgm:pt modelId="{DEF1D081-D3B3-4A47-94A3-E725B2D7ECBD}" type="pres">
      <dgm:prSet presAssocID="{0185760B-A76C-4758-96D3-3C59F9138110}" presName="parentText" presStyleLbl="node1" presStyleIdx="1" presStyleCnt="3" custScaleY="133101">
        <dgm:presLayoutVars>
          <dgm:chMax val="0"/>
          <dgm:bulletEnabled val="1"/>
        </dgm:presLayoutVars>
      </dgm:prSet>
      <dgm:spPr/>
    </dgm:pt>
    <dgm:pt modelId="{FF0E2277-D299-4C84-960B-004BB4C5AA93}" type="pres">
      <dgm:prSet presAssocID="{7134BFCD-273E-4026-8C4A-FCA896702A31}" presName="spacer" presStyleCnt="0"/>
      <dgm:spPr/>
    </dgm:pt>
    <dgm:pt modelId="{1CBD7256-67E4-4E47-B183-CA721B73943A}" type="pres">
      <dgm:prSet presAssocID="{1779BB95-318B-409D-82DE-42C8FA8D36EA}" presName="parentText" presStyleLbl="node1" presStyleIdx="2" presStyleCnt="3" custScaleY="100001" custLinFactNeighborY="-30019">
        <dgm:presLayoutVars>
          <dgm:chMax val="0"/>
          <dgm:bulletEnabled val="1"/>
        </dgm:presLayoutVars>
      </dgm:prSet>
      <dgm:spPr/>
    </dgm:pt>
  </dgm:ptLst>
  <dgm:cxnLst>
    <dgm:cxn modelId="{D4465732-8C6C-44E6-8D7E-B216EF6234ED}" type="presOf" srcId="{EBC3CE03-AE15-481A-A7C4-A4AA99DCF09F}" destId="{1A6973D6-7723-4BF4-9E0A-911A2562A386}" srcOrd="0" destOrd="0" presId="urn:microsoft.com/office/officeart/2005/8/layout/vList2"/>
    <dgm:cxn modelId="{1CECB33F-BF3F-4BA9-9525-67B34CA89BE5}" srcId="{EBC3CE03-AE15-481A-A7C4-A4AA99DCF09F}" destId="{0185760B-A76C-4758-96D3-3C59F9138110}" srcOrd="1" destOrd="0" parTransId="{D07D312D-E87B-480E-B063-F714E9AA87CA}" sibTransId="{7134BFCD-273E-4026-8C4A-FCA896702A31}"/>
    <dgm:cxn modelId="{E4996963-4E01-4C61-B62C-60EDA41BFFFF}" type="presOf" srcId="{1779BB95-318B-409D-82DE-42C8FA8D36EA}" destId="{1CBD7256-67E4-4E47-B183-CA721B73943A}" srcOrd="0" destOrd="0" presId="urn:microsoft.com/office/officeart/2005/8/layout/vList2"/>
    <dgm:cxn modelId="{C7705F7D-CBA1-4BCF-A84F-648611C71A55}" srcId="{EBC3CE03-AE15-481A-A7C4-A4AA99DCF09F}" destId="{1779BB95-318B-409D-82DE-42C8FA8D36EA}" srcOrd="2" destOrd="0" parTransId="{470DE577-9EF6-4450-93D0-E8DFED10AA42}" sibTransId="{8715AE4D-D638-4FE1-9B6A-2ABCAFBA4C8C}"/>
    <dgm:cxn modelId="{AD537E91-51C5-4C0C-B339-E2C1A8027236}" type="presOf" srcId="{1F77FDCB-34EF-4A0A-B71E-51F6AAA5D9B9}" destId="{14FD0229-EAFA-4291-9D32-C058B53C61A7}" srcOrd="0" destOrd="0" presId="urn:microsoft.com/office/officeart/2005/8/layout/vList2"/>
    <dgm:cxn modelId="{DBBF42D2-E465-4ED6-B867-A718F1998210}" srcId="{EBC3CE03-AE15-481A-A7C4-A4AA99DCF09F}" destId="{1F77FDCB-34EF-4A0A-B71E-51F6AAA5D9B9}" srcOrd="0" destOrd="0" parTransId="{327E67E1-F8D2-4408-908E-E7E704AC9CBE}" sibTransId="{88526D9E-9C10-46B3-AD96-40779B51BB6A}"/>
    <dgm:cxn modelId="{C57D8CF2-59FE-422D-9AE4-3974293F76E3}" type="presOf" srcId="{0185760B-A76C-4758-96D3-3C59F9138110}" destId="{DEF1D081-D3B3-4A47-94A3-E725B2D7ECBD}" srcOrd="0" destOrd="0" presId="urn:microsoft.com/office/officeart/2005/8/layout/vList2"/>
    <dgm:cxn modelId="{88ED2D26-6DF5-4913-A33F-2901E7D36234}" type="presParOf" srcId="{1A6973D6-7723-4BF4-9E0A-911A2562A386}" destId="{14FD0229-EAFA-4291-9D32-C058B53C61A7}" srcOrd="0" destOrd="0" presId="urn:microsoft.com/office/officeart/2005/8/layout/vList2"/>
    <dgm:cxn modelId="{2FECEFCD-428B-444F-92B7-443F0EC316C8}" type="presParOf" srcId="{1A6973D6-7723-4BF4-9E0A-911A2562A386}" destId="{7142B18A-EB1E-4439-A7F9-F44ED7329606}" srcOrd="1" destOrd="0" presId="urn:microsoft.com/office/officeart/2005/8/layout/vList2"/>
    <dgm:cxn modelId="{E43FF102-D8F8-497B-B535-88DFAFB31514}" type="presParOf" srcId="{1A6973D6-7723-4BF4-9E0A-911A2562A386}" destId="{DEF1D081-D3B3-4A47-94A3-E725B2D7ECBD}" srcOrd="2" destOrd="0" presId="urn:microsoft.com/office/officeart/2005/8/layout/vList2"/>
    <dgm:cxn modelId="{4A588C85-2795-470F-B1C0-50886B417075}" type="presParOf" srcId="{1A6973D6-7723-4BF4-9E0A-911A2562A386}" destId="{FF0E2277-D299-4C84-960B-004BB4C5AA93}" srcOrd="3" destOrd="0" presId="urn:microsoft.com/office/officeart/2005/8/layout/vList2"/>
    <dgm:cxn modelId="{1865984B-B46B-4172-9D43-DEB58792E49F}" type="presParOf" srcId="{1A6973D6-7723-4BF4-9E0A-911A2562A386}" destId="{1CBD7256-67E4-4E47-B183-CA721B73943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44369BD-4193-43F5-A739-7019E6120D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54D468A7-E252-44E3-8E51-768C5E47BB7D}">
      <dgm:prSet/>
      <dgm:spPr/>
      <dgm:t>
        <a:bodyPr/>
        <a:lstStyle/>
        <a:p>
          <a:r>
            <a:rPr lang="ru-RU" b="0" i="0" dirty="0"/>
            <a:t>а) </a:t>
          </a:r>
          <a:r>
            <a:rPr lang="ru-RU" b="1" i="0" dirty="0"/>
            <a:t>сохранение населения</a:t>
          </a:r>
          <a:r>
            <a:rPr lang="ru-RU" b="0" i="0" dirty="0"/>
            <a:t>, укрепление здоровья и повышение благополучия людей, поддержка семьи;</a:t>
          </a:r>
          <a:endParaRPr lang="ru-RU" dirty="0"/>
        </a:p>
      </dgm:t>
    </dgm:pt>
    <dgm:pt modelId="{2EBB1785-7802-492E-8DE3-FB29921607EE}" type="parTrans" cxnId="{D4880E83-60E3-486E-80A8-0E1FAABBE17D}">
      <dgm:prSet/>
      <dgm:spPr/>
      <dgm:t>
        <a:bodyPr/>
        <a:lstStyle/>
        <a:p>
          <a:endParaRPr lang="ru-RU"/>
        </a:p>
      </dgm:t>
    </dgm:pt>
    <dgm:pt modelId="{CE7DF6FC-E029-4111-BC9F-7AEDF68E8D8A}" type="sibTrans" cxnId="{D4880E83-60E3-486E-80A8-0E1FAABBE17D}">
      <dgm:prSet/>
      <dgm:spPr/>
      <dgm:t>
        <a:bodyPr/>
        <a:lstStyle/>
        <a:p>
          <a:endParaRPr lang="ru-RU"/>
        </a:p>
      </dgm:t>
    </dgm:pt>
    <dgm:pt modelId="{3F9AA0F9-1FAF-42FB-81FD-5919D00B6230}">
      <dgm:prSet/>
      <dgm:spPr/>
      <dgm:t>
        <a:bodyPr/>
        <a:lstStyle/>
        <a:p>
          <a:r>
            <a:rPr lang="ru-RU" b="0" i="0" dirty="0"/>
            <a:t>б) </a:t>
          </a:r>
          <a:r>
            <a:rPr lang="ru-RU" b="1" i="0" dirty="0"/>
            <a:t>реализация потенциала каждого человека</a:t>
          </a:r>
          <a:r>
            <a:rPr lang="ru-RU" b="0" i="0" dirty="0"/>
            <a:t>, развитие его талантов, воспитание патриотичной и социально ответственной личности;</a:t>
          </a:r>
          <a:endParaRPr lang="ru-RU" dirty="0"/>
        </a:p>
      </dgm:t>
    </dgm:pt>
    <dgm:pt modelId="{E3213D7A-7F28-4E88-88AE-BF924FBE549E}" type="parTrans" cxnId="{8E9CC57F-A244-41B2-A0B4-1521534A68F2}">
      <dgm:prSet/>
      <dgm:spPr/>
      <dgm:t>
        <a:bodyPr/>
        <a:lstStyle/>
        <a:p>
          <a:endParaRPr lang="ru-RU"/>
        </a:p>
      </dgm:t>
    </dgm:pt>
    <dgm:pt modelId="{9644F1D2-3655-4F31-9F70-7E9F37D9D0D6}" type="sibTrans" cxnId="{8E9CC57F-A244-41B2-A0B4-1521534A68F2}">
      <dgm:prSet/>
      <dgm:spPr/>
      <dgm:t>
        <a:bodyPr/>
        <a:lstStyle/>
        <a:p>
          <a:endParaRPr lang="ru-RU"/>
        </a:p>
      </dgm:t>
    </dgm:pt>
    <dgm:pt modelId="{3F1AA62A-34D8-498C-85E4-96BC3647D9E0}">
      <dgm:prSet/>
      <dgm:spPr/>
      <dgm:t>
        <a:bodyPr/>
        <a:lstStyle/>
        <a:p>
          <a:r>
            <a:rPr lang="ru-RU" b="0" i="0" dirty="0"/>
            <a:t>в) комфортная и безопасная </a:t>
          </a:r>
          <a:r>
            <a:rPr lang="ru-RU" b="1" i="0" dirty="0"/>
            <a:t>среда для жизни</a:t>
          </a:r>
          <a:r>
            <a:rPr lang="ru-RU" b="0" i="0" dirty="0"/>
            <a:t>;</a:t>
          </a:r>
          <a:endParaRPr lang="ru-RU" dirty="0"/>
        </a:p>
      </dgm:t>
    </dgm:pt>
    <dgm:pt modelId="{B4F55652-16C9-4530-A34D-B332ED9B754E}" type="parTrans" cxnId="{17FE662D-9F75-42BA-87FE-B71C6277C824}">
      <dgm:prSet/>
      <dgm:spPr/>
      <dgm:t>
        <a:bodyPr/>
        <a:lstStyle/>
        <a:p>
          <a:endParaRPr lang="ru-RU"/>
        </a:p>
      </dgm:t>
    </dgm:pt>
    <dgm:pt modelId="{E0BBCC3F-E703-4807-9461-BF2C977F00FB}" type="sibTrans" cxnId="{17FE662D-9F75-42BA-87FE-B71C6277C824}">
      <dgm:prSet/>
      <dgm:spPr/>
      <dgm:t>
        <a:bodyPr/>
        <a:lstStyle/>
        <a:p>
          <a:endParaRPr lang="ru-RU"/>
        </a:p>
      </dgm:t>
    </dgm:pt>
    <dgm:pt modelId="{0029B914-DE24-4ED2-9AC3-72FC9450567F}">
      <dgm:prSet/>
      <dgm:spPr/>
      <dgm:t>
        <a:bodyPr/>
        <a:lstStyle/>
        <a:p>
          <a:r>
            <a:rPr lang="ru-RU" b="0" i="0" dirty="0"/>
            <a:t>г) </a:t>
          </a:r>
          <a:r>
            <a:rPr lang="ru-RU" b="1" i="0" dirty="0"/>
            <a:t>экологическое</a:t>
          </a:r>
          <a:r>
            <a:rPr lang="ru-RU" b="0" i="0" dirty="0"/>
            <a:t> благополучие;</a:t>
          </a:r>
          <a:endParaRPr lang="ru-RU" dirty="0"/>
        </a:p>
      </dgm:t>
    </dgm:pt>
    <dgm:pt modelId="{09763BBA-C533-4E39-9F61-003472189306}" type="parTrans" cxnId="{22445342-59FC-4A84-BFAF-DEFD77C2AF5F}">
      <dgm:prSet/>
      <dgm:spPr/>
      <dgm:t>
        <a:bodyPr/>
        <a:lstStyle/>
        <a:p>
          <a:endParaRPr lang="ru-RU"/>
        </a:p>
      </dgm:t>
    </dgm:pt>
    <dgm:pt modelId="{FAADB871-4B0E-4497-8EB6-CD96077AB190}" type="sibTrans" cxnId="{22445342-59FC-4A84-BFAF-DEFD77C2AF5F}">
      <dgm:prSet/>
      <dgm:spPr/>
      <dgm:t>
        <a:bodyPr/>
        <a:lstStyle/>
        <a:p>
          <a:endParaRPr lang="ru-RU"/>
        </a:p>
      </dgm:t>
    </dgm:pt>
    <dgm:pt modelId="{D73135A8-6189-4856-A352-58F813BB7965}">
      <dgm:prSet/>
      <dgm:spPr/>
      <dgm:t>
        <a:bodyPr/>
        <a:lstStyle/>
        <a:p>
          <a:r>
            <a:rPr lang="ru-RU" b="0" i="0" dirty="0"/>
            <a:t>д) устойчивая и динамичная </a:t>
          </a:r>
          <a:r>
            <a:rPr lang="ru-RU" b="1" i="0" dirty="0"/>
            <a:t>экономика</a:t>
          </a:r>
          <a:r>
            <a:rPr lang="ru-RU" b="0" i="0" dirty="0"/>
            <a:t>;</a:t>
          </a:r>
          <a:endParaRPr lang="ru-RU" dirty="0"/>
        </a:p>
      </dgm:t>
    </dgm:pt>
    <dgm:pt modelId="{6B23B903-0220-41B9-AF3E-6563B2B0F841}" type="parTrans" cxnId="{8E1AEF8F-CB70-4E3A-BD0B-D472F875620A}">
      <dgm:prSet/>
      <dgm:spPr/>
      <dgm:t>
        <a:bodyPr/>
        <a:lstStyle/>
        <a:p>
          <a:endParaRPr lang="ru-RU"/>
        </a:p>
      </dgm:t>
    </dgm:pt>
    <dgm:pt modelId="{D35D416A-9303-4D3D-A533-768D5A6192B5}" type="sibTrans" cxnId="{8E1AEF8F-CB70-4E3A-BD0B-D472F875620A}">
      <dgm:prSet/>
      <dgm:spPr/>
      <dgm:t>
        <a:bodyPr/>
        <a:lstStyle/>
        <a:p>
          <a:endParaRPr lang="ru-RU"/>
        </a:p>
      </dgm:t>
    </dgm:pt>
    <dgm:pt modelId="{6F4ED891-29E5-4FB2-9626-141290D91B04}">
      <dgm:prSet/>
      <dgm:spPr/>
      <dgm:t>
        <a:bodyPr/>
        <a:lstStyle/>
        <a:p>
          <a:r>
            <a:rPr lang="ru-RU" b="0" i="0" dirty="0"/>
            <a:t>е) </a:t>
          </a:r>
          <a:r>
            <a:rPr lang="ru-RU" b="1" i="0" dirty="0"/>
            <a:t>технологическое</a:t>
          </a:r>
          <a:r>
            <a:rPr lang="ru-RU" b="0" i="0" dirty="0"/>
            <a:t> лидерство;</a:t>
          </a:r>
          <a:endParaRPr lang="ru-RU" dirty="0"/>
        </a:p>
      </dgm:t>
    </dgm:pt>
    <dgm:pt modelId="{9BF4037D-4C82-4963-9F95-01DEF6D6A13A}" type="parTrans" cxnId="{0BBED817-13BA-4097-9BA4-F29A20A94AB2}">
      <dgm:prSet/>
      <dgm:spPr/>
      <dgm:t>
        <a:bodyPr/>
        <a:lstStyle/>
        <a:p>
          <a:endParaRPr lang="ru-RU"/>
        </a:p>
      </dgm:t>
    </dgm:pt>
    <dgm:pt modelId="{CDCCC716-4F43-494A-92F6-7F9CFF3AF4CB}" type="sibTrans" cxnId="{0BBED817-13BA-4097-9BA4-F29A20A94AB2}">
      <dgm:prSet/>
      <dgm:spPr/>
      <dgm:t>
        <a:bodyPr/>
        <a:lstStyle/>
        <a:p>
          <a:endParaRPr lang="ru-RU"/>
        </a:p>
      </dgm:t>
    </dgm:pt>
    <dgm:pt modelId="{94C6A83C-3A11-418D-BEA1-5856DFA6A387}">
      <dgm:prSet/>
      <dgm:spPr/>
      <dgm:t>
        <a:bodyPr/>
        <a:lstStyle/>
        <a:p>
          <a:r>
            <a:rPr lang="ru-RU" b="0" i="0" dirty="0"/>
            <a:t>ж) </a:t>
          </a:r>
          <a:r>
            <a:rPr lang="ru-RU" b="1" i="0" dirty="0"/>
            <a:t>цифровая трансформация </a:t>
          </a:r>
          <a:r>
            <a:rPr lang="ru-RU" b="0" i="0" dirty="0"/>
            <a:t>государственного и муниципального управления, экономики и социальной сферы.</a:t>
          </a:r>
          <a:endParaRPr lang="ru-RU" dirty="0"/>
        </a:p>
      </dgm:t>
    </dgm:pt>
    <dgm:pt modelId="{7F78CEC5-7C35-4655-8376-7BE01D275CD4}" type="parTrans" cxnId="{6CEC1040-9E70-4A1D-9A41-5D27A52B3B11}">
      <dgm:prSet/>
      <dgm:spPr/>
      <dgm:t>
        <a:bodyPr/>
        <a:lstStyle/>
        <a:p>
          <a:endParaRPr lang="ru-RU"/>
        </a:p>
      </dgm:t>
    </dgm:pt>
    <dgm:pt modelId="{F6293B6B-1D75-475D-8275-A8B88C388D81}" type="sibTrans" cxnId="{6CEC1040-9E70-4A1D-9A41-5D27A52B3B11}">
      <dgm:prSet/>
      <dgm:spPr/>
      <dgm:t>
        <a:bodyPr/>
        <a:lstStyle/>
        <a:p>
          <a:endParaRPr lang="ru-RU"/>
        </a:p>
      </dgm:t>
    </dgm:pt>
    <dgm:pt modelId="{A0DE7E21-0B36-483A-B6E9-2465EC7130D8}" type="pres">
      <dgm:prSet presAssocID="{244369BD-4193-43F5-A739-7019E6120DF9}" presName="linear" presStyleCnt="0">
        <dgm:presLayoutVars>
          <dgm:animLvl val="lvl"/>
          <dgm:resizeHandles val="exact"/>
        </dgm:presLayoutVars>
      </dgm:prSet>
      <dgm:spPr/>
    </dgm:pt>
    <dgm:pt modelId="{B9117CDD-A199-47E1-90B0-457F7F2EB55D}" type="pres">
      <dgm:prSet presAssocID="{54D468A7-E252-44E3-8E51-768C5E47BB7D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11584C5-1371-479C-9383-66913B75D12D}" type="pres">
      <dgm:prSet presAssocID="{CE7DF6FC-E029-4111-BC9F-7AEDF68E8D8A}" presName="spacer" presStyleCnt="0"/>
      <dgm:spPr/>
    </dgm:pt>
    <dgm:pt modelId="{42DD18AB-CA97-4F64-B40A-918CA8721D94}" type="pres">
      <dgm:prSet presAssocID="{3F9AA0F9-1FAF-42FB-81FD-5919D00B623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8C3EAA6-738F-4190-A3B4-4865DE4CB29E}" type="pres">
      <dgm:prSet presAssocID="{9644F1D2-3655-4F31-9F70-7E9F37D9D0D6}" presName="spacer" presStyleCnt="0"/>
      <dgm:spPr/>
    </dgm:pt>
    <dgm:pt modelId="{2FFD0ACD-F679-404C-91AF-E72FD766C461}" type="pres">
      <dgm:prSet presAssocID="{3F1AA62A-34D8-498C-85E4-96BC3647D9E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8DAF113F-B17C-42C0-B26C-9250976099A2}" type="pres">
      <dgm:prSet presAssocID="{E0BBCC3F-E703-4807-9461-BF2C977F00FB}" presName="spacer" presStyleCnt="0"/>
      <dgm:spPr/>
    </dgm:pt>
    <dgm:pt modelId="{B200E4C1-AB3B-45E1-91F4-92CE992E16B7}" type="pres">
      <dgm:prSet presAssocID="{0029B914-DE24-4ED2-9AC3-72FC9450567F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A6D7FB2-E9C8-46BD-96BA-9DCCCE2B49A4}" type="pres">
      <dgm:prSet presAssocID="{FAADB871-4B0E-4497-8EB6-CD96077AB190}" presName="spacer" presStyleCnt="0"/>
      <dgm:spPr/>
    </dgm:pt>
    <dgm:pt modelId="{07793F14-21C4-4650-A5D9-1406B0462E62}" type="pres">
      <dgm:prSet presAssocID="{D73135A8-6189-4856-A352-58F813BB7965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0F0B6F4-6662-44BC-98C7-031826CE8775}" type="pres">
      <dgm:prSet presAssocID="{D35D416A-9303-4D3D-A533-768D5A6192B5}" presName="spacer" presStyleCnt="0"/>
      <dgm:spPr/>
    </dgm:pt>
    <dgm:pt modelId="{B2A55777-54F0-44E6-8C50-79B006FEB6D8}" type="pres">
      <dgm:prSet presAssocID="{6F4ED891-29E5-4FB2-9626-141290D91B0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3BBFECC-2C8C-4ED7-900C-7645CB31F3A3}" type="pres">
      <dgm:prSet presAssocID="{CDCCC716-4F43-494A-92F6-7F9CFF3AF4CB}" presName="spacer" presStyleCnt="0"/>
      <dgm:spPr/>
    </dgm:pt>
    <dgm:pt modelId="{D6CE3273-E446-4941-92E1-7AF9DA636E3B}" type="pres">
      <dgm:prSet presAssocID="{94C6A83C-3A11-418D-BEA1-5856DFA6A38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0BBED817-13BA-4097-9BA4-F29A20A94AB2}" srcId="{244369BD-4193-43F5-A739-7019E6120DF9}" destId="{6F4ED891-29E5-4FB2-9626-141290D91B04}" srcOrd="5" destOrd="0" parTransId="{9BF4037D-4C82-4963-9F95-01DEF6D6A13A}" sibTransId="{CDCCC716-4F43-494A-92F6-7F9CFF3AF4CB}"/>
    <dgm:cxn modelId="{CBE81922-6B03-4267-A377-F3FCD318392E}" type="presOf" srcId="{D73135A8-6189-4856-A352-58F813BB7965}" destId="{07793F14-21C4-4650-A5D9-1406B0462E62}" srcOrd="0" destOrd="0" presId="urn:microsoft.com/office/officeart/2005/8/layout/vList2"/>
    <dgm:cxn modelId="{B3BE1224-23FC-4513-9100-3C309798FD21}" type="presOf" srcId="{0029B914-DE24-4ED2-9AC3-72FC9450567F}" destId="{B200E4C1-AB3B-45E1-91F4-92CE992E16B7}" srcOrd="0" destOrd="0" presId="urn:microsoft.com/office/officeart/2005/8/layout/vList2"/>
    <dgm:cxn modelId="{17FE662D-9F75-42BA-87FE-B71C6277C824}" srcId="{244369BD-4193-43F5-A739-7019E6120DF9}" destId="{3F1AA62A-34D8-498C-85E4-96BC3647D9E0}" srcOrd="2" destOrd="0" parTransId="{B4F55652-16C9-4530-A34D-B332ED9B754E}" sibTransId="{E0BBCC3F-E703-4807-9461-BF2C977F00FB}"/>
    <dgm:cxn modelId="{56A8C832-17AE-4D1A-A7DE-F42338AA04D6}" type="presOf" srcId="{6F4ED891-29E5-4FB2-9626-141290D91B04}" destId="{B2A55777-54F0-44E6-8C50-79B006FEB6D8}" srcOrd="0" destOrd="0" presId="urn:microsoft.com/office/officeart/2005/8/layout/vList2"/>
    <dgm:cxn modelId="{B0FFD332-B93B-48C1-903F-F15688C35B6F}" type="presOf" srcId="{3F1AA62A-34D8-498C-85E4-96BC3647D9E0}" destId="{2FFD0ACD-F679-404C-91AF-E72FD766C461}" srcOrd="0" destOrd="0" presId="urn:microsoft.com/office/officeart/2005/8/layout/vList2"/>
    <dgm:cxn modelId="{FD0C313B-0381-49B9-8938-73E58B3AD445}" type="presOf" srcId="{54D468A7-E252-44E3-8E51-768C5E47BB7D}" destId="{B9117CDD-A199-47E1-90B0-457F7F2EB55D}" srcOrd="0" destOrd="0" presId="urn:microsoft.com/office/officeart/2005/8/layout/vList2"/>
    <dgm:cxn modelId="{6CEC1040-9E70-4A1D-9A41-5D27A52B3B11}" srcId="{244369BD-4193-43F5-A739-7019E6120DF9}" destId="{94C6A83C-3A11-418D-BEA1-5856DFA6A387}" srcOrd="6" destOrd="0" parTransId="{7F78CEC5-7C35-4655-8376-7BE01D275CD4}" sibTransId="{F6293B6B-1D75-475D-8275-A8B88C388D81}"/>
    <dgm:cxn modelId="{22445342-59FC-4A84-BFAF-DEFD77C2AF5F}" srcId="{244369BD-4193-43F5-A739-7019E6120DF9}" destId="{0029B914-DE24-4ED2-9AC3-72FC9450567F}" srcOrd="3" destOrd="0" parTransId="{09763BBA-C533-4E39-9F61-003472189306}" sibTransId="{FAADB871-4B0E-4497-8EB6-CD96077AB190}"/>
    <dgm:cxn modelId="{8E9CC57F-A244-41B2-A0B4-1521534A68F2}" srcId="{244369BD-4193-43F5-A739-7019E6120DF9}" destId="{3F9AA0F9-1FAF-42FB-81FD-5919D00B6230}" srcOrd="1" destOrd="0" parTransId="{E3213D7A-7F28-4E88-88AE-BF924FBE549E}" sibTransId="{9644F1D2-3655-4F31-9F70-7E9F37D9D0D6}"/>
    <dgm:cxn modelId="{D4880E83-60E3-486E-80A8-0E1FAABBE17D}" srcId="{244369BD-4193-43F5-A739-7019E6120DF9}" destId="{54D468A7-E252-44E3-8E51-768C5E47BB7D}" srcOrd="0" destOrd="0" parTransId="{2EBB1785-7802-492E-8DE3-FB29921607EE}" sibTransId="{CE7DF6FC-E029-4111-BC9F-7AEDF68E8D8A}"/>
    <dgm:cxn modelId="{CBB03483-0082-4BF4-B83D-77362480DD68}" type="presOf" srcId="{244369BD-4193-43F5-A739-7019E6120DF9}" destId="{A0DE7E21-0B36-483A-B6E9-2465EC7130D8}" srcOrd="0" destOrd="0" presId="urn:microsoft.com/office/officeart/2005/8/layout/vList2"/>
    <dgm:cxn modelId="{8E1AEF8F-CB70-4E3A-BD0B-D472F875620A}" srcId="{244369BD-4193-43F5-A739-7019E6120DF9}" destId="{D73135A8-6189-4856-A352-58F813BB7965}" srcOrd="4" destOrd="0" parTransId="{6B23B903-0220-41B9-AF3E-6563B2B0F841}" sibTransId="{D35D416A-9303-4D3D-A533-768D5A6192B5}"/>
    <dgm:cxn modelId="{47D51DD1-4B61-46D3-8F9C-83F4CBC2E894}" type="presOf" srcId="{94C6A83C-3A11-418D-BEA1-5856DFA6A387}" destId="{D6CE3273-E446-4941-92E1-7AF9DA636E3B}" srcOrd="0" destOrd="0" presId="urn:microsoft.com/office/officeart/2005/8/layout/vList2"/>
    <dgm:cxn modelId="{E1F866F8-E3A5-40FC-BBB8-93EB5E24ECC4}" type="presOf" srcId="{3F9AA0F9-1FAF-42FB-81FD-5919D00B6230}" destId="{42DD18AB-CA97-4F64-B40A-918CA8721D94}" srcOrd="0" destOrd="0" presId="urn:microsoft.com/office/officeart/2005/8/layout/vList2"/>
    <dgm:cxn modelId="{73574F8F-1484-45DB-A8E3-DDD5FE5B0606}" type="presParOf" srcId="{A0DE7E21-0B36-483A-B6E9-2465EC7130D8}" destId="{B9117CDD-A199-47E1-90B0-457F7F2EB55D}" srcOrd="0" destOrd="0" presId="urn:microsoft.com/office/officeart/2005/8/layout/vList2"/>
    <dgm:cxn modelId="{EC0C2793-A0A1-4A2D-8A34-002FC22EFEE8}" type="presParOf" srcId="{A0DE7E21-0B36-483A-B6E9-2465EC7130D8}" destId="{111584C5-1371-479C-9383-66913B75D12D}" srcOrd="1" destOrd="0" presId="urn:microsoft.com/office/officeart/2005/8/layout/vList2"/>
    <dgm:cxn modelId="{3292E5C3-6572-4955-ABD8-04AA091FCF4F}" type="presParOf" srcId="{A0DE7E21-0B36-483A-B6E9-2465EC7130D8}" destId="{42DD18AB-CA97-4F64-B40A-918CA8721D94}" srcOrd="2" destOrd="0" presId="urn:microsoft.com/office/officeart/2005/8/layout/vList2"/>
    <dgm:cxn modelId="{9898BB8E-9705-4FFE-A60D-97ECFB93AAA8}" type="presParOf" srcId="{A0DE7E21-0B36-483A-B6E9-2465EC7130D8}" destId="{B8C3EAA6-738F-4190-A3B4-4865DE4CB29E}" srcOrd="3" destOrd="0" presId="urn:microsoft.com/office/officeart/2005/8/layout/vList2"/>
    <dgm:cxn modelId="{99DFF7D6-96CC-49A3-A302-347D80D1F1C5}" type="presParOf" srcId="{A0DE7E21-0B36-483A-B6E9-2465EC7130D8}" destId="{2FFD0ACD-F679-404C-91AF-E72FD766C461}" srcOrd="4" destOrd="0" presId="urn:microsoft.com/office/officeart/2005/8/layout/vList2"/>
    <dgm:cxn modelId="{57721572-46D9-4E57-B0E6-A38A0A1C1B81}" type="presParOf" srcId="{A0DE7E21-0B36-483A-B6E9-2465EC7130D8}" destId="{8DAF113F-B17C-42C0-B26C-9250976099A2}" srcOrd="5" destOrd="0" presId="urn:microsoft.com/office/officeart/2005/8/layout/vList2"/>
    <dgm:cxn modelId="{F78BE7F8-B35D-4E63-ABE0-43249CE37F4E}" type="presParOf" srcId="{A0DE7E21-0B36-483A-B6E9-2465EC7130D8}" destId="{B200E4C1-AB3B-45E1-91F4-92CE992E16B7}" srcOrd="6" destOrd="0" presId="urn:microsoft.com/office/officeart/2005/8/layout/vList2"/>
    <dgm:cxn modelId="{226DAB72-7C8D-4F5C-A0CA-59B220668589}" type="presParOf" srcId="{A0DE7E21-0B36-483A-B6E9-2465EC7130D8}" destId="{1A6D7FB2-E9C8-46BD-96BA-9DCCCE2B49A4}" srcOrd="7" destOrd="0" presId="urn:microsoft.com/office/officeart/2005/8/layout/vList2"/>
    <dgm:cxn modelId="{EA681A37-51FF-4D7C-AB3E-078D76EA6CB5}" type="presParOf" srcId="{A0DE7E21-0B36-483A-B6E9-2465EC7130D8}" destId="{07793F14-21C4-4650-A5D9-1406B0462E62}" srcOrd="8" destOrd="0" presId="urn:microsoft.com/office/officeart/2005/8/layout/vList2"/>
    <dgm:cxn modelId="{7D3134C4-3913-4417-AB27-252C59F32722}" type="presParOf" srcId="{A0DE7E21-0B36-483A-B6E9-2465EC7130D8}" destId="{B0F0B6F4-6662-44BC-98C7-031826CE8775}" srcOrd="9" destOrd="0" presId="urn:microsoft.com/office/officeart/2005/8/layout/vList2"/>
    <dgm:cxn modelId="{6C24678E-B0F6-48C0-92A0-2FBA3EE7EDFB}" type="presParOf" srcId="{A0DE7E21-0B36-483A-B6E9-2465EC7130D8}" destId="{B2A55777-54F0-44E6-8C50-79B006FEB6D8}" srcOrd="10" destOrd="0" presId="urn:microsoft.com/office/officeart/2005/8/layout/vList2"/>
    <dgm:cxn modelId="{52AFF6C0-AED7-4765-8690-032B97FE4802}" type="presParOf" srcId="{A0DE7E21-0B36-483A-B6E9-2465EC7130D8}" destId="{13BBFECC-2C8C-4ED7-900C-7645CB31F3A3}" srcOrd="11" destOrd="0" presId="urn:microsoft.com/office/officeart/2005/8/layout/vList2"/>
    <dgm:cxn modelId="{A7E778BF-12A7-433C-81B9-D72ADD7A1455}" type="presParOf" srcId="{A0DE7E21-0B36-483A-B6E9-2465EC7130D8}" destId="{D6CE3273-E446-4941-92E1-7AF9DA636E3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84B47AB-BF85-470A-8352-D583E4B9189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A15EE11-05E9-42AE-8D15-24C5A03E0792}">
      <dgm:prSet/>
      <dgm:spPr/>
      <dgm:t>
        <a:bodyPr/>
        <a:lstStyle/>
        <a:p>
          <a:r>
            <a:rPr lang="ru-RU" dirty="0"/>
            <a:t>На сегодняшний день </a:t>
          </a:r>
          <a:r>
            <a:rPr lang="ru-RU" b="1" dirty="0"/>
            <a:t>более 95%</a:t>
          </a:r>
          <a:r>
            <a:rPr lang="ru-RU" dirty="0"/>
            <a:t> </a:t>
          </a:r>
          <a:r>
            <a:rPr lang="ru-RU" b="1" dirty="0"/>
            <a:t>расходов</a:t>
          </a:r>
          <a:r>
            <a:rPr lang="ru-RU" dirty="0"/>
            <a:t> федерального бюджета привязаны к государственным программам и национальным проектам, что отражает реализацию </a:t>
          </a:r>
          <a:r>
            <a:rPr lang="ru-RU" b="1" dirty="0"/>
            <a:t>программно-целевого подхода в бюджетной сфере</a:t>
          </a:r>
          <a:r>
            <a:rPr lang="ru-RU" dirty="0"/>
            <a:t>. </a:t>
          </a:r>
        </a:p>
      </dgm:t>
    </dgm:pt>
    <dgm:pt modelId="{115856E5-0526-4F1E-B91C-16ACEE407D4D}" type="parTrans" cxnId="{87683C69-CFC7-485B-962E-B6C25F92EFD3}">
      <dgm:prSet/>
      <dgm:spPr/>
      <dgm:t>
        <a:bodyPr/>
        <a:lstStyle/>
        <a:p>
          <a:endParaRPr lang="ru-RU"/>
        </a:p>
      </dgm:t>
    </dgm:pt>
    <dgm:pt modelId="{18B9F66B-0C15-41BF-B03C-66BBCDCC6BA1}" type="sibTrans" cxnId="{87683C69-CFC7-485B-962E-B6C25F92EFD3}">
      <dgm:prSet/>
      <dgm:spPr/>
      <dgm:t>
        <a:bodyPr/>
        <a:lstStyle/>
        <a:p>
          <a:endParaRPr lang="ru-RU"/>
        </a:p>
      </dgm:t>
    </dgm:pt>
    <dgm:pt modelId="{9E08CCE1-A2E6-4741-98C2-F63951DC8164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Программно-целевое планирование бюджета основывается на том, что для каждой государственной программы устанавливаются </a:t>
          </a:r>
          <a:r>
            <a:rPr lang="ru-RU" b="1" i="0" dirty="0"/>
            <a:t>цели</a:t>
          </a:r>
          <a:r>
            <a:rPr lang="ru-RU" i="1" dirty="0"/>
            <a:t>, </a:t>
          </a:r>
          <a:r>
            <a:rPr lang="ru-RU" b="1" i="0" dirty="0"/>
            <a:t>показатели результата </a:t>
          </a:r>
          <a:r>
            <a:rPr lang="ru-RU" b="0" i="0" dirty="0"/>
            <a:t>и</a:t>
          </a:r>
          <a:r>
            <a:rPr lang="ru-RU" b="1" i="0" dirty="0"/>
            <a:t> объёмы финансирования</a:t>
          </a:r>
          <a:r>
            <a:rPr lang="ru-RU" dirty="0"/>
            <a:t>, а при утверждении бюджета парламентом ассигнования утверждаются по </a:t>
          </a:r>
          <a:r>
            <a:rPr lang="ru-RU" b="1" i="0" dirty="0"/>
            <a:t>целевым статьям</a:t>
          </a:r>
          <a:r>
            <a:rPr lang="ru-RU" dirty="0"/>
            <a:t>, соответствующим программам.</a:t>
          </a:r>
        </a:p>
      </dgm:t>
    </dgm:pt>
    <dgm:pt modelId="{62F8B092-995A-4E53-8AED-025D703C046E}" type="parTrans" cxnId="{CD4A6D7E-3FEF-4470-B53A-2F62A0764CFB}">
      <dgm:prSet/>
      <dgm:spPr/>
      <dgm:t>
        <a:bodyPr/>
        <a:lstStyle/>
        <a:p>
          <a:endParaRPr lang="ru-RU"/>
        </a:p>
      </dgm:t>
    </dgm:pt>
    <dgm:pt modelId="{8F8D22DE-7FCF-498C-AB51-2192DA37F8CF}" type="sibTrans" cxnId="{CD4A6D7E-3FEF-4470-B53A-2F62A0764CFB}">
      <dgm:prSet/>
      <dgm:spPr/>
      <dgm:t>
        <a:bodyPr/>
        <a:lstStyle/>
        <a:p>
          <a:endParaRPr lang="ru-RU"/>
        </a:p>
      </dgm:t>
    </dgm:pt>
    <dgm:pt modelId="{644303E5-8010-4E19-AB6A-5813D2341580}" type="pres">
      <dgm:prSet presAssocID="{184B47AB-BF85-470A-8352-D583E4B91893}" presName="linear" presStyleCnt="0">
        <dgm:presLayoutVars>
          <dgm:animLvl val="lvl"/>
          <dgm:resizeHandles val="exact"/>
        </dgm:presLayoutVars>
      </dgm:prSet>
      <dgm:spPr/>
    </dgm:pt>
    <dgm:pt modelId="{DB09DD76-776E-42BC-83D1-1F8F4715D918}" type="pres">
      <dgm:prSet presAssocID="{CA15EE11-05E9-42AE-8D15-24C5A03E079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839A6A2-A617-47AB-92D7-B374C87B5753}" type="pres">
      <dgm:prSet presAssocID="{18B9F66B-0C15-41BF-B03C-66BBCDCC6BA1}" presName="spacer" presStyleCnt="0"/>
      <dgm:spPr/>
    </dgm:pt>
    <dgm:pt modelId="{634D24DB-FEE8-4100-9CB5-B5FFA333B7AA}" type="pres">
      <dgm:prSet presAssocID="{9E08CCE1-A2E6-4741-98C2-F63951DC816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7683C69-CFC7-485B-962E-B6C25F92EFD3}" srcId="{184B47AB-BF85-470A-8352-D583E4B91893}" destId="{CA15EE11-05E9-42AE-8D15-24C5A03E0792}" srcOrd="0" destOrd="0" parTransId="{115856E5-0526-4F1E-B91C-16ACEE407D4D}" sibTransId="{18B9F66B-0C15-41BF-B03C-66BBCDCC6BA1}"/>
    <dgm:cxn modelId="{0B1B0776-1C94-4F33-A5D3-D591BCDC68F4}" type="presOf" srcId="{184B47AB-BF85-470A-8352-D583E4B91893}" destId="{644303E5-8010-4E19-AB6A-5813D2341580}" srcOrd="0" destOrd="0" presId="urn:microsoft.com/office/officeart/2005/8/layout/vList2"/>
    <dgm:cxn modelId="{94B2B156-45A3-4AAB-A10A-5FCE60F25EC3}" type="presOf" srcId="{9E08CCE1-A2E6-4741-98C2-F63951DC8164}" destId="{634D24DB-FEE8-4100-9CB5-B5FFA333B7AA}" srcOrd="0" destOrd="0" presId="urn:microsoft.com/office/officeart/2005/8/layout/vList2"/>
    <dgm:cxn modelId="{CD4A6D7E-3FEF-4470-B53A-2F62A0764CFB}" srcId="{184B47AB-BF85-470A-8352-D583E4B91893}" destId="{9E08CCE1-A2E6-4741-98C2-F63951DC8164}" srcOrd="1" destOrd="0" parTransId="{62F8B092-995A-4E53-8AED-025D703C046E}" sibTransId="{8F8D22DE-7FCF-498C-AB51-2192DA37F8CF}"/>
    <dgm:cxn modelId="{CC686FAA-2FA1-4DAB-BF4E-C7EC4C743722}" type="presOf" srcId="{CA15EE11-05E9-42AE-8D15-24C5A03E0792}" destId="{DB09DD76-776E-42BC-83D1-1F8F4715D918}" srcOrd="0" destOrd="0" presId="urn:microsoft.com/office/officeart/2005/8/layout/vList2"/>
    <dgm:cxn modelId="{1EC31A01-D87D-485C-85E6-370C560346A8}" type="presParOf" srcId="{644303E5-8010-4E19-AB6A-5813D2341580}" destId="{DB09DD76-776E-42BC-83D1-1F8F4715D918}" srcOrd="0" destOrd="0" presId="urn:microsoft.com/office/officeart/2005/8/layout/vList2"/>
    <dgm:cxn modelId="{783A3217-17B1-4EFE-B18D-C37B8B1943CA}" type="presParOf" srcId="{644303E5-8010-4E19-AB6A-5813D2341580}" destId="{A839A6A2-A617-47AB-92D7-B374C87B5753}" srcOrd="1" destOrd="0" presId="urn:microsoft.com/office/officeart/2005/8/layout/vList2"/>
    <dgm:cxn modelId="{21EA1418-BEAE-4212-8DE5-43D896C49922}" type="presParOf" srcId="{644303E5-8010-4E19-AB6A-5813D2341580}" destId="{634D24DB-FEE8-4100-9CB5-B5FFA333B7A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41E106E-7A77-4A3F-A7BA-40C69DA83F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3CF9C9FD-AF2A-461A-B239-948FD5E1DF74}">
      <dgm:prSet/>
      <dgm:spPr/>
      <dgm:t>
        <a:bodyPr/>
        <a:lstStyle/>
        <a:p>
          <a:r>
            <a:rPr lang="ru-RU" b="1" i="0" baseline="0" dirty="0"/>
            <a:t>Составление проекта бюджета</a:t>
          </a:r>
          <a:r>
            <a:rPr lang="ru-RU" b="0" i="0" baseline="0" dirty="0"/>
            <a:t> – разработка проекта закона о бюджете уполномоченными органами исполнительной власти (правительством или финансовыми органами). На этом этапе определяются объём доходов и расходов бюджета, параметры налогово-бюджетной политики, прогнозируются источники финансирования дефицита и распределение расходов по приоритетам.</a:t>
          </a:r>
          <a:endParaRPr lang="ru-RU" dirty="0"/>
        </a:p>
      </dgm:t>
    </dgm:pt>
    <dgm:pt modelId="{E58D3601-B86E-4046-93F6-E138BA625E25}" type="parTrans" cxnId="{EB46D4CF-F24A-41AC-85B0-6862CFE0819A}">
      <dgm:prSet/>
      <dgm:spPr/>
      <dgm:t>
        <a:bodyPr/>
        <a:lstStyle/>
        <a:p>
          <a:endParaRPr lang="ru-RU"/>
        </a:p>
      </dgm:t>
    </dgm:pt>
    <dgm:pt modelId="{79006998-B8C7-4B20-8A52-5A6782062386}" type="sibTrans" cxnId="{EB46D4CF-F24A-41AC-85B0-6862CFE0819A}">
      <dgm:prSet/>
      <dgm:spPr/>
      <dgm:t>
        <a:bodyPr/>
        <a:lstStyle/>
        <a:p>
          <a:endParaRPr lang="ru-RU"/>
        </a:p>
      </dgm:t>
    </dgm:pt>
    <dgm:pt modelId="{DC4F34B1-4C40-4A82-8ADF-6B73F92FDA6B}">
      <dgm:prSet/>
      <dgm:spPr/>
      <dgm:t>
        <a:bodyPr/>
        <a:lstStyle/>
        <a:p>
          <a:r>
            <a:rPr lang="ru-RU" b="1" i="0" baseline="0"/>
            <a:t>Рассмотрение и утверждение бюджета</a:t>
          </a:r>
          <a:r>
            <a:rPr lang="ru-RU" b="0" i="0" baseline="0"/>
            <a:t> – рассмотрение проекта бюджета законодательным органом (парламентом) и принятие закона о бюджете. Бюджет обсуждается, как правило, в нескольких чтениях, что позволяет согласовать спорные вопросы. Утверждённый бюджет обретает силу закона, обязательного к исполнению.</a:t>
          </a:r>
          <a:endParaRPr lang="ru-RU"/>
        </a:p>
      </dgm:t>
    </dgm:pt>
    <dgm:pt modelId="{AC44CC06-6477-402E-9F68-A33996565D83}" type="parTrans" cxnId="{59B4C52C-1FB2-4808-A9AE-88ABDA76865C}">
      <dgm:prSet/>
      <dgm:spPr/>
      <dgm:t>
        <a:bodyPr/>
        <a:lstStyle/>
        <a:p>
          <a:endParaRPr lang="ru-RU"/>
        </a:p>
      </dgm:t>
    </dgm:pt>
    <dgm:pt modelId="{FF69F305-156E-444A-857D-806F2CE6D06E}" type="sibTrans" cxnId="{59B4C52C-1FB2-4808-A9AE-88ABDA76865C}">
      <dgm:prSet/>
      <dgm:spPr/>
      <dgm:t>
        <a:bodyPr/>
        <a:lstStyle/>
        <a:p>
          <a:endParaRPr lang="ru-RU"/>
        </a:p>
      </dgm:t>
    </dgm:pt>
    <dgm:pt modelId="{52ABC1B4-8E9D-4AEE-9E0A-7BACA7651080}">
      <dgm:prSet/>
      <dgm:spPr/>
      <dgm:t>
        <a:bodyPr/>
        <a:lstStyle/>
        <a:p>
          <a:r>
            <a:rPr lang="ru-RU" b="1" i="0" baseline="0"/>
            <a:t>Исполнение бюджета</a:t>
          </a:r>
          <a:r>
            <a:rPr lang="ru-RU" b="0" i="0" baseline="0"/>
            <a:t> – практическое выполнение бюджета в ходе финансового года. Исполнительные органы собирают запланированные доходы и осуществляют финансирование расходов в соответствии с утверждёнными ассигнованиями. В процессе исполнения бюджета ведётся кассовое планирование, составляется бюджетная роспись (документ, распределяющий выделенные средства между распорядителями и получателями).</a:t>
          </a:r>
          <a:endParaRPr lang="ru-RU"/>
        </a:p>
      </dgm:t>
    </dgm:pt>
    <dgm:pt modelId="{71DCBEDA-C3B5-48D3-838A-54DECB4E4014}" type="parTrans" cxnId="{4605EF2D-A592-458C-96B1-7EB9064380B2}">
      <dgm:prSet/>
      <dgm:spPr/>
      <dgm:t>
        <a:bodyPr/>
        <a:lstStyle/>
        <a:p>
          <a:endParaRPr lang="ru-RU"/>
        </a:p>
      </dgm:t>
    </dgm:pt>
    <dgm:pt modelId="{4171F3E3-A2D0-4C1E-8219-058F378B5A25}" type="sibTrans" cxnId="{4605EF2D-A592-458C-96B1-7EB9064380B2}">
      <dgm:prSet/>
      <dgm:spPr/>
      <dgm:t>
        <a:bodyPr/>
        <a:lstStyle/>
        <a:p>
          <a:endParaRPr lang="ru-RU"/>
        </a:p>
      </dgm:t>
    </dgm:pt>
    <dgm:pt modelId="{DE6EC526-2853-4172-8ACB-86694A70CC3B}">
      <dgm:prSet/>
      <dgm:spPr/>
      <dgm:t>
        <a:bodyPr/>
        <a:lstStyle/>
        <a:p>
          <a:r>
            <a:rPr lang="ru-RU" b="1" i="0" baseline="0"/>
            <a:t>Составление и утверждение отчетности об исполнении бюджета</a:t>
          </a:r>
          <a:r>
            <a:rPr lang="ru-RU" b="0" i="0" baseline="0"/>
            <a:t> – по завершении финансового года формируется отчет об исполнении бюджета. Органы исполнительной власти готовят бюджетную отчетность (кассовый отчет, отчеты об исполнении по доходам и расходам), которая затем рассматривается и утверждается законодательным органом в форме закона об исполнении бюджета или соответствующего решения.</a:t>
          </a:r>
          <a:endParaRPr lang="ru-RU"/>
        </a:p>
      </dgm:t>
    </dgm:pt>
    <dgm:pt modelId="{CC00D2A0-8561-4297-AC65-0264323EAC98}" type="parTrans" cxnId="{9EE00934-699B-4A96-A817-50CEB94F55FE}">
      <dgm:prSet/>
      <dgm:spPr/>
      <dgm:t>
        <a:bodyPr/>
        <a:lstStyle/>
        <a:p>
          <a:endParaRPr lang="ru-RU"/>
        </a:p>
      </dgm:t>
    </dgm:pt>
    <dgm:pt modelId="{4CA3BCAE-A7E5-4CBE-B53F-41332D06971C}" type="sibTrans" cxnId="{9EE00934-699B-4A96-A817-50CEB94F55FE}">
      <dgm:prSet/>
      <dgm:spPr/>
      <dgm:t>
        <a:bodyPr/>
        <a:lstStyle/>
        <a:p>
          <a:endParaRPr lang="ru-RU"/>
        </a:p>
      </dgm:t>
    </dgm:pt>
    <dgm:pt modelId="{8BB85470-4800-4106-963D-DEEF0304B79C}" type="pres">
      <dgm:prSet presAssocID="{D41E106E-7A77-4A3F-A7BA-40C69DA83F7A}" presName="linear" presStyleCnt="0">
        <dgm:presLayoutVars>
          <dgm:animLvl val="lvl"/>
          <dgm:resizeHandles val="exact"/>
        </dgm:presLayoutVars>
      </dgm:prSet>
      <dgm:spPr/>
    </dgm:pt>
    <dgm:pt modelId="{9315F71F-8723-40A8-9BAD-0F5D39777A4B}" type="pres">
      <dgm:prSet presAssocID="{3CF9C9FD-AF2A-461A-B239-948FD5E1DF7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CC5DBE7-D89E-431D-B66A-3DCC70812B43}" type="pres">
      <dgm:prSet presAssocID="{79006998-B8C7-4B20-8A52-5A6782062386}" presName="spacer" presStyleCnt="0"/>
      <dgm:spPr/>
    </dgm:pt>
    <dgm:pt modelId="{2886E54B-7E0B-4AA1-A280-04BC85C1887B}" type="pres">
      <dgm:prSet presAssocID="{DC4F34B1-4C40-4A82-8ADF-6B73F92FDA6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6BA024E-742B-40BB-90BF-E821105E8401}" type="pres">
      <dgm:prSet presAssocID="{FF69F305-156E-444A-857D-806F2CE6D06E}" presName="spacer" presStyleCnt="0"/>
      <dgm:spPr/>
    </dgm:pt>
    <dgm:pt modelId="{FF08EEEA-316E-4728-A21A-F216F7219D4D}" type="pres">
      <dgm:prSet presAssocID="{52ABC1B4-8E9D-4AEE-9E0A-7BACA765108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4E12DD4-1BFE-4B56-97B8-3007581DD581}" type="pres">
      <dgm:prSet presAssocID="{4171F3E3-A2D0-4C1E-8219-058F378B5A25}" presName="spacer" presStyleCnt="0"/>
      <dgm:spPr/>
    </dgm:pt>
    <dgm:pt modelId="{E8116F19-D6B5-4C9A-8DD5-3C76BE380151}" type="pres">
      <dgm:prSet presAssocID="{DE6EC526-2853-4172-8ACB-86694A70CC3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9B4C52C-1FB2-4808-A9AE-88ABDA76865C}" srcId="{D41E106E-7A77-4A3F-A7BA-40C69DA83F7A}" destId="{DC4F34B1-4C40-4A82-8ADF-6B73F92FDA6B}" srcOrd="1" destOrd="0" parTransId="{AC44CC06-6477-402E-9F68-A33996565D83}" sibTransId="{FF69F305-156E-444A-857D-806F2CE6D06E}"/>
    <dgm:cxn modelId="{2441E12D-4D9F-499D-870A-05E75E2349C8}" type="presOf" srcId="{D41E106E-7A77-4A3F-A7BA-40C69DA83F7A}" destId="{8BB85470-4800-4106-963D-DEEF0304B79C}" srcOrd="0" destOrd="0" presId="urn:microsoft.com/office/officeart/2005/8/layout/vList2"/>
    <dgm:cxn modelId="{4605EF2D-A592-458C-96B1-7EB9064380B2}" srcId="{D41E106E-7A77-4A3F-A7BA-40C69DA83F7A}" destId="{52ABC1B4-8E9D-4AEE-9E0A-7BACA7651080}" srcOrd="2" destOrd="0" parTransId="{71DCBEDA-C3B5-48D3-838A-54DECB4E4014}" sibTransId="{4171F3E3-A2D0-4C1E-8219-058F378B5A25}"/>
    <dgm:cxn modelId="{9EE00934-699B-4A96-A817-50CEB94F55FE}" srcId="{D41E106E-7A77-4A3F-A7BA-40C69DA83F7A}" destId="{DE6EC526-2853-4172-8ACB-86694A70CC3B}" srcOrd="3" destOrd="0" parTransId="{CC00D2A0-8561-4297-AC65-0264323EAC98}" sibTransId="{4CA3BCAE-A7E5-4CBE-B53F-41332D06971C}"/>
    <dgm:cxn modelId="{B81B1D64-8310-44E0-8797-60CBB019C841}" type="presOf" srcId="{3CF9C9FD-AF2A-461A-B239-948FD5E1DF74}" destId="{9315F71F-8723-40A8-9BAD-0F5D39777A4B}" srcOrd="0" destOrd="0" presId="urn:microsoft.com/office/officeart/2005/8/layout/vList2"/>
    <dgm:cxn modelId="{D37A4548-5509-48D7-9B85-086659CFB87A}" type="presOf" srcId="{DE6EC526-2853-4172-8ACB-86694A70CC3B}" destId="{E8116F19-D6B5-4C9A-8DD5-3C76BE380151}" srcOrd="0" destOrd="0" presId="urn:microsoft.com/office/officeart/2005/8/layout/vList2"/>
    <dgm:cxn modelId="{D098B04A-5473-4A28-84A3-2D759F2DB14E}" type="presOf" srcId="{52ABC1B4-8E9D-4AEE-9E0A-7BACA7651080}" destId="{FF08EEEA-316E-4728-A21A-F216F7219D4D}" srcOrd="0" destOrd="0" presId="urn:microsoft.com/office/officeart/2005/8/layout/vList2"/>
    <dgm:cxn modelId="{3DFF20A7-9933-4E08-89D2-19962716C43E}" type="presOf" srcId="{DC4F34B1-4C40-4A82-8ADF-6B73F92FDA6B}" destId="{2886E54B-7E0B-4AA1-A280-04BC85C1887B}" srcOrd="0" destOrd="0" presId="urn:microsoft.com/office/officeart/2005/8/layout/vList2"/>
    <dgm:cxn modelId="{EB46D4CF-F24A-41AC-85B0-6862CFE0819A}" srcId="{D41E106E-7A77-4A3F-A7BA-40C69DA83F7A}" destId="{3CF9C9FD-AF2A-461A-B239-948FD5E1DF74}" srcOrd="0" destOrd="0" parTransId="{E58D3601-B86E-4046-93F6-E138BA625E25}" sibTransId="{79006998-B8C7-4B20-8A52-5A6782062386}"/>
    <dgm:cxn modelId="{549A377E-F350-45CA-8D70-0B8FD4A5B46F}" type="presParOf" srcId="{8BB85470-4800-4106-963D-DEEF0304B79C}" destId="{9315F71F-8723-40A8-9BAD-0F5D39777A4B}" srcOrd="0" destOrd="0" presId="urn:microsoft.com/office/officeart/2005/8/layout/vList2"/>
    <dgm:cxn modelId="{458CC309-9AC8-43F6-AE5D-8167003269A4}" type="presParOf" srcId="{8BB85470-4800-4106-963D-DEEF0304B79C}" destId="{0CC5DBE7-D89E-431D-B66A-3DCC70812B43}" srcOrd="1" destOrd="0" presId="urn:microsoft.com/office/officeart/2005/8/layout/vList2"/>
    <dgm:cxn modelId="{8232E1EA-7E46-4551-801F-65387EDCE4C6}" type="presParOf" srcId="{8BB85470-4800-4106-963D-DEEF0304B79C}" destId="{2886E54B-7E0B-4AA1-A280-04BC85C1887B}" srcOrd="2" destOrd="0" presId="urn:microsoft.com/office/officeart/2005/8/layout/vList2"/>
    <dgm:cxn modelId="{7D3374B7-A1C7-4FDC-AF90-F972EA6D0772}" type="presParOf" srcId="{8BB85470-4800-4106-963D-DEEF0304B79C}" destId="{66BA024E-742B-40BB-90BF-E821105E8401}" srcOrd="3" destOrd="0" presId="urn:microsoft.com/office/officeart/2005/8/layout/vList2"/>
    <dgm:cxn modelId="{A7A49AF4-A944-41BB-89CD-224584501C68}" type="presParOf" srcId="{8BB85470-4800-4106-963D-DEEF0304B79C}" destId="{FF08EEEA-316E-4728-A21A-F216F7219D4D}" srcOrd="4" destOrd="0" presId="urn:microsoft.com/office/officeart/2005/8/layout/vList2"/>
    <dgm:cxn modelId="{DB3873CB-7E67-4ACD-9998-AFEA966BB35D}" type="presParOf" srcId="{8BB85470-4800-4106-963D-DEEF0304B79C}" destId="{A4E12DD4-1BFE-4B56-97B8-3007581DD581}" srcOrd="5" destOrd="0" presId="urn:microsoft.com/office/officeart/2005/8/layout/vList2"/>
    <dgm:cxn modelId="{0B4205BB-763F-46FC-8523-75759CB634D4}" type="presParOf" srcId="{8BB85470-4800-4106-963D-DEEF0304B79C}" destId="{E8116F19-D6B5-4C9A-8DD5-3C76BE3801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BD4769F-DD8E-4541-8B87-3D8842170A9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13F5FD0-4B8E-498B-AA4B-469514FE400F}">
      <dgm:prSet/>
      <dgm:spPr/>
      <dgm:t>
        <a:bodyPr/>
        <a:lstStyle/>
        <a:p>
          <a:r>
            <a:rPr lang="ru-RU" dirty="0"/>
            <a:t>Это обобщающее понятие для любых денежных средств, которые </a:t>
          </a:r>
          <a:r>
            <a:rPr lang="ru-RU" b="1" dirty="0"/>
            <a:t>один бюджет бюджетной системы РФ передаёт другому бюджету</a:t>
          </a:r>
          <a:r>
            <a:rPr lang="ru-RU" dirty="0"/>
            <a:t>. </a:t>
          </a:r>
        </a:p>
      </dgm:t>
    </dgm:pt>
    <dgm:pt modelId="{AD5BD2DB-4F5F-43A0-8EBC-97DA63829665}" type="parTrans" cxnId="{3574E24F-0F9E-4E28-B6A2-9847C81E4C09}">
      <dgm:prSet/>
      <dgm:spPr/>
      <dgm:t>
        <a:bodyPr/>
        <a:lstStyle/>
        <a:p>
          <a:endParaRPr lang="ru-RU"/>
        </a:p>
      </dgm:t>
    </dgm:pt>
    <dgm:pt modelId="{C0D29802-A678-4B41-87AB-98D309686A78}" type="sibTrans" cxnId="{3574E24F-0F9E-4E28-B6A2-9847C81E4C09}">
      <dgm:prSet/>
      <dgm:spPr/>
      <dgm:t>
        <a:bodyPr/>
        <a:lstStyle/>
        <a:p>
          <a:endParaRPr lang="ru-RU"/>
        </a:p>
      </dgm:t>
    </dgm:pt>
    <dgm:pt modelId="{E2DA2728-47B2-46E5-9C34-9EECB8C5425F}">
      <dgm:prSet/>
      <dgm:spPr/>
      <dgm:t>
        <a:bodyPr/>
        <a:lstStyle/>
        <a:p>
          <a:r>
            <a:rPr lang="ru-RU" dirty="0"/>
            <a:t>Межбюджетные трансферты – главный инструмент </a:t>
          </a:r>
          <a:r>
            <a:rPr lang="ru-RU" b="1" dirty="0"/>
            <a:t>выравнивания и поддержки нижестоящих бюджетов</a:t>
          </a:r>
          <a:r>
            <a:rPr lang="ru-RU" dirty="0"/>
            <a:t>. </a:t>
          </a:r>
        </a:p>
      </dgm:t>
    </dgm:pt>
    <dgm:pt modelId="{19902AE4-0B9C-433C-8012-54EF5FB41B04}" type="parTrans" cxnId="{DA601F98-757A-4D35-978E-20436DD77536}">
      <dgm:prSet/>
      <dgm:spPr/>
      <dgm:t>
        <a:bodyPr/>
        <a:lstStyle/>
        <a:p>
          <a:endParaRPr lang="ru-RU"/>
        </a:p>
      </dgm:t>
    </dgm:pt>
    <dgm:pt modelId="{70CA14F2-83A1-4A31-9BFB-11A6CE5E4754}" type="sibTrans" cxnId="{DA601F98-757A-4D35-978E-20436DD77536}">
      <dgm:prSet/>
      <dgm:spPr/>
      <dgm:t>
        <a:bodyPr/>
        <a:lstStyle/>
        <a:p>
          <a:endParaRPr lang="ru-RU"/>
        </a:p>
      </dgm:t>
    </dgm:pt>
    <dgm:pt modelId="{80F76F95-89DE-4E47-8B67-9A37C2AAFF73}">
      <dgm:prSet/>
      <dgm:spPr/>
      <dgm:t>
        <a:bodyPr/>
        <a:lstStyle/>
        <a:p>
          <a:r>
            <a:rPr lang="ru-RU" dirty="0"/>
            <a:t>Бюджетный кодекс определяет межбюджетные трансферты как </a:t>
          </a:r>
          <a:r>
            <a:rPr lang="ru-RU" b="1" dirty="0"/>
            <a:t>средства, предоставляемые на безвозвратной и безвозмездной основе</a:t>
          </a:r>
          <a:r>
            <a:rPr lang="ru-RU" dirty="0"/>
            <a:t> </a:t>
          </a:r>
          <a:br>
            <a:rPr lang="ru-RU" dirty="0"/>
          </a:br>
          <a:r>
            <a:rPr lang="ru-RU" dirty="0"/>
            <a:t>(за исключением бюджетных кредитов) из одного бюджета другому</a:t>
          </a:r>
        </a:p>
      </dgm:t>
    </dgm:pt>
    <dgm:pt modelId="{3D035322-54D8-435D-8D40-4F98ED558ACC}" type="parTrans" cxnId="{C37DC884-0DB4-45DA-B7D5-7D95B62998F8}">
      <dgm:prSet/>
      <dgm:spPr/>
      <dgm:t>
        <a:bodyPr/>
        <a:lstStyle/>
        <a:p>
          <a:endParaRPr lang="ru-RU"/>
        </a:p>
      </dgm:t>
    </dgm:pt>
    <dgm:pt modelId="{3D6C1036-6955-46A2-8EFD-4A011F4CD4CD}" type="sibTrans" cxnId="{C37DC884-0DB4-45DA-B7D5-7D95B62998F8}">
      <dgm:prSet/>
      <dgm:spPr/>
      <dgm:t>
        <a:bodyPr/>
        <a:lstStyle/>
        <a:p>
          <a:endParaRPr lang="ru-RU"/>
        </a:p>
      </dgm:t>
    </dgm:pt>
    <dgm:pt modelId="{0919E065-2AEB-4430-ACAF-A51859D9C9D9}" type="pres">
      <dgm:prSet presAssocID="{DBD4769F-DD8E-4541-8B87-3D8842170A91}" presName="linear" presStyleCnt="0">
        <dgm:presLayoutVars>
          <dgm:animLvl val="lvl"/>
          <dgm:resizeHandles val="exact"/>
        </dgm:presLayoutVars>
      </dgm:prSet>
      <dgm:spPr/>
    </dgm:pt>
    <dgm:pt modelId="{B132ACFE-5EFB-4CB9-8F4A-5659E25624E2}" type="pres">
      <dgm:prSet presAssocID="{013F5FD0-4B8E-498B-AA4B-469514FE400F}" presName="parentText" presStyleLbl="node1" presStyleIdx="0" presStyleCnt="3" custScaleY="56448" custLinFactNeighborY="-55898">
        <dgm:presLayoutVars>
          <dgm:chMax val="0"/>
          <dgm:bulletEnabled val="1"/>
        </dgm:presLayoutVars>
      </dgm:prSet>
      <dgm:spPr/>
    </dgm:pt>
    <dgm:pt modelId="{A58B0D6A-CCE0-4AA6-BDF1-0F0FB9AFD9BB}" type="pres">
      <dgm:prSet presAssocID="{C0D29802-A678-4B41-87AB-98D309686A78}" presName="spacer" presStyleCnt="0"/>
      <dgm:spPr/>
    </dgm:pt>
    <dgm:pt modelId="{F1B6B5A6-2176-4F40-9AFA-54C77A5E4662}" type="pres">
      <dgm:prSet presAssocID="{E2DA2728-47B2-46E5-9C34-9EECB8C5425F}" presName="parentText" presStyleLbl="node1" presStyleIdx="1" presStyleCnt="3" custScaleY="44907" custLinFactNeighborY="-55898">
        <dgm:presLayoutVars>
          <dgm:chMax val="0"/>
          <dgm:bulletEnabled val="1"/>
        </dgm:presLayoutVars>
      </dgm:prSet>
      <dgm:spPr/>
    </dgm:pt>
    <dgm:pt modelId="{268E0EDE-31A5-4B74-A07C-78CDD818D490}" type="pres">
      <dgm:prSet presAssocID="{70CA14F2-83A1-4A31-9BFB-11A6CE5E4754}" presName="spacer" presStyleCnt="0"/>
      <dgm:spPr/>
    </dgm:pt>
    <dgm:pt modelId="{C04B56B1-3A03-493D-A4E0-7CF018214FB5}" type="pres">
      <dgm:prSet presAssocID="{80F76F95-89DE-4E47-8B67-9A37C2AAFF73}" presName="parentText" presStyleLbl="node1" presStyleIdx="2" presStyleCnt="3" custScaleY="60529" custLinFactNeighborY="27994">
        <dgm:presLayoutVars>
          <dgm:chMax val="0"/>
          <dgm:bulletEnabled val="1"/>
        </dgm:presLayoutVars>
      </dgm:prSet>
      <dgm:spPr/>
    </dgm:pt>
  </dgm:ptLst>
  <dgm:cxnLst>
    <dgm:cxn modelId="{17B11043-B84B-485B-BD5A-1F03087DB029}" type="presOf" srcId="{80F76F95-89DE-4E47-8B67-9A37C2AAFF73}" destId="{C04B56B1-3A03-493D-A4E0-7CF018214FB5}" srcOrd="0" destOrd="0" presId="urn:microsoft.com/office/officeart/2005/8/layout/vList2"/>
    <dgm:cxn modelId="{3574E24F-0F9E-4E28-B6A2-9847C81E4C09}" srcId="{DBD4769F-DD8E-4541-8B87-3D8842170A91}" destId="{013F5FD0-4B8E-498B-AA4B-469514FE400F}" srcOrd="0" destOrd="0" parTransId="{AD5BD2DB-4F5F-43A0-8EBC-97DA63829665}" sibTransId="{C0D29802-A678-4B41-87AB-98D309686A78}"/>
    <dgm:cxn modelId="{C37DC884-0DB4-45DA-B7D5-7D95B62998F8}" srcId="{DBD4769F-DD8E-4541-8B87-3D8842170A91}" destId="{80F76F95-89DE-4E47-8B67-9A37C2AAFF73}" srcOrd="2" destOrd="0" parTransId="{3D035322-54D8-435D-8D40-4F98ED558ACC}" sibTransId="{3D6C1036-6955-46A2-8EFD-4A011F4CD4CD}"/>
    <dgm:cxn modelId="{DA601F98-757A-4D35-978E-20436DD77536}" srcId="{DBD4769F-DD8E-4541-8B87-3D8842170A91}" destId="{E2DA2728-47B2-46E5-9C34-9EECB8C5425F}" srcOrd="1" destOrd="0" parTransId="{19902AE4-0B9C-433C-8012-54EF5FB41B04}" sibTransId="{70CA14F2-83A1-4A31-9BFB-11A6CE5E4754}"/>
    <dgm:cxn modelId="{348359B4-F51C-4BD9-A09B-F359E115DF41}" type="presOf" srcId="{DBD4769F-DD8E-4541-8B87-3D8842170A91}" destId="{0919E065-2AEB-4430-ACAF-A51859D9C9D9}" srcOrd="0" destOrd="0" presId="urn:microsoft.com/office/officeart/2005/8/layout/vList2"/>
    <dgm:cxn modelId="{40D3EBC8-9A0F-452E-8DC5-B6E4672DA892}" type="presOf" srcId="{E2DA2728-47B2-46E5-9C34-9EECB8C5425F}" destId="{F1B6B5A6-2176-4F40-9AFA-54C77A5E4662}" srcOrd="0" destOrd="0" presId="urn:microsoft.com/office/officeart/2005/8/layout/vList2"/>
    <dgm:cxn modelId="{DCA505E6-AA60-4ADF-B9DB-8AAB56201A43}" type="presOf" srcId="{013F5FD0-4B8E-498B-AA4B-469514FE400F}" destId="{B132ACFE-5EFB-4CB9-8F4A-5659E25624E2}" srcOrd="0" destOrd="0" presId="urn:microsoft.com/office/officeart/2005/8/layout/vList2"/>
    <dgm:cxn modelId="{21702589-88C2-4FC6-92B0-C45E4A9C5316}" type="presParOf" srcId="{0919E065-2AEB-4430-ACAF-A51859D9C9D9}" destId="{B132ACFE-5EFB-4CB9-8F4A-5659E25624E2}" srcOrd="0" destOrd="0" presId="urn:microsoft.com/office/officeart/2005/8/layout/vList2"/>
    <dgm:cxn modelId="{92D133AD-BE44-40C1-B910-5FDB82C89197}" type="presParOf" srcId="{0919E065-2AEB-4430-ACAF-A51859D9C9D9}" destId="{A58B0D6A-CCE0-4AA6-BDF1-0F0FB9AFD9BB}" srcOrd="1" destOrd="0" presId="urn:microsoft.com/office/officeart/2005/8/layout/vList2"/>
    <dgm:cxn modelId="{0787BD41-105B-46B1-8F04-8CA95E52D5A6}" type="presParOf" srcId="{0919E065-2AEB-4430-ACAF-A51859D9C9D9}" destId="{F1B6B5A6-2176-4F40-9AFA-54C77A5E4662}" srcOrd="2" destOrd="0" presId="urn:microsoft.com/office/officeart/2005/8/layout/vList2"/>
    <dgm:cxn modelId="{431AC2F3-40EA-4C7A-8DB4-6FB8223E615F}" type="presParOf" srcId="{0919E065-2AEB-4430-ACAF-A51859D9C9D9}" destId="{268E0EDE-31A5-4B74-A07C-78CDD818D490}" srcOrd="3" destOrd="0" presId="urn:microsoft.com/office/officeart/2005/8/layout/vList2"/>
    <dgm:cxn modelId="{38FC3D8B-CEF9-46EF-A0CF-8D4B9C07ECF3}" type="presParOf" srcId="{0919E065-2AEB-4430-ACAF-A51859D9C9D9}" destId="{C04B56B1-3A03-493D-A4E0-7CF018214FB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38C725B-6D46-422D-8FBF-0AF569092B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0E9BCF2-7573-408E-B9BF-7E685C571A9B}">
      <dgm:prSet/>
      <dgm:spPr/>
      <dgm:t>
        <a:bodyPr/>
        <a:lstStyle/>
        <a:p>
          <a:r>
            <a:rPr lang="ru-RU"/>
            <a:t>Дотации</a:t>
          </a:r>
        </a:p>
      </dgm:t>
    </dgm:pt>
    <dgm:pt modelId="{3F7A10A7-4CA8-4767-9B29-C4428E5367C3}" type="parTrans" cxnId="{D316DA36-0AC5-4F4A-9EFF-AAB32D6A5C65}">
      <dgm:prSet/>
      <dgm:spPr/>
      <dgm:t>
        <a:bodyPr/>
        <a:lstStyle/>
        <a:p>
          <a:endParaRPr lang="ru-RU"/>
        </a:p>
      </dgm:t>
    </dgm:pt>
    <dgm:pt modelId="{7BC4D82A-9F92-4D4F-B997-9F78CFBD2589}" type="sibTrans" cxnId="{D316DA36-0AC5-4F4A-9EFF-AAB32D6A5C65}">
      <dgm:prSet/>
      <dgm:spPr/>
      <dgm:t>
        <a:bodyPr/>
        <a:lstStyle/>
        <a:p>
          <a:endParaRPr lang="ru-RU"/>
        </a:p>
      </dgm:t>
    </dgm:pt>
    <dgm:pt modelId="{EEC9EBD2-A926-4081-BBC1-5DE41B2D5EAD}">
      <dgm:prSet/>
      <dgm:spPr/>
      <dgm:t>
        <a:bodyPr/>
        <a:lstStyle/>
        <a:p>
          <a:r>
            <a:rPr lang="ru-RU"/>
            <a:t>Субвенции</a:t>
          </a:r>
        </a:p>
      </dgm:t>
    </dgm:pt>
    <dgm:pt modelId="{BE9D78C3-D490-4CEC-8757-72D4FE795BE5}" type="parTrans" cxnId="{2CA0680C-2905-4B8F-9987-691AE793FC7F}">
      <dgm:prSet/>
      <dgm:spPr/>
      <dgm:t>
        <a:bodyPr/>
        <a:lstStyle/>
        <a:p>
          <a:endParaRPr lang="ru-RU"/>
        </a:p>
      </dgm:t>
    </dgm:pt>
    <dgm:pt modelId="{D27823AE-9895-4A82-82E2-F61FB9C8BCF7}" type="sibTrans" cxnId="{2CA0680C-2905-4B8F-9987-691AE793FC7F}">
      <dgm:prSet/>
      <dgm:spPr/>
      <dgm:t>
        <a:bodyPr/>
        <a:lstStyle/>
        <a:p>
          <a:endParaRPr lang="ru-RU"/>
        </a:p>
      </dgm:t>
    </dgm:pt>
    <dgm:pt modelId="{1435BD1A-1424-4876-BBB9-06330EA5D99B}">
      <dgm:prSet/>
      <dgm:spPr/>
      <dgm:t>
        <a:bodyPr/>
        <a:lstStyle/>
        <a:p>
          <a:r>
            <a:rPr lang="ru-RU"/>
            <a:t>Субсидии</a:t>
          </a:r>
        </a:p>
      </dgm:t>
    </dgm:pt>
    <dgm:pt modelId="{7225E941-18D1-482B-9BB5-F0BD6706CFF0}" type="parTrans" cxnId="{2D0B6498-5374-4F0F-A561-3A2A24A842DF}">
      <dgm:prSet/>
      <dgm:spPr/>
      <dgm:t>
        <a:bodyPr/>
        <a:lstStyle/>
        <a:p>
          <a:endParaRPr lang="ru-RU"/>
        </a:p>
      </dgm:t>
    </dgm:pt>
    <dgm:pt modelId="{D0E59F89-774E-4FA2-A5D5-C3DCF62EB212}" type="sibTrans" cxnId="{2D0B6498-5374-4F0F-A561-3A2A24A842DF}">
      <dgm:prSet/>
      <dgm:spPr/>
      <dgm:t>
        <a:bodyPr/>
        <a:lstStyle/>
        <a:p>
          <a:endParaRPr lang="ru-RU"/>
        </a:p>
      </dgm:t>
    </dgm:pt>
    <dgm:pt modelId="{7EE93D8C-8B1B-4D60-BF1A-6FE4AE18BB58}">
      <dgm:prSet/>
      <dgm:spPr/>
      <dgm:t>
        <a:bodyPr/>
        <a:lstStyle/>
        <a:p>
          <a:r>
            <a:rPr lang="ru-RU" dirty="0"/>
            <a:t>Иные МБТ (бюджетные кредиты) </a:t>
          </a:r>
        </a:p>
      </dgm:t>
    </dgm:pt>
    <dgm:pt modelId="{C34528E9-6513-4887-BEA3-085A720CD01A}" type="parTrans" cxnId="{6A2F66C7-52C5-466F-9545-93096786A0F5}">
      <dgm:prSet/>
      <dgm:spPr/>
      <dgm:t>
        <a:bodyPr/>
        <a:lstStyle/>
        <a:p>
          <a:endParaRPr lang="ru-RU"/>
        </a:p>
      </dgm:t>
    </dgm:pt>
    <dgm:pt modelId="{39DF4BB8-58F2-48A8-8E14-189C06F95BDE}" type="sibTrans" cxnId="{6A2F66C7-52C5-466F-9545-93096786A0F5}">
      <dgm:prSet/>
      <dgm:spPr/>
      <dgm:t>
        <a:bodyPr/>
        <a:lstStyle/>
        <a:p>
          <a:endParaRPr lang="ru-RU"/>
        </a:p>
      </dgm:t>
    </dgm:pt>
    <dgm:pt modelId="{4BD871EA-EE33-4099-BC8A-D3415FBB54E3}" type="pres">
      <dgm:prSet presAssocID="{138C725B-6D46-422D-8FBF-0AF569092B69}" presName="diagram" presStyleCnt="0">
        <dgm:presLayoutVars>
          <dgm:dir/>
          <dgm:resizeHandles val="exact"/>
        </dgm:presLayoutVars>
      </dgm:prSet>
      <dgm:spPr/>
    </dgm:pt>
    <dgm:pt modelId="{926CE4CE-BF4D-4220-B9D5-60596FD433B0}" type="pres">
      <dgm:prSet presAssocID="{F0E9BCF2-7573-408E-B9BF-7E685C571A9B}" presName="node" presStyleLbl="node1" presStyleIdx="0" presStyleCnt="4" custScaleX="146410">
        <dgm:presLayoutVars>
          <dgm:bulletEnabled val="1"/>
        </dgm:presLayoutVars>
      </dgm:prSet>
      <dgm:spPr/>
    </dgm:pt>
    <dgm:pt modelId="{C22FC4D4-F37F-482D-B8AE-CF563682A903}" type="pres">
      <dgm:prSet presAssocID="{7BC4D82A-9F92-4D4F-B997-9F78CFBD2589}" presName="sibTrans" presStyleCnt="0"/>
      <dgm:spPr/>
    </dgm:pt>
    <dgm:pt modelId="{3F48F851-9191-4314-98EB-4B0B4EEC6FF0}" type="pres">
      <dgm:prSet presAssocID="{EEC9EBD2-A926-4081-BBC1-5DE41B2D5EAD}" presName="node" presStyleLbl="node1" presStyleIdx="1" presStyleCnt="4" custScaleX="146410">
        <dgm:presLayoutVars>
          <dgm:bulletEnabled val="1"/>
        </dgm:presLayoutVars>
      </dgm:prSet>
      <dgm:spPr/>
    </dgm:pt>
    <dgm:pt modelId="{2A69F1AD-EAB2-4FA1-A3EE-8E116CA22147}" type="pres">
      <dgm:prSet presAssocID="{D27823AE-9895-4A82-82E2-F61FB9C8BCF7}" presName="sibTrans" presStyleCnt="0"/>
      <dgm:spPr/>
    </dgm:pt>
    <dgm:pt modelId="{B9B45E1D-9DA9-4DB4-AF9F-0346633DEC85}" type="pres">
      <dgm:prSet presAssocID="{1435BD1A-1424-4876-BBB9-06330EA5D99B}" presName="node" presStyleLbl="node1" presStyleIdx="2" presStyleCnt="4" custScaleX="146410">
        <dgm:presLayoutVars>
          <dgm:bulletEnabled val="1"/>
        </dgm:presLayoutVars>
      </dgm:prSet>
      <dgm:spPr/>
    </dgm:pt>
    <dgm:pt modelId="{91AA729A-5B34-4103-A876-E763C8E1A2F2}" type="pres">
      <dgm:prSet presAssocID="{D0E59F89-774E-4FA2-A5D5-C3DCF62EB212}" presName="sibTrans" presStyleCnt="0"/>
      <dgm:spPr/>
    </dgm:pt>
    <dgm:pt modelId="{D2852B6C-28C8-4926-B606-D0BC0FA31C13}" type="pres">
      <dgm:prSet presAssocID="{7EE93D8C-8B1B-4D60-BF1A-6FE4AE18BB58}" presName="node" presStyleLbl="node1" presStyleIdx="3" presStyleCnt="4" custScaleX="146410">
        <dgm:presLayoutVars>
          <dgm:bulletEnabled val="1"/>
        </dgm:presLayoutVars>
      </dgm:prSet>
      <dgm:spPr/>
    </dgm:pt>
  </dgm:ptLst>
  <dgm:cxnLst>
    <dgm:cxn modelId="{B2ECC60A-F85D-4E4B-A38B-DC6CE927BAA8}" type="presOf" srcId="{F0E9BCF2-7573-408E-B9BF-7E685C571A9B}" destId="{926CE4CE-BF4D-4220-B9D5-60596FD433B0}" srcOrd="0" destOrd="0" presId="urn:microsoft.com/office/officeart/2005/8/layout/default"/>
    <dgm:cxn modelId="{2CA0680C-2905-4B8F-9987-691AE793FC7F}" srcId="{138C725B-6D46-422D-8FBF-0AF569092B69}" destId="{EEC9EBD2-A926-4081-BBC1-5DE41B2D5EAD}" srcOrd="1" destOrd="0" parTransId="{BE9D78C3-D490-4CEC-8757-72D4FE795BE5}" sibTransId="{D27823AE-9895-4A82-82E2-F61FB9C8BCF7}"/>
    <dgm:cxn modelId="{D316DA36-0AC5-4F4A-9EFF-AAB32D6A5C65}" srcId="{138C725B-6D46-422D-8FBF-0AF569092B69}" destId="{F0E9BCF2-7573-408E-B9BF-7E685C571A9B}" srcOrd="0" destOrd="0" parTransId="{3F7A10A7-4CA8-4767-9B29-C4428E5367C3}" sibTransId="{7BC4D82A-9F92-4D4F-B997-9F78CFBD2589}"/>
    <dgm:cxn modelId="{2D0B6498-5374-4F0F-A561-3A2A24A842DF}" srcId="{138C725B-6D46-422D-8FBF-0AF569092B69}" destId="{1435BD1A-1424-4876-BBB9-06330EA5D99B}" srcOrd="2" destOrd="0" parTransId="{7225E941-18D1-482B-9BB5-F0BD6706CFF0}" sibTransId="{D0E59F89-774E-4FA2-A5D5-C3DCF62EB212}"/>
    <dgm:cxn modelId="{6A2F66C7-52C5-466F-9545-93096786A0F5}" srcId="{138C725B-6D46-422D-8FBF-0AF569092B69}" destId="{7EE93D8C-8B1B-4D60-BF1A-6FE4AE18BB58}" srcOrd="3" destOrd="0" parTransId="{C34528E9-6513-4887-BEA3-085A720CD01A}" sibTransId="{39DF4BB8-58F2-48A8-8E14-189C06F95BDE}"/>
    <dgm:cxn modelId="{AAF1A2D8-CC59-4C27-866D-780F1D1B4D5D}" type="presOf" srcId="{EEC9EBD2-A926-4081-BBC1-5DE41B2D5EAD}" destId="{3F48F851-9191-4314-98EB-4B0B4EEC6FF0}" srcOrd="0" destOrd="0" presId="urn:microsoft.com/office/officeart/2005/8/layout/default"/>
    <dgm:cxn modelId="{5B3CB9D9-9893-4FFB-B366-7E26DDB0AA76}" type="presOf" srcId="{1435BD1A-1424-4876-BBB9-06330EA5D99B}" destId="{B9B45E1D-9DA9-4DB4-AF9F-0346633DEC85}" srcOrd="0" destOrd="0" presId="urn:microsoft.com/office/officeart/2005/8/layout/default"/>
    <dgm:cxn modelId="{FE3A8DE1-E31E-4986-BA3F-F10A1DEB27D1}" type="presOf" srcId="{138C725B-6D46-422D-8FBF-0AF569092B69}" destId="{4BD871EA-EE33-4099-BC8A-D3415FBB54E3}" srcOrd="0" destOrd="0" presId="urn:microsoft.com/office/officeart/2005/8/layout/default"/>
    <dgm:cxn modelId="{D14A41FD-8F85-4A1E-BCFB-5EABB3FFF917}" type="presOf" srcId="{7EE93D8C-8B1B-4D60-BF1A-6FE4AE18BB58}" destId="{D2852B6C-28C8-4926-B606-D0BC0FA31C13}" srcOrd="0" destOrd="0" presId="urn:microsoft.com/office/officeart/2005/8/layout/default"/>
    <dgm:cxn modelId="{F58797D7-18AB-4037-9EC4-B04F5442D585}" type="presParOf" srcId="{4BD871EA-EE33-4099-BC8A-D3415FBB54E3}" destId="{926CE4CE-BF4D-4220-B9D5-60596FD433B0}" srcOrd="0" destOrd="0" presId="urn:microsoft.com/office/officeart/2005/8/layout/default"/>
    <dgm:cxn modelId="{CFC882CA-7A09-46D0-9419-A5CFB6FF1932}" type="presParOf" srcId="{4BD871EA-EE33-4099-BC8A-D3415FBB54E3}" destId="{C22FC4D4-F37F-482D-B8AE-CF563682A903}" srcOrd="1" destOrd="0" presId="urn:microsoft.com/office/officeart/2005/8/layout/default"/>
    <dgm:cxn modelId="{02E1FD7F-47C4-4292-8F2F-9CF357F6A67C}" type="presParOf" srcId="{4BD871EA-EE33-4099-BC8A-D3415FBB54E3}" destId="{3F48F851-9191-4314-98EB-4B0B4EEC6FF0}" srcOrd="2" destOrd="0" presId="urn:microsoft.com/office/officeart/2005/8/layout/default"/>
    <dgm:cxn modelId="{991D1EDF-EFB4-4542-BDB0-6E90E94567E9}" type="presParOf" srcId="{4BD871EA-EE33-4099-BC8A-D3415FBB54E3}" destId="{2A69F1AD-EAB2-4FA1-A3EE-8E116CA22147}" srcOrd="3" destOrd="0" presId="urn:microsoft.com/office/officeart/2005/8/layout/default"/>
    <dgm:cxn modelId="{FCD7EAA6-30D4-4188-A6D4-BAAB72AD01F0}" type="presParOf" srcId="{4BD871EA-EE33-4099-BC8A-D3415FBB54E3}" destId="{B9B45E1D-9DA9-4DB4-AF9F-0346633DEC85}" srcOrd="4" destOrd="0" presId="urn:microsoft.com/office/officeart/2005/8/layout/default"/>
    <dgm:cxn modelId="{50863911-0DE8-4BB9-8E1C-37D62651EDE5}" type="presParOf" srcId="{4BD871EA-EE33-4099-BC8A-D3415FBB54E3}" destId="{91AA729A-5B34-4103-A876-E763C8E1A2F2}" srcOrd="5" destOrd="0" presId="urn:microsoft.com/office/officeart/2005/8/layout/default"/>
    <dgm:cxn modelId="{BF7F06C4-D5C1-416C-8CAA-20E203D2D161}" type="presParOf" srcId="{4BD871EA-EE33-4099-BC8A-D3415FBB54E3}" destId="{D2852B6C-28C8-4926-B606-D0BC0FA31C1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4B96197D-873D-497C-AB2F-4806EC8327C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624F884-D720-4565-AA42-71FC510A3590}">
      <dgm:prSet phldrT="[Текст]"/>
      <dgm:spPr/>
      <dgm:t>
        <a:bodyPr/>
        <a:lstStyle/>
        <a:p>
          <a:r>
            <a:rPr lang="ru-RU" b="1" i="0" dirty="0">
              <a:solidFill>
                <a:schemeClr val="bg1"/>
              </a:solidFill>
              <a:effectLst/>
              <a:latin typeface="ui-sans-serif"/>
            </a:rPr>
            <a:t>Дотация</a:t>
          </a:r>
          <a:endParaRPr lang="ru-RU" b="1" dirty="0">
            <a:solidFill>
              <a:schemeClr val="bg1"/>
            </a:solidFill>
          </a:endParaRPr>
        </a:p>
      </dgm:t>
    </dgm:pt>
    <dgm:pt modelId="{2916F6D0-40B2-4425-8662-24A2A04E7DC1}" type="parTrans" cxnId="{5FB89DF8-B0B4-4B35-9923-777F96E1B881}">
      <dgm:prSet/>
      <dgm:spPr/>
      <dgm:t>
        <a:bodyPr/>
        <a:lstStyle/>
        <a:p>
          <a:endParaRPr lang="ru-RU"/>
        </a:p>
      </dgm:t>
    </dgm:pt>
    <dgm:pt modelId="{F96C5B1A-8036-49F2-AFAD-33BF2C3ECE1B}" type="sibTrans" cxnId="{5FB89DF8-B0B4-4B35-9923-777F96E1B881}">
      <dgm:prSet/>
      <dgm:spPr/>
      <dgm:t>
        <a:bodyPr/>
        <a:lstStyle/>
        <a:p>
          <a:endParaRPr lang="ru-RU"/>
        </a:p>
      </dgm:t>
    </dgm:pt>
    <dgm:pt modelId="{C8C70875-58DC-4DF1-866C-53ED860FD4D6}">
      <dgm:prSet phldrT="[Текст]"/>
      <dgm:spPr/>
      <dgm:t>
        <a:bodyPr/>
        <a:lstStyle/>
        <a:p>
          <a:pPr marL="0" indent="0" algn="l">
            <a:buNone/>
          </a:pPr>
          <a:r>
            <a:rPr lang="ru-RU" b="0" i="0" dirty="0">
              <a:solidFill>
                <a:srgbClr val="0D0D0D"/>
              </a:solidFill>
              <a:effectLst/>
              <a:latin typeface="ui-sans-serif"/>
            </a:rPr>
            <a:t>межбюджетный трансферт </a:t>
          </a:r>
          <a:r>
            <a:rPr lang="ru-RU" b="0" i="1" dirty="0">
              <a:solidFill>
                <a:srgbClr val="0D0D0D"/>
              </a:solidFill>
              <a:effectLst/>
              <a:latin typeface="ui-sans-serif"/>
            </a:rPr>
            <a:t>общего</a:t>
          </a:r>
          <a:r>
            <a:rPr lang="ru-RU" b="0" i="0" dirty="0">
              <a:solidFill>
                <a:srgbClr val="0D0D0D"/>
              </a:solidFill>
              <a:effectLst/>
              <a:latin typeface="ui-sans-serif"/>
            </a:rPr>
            <a:t> </a:t>
          </a:r>
          <a:r>
            <a:rPr lang="ru-RU" b="0" i="1" dirty="0">
              <a:solidFill>
                <a:srgbClr val="0D0D0D"/>
              </a:solidFill>
              <a:effectLst/>
              <a:latin typeface="ui-sans-serif"/>
            </a:rPr>
            <a:t>характера</a:t>
          </a:r>
          <a:r>
            <a:rPr lang="ru-RU" b="0" i="0" dirty="0">
              <a:solidFill>
                <a:srgbClr val="0D0D0D"/>
              </a:solidFill>
              <a:effectLst/>
              <a:latin typeface="ui-sans-serif"/>
            </a:rPr>
            <a:t>, предоставляемый нижестоящему бюджету на безвозмездной и безвозвратной основе </a:t>
          </a:r>
          <a:r>
            <a:rPr lang="ru-RU" b="1" i="0" dirty="0">
              <a:solidFill>
                <a:srgbClr val="0D0D0D"/>
              </a:solidFill>
              <a:effectLst/>
              <a:latin typeface="ui-sans-serif"/>
            </a:rPr>
            <a:t>без указания конкретного целевого назначения</a:t>
          </a:r>
          <a:r>
            <a:rPr lang="ru-RU" b="0" i="0" dirty="0">
              <a:solidFill>
                <a:srgbClr val="0D0D0D"/>
              </a:solidFill>
              <a:effectLst/>
              <a:latin typeface="ui-sans-serif"/>
            </a:rPr>
            <a:t> средств</a:t>
          </a:r>
          <a:endParaRPr lang="ru-RU" dirty="0"/>
        </a:p>
      </dgm:t>
    </dgm:pt>
    <dgm:pt modelId="{EA20B04A-DDFE-4CFF-B6A9-46146D2439AF}" type="parTrans" cxnId="{5F23A0C7-DFAA-476E-A0EF-B789495171CF}">
      <dgm:prSet/>
      <dgm:spPr/>
      <dgm:t>
        <a:bodyPr/>
        <a:lstStyle/>
        <a:p>
          <a:endParaRPr lang="ru-RU"/>
        </a:p>
      </dgm:t>
    </dgm:pt>
    <dgm:pt modelId="{058C4A39-AC83-440F-89C1-725B1F7E4AFD}" type="sibTrans" cxnId="{5F23A0C7-DFAA-476E-A0EF-B789495171CF}">
      <dgm:prSet/>
      <dgm:spPr/>
      <dgm:t>
        <a:bodyPr/>
        <a:lstStyle/>
        <a:p>
          <a:endParaRPr lang="ru-RU"/>
        </a:p>
      </dgm:t>
    </dgm:pt>
    <dgm:pt modelId="{D59377C7-5CBB-426B-9844-1EB73D6BEA54}">
      <dgm:prSet phldrT="[Текст]"/>
      <dgm:spPr/>
      <dgm:t>
        <a:bodyPr/>
        <a:lstStyle/>
        <a:p>
          <a:pPr>
            <a:buNone/>
          </a:pPr>
          <a:r>
            <a:rPr lang="ru-RU" b="1" i="0" dirty="0"/>
            <a:t>Субвенция</a:t>
          </a:r>
          <a:endParaRPr lang="ru-RU" dirty="0"/>
        </a:p>
      </dgm:t>
    </dgm:pt>
    <dgm:pt modelId="{41801552-54E2-4F2F-AB26-4A17FEE32292}" type="parTrans" cxnId="{6916FD27-D13C-4270-80BB-5DD852C946EF}">
      <dgm:prSet/>
      <dgm:spPr/>
      <dgm:t>
        <a:bodyPr/>
        <a:lstStyle/>
        <a:p>
          <a:endParaRPr lang="ru-RU"/>
        </a:p>
      </dgm:t>
    </dgm:pt>
    <dgm:pt modelId="{F18786D6-E897-4747-B9A5-84C5AA73A1A5}" type="sibTrans" cxnId="{6916FD27-D13C-4270-80BB-5DD852C946EF}">
      <dgm:prSet/>
      <dgm:spPr/>
      <dgm:t>
        <a:bodyPr/>
        <a:lstStyle/>
        <a:p>
          <a:endParaRPr lang="ru-RU"/>
        </a:p>
      </dgm:t>
    </dgm:pt>
    <dgm:pt modelId="{F32FBACA-6A44-4217-9001-8AB2BCF9DF7C}">
      <dgm:prSet phldrT="[Текст]"/>
      <dgm:spPr/>
      <dgm:t>
        <a:bodyPr/>
        <a:lstStyle/>
        <a:p>
          <a:pPr marL="0" indent="0">
            <a:buNone/>
          </a:pPr>
          <a:r>
            <a:rPr lang="ru-RU" b="0" i="1" dirty="0"/>
            <a:t>целевой</a:t>
          </a:r>
          <a:r>
            <a:rPr lang="ru-RU" b="0" i="0" dirty="0"/>
            <a:t> межбюджетный трансферт, предоставляемый бюджету другого уровня </a:t>
          </a:r>
          <a:r>
            <a:rPr lang="ru-RU" b="1" i="0" dirty="0"/>
            <a:t>на осуществление конкретных расходных полномочий, переданных от вышестоящего уровня</a:t>
          </a:r>
          <a:endParaRPr lang="ru-RU" dirty="0"/>
        </a:p>
      </dgm:t>
    </dgm:pt>
    <dgm:pt modelId="{64AB2F5F-F0E2-4810-B511-56BAB282B33C}" type="parTrans" cxnId="{04442234-B967-41B0-A0DD-981D93CF0D8C}">
      <dgm:prSet/>
      <dgm:spPr/>
      <dgm:t>
        <a:bodyPr/>
        <a:lstStyle/>
        <a:p>
          <a:endParaRPr lang="ru-RU"/>
        </a:p>
      </dgm:t>
    </dgm:pt>
    <dgm:pt modelId="{E1B5916E-0306-4420-8A7A-D43D2A2E49E1}" type="sibTrans" cxnId="{04442234-B967-41B0-A0DD-981D93CF0D8C}">
      <dgm:prSet/>
      <dgm:spPr/>
      <dgm:t>
        <a:bodyPr/>
        <a:lstStyle/>
        <a:p>
          <a:endParaRPr lang="ru-RU"/>
        </a:p>
      </dgm:t>
    </dgm:pt>
    <dgm:pt modelId="{F04203FE-0029-4C7D-8061-CB5FBF701E04}">
      <dgm:prSet phldrT="[Текст]"/>
      <dgm:spPr/>
      <dgm:t>
        <a:bodyPr/>
        <a:lstStyle/>
        <a:p>
          <a:pPr>
            <a:buNone/>
          </a:pPr>
          <a:r>
            <a:rPr lang="ru-RU" b="1" i="0" dirty="0"/>
            <a:t>Субсидия</a:t>
          </a:r>
          <a:endParaRPr lang="ru-RU" dirty="0"/>
        </a:p>
      </dgm:t>
    </dgm:pt>
    <dgm:pt modelId="{90AE4D61-D6D3-41F7-90FC-A789BEF53B55}" type="parTrans" cxnId="{671D4A53-FA94-47D8-813A-01159B5E729E}">
      <dgm:prSet/>
      <dgm:spPr/>
      <dgm:t>
        <a:bodyPr/>
        <a:lstStyle/>
        <a:p>
          <a:endParaRPr lang="ru-RU"/>
        </a:p>
      </dgm:t>
    </dgm:pt>
    <dgm:pt modelId="{33B76201-4BD7-47B5-9023-D95FB7ADD425}" type="sibTrans" cxnId="{671D4A53-FA94-47D8-813A-01159B5E729E}">
      <dgm:prSet/>
      <dgm:spPr/>
      <dgm:t>
        <a:bodyPr/>
        <a:lstStyle/>
        <a:p>
          <a:endParaRPr lang="ru-RU"/>
        </a:p>
      </dgm:t>
    </dgm:pt>
    <dgm:pt modelId="{889EDA3D-6537-4724-90C0-B47AF9B47374}">
      <dgm:prSet phldrT="[Текст]"/>
      <dgm:spPr/>
      <dgm:t>
        <a:bodyPr/>
        <a:lstStyle/>
        <a:p>
          <a:pPr marL="0" indent="0">
            <a:buNone/>
          </a:pPr>
          <a:r>
            <a:rPr lang="ru-RU" b="0" i="0" dirty="0"/>
            <a:t>трансферты, предоставляемые нижестоящим бюджетам </a:t>
          </a:r>
          <a:r>
            <a:rPr lang="ru-RU" b="0" i="1" dirty="0"/>
            <a:t>на условиях долевого софинансирования конкретных мероприятий</a:t>
          </a:r>
          <a:r>
            <a:rPr lang="ru-RU" b="0" i="0" dirty="0"/>
            <a:t>. Предоставленные безвозмездно денежные средства из бюджетов</a:t>
          </a:r>
          <a:r>
            <a:rPr lang="ru-RU" b="1" i="0" dirty="0"/>
            <a:t> на строго определённые цели</a:t>
          </a:r>
        </a:p>
      </dgm:t>
    </dgm:pt>
    <dgm:pt modelId="{A924F474-9653-4F92-A048-56479A8C4E54}" type="parTrans" cxnId="{9A2B7AB0-1B31-4CCF-BE69-9987B6B030B6}">
      <dgm:prSet/>
      <dgm:spPr/>
      <dgm:t>
        <a:bodyPr/>
        <a:lstStyle/>
        <a:p>
          <a:endParaRPr lang="ru-RU"/>
        </a:p>
      </dgm:t>
    </dgm:pt>
    <dgm:pt modelId="{D535C3F1-8EF4-418C-92A6-C82241EB1163}" type="sibTrans" cxnId="{9A2B7AB0-1B31-4CCF-BE69-9987B6B030B6}">
      <dgm:prSet/>
      <dgm:spPr/>
      <dgm:t>
        <a:bodyPr/>
        <a:lstStyle/>
        <a:p>
          <a:endParaRPr lang="ru-RU"/>
        </a:p>
      </dgm:t>
    </dgm:pt>
    <dgm:pt modelId="{9444A8ED-65DF-4699-BEEE-3F6611C4B44D}" type="pres">
      <dgm:prSet presAssocID="{4B96197D-873D-497C-AB2F-4806EC8327C9}" presName="Name0" presStyleCnt="0">
        <dgm:presLayoutVars>
          <dgm:dir/>
          <dgm:animLvl val="lvl"/>
          <dgm:resizeHandles val="exact"/>
        </dgm:presLayoutVars>
      </dgm:prSet>
      <dgm:spPr/>
    </dgm:pt>
    <dgm:pt modelId="{F53AAEB1-CED8-4CEA-9A51-4171CE6B08D2}" type="pres">
      <dgm:prSet presAssocID="{F624F884-D720-4565-AA42-71FC510A3590}" presName="composite" presStyleCnt="0"/>
      <dgm:spPr/>
    </dgm:pt>
    <dgm:pt modelId="{C8873CF4-8F34-4CFF-8B9C-32B274D0F9AD}" type="pres">
      <dgm:prSet presAssocID="{F624F884-D720-4565-AA42-71FC510A359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EA84598-D28D-49C2-92E4-FF8F82405FF0}" type="pres">
      <dgm:prSet presAssocID="{F624F884-D720-4565-AA42-71FC510A3590}" presName="desTx" presStyleLbl="alignAccFollowNode1" presStyleIdx="0" presStyleCnt="3">
        <dgm:presLayoutVars>
          <dgm:bulletEnabled val="1"/>
        </dgm:presLayoutVars>
      </dgm:prSet>
      <dgm:spPr/>
    </dgm:pt>
    <dgm:pt modelId="{E26B7783-75C8-4A73-AA4A-58C2D1B25001}" type="pres">
      <dgm:prSet presAssocID="{F96C5B1A-8036-49F2-AFAD-33BF2C3ECE1B}" presName="space" presStyleCnt="0"/>
      <dgm:spPr/>
    </dgm:pt>
    <dgm:pt modelId="{5372767A-F7C5-4872-9AC4-63420BCCEE0D}" type="pres">
      <dgm:prSet presAssocID="{D59377C7-5CBB-426B-9844-1EB73D6BEA54}" presName="composite" presStyleCnt="0"/>
      <dgm:spPr/>
    </dgm:pt>
    <dgm:pt modelId="{A99B2707-23E6-497D-B085-47AC2232EC4B}" type="pres">
      <dgm:prSet presAssocID="{D59377C7-5CBB-426B-9844-1EB73D6BEA5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05D6B6F8-E2BD-4DCD-95D7-B2B1591A860C}" type="pres">
      <dgm:prSet presAssocID="{D59377C7-5CBB-426B-9844-1EB73D6BEA54}" presName="desTx" presStyleLbl="alignAccFollowNode1" presStyleIdx="1" presStyleCnt="3">
        <dgm:presLayoutVars>
          <dgm:bulletEnabled val="1"/>
        </dgm:presLayoutVars>
      </dgm:prSet>
      <dgm:spPr/>
    </dgm:pt>
    <dgm:pt modelId="{5F96191B-0C4B-490A-8C15-89FAEE88FED6}" type="pres">
      <dgm:prSet presAssocID="{F18786D6-E897-4747-B9A5-84C5AA73A1A5}" presName="space" presStyleCnt="0"/>
      <dgm:spPr/>
    </dgm:pt>
    <dgm:pt modelId="{1E6CD217-4D32-4D4D-AC12-2E8726DC3B8A}" type="pres">
      <dgm:prSet presAssocID="{F04203FE-0029-4C7D-8061-CB5FBF701E04}" presName="composite" presStyleCnt="0"/>
      <dgm:spPr/>
    </dgm:pt>
    <dgm:pt modelId="{21D1A125-3A9B-4771-A30C-133702663391}" type="pres">
      <dgm:prSet presAssocID="{F04203FE-0029-4C7D-8061-CB5FBF701E0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C1E4573-8AAB-45BE-9062-EADC332C6F36}" type="pres">
      <dgm:prSet presAssocID="{F04203FE-0029-4C7D-8061-CB5FBF701E0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916FD27-D13C-4270-80BB-5DD852C946EF}" srcId="{4B96197D-873D-497C-AB2F-4806EC8327C9}" destId="{D59377C7-5CBB-426B-9844-1EB73D6BEA54}" srcOrd="1" destOrd="0" parTransId="{41801552-54E2-4F2F-AB26-4A17FEE32292}" sibTransId="{F18786D6-E897-4747-B9A5-84C5AA73A1A5}"/>
    <dgm:cxn modelId="{04442234-B967-41B0-A0DD-981D93CF0D8C}" srcId="{D59377C7-5CBB-426B-9844-1EB73D6BEA54}" destId="{F32FBACA-6A44-4217-9001-8AB2BCF9DF7C}" srcOrd="0" destOrd="0" parTransId="{64AB2F5F-F0E2-4810-B511-56BAB282B33C}" sibTransId="{E1B5916E-0306-4420-8A7A-D43D2A2E49E1}"/>
    <dgm:cxn modelId="{D5BD9537-C310-4418-81A0-11F396B6E263}" type="presOf" srcId="{F32FBACA-6A44-4217-9001-8AB2BCF9DF7C}" destId="{05D6B6F8-E2BD-4DCD-95D7-B2B1591A860C}" srcOrd="0" destOrd="0" presId="urn:microsoft.com/office/officeart/2005/8/layout/hList1"/>
    <dgm:cxn modelId="{C145725B-E0D1-45EF-AFEC-7A9EE07B4656}" type="presOf" srcId="{F04203FE-0029-4C7D-8061-CB5FBF701E04}" destId="{21D1A125-3A9B-4771-A30C-133702663391}" srcOrd="0" destOrd="0" presId="urn:microsoft.com/office/officeart/2005/8/layout/hList1"/>
    <dgm:cxn modelId="{671D4A53-FA94-47D8-813A-01159B5E729E}" srcId="{4B96197D-873D-497C-AB2F-4806EC8327C9}" destId="{F04203FE-0029-4C7D-8061-CB5FBF701E04}" srcOrd="2" destOrd="0" parTransId="{90AE4D61-D6D3-41F7-90FC-A789BEF53B55}" sibTransId="{33B76201-4BD7-47B5-9023-D95FB7ADD425}"/>
    <dgm:cxn modelId="{781C4055-4324-408A-A74A-B77D55B0ADE9}" type="presOf" srcId="{F624F884-D720-4565-AA42-71FC510A3590}" destId="{C8873CF4-8F34-4CFF-8B9C-32B274D0F9AD}" srcOrd="0" destOrd="0" presId="urn:microsoft.com/office/officeart/2005/8/layout/hList1"/>
    <dgm:cxn modelId="{F5B653A0-3199-4CEB-A32A-DBDE0BC2146C}" type="presOf" srcId="{4B96197D-873D-497C-AB2F-4806EC8327C9}" destId="{9444A8ED-65DF-4699-BEEE-3F6611C4B44D}" srcOrd="0" destOrd="0" presId="urn:microsoft.com/office/officeart/2005/8/layout/hList1"/>
    <dgm:cxn modelId="{905825AF-3E61-4912-8D3F-AA02CF79E8F3}" type="presOf" srcId="{D59377C7-5CBB-426B-9844-1EB73D6BEA54}" destId="{A99B2707-23E6-497D-B085-47AC2232EC4B}" srcOrd="0" destOrd="0" presId="urn:microsoft.com/office/officeart/2005/8/layout/hList1"/>
    <dgm:cxn modelId="{9A2B7AB0-1B31-4CCF-BE69-9987B6B030B6}" srcId="{F04203FE-0029-4C7D-8061-CB5FBF701E04}" destId="{889EDA3D-6537-4724-90C0-B47AF9B47374}" srcOrd="0" destOrd="0" parTransId="{A924F474-9653-4F92-A048-56479A8C4E54}" sibTransId="{D535C3F1-8EF4-418C-92A6-C82241EB1163}"/>
    <dgm:cxn modelId="{5F23A0C7-DFAA-476E-A0EF-B789495171CF}" srcId="{F624F884-D720-4565-AA42-71FC510A3590}" destId="{C8C70875-58DC-4DF1-866C-53ED860FD4D6}" srcOrd="0" destOrd="0" parTransId="{EA20B04A-DDFE-4CFF-B6A9-46146D2439AF}" sibTransId="{058C4A39-AC83-440F-89C1-725B1F7E4AFD}"/>
    <dgm:cxn modelId="{F6CD95EB-2F5A-4A6B-8BCE-EE7FC60FABA5}" type="presOf" srcId="{889EDA3D-6537-4724-90C0-B47AF9B47374}" destId="{BC1E4573-8AAB-45BE-9062-EADC332C6F36}" srcOrd="0" destOrd="0" presId="urn:microsoft.com/office/officeart/2005/8/layout/hList1"/>
    <dgm:cxn modelId="{5FB89DF8-B0B4-4B35-9923-777F96E1B881}" srcId="{4B96197D-873D-497C-AB2F-4806EC8327C9}" destId="{F624F884-D720-4565-AA42-71FC510A3590}" srcOrd="0" destOrd="0" parTransId="{2916F6D0-40B2-4425-8662-24A2A04E7DC1}" sibTransId="{F96C5B1A-8036-49F2-AFAD-33BF2C3ECE1B}"/>
    <dgm:cxn modelId="{68F86BFE-F1E5-4D6A-A1CC-F4C43EF628B7}" type="presOf" srcId="{C8C70875-58DC-4DF1-866C-53ED860FD4D6}" destId="{BEA84598-D28D-49C2-92E4-FF8F82405FF0}" srcOrd="0" destOrd="0" presId="urn:microsoft.com/office/officeart/2005/8/layout/hList1"/>
    <dgm:cxn modelId="{48C36629-8AF7-4E51-878C-B0F83FBD23ED}" type="presParOf" srcId="{9444A8ED-65DF-4699-BEEE-3F6611C4B44D}" destId="{F53AAEB1-CED8-4CEA-9A51-4171CE6B08D2}" srcOrd="0" destOrd="0" presId="urn:microsoft.com/office/officeart/2005/8/layout/hList1"/>
    <dgm:cxn modelId="{D5DECDE2-9A2A-4235-822C-A99F1F0FA775}" type="presParOf" srcId="{F53AAEB1-CED8-4CEA-9A51-4171CE6B08D2}" destId="{C8873CF4-8F34-4CFF-8B9C-32B274D0F9AD}" srcOrd="0" destOrd="0" presId="urn:microsoft.com/office/officeart/2005/8/layout/hList1"/>
    <dgm:cxn modelId="{F509A5CB-AEF9-4211-B3D1-FB9B048BAAF5}" type="presParOf" srcId="{F53AAEB1-CED8-4CEA-9A51-4171CE6B08D2}" destId="{BEA84598-D28D-49C2-92E4-FF8F82405FF0}" srcOrd="1" destOrd="0" presId="urn:microsoft.com/office/officeart/2005/8/layout/hList1"/>
    <dgm:cxn modelId="{4CF24609-D643-41DE-B8D7-4A4E76921DA3}" type="presParOf" srcId="{9444A8ED-65DF-4699-BEEE-3F6611C4B44D}" destId="{E26B7783-75C8-4A73-AA4A-58C2D1B25001}" srcOrd="1" destOrd="0" presId="urn:microsoft.com/office/officeart/2005/8/layout/hList1"/>
    <dgm:cxn modelId="{A2BC90AC-EE94-4DC2-AD27-EB31DC640C04}" type="presParOf" srcId="{9444A8ED-65DF-4699-BEEE-3F6611C4B44D}" destId="{5372767A-F7C5-4872-9AC4-63420BCCEE0D}" srcOrd="2" destOrd="0" presId="urn:microsoft.com/office/officeart/2005/8/layout/hList1"/>
    <dgm:cxn modelId="{6B93B865-8411-44E5-92FA-EA8224DDE795}" type="presParOf" srcId="{5372767A-F7C5-4872-9AC4-63420BCCEE0D}" destId="{A99B2707-23E6-497D-B085-47AC2232EC4B}" srcOrd="0" destOrd="0" presId="urn:microsoft.com/office/officeart/2005/8/layout/hList1"/>
    <dgm:cxn modelId="{DE343264-B1FA-4516-9E61-A4E49D5B918E}" type="presParOf" srcId="{5372767A-F7C5-4872-9AC4-63420BCCEE0D}" destId="{05D6B6F8-E2BD-4DCD-95D7-B2B1591A860C}" srcOrd="1" destOrd="0" presId="urn:microsoft.com/office/officeart/2005/8/layout/hList1"/>
    <dgm:cxn modelId="{8D3C1BF0-005D-49D7-8259-DFF615AC7583}" type="presParOf" srcId="{9444A8ED-65DF-4699-BEEE-3F6611C4B44D}" destId="{5F96191B-0C4B-490A-8C15-89FAEE88FED6}" srcOrd="3" destOrd="0" presId="urn:microsoft.com/office/officeart/2005/8/layout/hList1"/>
    <dgm:cxn modelId="{DB342A11-62D9-4EE7-BD9C-9BF2A56AAB59}" type="presParOf" srcId="{9444A8ED-65DF-4699-BEEE-3F6611C4B44D}" destId="{1E6CD217-4D32-4D4D-AC12-2E8726DC3B8A}" srcOrd="4" destOrd="0" presId="urn:microsoft.com/office/officeart/2005/8/layout/hList1"/>
    <dgm:cxn modelId="{15095264-9E46-44CB-B6F6-2C6A37D6E173}" type="presParOf" srcId="{1E6CD217-4D32-4D4D-AC12-2E8726DC3B8A}" destId="{21D1A125-3A9B-4771-A30C-133702663391}" srcOrd="0" destOrd="0" presId="urn:microsoft.com/office/officeart/2005/8/layout/hList1"/>
    <dgm:cxn modelId="{E4F14954-8542-437D-8B0A-F7AF9C737809}" type="presParOf" srcId="{1E6CD217-4D32-4D4D-AC12-2E8726DC3B8A}" destId="{BC1E4573-8AAB-45BE-9062-EADC332C6F3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6D04E61-7CA4-43C0-A322-49216981E14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89B415-D7B8-455C-ABD2-FE3E6A061BB7}">
      <dgm:prSet/>
      <dgm:spPr/>
      <dgm:t>
        <a:bodyPr/>
        <a:lstStyle/>
        <a:p>
          <a:r>
            <a:rPr lang="ru-RU" b="1"/>
            <a:t>Расходное обязательство</a:t>
          </a:r>
          <a:r>
            <a:rPr lang="ru-RU"/>
            <a:t> – означает законодательную или иную установленную норму, в силу которой публично-правовое образование (государство, регион или муниципалитет) должно предоставить средства физическому или юридическому лицу</a:t>
          </a:r>
        </a:p>
      </dgm:t>
    </dgm:pt>
    <dgm:pt modelId="{79D7B5D9-054A-400C-A6A7-E524D307996E}" type="parTrans" cxnId="{4DB632B8-C6F4-47F4-A726-DF78651211BE}">
      <dgm:prSet/>
      <dgm:spPr/>
      <dgm:t>
        <a:bodyPr/>
        <a:lstStyle/>
        <a:p>
          <a:endParaRPr lang="ru-RU"/>
        </a:p>
      </dgm:t>
    </dgm:pt>
    <dgm:pt modelId="{A3B44F9B-F588-47CB-8157-18B002E57E8F}" type="sibTrans" cxnId="{4DB632B8-C6F4-47F4-A726-DF78651211BE}">
      <dgm:prSet/>
      <dgm:spPr/>
      <dgm:t>
        <a:bodyPr/>
        <a:lstStyle/>
        <a:p>
          <a:endParaRPr lang="ru-RU"/>
        </a:p>
      </dgm:t>
    </dgm:pt>
    <dgm:pt modelId="{5F146CB8-8326-4427-AFBD-6727F11940D8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1" dirty="0">
              <a:solidFill>
                <a:srgbClr val="002060"/>
              </a:solidFill>
            </a:rPr>
            <a:t>Бюджетные обязательства </a:t>
          </a:r>
          <a:r>
            <a:rPr lang="ru-RU" dirty="0"/>
            <a:t>– это </a:t>
          </a:r>
          <a:r>
            <a:rPr lang="ru-RU" u="sng" dirty="0"/>
            <a:t>часть расходных обязательств</a:t>
          </a:r>
          <a:r>
            <a:rPr lang="ru-RU" dirty="0"/>
            <a:t>, которая подлежит исполнению </a:t>
          </a:r>
          <a:r>
            <a:rPr lang="ru-RU" u="sng" dirty="0"/>
            <a:t>в данном финансовом году</a:t>
          </a:r>
          <a:r>
            <a:rPr lang="ru-RU" dirty="0"/>
            <a:t>, то есть обеспечена ассигнованиями бюджета текущего года</a:t>
          </a:r>
        </a:p>
      </dgm:t>
    </dgm:pt>
    <dgm:pt modelId="{C61DD585-651B-4E4A-AEC4-5E8ED51AD299}" type="parTrans" cxnId="{174829CB-BDDA-4CFE-9633-9CD1012082BE}">
      <dgm:prSet/>
      <dgm:spPr/>
      <dgm:t>
        <a:bodyPr/>
        <a:lstStyle/>
        <a:p>
          <a:endParaRPr lang="ru-RU"/>
        </a:p>
      </dgm:t>
    </dgm:pt>
    <dgm:pt modelId="{36F5EC35-0C38-41B9-A76B-FA1B93C8E77D}" type="sibTrans" cxnId="{174829CB-BDDA-4CFE-9633-9CD1012082BE}">
      <dgm:prSet/>
      <dgm:spPr/>
      <dgm:t>
        <a:bodyPr/>
        <a:lstStyle/>
        <a:p>
          <a:endParaRPr lang="ru-RU"/>
        </a:p>
      </dgm:t>
    </dgm:pt>
    <dgm:pt modelId="{9C8D5CF2-F880-44E7-9A0B-DA37D4E60A9E}" type="pres">
      <dgm:prSet presAssocID="{E6D04E61-7CA4-43C0-A322-49216981E149}" presName="linear" presStyleCnt="0">
        <dgm:presLayoutVars>
          <dgm:animLvl val="lvl"/>
          <dgm:resizeHandles val="exact"/>
        </dgm:presLayoutVars>
      </dgm:prSet>
      <dgm:spPr/>
    </dgm:pt>
    <dgm:pt modelId="{84A74176-6CE1-4F81-AC41-FB40E01130AD}" type="pres">
      <dgm:prSet presAssocID="{A589B415-D7B8-455C-ABD2-FE3E6A061BB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A11E53F-E68B-4A73-8464-8BA5B3489AD2}" type="pres">
      <dgm:prSet presAssocID="{A3B44F9B-F588-47CB-8157-18B002E57E8F}" presName="spacer" presStyleCnt="0"/>
      <dgm:spPr/>
    </dgm:pt>
    <dgm:pt modelId="{C3FF7607-233D-464B-8BBE-C2174132C262}" type="pres">
      <dgm:prSet presAssocID="{5F146CB8-8326-4427-AFBD-6727F11940D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8C24B6B-8034-4FC7-ABE1-5E1D30ECA2A9}" type="presOf" srcId="{5F146CB8-8326-4427-AFBD-6727F11940D8}" destId="{C3FF7607-233D-464B-8BBE-C2174132C262}" srcOrd="0" destOrd="0" presId="urn:microsoft.com/office/officeart/2005/8/layout/vList2"/>
    <dgm:cxn modelId="{4DB632B8-C6F4-47F4-A726-DF78651211BE}" srcId="{E6D04E61-7CA4-43C0-A322-49216981E149}" destId="{A589B415-D7B8-455C-ABD2-FE3E6A061BB7}" srcOrd="0" destOrd="0" parTransId="{79D7B5D9-054A-400C-A6A7-E524D307996E}" sibTransId="{A3B44F9B-F588-47CB-8157-18B002E57E8F}"/>
    <dgm:cxn modelId="{174829CB-BDDA-4CFE-9633-9CD1012082BE}" srcId="{E6D04E61-7CA4-43C0-A322-49216981E149}" destId="{5F146CB8-8326-4427-AFBD-6727F11940D8}" srcOrd="1" destOrd="0" parTransId="{C61DD585-651B-4E4A-AEC4-5E8ED51AD299}" sibTransId="{36F5EC35-0C38-41B9-A76B-FA1B93C8E77D}"/>
    <dgm:cxn modelId="{7EBE08D1-29FC-4433-8A2A-71962572C1A2}" type="presOf" srcId="{A589B415-D7B8-455C-ABD2-FE3E6A061BB7}" destId="{84A74176-6CE1-4F81-AC41-FB40E01130AD}" srcOrd="0" destOrd="0" presId="urn:microsoft.com/office/officeart/2005/8/layout/vList2"/>
    <dgm:cxn modelId="{F919F0DE-7113-46D9-82AC-4FD5DE20845D}" type="presOf" srcId="{E6D04E61-7CA4-43C0-A322-49216981E149}" destId="{9C8D5CF2-F880-44E7-9A0B-DA37D4E60A9E}" srcOrd="0" destOrd="0" presId="urn:microsoft.com/office/officeart/2005/8/layout/vList2"/>
    <dgm:cxn modelId="{A69CA84A-DFEE-43C8-B2C0-83ADFD059DC3}" type="presParOf" srcId="{9C8D5CF2-F880-44E7-9A0B-DA37D4E60A9E}" destId="{84A74176-6CE1-4F81-AC41-FB40E01130AD}" srcOrd="0" destOrd="0" presId="urn:microsoft.com/office/officeart/2005/8/layout/vList2"/>
    <dgm:cxn modelId="{2973D789-7D7D-4929-B6E9-B31136B5B3AF}" type="presParOf" srcId="{9C8D5CF2-F880-44E7-9A0B-DA37D4E60A9E}" destId="{BA11E53F-E68B-4A73-8464-8BA5B3489AD2}" srcOrd="1" destOrd="0" presId="urn:microsoft.com/office/officeart/2005/8/layout/vList2"/>
    <dgm:cxn modelId="{4D91AE03-3F70-4F21-B468-7B014DE6FC78}" type="presParOf" srcId="{9C8D5CF2-F880-44E7-9A0B-DA37D4E60A9E}" destId="{C3FF7607-233D-464B-8BBE-C2174132C26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149A13A7-34E5-4DCE-A842-E1BA15F6F64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5513D0D-430A-4501-BA0B-3EA96E1D548E}">
      <dgm:prSet/>
      <dgm:spPr/>
      <dgm:t>
        <a:bodyPr/>
        <a:lstStyle/>
        <a:p>
          <a:r>
            <a:rPr lang="ru-RU"/>
            <a:t>Статья 13 от 28.06.2014 N 172-ФЗ «</a:t>
          </a:r>
          <a:r>
            <a:rPr lang="ru-RU" i="1"/>
            <a:t>О стратегическом планировании в Российской Федерации</a:t>
          </a:r>
          <a:r>
            <a:rPr lang="ru-RU"/>
            <a:t>» прямо устанавливает, что </a:t>
          </a:r>
          <a:r>
            <a:rPr lang="ru-RU" b="1"/>
            <a:t>проекты документов стратегического планирования выносятся на общественное обсуждение</a:t>
          </a:r>
          <a:endParaRPr lang="ru-RU"/>
        </a:p>
      </dgm:t>
    </dgm:pt>
    <dgm:pt modelId="{4F0F464A-4600-4311-ABDB-A212BD7BA112}" type="parTrans" cxnId="{0A19BF1E-3FB9-4E0C-B931-04BCB28A1065}">
      <dgm:prSet/>
      <dgm:spPr/>
      <dgm:t>
        <a:bodyPr/>
        <a:lstStyle/>
        <a:p>
          <a:endParaRPr lang="ru-RU"/>
        </a:p>
      </dgm:t>
    </dgm:pt>
    <dgm:pt modelId="{737555A7-A75B-4014-87BA-1FC70FACCFBD}" type="sibTrans" cxnId="{0A19BF1E-3FB9-4E0C-B931-04BCB28A1065}">
      <dgm:prSet/>
      <dgm:spPr/>
      <dgm:t>
        <a:bodyPr/>
        <a:lstStyle/>
        <a:p>
          <a:endParaRPr lang="ru-RU"/>
        </a:p>
      </dgm:t>
    </dgm:pt>
    <dgm:pt modelId="{839DD308-8CD2-4C8A-BA00-93E892360043}">
      <dgm:prSet/>
      <dgm:spPr/>
      <dgm:t>
        <a:bodyPr/>
        <a:lstStyle/>
        <a:p>
          <a:r>
            <a:rPr lang="ru-RU"/>
            <a:t>Форма и порядок такого обсуждения </a:t>
          </a:r>
          <a:r>
            <a:rPr lang="ru-RU" b="1"/>
            <a:t>определяются соответствующим органом власти</a:t>
          </a:r>
          <a:r>
            <a:rPr lang="ru-RU"/>
            <a:t> – на федеральном уровне проекты стратегий могут размещаться для общественной консультации, на региональном – проводятся общественные советы или интернет-обсуждения, на муниципальном – организуются публичные слушания с жителями</a:t>
          </a:r>
        </a:p>
      </dgm:t>
    </dgm:pt>
    <dgm:pt modelId="{719E8827-AD78-4016-A649-373147ED6872}" type="parTrans" cxnId="{7435861A-8B6E-442C-90DC-C0FA02A77D52}">
      <dgm:prSet/>
      <dgm:spPr/>
      <dgm:t>
        <a:bodyPr/>
        <a:lstStyle/>
        <a:p>
          <a:endParaRPr lang="ru-RU"/>
        </a:p>
      </dgm:t>
    </dgm:pt>
    <dgm:pt modelId="{7DB980BC-1E81-49F8-B24A-783684E4F0B1}" type="sibTrans" cxnId="{7435861A-8B6E-442C-90DC-C0FA02A77D52}">
      <dgm:prSet/>
      <dgm:spPr/>
      <dgm:t>
        <a:bodyPr/>
        <a:lstStyle/>
        <a:p>
          <a:endParaRPr lang="ru-RU"/>
        </a:p>
      </dgm:t>
    </dgm:pt>
    <dgm:pt modelId="{F12FB3B9-79A8-49FA-A781-6A9A1BBA96CA}">
      <dgm:prSet/>
      <dgm:spPr/>
      <dgm:t>
        <a:bodyPr/>
        <a:lstStyle/>
        <a:p>
          <a:r>
            <a:rPr lang="ru-RU" b="1" dirty="0"/>
            <a:t>Замечания и предложения </a:t>
          </a:r>
          <a:r>
            <a:rPr lang="ru-RU" dirty="0"/>
            <a:t>граждан, поступившие в ходе обсуждения, </a:t>
          </a:r>
          <a:r>
            <a:rPr lang="ru-RU" b="1" dirty="0"/>
            <a:t>подлежат рассмотрению </a:t>
          </a:r>
          <a:r>
            <a:rPr lang="ru-RU" dirty="0"/>
            <a:t>разработчиками стратегии, однако </a:t>
          </a:r>
          <a:r>
            <a:rPr lang="ru-RU" b="1" dirty="0"/>
            <a:t>не являются обязательными для использования</a:t>
          </a:r>
          <a:endParaRPr lang="ru-RU" dirty="0"/>
        </a:p>
      </dgm:t>
    </dgm:pt>
    <dgm:pt modelId="{D9B4E9E2-4C62-4741-B453-A0FC013458F9}" type="parTrans" cxnId="{6F9E910A-C02A-46B2-8179-E530B8F0DF36}">
      <dgm:prSet/>
      <dgm:spPr/>
      <dgm:t>
        <a:bodyPr/>
        <a:lstStyle/>
        <a:p>
          <a:endParaRPr lang="ru-RU"/>
        </a:p>
      </dgm:t>
    </dgm:pt>
    <dgm:pt modelId="{297DBC25-E399-412B-8DB0-1E157D981ACA}" type="sibTrans" cxnId="{6F9E910A-C02A-46B2-8179-E530B8F0DF36}">
      <dgm:prSet/>
      <dgm:spPr/>
      <dgm:t>
        <a:bodyPr/>
        <a:lstStyle/>
        <a:p>
          <a:endParaRPr lang="ru-RU"/>
        </a:p>
      </dgm:t>
    </dgm:pt>
    <dgm:pt modelId="{25C31B49-138A-4733-BE74-DAE95B2C1F94}" type="pres">
      <dgm:prSet presAssocID="{149A13A7-34E5-4DCE-A842-E1BA15F6F64A}" presName="linear" presStyleCnt="0">
        <dgm:presLayoutVars>
          <dgm:animLvl val="lvl"/>
          <dgm:resizeHandles val="exact"/>
        </dgm:presLayoutVars>
      </dgm:prSet>
      <dgm:spPr/>
    </dgm:pt>
    <dgm:pt modelId="{F2706213-1A59-47DE-AB40-4C2BC18F8FB8}" type="pres">
      <dgm:prSet presAssocID="{35513D0D-430A-4501-BA0B-3EA96E1D548E}" presName="parentText" presStyleLbl="node1" presStyleIdx="0" presStyleCnt="3" custScaleY="68302">
        <dgm:presLayoutVars>
          <dgm:chMax val="0"/>
          <dgm:bulletEnabled val="1"/>
        </dgm:presLayoutVars>
      </dgm:prSet>
      <dgm:spPr/>
    </dgm:pt>
    <dgm:pt modelId="{8670AFB4-EDF6-461D-BD35-B813BCE03F27}" type="pres">
      <dgm:prSet presAssocID="{737555A7-A75B-4014-87BA-1FC70FACCFBD}" presName="spacer" presStyleCnt="0"/>
      <dgm:spPr/>
    </dgm:pt>
    <dgm:pt modelId="{4463D57B-9546-4A01-A210-51C7CFAE80A6}" type="pres">
      <dgm:prSet presAssocID="{839DD308-8CD2-4C8A-BA00-93E89236004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CEC88E7-47C8-41B3-A685-926BC04ABD56}" type="pres">
      <dgm:prSet presAssocID="{7DB980BC-1E81-49F8-B24A-783684E4F0B1}" presName="spacer" presStyleCnt="0"/>
      <dgm:spPr/>
    </dgm:pt>
    <dgm:pt modelId="{FE399A37-834E-4508-BAAF-426952FE5F60}" type="pres">
      <dgm:prSet presAssocID="{F12FB3B9-79A8-49FA-A781-6A9A1BBA96CA}" presName="parentText" presStyleLbl="node1" presStyleIdx="2" presStyleCnt="3" custScaleY="68302">
        <dgm:presLayoutVars>
          <dgm:chMax val="0"/>
          <dgm:bulletEnabled val="1"/>
        </dgm:presLayoutVars>
      </dgm:prSet>
      <dgm:spPr/>
    </dgm:pt>
  </dgm:ptLst>
  <dgm:cxnLst>
    <dgm:cxn modelId="{6F9E910A-C02A-46B2-8179-E530B8F0DF36}" srcId="{149A13A7-34E5-4DCE-A842-E1BA15F6F64A}" destId="{F12FB3B9-79A8-49FA-A781-6A9A1BBA96CA}" srcOrd="2" destOrd="0" parTransId="{D9B4E9E2-4C62-4741-B453-A0FC013458F9}" sibTransId="{297DBC25-E399-412B-8DB0-1E157D981ACA}"/>
    <dgm:cxn modelId="{7435861A-8B6E-442C-90DC-C0FA02A77D52}" srcId="{149A13A7-34E5-4DCE-A842-E1BA15F6F64A}" destId="{839DD308-8CD2-4C8A-BA00-93E892360043}" srcOrd="1" destOrd="0" parTransId="{719E8827-AD78-4016-A649-373147ED6872}" sibTransId="{7DB980BC-1E81-49F8-B24A-783684E4F0B1}"/>
    <dgm:cxn modelId="{0A19BF1E-3FB9-4E0C-B931-04BCB28A1065}" srcId="{149A13A7-34E5-4DCE-A842-E1BA15F6F64A}" destId="{35513D0D-430A-4501-BA0B-3EA96E1D548E}" srcOrd="0" destOrd="0" parTransId="{4F0F464A-4600-4311-ABDB-A212BD7BA112}" sibTransId="{737555A7-A75B-4014-87BA-1FC70FACCFBD}"/>
    <dgm:cxn modelId="{8EA5B022-B818-48D0-9616-A221E527B70B}" type="presOf" srcId="{35513D0D-430A-4501-BA0B-3EA96E1D548E}" destId="{F2706213-1A59-47DE-AB40-4C2BC18F8FB8}" srcOrd="0" destOrd="0" presId="urn:microsoft.com/office/officeart/2005/8/layout/vList2"/>
    <dgm:cxn modelId="{415D3B64-F064-4F3A-9912-EA40D5F83F13}" type="presOf" srcId="{149A13A7-34E5-4DCE-A842-E1BA15F6F64A}" destId="{25C31B49-138A-4733-BE74-DAE95B2C1F94}" srcOrd="0" destOrd="0" presId="urn:microsoft.com/office/officeart/2005/8/layout/vList2"/>
    <dgm:cxn modelId="{0BEDDAA1-29FC-4335-A1DF-6B8677B5C818}" type="presOf" srcId="{F12FB3B9-79A8-49FA-A781-6A9A1BBA96CA}" destId="{FE399A37-834E-4508-BAAF-426952FE5F60}" srcOrd="0" destOrd="0" presId="urn:microsoft.com/office/officeart/2005/8/layout/vList2"/>
    <dgm:cxn modelId="{B04371A5-748F-4167-BFBB-D3C0502CFA92}" type="presOf" srcId="{839DD308-8CD2-4C8A-BA00-93E892360043}" destId="{4463D57B-9546-4A01-A210-51C7CFAE80A6}" srcOrd="0" destOrd="0" presId="urn:microsoft.com/office/officeart/2005/8/layout/vList2"/>
    <dgm:cxn modelId="{985D0611-042E-46BF-BC25-D6B8E88E0377}" type="presParOf" srcId="{25C31B49-138A-4733-BE74-DAE95B2C1F94}" destId="{F2706213-1A59-47DE-AB40-4C2BC18F8FB8}" srcOrd="0" destOrd="0" presId="urn:microsoft.com/office/officeart/2005/8/layout/vList2"/>
    <dgm:cxn modelId="{137AB193-0D8C-46F4-AFCD-37C3045084A2}" type="presParOf" srcId="{25C31B49-138A-4733-BE74-DAE95B2C1F94}" destId="{8670AFB4-EDF6-461D-BD35-B813BCE03F27}" srcOrd="1" destOrd="0" presId="urn:microsoft.com/office/officeart/2005/8/layout/vList2"/>
    <dgm:cxn modelId="{6AA74AA6-37E2-498E-9E5E-E3079239DFD4}" type="presParOf" srcId="{25C31B49-138A-4733-BE74-DAE95B2C1F94}" destId="{4463D57B-9546-4A01-A210-51C7CFAE80A6}" srcOrd="2" destOrd="0" presId="urn:microsoft.com/office/officeart/2005/8/layout/vList2"/>
    <dgm:cxn modelId="{1F52F3A5-2B73-4B2F-87D1-C6D82DCAB062}" type="presParOf" srcId="{25C31B49-138A-4733-BE74-DAE95B2C1F94}" destId="{BCEC88E7-47C8-41B3-A685-926BC04ABD56}" srcOrd="3" destOrd="0" presId="urn:microsoft.com/office/officeart/2005/8/layout/vList2"/>
    <dgm:cxn modelId="{579499B8-F064-4624-A369-18E5FF241611}" type="presParOf" srcId="{25C31B49-138A-4733-BE74-DAE95B2C1F94}" destId="{FE399A37-834E-4508-BAAF-426952FE5F6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78D852E-03C0-4447-9AEF-8D191C2D0FE0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7AA1A81F-132D-468E-8132-996EC470B1C5}">
      <dgm:prSet/>
      <dgm:spPr/>
      <dgm:t>
        <a:bodyPr/>
        <a:lstStyle/>
        <a:p>
          <a:r>
            <a:rPr lang="ru-RU" dirty="0"/>
            <a:t>это форма </a:t>
          </a:r>
          <a:r>
            <a:rPr lang="ru-RU" b="1" dirty="0"/>
            <a:t>прямого участия жителей в распределении части бюджетных средств </a:t>
          </a:r>
          <a:r>
            <a:rPr lang="ru-RU" dirty="0"/>
            <a:t>на местном уровне</a:t>
          </a:r>
        </a:p>
      </dgm:t>
    </dgm:pt>
    <dgm:pt modelId="{6B9301B9-84E9-4022-BE29-0C7FC8B8CA5A}" type="parTrans" cxnId="{3B729A13-D3ED-4D54-86F5-2FF86457C5D6}">
      <dgm:prSet/>
      <dgm:spPr/>
      <dgm:t>
        <a:bodyPr/>
        <a:lstStyle/>
        <a:p>
          <a:endParaRPr lang="ru-RU"/>
        </a:p>
      </dgm:t>
    </dgm:pt>
    <dgm:pt modelId="{9E46DB90-FF5A-49D0-9CB8-278CE1FFA719}" type="sibTrans" cxnId="{3B729A13-D3ED-4D54-86F5-2FF86457C5D6}">
      <dgm:prSet/>
      <dgm:spPr/>
      <dgm:t>
        <a:bodyPr/>
        <a:lstStyle/>
        <a:p>
          <a:endParaRPr lang="ru-RU"/>
        </a:p>
      </dgm:t>
    </dgm:pt>
    <dgm:pt modelId="{E9332768-0BD1-4747-B4B5-18A2F9B25101}">
      <dgm:prSet/>
      <dgm:spPr/>
      <dgm:t>
        <a:bodyPr/>
        <a:lstStyle/>
        <a:p>
          <a:r>
            <a:rPr lang="ru-RU"/>
            <a:t>Группа активных граждан выдвигает </a:t>
          </a:r>
          <a:r>
            <a:rPr lang="ru-RU" b="1"/>
            <a:t>инициативный проект </a:t>
          </a:r>
          <a:r>
            <a:rPr lang="ru-RU"/>
            <a:t>– конкретное предложение (например, построить детскую площадку, отремонтировать дорогу, благоустроить парк) – и выносит его на рассмотрение местной власти и других жителей.</a:t>
          </a:r>
        </a:p>
      </dgm:t>
    </dgm:pt>
    <dgm:pt modelId="{DFDA92FF-3967-4319-80F5-287B3D9C3077}" type="parTrans" cxnId="{B289CC77-FE92-4E81-A379-029FD933BA03}">
      <dgm:prSet/>
      <dgm:spPr/>
      <dgm:t>
        <a:bodyPr/>
        <a:lstStyle/>
        <a:p>
          <a:endParaRPr lang="ru-RU"/>
        </a:p>
      </dgm:t>
    </dgm:pt>
    <dgm:pt modelId="{2305E7D8-C6F4-442A-A7A6-3FE9E690F42B}" type="sibTrans" cxnId="{B289CC77-FE92-4E81-A379-029FD933BA03}">
      <dgm:prSet/>
      <dgm:spPr/>
      <dgm:t>
        <a:bodyPr/>
        <a:lstStyle/>
        <a:p>
          <a:endParaRPr lang="ru-RU"/>
        </a:p>
      </dgm:t>
    </dgm:pt>
    <dgm:pt modelId="{D979FA3C-31BD-4CF8-9148-04810F4C0D80}">
      <dgm:prSet/>
      <dgm:spPr/>
      <dgm:t>
        <a:bodyPr/>
        <a:lstStyle/>
        <a:p>
          <a:r>
            <a:rPr lang="ru-RU"/>
            <a:t>Проект </a:t>
          </a:r>
          <a:r>
            <a:rPr lang="ru-RU" b="1"/>
            <a:t>обсуждается на сходе граждан или общественных слушаниях</a:t>
          </a:r>
          <a:r>
            <a:rPr lang="ru-RU"/>
            <a:t>, где ему выражается поддержка</a:t>
          </a:r>
        </a:p>
      </dgm:t>
    </dgm:pt>
    <dgm:pt modelId="{2CEF40AF-B6F9-47DA-9F62-AB79A6AEC99E}" type="parTrans" cxnId="{3F79F4EF-B506-4AC3-A393-A9A1EBE742A2}">
      <dgm:prSet/>
      <dgm:spPr/>
      <dgm:t>
        <a:bodyPr/>
        <a:lstStyle/>
        <a:p>
          <a:endParaRPr lang="ru-RU"/>
        </a:p>
      </dgm:t>
    </dgm:pt>
    <dgm:pt modelId="{EB661ED2-8B7F-4C01-8F7B-D6FF493F2D90}" type="sibTrans" cxnId="{3F79F4EF-B506-4AC3-A393-A9A1EBE742A2}">
      <dgm:prSet/>
      <dgm:spPr/>
      <dgm:t>
        <a:bodyPr/>
        <a:lstStyle/>
        <a:p>
          <a:endParaRPr lang="ru-RU"/>
        </a:p>
      </dgm:t>
    </dgm:pt>
    <dgm:pt modelId="{5332E1EE-B1D4-48D0-A611-3AAED568E9FA}">
      <dgm:prSet/>
      <dgm:spPr/>
      <dgm:t>
        <a:bodyPr/>
        <a:lstStyle/>
        <a:p>
          <a:r>
            <a:rPr lang="ru-RU"/>
            <a:t>Затем проект </a:t>
          </a:r>
          <a:r>
            <a:rPr lang="ru-RU" b="1"/>
            <a:t>оценивается местной администрацией</a:t>
          </a:r>
          <a:r>
            <a:rPr lang="ru-RU"/>
            <a:t> – при одобрении он </a:t>
          </a:r>
          <a:r>
            <a:rPr lang="ru-RU" b="1"/>
            <a:t>включается в местный бюджет </a:t>
          </a:r>
          <a:r>
            <a:rPr lang="ru-RU"/>
            <a:t>и реализуется за счёт бюджетных средств</a:t>
          </a:r>
        </a:p>
      </dgm:t>
    </dgm:pt>
    <dgm:pt modelId="{277A0206-A7C0-4C12-84CF-5BBD1D245636}" type="parTrans" cxnId="{970F3FC7-BEFE-4E90-9007-B8780E96BC2C}">
      <dgm:prSet/>
      <dgm:spPr/>
      <dgm:t>
        <a:bodyPr/>
        <a:lstStyle/>
        <a:p>
          <a:endParaRPr lang="ru-RU"/>
        </a:p>
      </dgm:t>
    </dgm:pt>
    <dgm:pt modelId="{5DECE1EC-BB02-45A6-AC19-0515BC3DBEDD}" type="sibTrans" cxnId="{970F3FC7-BEFE-4E90-9007-B8780E96BC2C}">
      <dgm:prSet/>
      <dgm:spPr/>
      <dgm:t>
        <a:bodyPr/>
        <a:lstStyle/>
        <a:p>
          <a:endParaRPr lang="ru-RU"/>
        </a:p>
      </dgm:t>
    </dgm:pt>
    <dgm:pt modelId="{76450CEC-D6AF-4C18-A8CE-8429F5E29F77}" type="pres">
      <dgm:prSet presAssocID="{778D852E-03C0-4447-9AEF-8D191C2D0FE0}" presName="linear" presStyleCnt="0">
        <dgm:presLayoutVars>
          <dgm:animLvl val="lvl"/>
          <dgm:resizeHandles val="exact"/>
        </dgm:presLayoutVars>
      </dgm:prSet>
      <dgm:spPr/>
    </dgm:pt>
    <dgm:pt modelId="{D60231FD-D444-4D4D-BD5C-41E9A46580B1}" type="pres">
      <dgm:prSet presAssocID="{7AA1A81F-132D-468E-8132-996EC470B1C5}" presName="parentText" presStyleLbl="node1" presStyleIdx="0" presStyleCnt="4" custScaleY="56448">
        <dgm:presLayoutVars>
          <dgm:chMax val="0"/>
          <dgm:bulletEnabled val="1"/>
        </dgm:presLayoutVars>
      </dgm:prSet>
      <dgm:spPr/>
    </dgm:pt>
    <dgm:pt modelId="{77797BAC-15C7-4ABB-A909-77C0A396A84A}" type="pres">
      <dgm:prSet presAssocID="{9E46DB90-FF5A-49D0-9CB8-278CE1FFA719}" presName="spacer" presStyleCnt="0"/>
      <dgm:spPr/>
    </dgm:pt>
    <dgm:pt modelId="{FF23B27D-6D86-4CE7-8C7C-D4EA9E109EC1}" type="pres">
      <dgm:prSet presAssocID="{E9332768-0BD1-4747-B4B5-18A2F9B251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366D421-CE66-4BF7-A141-D6A811B42623}" type="pres">
      <dgm:prSet presAssocID="{2305E7D8-C6F4-442A-A7A6-3FE9E690F42B}" presName="spacer" presStyleCnt="0"/>
      <dgm:spPr/>
    </dgm:pt>
    <dgm:pt modelId="{792C0F2D-FDB0-44A0-9843-ABE21FAF6545}" type="pres">
      <dgm:prSet presAssocID="{D979FA3C-31BD-4CF8-9148-04810F4C0D80}" presName="parentText" presStyleLbl="node1" presStyleIdx="2" presStyleCnt="4" custScaleY="56448">
        <dgm:presLayoutVars>
          <dgm:chMax val="0"/>
          <dgm:bulletEnabled val="1"/>
        </dgm:presLayoutVars>
      </dgm:prSet>
      <dgm:spPr/>
    </dgm:pt>
    <dgm:pt modelId="{ABCB1AB9-40C4-4E62-A2C2-6817B216A48F}" type="pres">
      <dgm:prSet presAssocID="{EB661ED2-8B7F-4C01-8F7B-D6FF493F2D90}" presName="spacer" presStyleCnt="0"/>
      <dgm:spPr/>
    </dgm:pt>
    <dgm:pt modelId="{27169669-CA31-40C3-B46E-E9F479AFEE71}" type="pres">
      <dgm:prSet presAssocID="{5332E1EE-B1D4-48D0-A611-3AAED568E9FA}" presName="parentText" presStyleLbl="node1" presStyleIdx="3" presStyleCnt="4" custScaleY="68302">
        <dgm:presLayoutVars>
          <dgm:chMax val="0"/>
          <dgm:bulletEnabled val="1"/>
        </dgm:presLayoutVars>
      </dgm:prSet>
      <dgm:spPr/>
    </dgm:pt>
  </dgm:ptLst>
  <dgm:cxnLst>
    <dgm:cxn modelId="{74FAD40C-3346-46AB-8107-665B53BB3E08}" type="presOf" srcId="{778D852E-03C0-4447-9AEF-8D191C2D0FE0}" destId="{76450CEC-D6AF-4C18-A8CE-8429F5E29F77}" srcOrd="0" destOrd="0" presId="urn:microsoft.com/office/officeart/2005/8/layout/vList2"/>
    <dgm:cxn modelId="{3B729A13-D3ED-4D54-86F5-2FF86457C5D6}" srcId="{778D852E-03C0-4447-9AEF-8D191C2D0FE0}" destId="{7AA1A81F-132D-468E-8132-996EC470B1C5}" srcOrd="0" destOrd="0" parTransId="{6B9301B9-84E9-4022-BE29-0C7FC8B8CA5A}" sibTransId="{9E46DB90-FF5A-49D0-9CB8-278CE1FFA719}"/>
    <dgm:cxn modelId="{CF644B5F-A5BC-4391-B7CB-0DA5BBA2DC52}" type="presOf" srcId="{D979FA3C-31BD-4CF8-9148-04810F4C0D80}" destId="{792C0F2D-FDB0-44A0-9843-ABE21FAF6545}" srcOrd="0" destOrd="0" presId="urn:microsoft.com/office/officeart/2005/8/layout/vList2"/>
    <dgm:cxn modelId="{3B3D3769-ECFB-4D2C-B062-0D9E66A66A14}" type="presOf" srcId="{E9332768-0BD1-4747-B4B5-18A2F9B25101}" destId="{FF23B27D-6D86-4CE7-8C7C-D4EA9E109EC1}" srcOrd="0" destOrd="0" presId="urn:microsoft.com/office/officeart/2005/8/layout/vList2"/>
    <dgm:cxn modelId="{B289CC77-FE92-4E81-A379-029FD933BA03}" srcId="{778D852E-03C0-4447-9AEF-8D191C2D0FE0}" destId="{E9332768-0BD1-4747-B4B5-18A2F9B25101}" srcOrd="1" destOrd="0" parTransId="{DFDA92FF-3967-4319-80F5-287B3D9C3077}" sibTransId="{2305E7D8-C6F4-442A-A7A6-3FE9E690F42B}"/>
    <dgm:cxn modelId="{A9CC969A-6B7F-4FA1-A400-69CA0458030B}" type="presOf" srcId="{7AA1A81F-132D-468E-8132-996EC470B1C5}" destId="{D60231FD-D444-4D4D-BD5C-41E9A46580B1}" srcOrd="0" destOrd="0" presId="urn:microsoft.com/office/officeart/2005/8/layout/vList2"/>
    <dgm:cxn modelId="{970F3FC7-BEFE-4E90-9007-B8780E96BC2C}" srcId="{778D852E-03C0-4447-9AEF-8D191C2D0FE0}" destId="{5332E1EE-B1D4-48D0-A611-3AAED568E9FA}" srcOrd="3" destOrd="0" parTransId="{277A0206-A7C0-4C12-84CF-5BBD1D245636}" sibTransId="{5DECE1EC-BB02-45A6-AC19-0515BC3DBEDD}"/>
    <dgm:cxn modelId="{799A1AD9-576F-4A2D-B54C-3CD397E44BD0}" type="presOf" srcId="{5332E1EE-B1D4-48D0-A611-3AAED568E9FA}" destId="{27169669-CA31-40C3-B46E-E9F479AFEE71}" srcOrd="0" destOrd="0" presId="urn:microsoft.com/office/officeart/2005/8/layout/vList2"/>
    <dgm:cxn modelId="{3F79F4EF-B506-4AC3-A393-A9A1EBE742A2}" srcId="{778D852E-03C0-4447-9AEF-8D191C2D0FE0}" destId="{D979FA3C-31BD-4CF8-9148-04810F4C0D80}" srcOrd="2" destOrd="0" parTransId="{2CEF40AF-B6F9-47DA-9F62-AB79A6AEC99E}" sibTransId="{EB661ED2-8B7F-4C01-8F7B-D6FF493F2D90}"/>
    <dgm:cxn modelId="{FE097E71-230C-4D30-9D6D-135B7535F283}" type="presParOf" srcId="{76450CEC-D6AF-4C18-A8CE-8429F5E29F77}" destId="{D60231FD-D444-4D4D-BD5C-41E9A46580B1}" srcOrd="0" destOrd="0" presId="urn:microsoft.com/office/officeart/2005/8/layout/vList2"/>
    <dgm:cxn modelId="{88E7C932-71E7-4DA9-A8B0-BAA991A29B21}" type="presParOf" srcId="{76450CEC-D6AF-4C18-A8CE-8429F5E29F77}" destId="{77797BAC-15C7-4ABB-A909-77C0A396A84A}" srcOrd="1" destOrd="0" presId="urn:microsoft.com/office/officeart/2005/8/layout/vList2"/>
    <dgm:cxn modelId="{4A9B9CD6-695B-4B99-84D6-EF3E079B0F3E}" type="presParOf" srcId="{76450CEC-D6AF-4C18-A8CE-8429F5E29F77}" destId="{FF23B27D-6D86-4CE7-8C7C-D4EA9E109EC1}" srcOrd="2" destOrd="0" presId="urn:microsoft.com/office/officeart/2005/8/layout/vList2"/>
    <dgm:cxn modelId="{20BE19D0-6BA4-43FC-A855-4D5320796C74}" type="presParOf" srcId="{76450CEC-D6AF-4C18-A8CE-8429F5E29F77}" destId="{A366D421-CE66-4BF7-A141-D6A811B42623}" srcOrd="3" destOrd="0" presId="urn:microsoft.com/office/officeart/2005/8/layout/vList2"/>
    <dgm:cxn modelId="{5F63B863-C814-4FCC-BD0F-A9C6E5C65F30}" type="presParOf" srcId="{76450CEC-D6AF-4C18-A8CE-8429F5E29F77}" destId="{792C0F2D-FDB0-44A0-9843-ABE21FAF6545}" srcOrd="4" destOrd="0" presId="urn:microsoft.com/office/officeart/2005/8/layout/vList2"/>
    <dgm:cxn modelId="{844657DC-CB3E-4328-B03A-31AFFAB0CF54}" type="presParOf" srcId="{76450CEC-D6AF-4C18-A8CE-8429F5E29F77}" destId="{ABCB1AB9-40C4-4E62-A2C2-6817B216A48F}" srcOrd="5" destOrd="0" presId="urn:microsoft.com/office/officeart/2005/8/layout/vList2"/>
    <dgm:cxn modelId="{FF2CA834-9CE1-4C55-B3DD-5B157ED22CF7}" type="presParOf" srcId="{76450CEC-D6AF-4C18-A8CE-8429F5E29F77}" destId="{27169669-CA31-40C3-B46E-E9F479AFEE7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25CA45-E599-43E3-803C-FC7B07DEEA89}">
      <dsp:nvSpPr>
        <dsp:cNvPr id="0" name=""/>
        <dsp:cNvSpPr/>
      </dsp:nvSpPr>
      <dsp:spPr>
        <a:xfrm>
          <a:off x="0" y="19432"/>
          <a:ext cx="11719054" cy="539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baseline="0"/>
            <a:t>Целеполаганию</a:t>
          </a:r>
          <a:r>
            <a:rPr lang="ru-RU" sz="1600" b="0" i="0" kern="1200" baseline="0"/>
            <a:t> – определение приоритетных направлений, целей и задач развития;</a:t>
          </a:r>
          <a:endParaRPr lang="ru-RU" sz="1600" kern="1200"/>
        </a:p>
      </dsp:txBody>
      <dsp:txXfrm>
        <a:off x="26358" y="45790"/>
        <a:ext cx="11666338" cy="487237"/>
      </dsp:txXfrm>
    </dsp:sp>
    <dsp:sp modelId="{98AA3954-0FF4-444A-9F8C-13195D420A2E}">
      <dsp:nvSpPr>
        <dsp:cNvPr id="0" name=""/>
        <dsp:cNvSpPr/>
      </dsp:nvSpPr>
      <dsp:spPr>
        <a:xfrm>
          <a:off x="0" y="611225"/>
          <a:ext cx="11719054" cy="539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baseline="0"/>
            <a:t>Прогнозированию</a:t>
          </a:r>
          <a:r>
            <a:rPr lang="ru-RU" sz="1600" b="0" i="0" kern="1200" baseline="0"/>
            <a:t> – разработка научно обоснованных прогнозов социально-экономического развития и оценка рисков;</a:t>
          </a:r>
          <a:endParaRPr lang="ru-RU" sz="1600" kern="1200"/>
        </a:p>
      </dsp:txBody>
      <dsp:txXfrm>
        <a:off x="26358" y="637583"/>
        <a:ext cx="11666338" cy="487237"/>
      </dsp:txXfrm>
    </dsp:sp>
    <dsp:sp modelId="{722BBC1D-C792-446E-965F-57C37357799A}">
      <dsp:nvSpPr>
        <dsp:cNvPr id="0" name=""/>
        <dsp:cNvSpPr/>
      </dsp:nvSpPr>
      <dsp:spPr>
        <a:xfrm>
          <a:off x="0" y="1203019"/>
          <a:ext cx="11719054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baseline="0"/>
            <a:t>Планированию</a:t>
          </a:r>
          <a:r>
            <a:rPr lang="ru-RU" sz="1600" b="0" i="0" kern="1200" baseline="0"/>
            <a:t> – подготовка стратегических планов и основных направлений деятельности органов власти, направленных на достижение поставленных целей;</a:t>
          </a:r>
          <a:endParaRPr lang="ru-RU" sz="1600" kern="1200"/>
        </a:p>
      </dsp:txBody>
      <dsp:txXfrm>
        <a:off x="35083" y="1238102"/>
        <a:ext cx="11648888" cy="648506"/>
      </dsp:txXfrm>
    </dsp:sp>
    <dsp:sp modelId="{39EB8ECF-86FF-4105-966F-D2CE6B3FC8A4}">
      <dsp:nvSpPr>
        <dsp:cNvPr id="0" name=""/>
        <dsp:cNvSpPr/>
      </dsp:nvSpPr>
      <dsp:spPr>
        <a:xfrm>
          <a:off x="0" y="1973531"/>
          <a:ext cx="11719054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baseline="0" dirty="0"/>
            <a:t>Программированию</a:t>
          </a:r>
          <a:r>
            <a:rPr lang="ru-RU" sz="1600" b="0" i="0" kern="1200" baseline="0" dirty="0"/>
            <a:t> – разработка и реализация государственных и муниципальных программ для достижения стратегических целей;</a:t>
          </a:r>
          <a:endParaRPr lang="ru-RU" sz="1600" kern="1200" dirty="0"/>
        </a:p>
      </dsp:txBody>
      <dsp:txXfrm>
        <a:off x="35083" y="2008614"/>
        <a:ext cx="11648888" cy="648506"/>
      </dsp:txXfrm>
    </dsp:sp>
    <dsp:sp modelId="{3853859B-4675-4C2A-A773-50FE5EF675BA}">
      <dsp:nvSpPr>
        <dsp:cNvPr id="0" name=""/>
        <dsp:cNvSpPr/>
      </dsp:nvSpPr>
      <dsp:spPr>
        <a:xfrm>
          <a:off x="0" y="2744044"/>
          <a:ext cx="11719054" cy="539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baseline="0" dirty="0"/>
            <a:t>Мониторингу и контролю</a:t>
          </a:r>
          <a:r>
            <a:rPr lang="ru-RU" sz="1600" b="0" i="0" kern="1200" baseline="0" dirty="0"/>
            <a:t> – оценка хода реализации стратегических документов и контроль за достижением целей</a:t>
          </a:r>
          <a:endParaRPr lang="ru-RU" sz="1600" kern="1200" dirty="0"/>
        </a:p>
      </dsp:txBody>
      <dsp:txXfrm>
        <a:off x="26358" y="2770402"/>
        <a:ext cx="11666338" cy="4872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BB118A-3635-4B0A-8E97-D0C0186C321B}">
      <dsp:nvSpPr>
        <dsp:cNvPr id="0" name=""/>
        <dsp:cNvSpPr/>
      </dsp:nvSpPr>
      <dsp:spPr>
        <a:xfrm>
          <a:off x="4104351" y="890"/>
          <a:ext cx="2746845" cy="14095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1" kern="1200" dirty="0"/>
            <a:t>Определение стратегических приоритетов</a:t>
          </a:r>
        </a:p>
      </dsp:txBody>
      <dsp:txXfrm>
        <a:off x="4173160" y="69699"/>
        <a:ext cx="2609227" cy="1271945"/>
      </dsp:txXfrm>
    </dsp:sp>
    <dsp:sp modelId="{35ABDAC3-89B2-4585-8C1F-D6607ABB54C0}">
      <dsp:nvSpPr>
        <dsp:cNvPr id="0" name=""/>
        <dsp:cNvSpPr/>
      </dsp:nvSpPr>
      <dsp:spPr>
        <a:xfrm rot="1374384">
          <a:off x="6848654" y="1238452"/>
          <a:ext cx="905840" cy="4757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700" kern="1200"/>
        </a:p>
      </dsp:txBody>
      <dsp:txXfrm>
        <a:off x="6854281" y="1305822"/>
        <a:ext cx="763122" cy="285437"/>
      </dsp:txXfrm>
    </dsp:sp>
    <dsp:sp modelId="{065721E9-D9FC-4DB5-BE4F-60758653B970}">
      <dsp:nvSpPr>
        <dsp:cNvPr id="0" name=""/>
        <dsp:cNvSpPr/>
      </dsp:nvSpPr>
      <dsp:spPr>
        <a:xfrm>
          <a:off x="7799183" y="1562135"/>
          <a:ext cx="2746845" cy="14095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Разработка программы и бюджета</a:t>
          </a:r>
        </a:p>
      </dsp:txBody>
      <dsp:txXfrm>
        <a:off x="7867992" y="1630944"/>
        <a:ext cx="2609227" cy="1271945"/>
      </dsp:txXfrm>
    </dsp:sp>
    <dsp:sp modelId="{99476A64-84EC-40C8-ABA7-C9FA15CDE416}">
      <dsp:nvSpPr>
        <dsp:cNvPr id="0" name=""/>
        <dsp:cNvSpPr/>
      </dsp:nvSpPr>
      <dsp:spPr>
        <a:xfrm rot="9526724">
          <a:off x="6920086" y="2737645"/>
          <a:ext cx="855338" cy="4757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700" kern="1200"/>
        </a:p>
      </dsp:txBody>
      <dsp:txXfrm rot="10800000">
        <a:off x="7057965" y="2806960"/>
        <a:ext cx="712620" cy="285437"/>
      </dsp:txXfrm>
    </dsp:sp>
    <dsp:sp modelId="{B9EA0BBB-219C-48F8-94A0-8C36DDE33A9D}">
      <dsp:nvSpPr>
        <dsp:cNvPr id="0" name=""/>
        <dsp:cNvSpPr/>
      </dsp:nvSpPr>
      <dsp:spPr>
        <a:xfrm>
          <a:off x="4104351" y="2996844"/>
          <a:ext cx="2746845" cy="14095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Реализация программы и бюджета</a:t>
          </a:r>
        </a:p>
      </dsp:txBody>
      <dsp:txXfrm>
        <a:off x="4173160" y="3065653"/>
        <a:ext cx="2609227" cy="1271945"/>
      </dsp:txXfrm>
    </dsp:sp>
    <dsp:sp modelId="{D1009601-11EF-47CE-BEDC-7F811A2C3154}">
      <dsp:nvSpPr>
        <dsp:cNvPr id="0" name=""/>
        <dsp:cNvSpPr/>
      </dsp:nvSpPr>
      <dsp:spPr>
        <a:xfrm rot="12042275">
          <a:off x="3201502" y="2766541"/>
          <a:ext cx="863152" cy="4757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700" kern="1200"/>
        </a:p>
      </dsp:txBody>
      <dsp:txXfrm rot="10800000">
        <a:off x="3339611" y="2886915"/>
        <a:ext cx="720434" cy="285437"/>
      </dsp:txXfrm>
    </dsp:sp>
    <dsp:sp modelId="{AACE703C-0045-4835-B9DB-020076B239A2}">
      <dsp:nvSpPr>
        <dsp:cNvPr id="0" name=""/>
        <dsp:cNvSpPr/>
      </dsp:nvSpPr>
      <dsp:spPr>
        <a:xfrm>
          <a:off x="369258" y="1585128"/>
          <a:ext cx="2746845" cy="14095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Оценка достижения </a:t>
          </a:r>
          <a:r>
            <a:rPr lang="ru-RU" sz="2100" kern="1200"/>
            <a:t>целевых приоритетов</a:t>
          </a:r>
          <a:endParaRPr lang="ru-RU" sz="2100" kern="1200" dirty="0"/>
        </a:p>
      </dsp:txBody>
      <dsp:txXfrm>
        <a:off x="438067" y="1653937"/>
        <a:ext cx="2609227" cy="1271945"/>
      </dsp:txXfrm>
    </dsp:sp>
    <dsp:sp modelId="{46253186-A4AB-41FA-9E1B-4068FBAA70EF}">
      <dsp:nvSpPr>
        <dsp:cNvPr id="0" name=""/>
        <dsp:cNvSpPr/>
      </dsp:nvSpPr>
      <dsp:spPr>
        <a:xfrm rot="20220948">
          <a:off x="3120255" y="1270221"/>
          <a:ext cx="931408" cy="4757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700" kern="1200"/>
        </a:p>
      </dsp:txBody>
      <dsp:txXfrm>
        <a:off x="3125920" y="1393230"/>
        <a:ext cx="788690" cy="2854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C6497B-023A-429A-99A4-D8777BC72EB9}">
      <dsp:nvSpPr>
        <dsp:cNvPr id="0" name=""/>
        <dsp:cNvSpPr/>
      </dsp:nvSpPr>
      <dsp:spPr>
        <a:xfrm>
          <a:off x="7582" y="7870"/>
          <a:ext cx="3404605" cy="115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координация действий органов власти</a:t>
          </a:r>
        </a:p>
      </dsp:txBody>
      <dsp:txXfrm>
        <a:off x="41355" y="41643"/>
        <a:ext cx="3337059" cy="1085541"/>
      </dsp:txXfrm>
    </dsp:sp>
    <dsp:sp modelId="{A1EC5466-CB06-488B-8F41-F6B897B9989E}">
      <dsp:nvSpPr>
        <dsp:cNvPr id="0" name=""/>
        <dsp:cNvSpPr/>
      </dsp:nvSpPr>
      <dsp:spPr>
        <a:xfrm>
          <a:off x="3581307" y="346109"/>
          <a:ext cx="407424" cy="476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/>
        </a:p>
      </dsp:txBody>
      <dsp:txXfrm>
        <a:off x="3581307" y="441431"/>
        <a:ext cx="285197" cy="285965"/>
      </dsp:txXfrm>
    </dsp:sp>
    <dsp:sp modelId="{593575F8-6AD4-4DF8-9656-12E236040F19}">
      <dsp:nvSpPr>
        <dsp:cNvPr id="0" name=""/>
        <dsp:cNvSpPr/>
      </dsp:nvSpPr>
      <dsp:spPr>
        <a:xfrm>
          <a:off x="4180912" y="7870"/>
          <a:ext cx="3404605" cy="115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анализ условий и ограничений развития</a:t>
          </a:r>
        </a:p>
      </dsp:txBody>
      <dsp:txXfrm>
        <a:off x="4214685" y="41643"/>
        <a:ext cx="3337059" cy="1085541"/>
      </dsp:txXfrm>
    </dsp:sp>
    <dsp:sp modelId="{C86AF7CF-3767-4558-ABEE-056D062B177F}">
      <dsp:nvSpPr>
        <dsp:cNvPr id="0" name=""/>
        <dsp:cNvSpPr/>
      </dsp:nvSpPr>
      <dsp:spPr>
        <a:xfrm>
          <a:off x="7754637" y="346109"/>
          <a:ext cx="407424" cy="476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/>
        </a:p>
      </dsp:txBody>
      <dsp:txXfrm>
        <a:off x="7754637" y="441431"/>
        <a:ext cx="285197" cy="285965"/>
      </dsp:txXfrm>
    </dsp:sp>
    <dsp:sp modelId="{FB63AC80-6416-4CEC-95DC-1C996CE301ED}">
      <dsp:nvSpPr>
        <dsp:cNvPr id="0" name=""/>
        <dsp:cNvSpPr/>
      </dsp:nvSpPr>
      <dsp:spPr>
        <a:xfrm>
          <a:off x="8354243" y="7870"/>
          <a:ext cx="3404605" cy="115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определение приоритетов политики</a:t>
          </a:r>
        </a:p>
      </dsp:txBody>
      <dsp:txXfrm>
        <a:off x="8388016" y="41643"/>
        <a:ext cx="3337059" cy="1085541"/>
      </dsp:txXfrm>
    </dsp:sp>
    <dsp:sp modelId="{5114E33A-609E-44D0-889C-E6A1C46CC9F2}">
      <dsp:nvSpPr>
        <dsp:cNvPr id="0" name=""/>
        <dsp:cNvSpPr/>
      </dsp:nvSpPr>
      <dsp:spPr>
        <a:xfrm rot="5400000">
          <a:off x="9852833" y="1295484"/>
          <a:ext cx="407424" cy="476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/>
        </a:p>
      </dsp:txBody>
      <dsp:txXfrm rot="-5400000">
        <a:off x="9913563" y="1330077"/>
        <a:ext cx="285965" cy="285197"/>
      </dsp:txXfrm>
    </dsp:sp>
    <dsp:sp modelId="{5B3EF824-1FA4-436E-B70E-820450F672EB}">
      <dsp:nvSpPr>
        <dsp:cNvPr id="0" name=""/>
        <dsp:cNvSpPr/>
      </dsp:nvSpPr>
      <dsp:spPr>
        <a:xfrm>
          <a:off x="8354243" y="1929682"/>
          <a:ext cx="3404605" cy="115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выбор оптимальных способов достижения целей,</a:t>
          </a:r>
        </a:p>
      </dsp:txBody>
      <dsp:txXfrm>
        <a:off x="8388016" y="1963455"/>
        <a:ext cx="3337059" cy="1085541"/>
      </dsp:txXfrm>
    </dsp:sp>
    <dsp:sp modelId="{7F313073-4322-4CF8-A15D-AB381F080B73}">
      <dsp:nvSpPr>
        <dsp:cNvPr id="0" name=""/>
        <dsp:cNvSpPr/>
      </dsp:nvSpPr>
      <dsp:spPr>
        <a:xfrm rot="10800000">
          <a:off x="7777699" y="2267921"/>
          <a:ext cx="407424" cy="476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/>
        </a:p>
      </dsp:txBody>
      <dsp:txXfrm rot="10800000">
        <a:off x="7899926" y="2363243"/>
        <a:ext cx="285197" cy="285965"/>
      </dsp:txXfrm>
    </dsp:sp>
    <dsp:sp modelId="{768D2EB4-6BB7-4BF7-86E7-5E84DFBEAFFC}">
      <dsp:nvSpPr>
        <dsp:cNvPr id="0" name=""/>
        <dsp:cNvSpPr/>
      </dsp:nvSpPr>
      <dsp:spPr>
        <a:xfrm>
          <a:off x="4180912" y="1929682"/>
          <a:ext cx="3404605" cy="115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формирование комплекса мероприятий</a:t>
          </a:r>
        </a:p>
      </dsp:txBody>
      <dsp:txXfrm>
        <a:off x="4214685" y="1963455"/>
        <a:ext cx="3337059" cy="1085541"/>
      </dsp:txXfrm>
    </dsp:sp>
    <dsp:sp modelId="{B25AF6A1-36A1-45A9-B474-1BD9FCDAD0BE}">
      <dsp:nvSpPr>
        <dsp:cNvPr id="0" name=""/>
        <dsp:cNvSpPr/>
      </dsp:nvSpPr>
      <dsp:spPr>
        <a:xfrm rot="10800000">
          <a:off x="3604369" y="2267921"/>
          <a:ext cx="407424" cy="476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/>
        </a:p>
      </dsp:txBody>
      <dsp:txXfrm rot="10800000">
        <a:off x="3726596" y="2363243"/>
        <a:ext cx="285197" cy="285965"/>
      </dsp:txXfrm>
    </dsp:sp>
    <dsp:sp modelId="{6A945354-BF45-48CE-BDB0-BDCB665E9BC5}">
      <dsp:nvSpPr>
        <dsp:cNvPr id="0" name=""/>
        <dsp:cNvSpPr/>
      </dsp:nvSpPr>
      <dsp:spPr>
        <a:xfrm>
          <a:off x="7582" y="1929682"/>
          <a:ext cx="3404605" cy="115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ресурсное обеспечение </a:t>
          </a:r>
        </a:p>
      </dsp:txBody>
      <dsp:txXfrm>
        <a:off x="41355" y="1963455"/>
        <a:ext cx="3337059" cy="1085541"/>
      </dsp:txXfrm>
    </dsp:sp>
    <dsp:sp modelId="{A1654175-7CF3-4E88-BAE7-044EAB16D659}">
      <dsp:nvSpPr>
        <dsp:cNvPr id="0" name=""/>
        <dsp:cNvSpPr/>
      </dsp:nvSpPr>
      <dsp:spPr>
        <a:xfrm rot="5400000">
          <a:off x="1506173" y="3217296"/>
          <a:ext cx="407424" cy="476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/>
        </a:p>
      </dsp:txBody>
      <dsp:txXfrm rot="-5400000">
        <a:off x="1566903" y="3251889"/>
        <a:ext cx="285965" cy="285197"/>
      </dsp:txXfrm>
    </dsp:sp>
    <dsp:sp modelId="{412661D2-6038-4ADB-ACFB-1819010BA9A8}">
      <dsp:nvSpPr>
        <dsp:cNvPr id="0" name=""/>
        <dsp:cNvSpPr/>
      </dsp:nvSpPr>
      <dsp:spPr>
        <a:xfrm>
          <a:off x="7582" y="3851494"/>
          <a:ext cx="3404605" cy="115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организация мониторинга исполнения стратегических документов</a:t>
          </a:r>
        </a:p>
      </dsp:txBody>
      <dsp:txXfrm>
        <a:off x="41355" y="3885267"/>
        <a:ext cx="3337059" cy="10855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878882-A907-4EE9-A222-CC3F484415E1}">
      <dsp:nvSpPr>
        <dsp:cNvPr id="0" name=""/>
        <dsp:cNvSpPr/>
      </dsp:nvSpPr>
      <dsp:spPr>
        <a:xfrm>
          <a:off x="6423" y="103490"/>
          <a:ext cx="2713465" cy="13455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единства и целостности</a:t>
          </a:r>
          <a:endParaRPr lang="en-US" sz="2000" kern="1200"/>
        </a:p>
      </dsp:txBody>
      <dsp:txXfrm>
        <a:off x="6423" y="103490"/>
        <a:ext cx="2713465" cy="1345520"/>
      </dsp:txXfrm>
    </dsp:sp>
    <dsp:sp modelId="{8647102A-0096-474B-B896-BD1B45B37FA7}">
      <dsp:nvSpPr>
        <dsp:cNvPr id="0" name=""/>
        <dsp:cNvSpPr/>
      </dsp:nvSpPr>
      <dsp:spPr>
        <a:xfrm>
          <a:off x="2944142" y="103490"/>
          <a:ext cx="2713465" cy="13455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разграничения полномочий</a:t>
          </a:r>
          <a:endParaRPr lang="en-US" sz="2000" kern="1200" dirty="0"/>
        </a:p>
      </dsp:txBody>
      <dsp:txXfrm>
        <a:off x="2944142" y="103490"/>
        <a:ext cx="2713465" cy="1345520"/>
      </dsp:txXfrm>
    </dsp:sp>
    <dsp:sp modelId="{2D6CD5D4-EA29-4BD4-B749-CDCB7F43E42F}">
      <dsp:nvSpPr>
        <dsp:cNvPr id="0" name=""/>
        <dsp:cNvSpPr/>
      </dsp:nvSpPr>
      <dsp:spPr>
        <a:xfrm>
          <a:off x="5881861" y="103490"/>
          <a:ext cx="2713465" cy="13455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преемственности и непрерывности</a:t>
          </a:r>
          <a:endParaRPr lang="en-US" sz="2000" kern="1200"/>
        </a:p>
      </dsp:txBody>
      <dsp:txXfrm>
        <a:off x="5881861" y="103490"/>
        <a:ext cx="2713465" cy="1345520"/>
      </dsp:txXfrm>
    </dsp:sp>
    <dsp:sp modelId="{6B1328B0-965A-4B9A-A878-E053A0E94596}">
      <dsp:nvSpPr>
        <dsp:cNvPr id="0" name=""/>
        <dsp:cNvSpPr/>
      </dsp:nvSpPr>
      <dsp:spPr>
        <a:xfrm>
          <a:off x="8819580" y="103490"/>
          <a:ext cx="2713465" cy="13455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сбалансированности системы стратегического планирования</a:t>
          </a:r>
          <a:endParaRPr lang="en-US" sz="2000" kern="1200"/>
        </a:p>
      </dsp:txBody>
      <dsp:txXfrm>
        <a:off x="8819580" y="103490"/>
        <a:ext cx="2713465" cy="1345520"/>
      </dsp:txXfrm>
    </dsp:sp>
    <dsp:sp modelId="{2144B823-40DA-492B-B7D7-36AA2BEDDB10}">
      <dsp:nvSpPr>
        <dsp:cNvPr id="0" name=""/>
        <dsp:cNvSpPr/>
      </dsp:nvSpPr>
      <dsp:spPr>
        <a:xfrm>
          <a:off x="6423" y="1673264"/>
          <a:ext cx="2713465" cy="13455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результативности и эффективности стратегического планирования</a:t>
          </a:r>
          <a:endParaRPr lang="en-US" sz="2000" kern="1200"/>
        </a:p>
      </dsp:txBody>
      <dsp:txXfrm>
        <a:off x="6423" y="1673264"/>
        <a:ext cx="2713465" cy="1345520"/>
      </dsp:txXfrm>
    </dsp:sp>
    <dsp:sp modelId="{E8DD9BAE-A684-4233-A97F-A74140FA5B98}">
      <dsp:nvSpPr>
        <dsp:cNvPr id="0" name=""/>
        <dsp:cNvSpPr/>
      </dsp:nvSpPr>
      <dsp:spPr>
        <a:xfrm>
          <a:off x="2944142" y="1673264"/>
          <a:ext cx="2713465" cy="13455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ответственности участников стратегического планирования</a:t>
          </a:r>
          <a:endParaRPr lang="en-US" sz="2000" kern="1200"/>
        </a:p>
      </dsp:txBody>
      <dsp:txXfrm>
        <a:off x="2944142" y="1673264"/>
        <a:ext cx="2713465" cy="1345520"/>
      </dsp:txXfrm>
    </dsp:sp>
    <dsp:sp modelId="{87132504-98E7-4905-88A7-89D78C336C7C}">
      <dsp:nvSpPr>
        <dsp:cNvPr id="0" name=""/>
        <dsp:cNvSpPr/>
      </dsp:nvSpPr>
      <dsp:spPr>
        <a:xfrm>
          <a:off x="5881861" y="1673264"/>
          <a:ext cx="2713465" cy="13455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прозрачности (открытости) стратегического планирования</a:t>
          </a:r>
          <a:endParaRPr lang="en-US" sz="2000" kern="1200"/>
        </a:p>
      </dsp:txBody>
      <dsp:txXfrm>
        <a:off x="5881861" y="1673264"/>
        <a:ext cx="2713465" cy="1345520"/>
      </dsp:txXfrm>
    </dsp:sp>
    <dsp:sp modelId="{6DE5FAEB-2089-44A0-97AD-58871C24997E}">
      <dsp:nvSpPr>
        <dsp:cNvPr id="0" name=""/>
        <dsp:cNvSpPr/>
      </dsp:nvSpPr>
      <dsp:spPr>
        <a:xfrm>
          <a:off x="8819580" y="1673264"/>
          <a:ext cx="2713465" cy="13455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реалистичности</a:t>
          </a:r>
          <a:endParaRPr lang="en-US" sz="2000" kern="1200"/>
        </a:p>
      </dsp:txBody>
      <dsp:txXfrm>
        <a:off x="8819580" y="1673264"/>
        <a:ext cx="2713465" cy="1345520"/>
      </dsp:txXfrm>
    </dsp:sp>
    <dsp:sp modelId="{AD82AFB8-410F-42E0-8F51-DF3B8E2B1197}">
      <dsp:nvSpPr>
        <dsp:cNvPr id="0" name=""/>
        <dsp:cNvSpPr/>
      </dsp:nvSpPr>
      <dsp:spPr>
        <a:xfrm>
          <a:off x="6423" y="3243037"/>
          <a:ext cx="2713465" cy="13455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ресурсной обеспеченности</a:t>
          </a:r>
          <a:endParaRPr lang="en-US" sz="2000" kern="1200"/>
        </a:p>
      </dsp:txBody>
      <dsp:txXfrm>
        <a:off x="6423" y="3243037"/>
        <a:ext cx="2713465" cy="1345520"/>
      </dsp:txXfrm>
    </dsp:sp>
    <dsp:sp modelId="{189FA425-3749-41EE-BA3B-0EDE1722B926}">
      <dsp:nvSpPr>
        <dsp:cNvPr id="0" name=""/>
        <dsp:cNvSpPr/>
      </dsp:nvSpPr>
      <dsp:spPr>
        <a:xfrm>
          <a:off x="2944142" y="3243037"/>
          <a:ext cx="2713465" cy="13455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измеряемости целей</a:t>
          </a:r>
          <a:endParaRPr lang="en-US" sz="2000" kern="1200"/>
        </a:p>
      </dsp:txBody>
      <dsp:txXfrm>
        <a:off x="2944142" y="3243037"/>
        <a:ext cx="2713465" cy="1345520"/>
      </dsp:txXfrm>
    </dsp:sp>
    <dsp:sp modelId="{A2192263-C1E3-4E62-9081-59F890944F0F}">
      <dsp:nvSpPr>
        <dsp:cNvPr id="0" name=""/>
        <dsp:cNvSpPr/>
      </dsp:nvSpPr>
      <dsp:spPr>
        <a:xfrm>
          <a:off x="5881861" y="3243037"/>
          <a:ext cx="2713465" cy="13455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соответствия показателей целям</a:t>
          </a:r>
          <a:endParaRPr lang="en-US" sz="2000" kern="1200"/>
        </a:p>
      </dsp:txBody>
      <dsp:txXfrm>
        <a:off x="5881861" y="3243037"/>
        <a:ext cx="2713465" cy="1345520"/>
      </dsp:txXfrm>
    </dsp:sp>
    <dsp:sp modelId="{B597C3A4-8205-4118-BA50-4DF160B98658}">
      <dsp:nvSpPr>
        <dsp:cNvPr id="0" name=""/>
        <dsp:cNvSpPr/>
      </dsp:nvSpPr>
      <dsp:spPr>
        <a:xfrm>
          <a:off x="8819580" y="3243037"/>
          <a:ext cx="2713465" cy="13455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программно-целевом принципе</a:t>
          </a:r>
          <a:endParaRPr lang="en-US" sz="2000" kern="1200"/>
        </a:p>
      </dsp:txBody>
      <dsp:txXfrm>
        <a:off x="8819580" y="3243037"/>
        <a:ext cx="2713465" cy="13455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C0B62-A2D1-4DCD-B23D-74D6FB385A53}">
      <dsp:nvSpPr>
        <dsp:cNvPr id="0" name=""/>
        <dsp:cNvSpPr/>
      </dsp:nvSpPr>
      <dsp:spPr>
        <a:xfrm>
          <a:off x="5106" y="0"/>
          <a:ext cx="2232781" cy="74789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федеральный проект</a:t>
          </a:r>
        </a:p>
      </dsp:txBody>
      <dsp:txXfrm>
        <a:off x="27011" y="21905"/>
        <a:ext cx="2188971" cy="704089"/>
      </dsp:txXfrm>
    </dsp:sp>
    <dsp:sp modelId="{D772165A-D57E-4187-83D4-CA0928C5F71A}">
      <dsp:nvSpPr>
        <dsp:cNvPr id="0" name=""/>
        <dsp:cNvSpPr/>
      </dsp:nvSpPr>
      <dsp:spPr>
        <a:xfrm>
          <a:off x="2461166" y="97084"/>
          <a:ext cx="473349" cy="5537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/>
        </a:p>
      </dsp:txBody>
      <dsp:txXfrm>
        <a:off x="2461166" y="207830"/>
        <a:ext cx="331344" cy="332237"/>
      </dsp:txXfrm>
    </dsp:sp>
    <dsp:sp modelId="{8754FE98-F624-48AD-9745-8BBA59A87742}">
      <dsp:nvSpPr>
        <dsp:cNvPr id="0" name=""/>
        <dsp:cNvSpPr/>
      </dsp:nvSpPr>
      <dsp:spPr>
        <a:xfrm>
          <a:off x="3131000" y="0"/>
          <a:ext cx="2232781" cy="74789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ведомственный проект</a:t>
          </a:r>
        </a:p>
      </dsp:txBody>
      <dsp:txXfrm>
        <a:off x="3152905" y="21905"/>
        <a:ext cx="2188971" cy="704089"/>
      </dsp:txXfrm>
    </dsp:sp>
    <dsp:sp modelId="{C36D8540-C9BC-40F6-9DDD-CAB6C0594A59}">
      <dsp:nvSpPr>
        <dsp:cNvPr id="0" name=""/>
        <dsp:cNvSpPr/>
      </dsp:nvSpPr>
      <dsp:spPr>
        <a:xfrm>
          <a:off x="5587059" y="97084"/>
          <a:ext cx="473349" cy="5537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/>
        </a:p>
      </dsp:txBody>
      <dsp:txXfrm>
        <a:off x="5587059" y="207830"/>
        <a:ext cx="331344" cy="332237"/>
      </dsp:txXfrm>
    </dsp:sp>
    <dsp:sp modelId="{71BD4521-090C-4437-8FBD-1F7325A41BA2}">
      <dsp:nvSpPr>
        <dsp:cNvPr id="0" name=""/>
        <dsp:cNvSpPr/>
      </dsp:nvSpPr>
      <dsp:spPr>
        <a:xfrm>
          <a:off x="6256894" y="0"/>
          <a:ext cx="2232781" cy="74789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региональный проект</a:t>
          </a:r>
        </a:p>
      </dsp:txBody>
      <dsp:txXfrm>
        <a:off x="6278799" y="21905"/>
        <a:ext cx="2188971" cy="704089"/>
      </dsp:txXfrm>
    </dsp:sp>
    <dsp:sp modelId="{1EB8EF69-E1C6-46ED-9306-AAC85B3F3D4C}">
      <dsp:nvSpPr>
        <dsp:cNvPr id="0" name=""/>
        <dsp:cNvSpPr/>
      </dsp:nvSpPr>
      <dsp:spPr>
        <a:xfrm>
          <a:off x="8712953" y="97084"/>
          <a:ext cx="473349" cy="5537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kern="1200"/>
        </a:p>
      </dsp:txBody>
      <dsp:txXfrm>
        <a:off x="8712953" y="207830"/>
        <a:ext cx="331344" cy="332237"/>
      </dsp:txXfrm>
    </dsp:sp>
    <dsp:sp modelId="{647FC170-F389-4445-B732-41A9F004E1FD}">
      <dsp:nvSpPr>
        <dsp:cNvPr id="0" name=""/>
        <dsp:cNvSpPr/>
      </dsp:nvSpPr>
      <dsp:spPr>
        <a:xfrm>
          <a:off x="9382788" y="0"/>
          <a:ext cx="2232781" cy="74789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муниципальный проект</a:t>
          </a:r>
        </a:p>
      </dsp:txBody>
      <dsp:txXfrm>
        <a:off x="9404693" y="21905"/>
        <a:ext cx="2188971" cy="7040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5530FD-F988-4D45-853D-541E2BE92D47}">
      <dsp:nvSpPr>
        <dsp:cNvPr id="0" name=""/>
        <dsp:cNvSpPr/>
      </dsp:nvSpPr>
      <dsp:spPr>
        <a:xfrm>
          <a:off x="0" y="76691"/>
          <a:ext cx="11620675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Государственная политика</a:t>
          </a:r>
        </a:p>
      </dsp:txBody>
      <dsp:txXfrm>
        <a:off x="23988" y="100679"/>
        <a:ext cx="11572699" cy="443424"/>
      </dsp:txXfrm>
    </dsp:sp>
    <dsp:sp modelId="{FD906926-2F5E-4BEF-A434-BD10B05F21F4}">
      <dsp:nvSpPr>
        <dsp:cNvPr id="0" name=""/>
        <dsp:cNvSpPr/>
      </dsp:nvSpPr>
      <dsp:spPr>
        <a:xfrm>
          <a:off x="0" y="625691"/>
          <a:ext cx="11620675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Концепция</a:t>
          </a:r>
        </a:p>
      </dsp:txBody>
      <dsp:txXfrm>
        <a:off x="23988" y="649679"/>
        <a:ext cx="11572699" cy="443424"/>
      </dsp:txXfrm>
    </dsp:sp>
    <dsp:sp modelId="{1E4D112F-F42D-4754-88BE-5A39AC3F5AD2}">
      <dsp:nvSpPr>
        <dsp:cNvPr id="0" name=""/>
        <dsp:cNvSpPr/>
      </dsp:nvSpPr>
      <dsp:spPr>
        <a:xfrm>
          <a:off x="0" y="1174691"/>
          <a:ext cx="11620675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Стратегия</a:t>
          </a:r>
        </a:p>
      </dsp:txBody>
      <dsp:txXfrm>
        <a:off x="23988" y="1198679"/>
        <a:ext cx="11572699" cy="443424"/>
      </dsp:txXfrm>
    </dsp:sp>
    <dsp:sp modelId="{3A45BC48-2FFB-4C94-AC30-5F35FD500436}">
      <dsp:nvSpPr>
        <dsp:cNvPr id="0" name=""/>
        <dsp:cNvSpPr/>
      </dsp:nvSpPr>
      <dsp:spPr>
        <a:xfrm>
          <a:off x="0" y="1723691"/>
          <a:ext cx="11620675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Национальный проект</a:t>
          </a:r>
        </a:p>
      </dsp:txBody>
      <dsp:txXfrm>
        <a:off x="23988" y="1747679"/>
        <a:ext cx="11572699" cy="443424"/>
      </dsp:txXfrm>
    </dsp:sp>
    <dsp:sp modelId="{9235937C-6DC7-4E52-8E5E-E100FCF3BD3A}">
      <dsp:nvSpPr>
        <dsp:cNvPr id="0" name=""/>
        <dsp:cNvSpPr/>
      </dsp:nvSpPr>
      <dsp:spPr>
        <a:xfrm>
          <a:off x="0" y="2272691"/>
          <a:ext cx="11620675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Государственная программа</a:t>
          </a:r>
        </a:p>
      </dsp:txBody>
      <dsp:txXfrm>
        <a:off x="23988" y="2296679"/>
        <a:ext cx="11572699" cy="443424"/>
      </dsp:txXfrm>
    </dsp:sp>
    <dsp:sp modelId="{4DBD4246-726A-496E-9643-AED6C590760F}">
      <dsp:nvSpPr>
        <dsp:cNvPr id="0" name=""/>
        <dsp:cNvSpPr/>
      </dsp:nvSpPr>
      <dsp:spPr>
        <a:xfrm>
          <a:off x="0" y="2821691"/>
          <a:ext cx="11620675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Федеральная целевая программа (ФЦП)</a:t>
          </a:r>
        </a:p>
      </dsp:txBody>
      <dsp:txXfrm>
        <a:off x="23988" y="2845679"/>
        <a:ext cx="11572699" cy="443424"/>
      </dsp:txXfrm>
    </dsp:sp>
    <dsp:sp modelId="{14ECA52B-49DE-4AD8-8C8A-CC50BAE5D14A}">
      <dsp:nvSpPr>
        <dsp:cNvPr id="0" name=""/>
        <dsp:cNvSpPr/>
      </dsp:nvSpPr>
      <dsp:spPr>
        <a:xfrm>
          <a:off x="0" y="3399311"/>
          <a:ext cx="11620675" cy="491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Проекты:</a:t>
          </a:r>
        </a:p>
      </dsp:txBody>
      <dsp:txXfrm>
        <a:off x="23988" y="3423299"/>
        <a:ext cx="11572699" cy="4434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760E82-6F58-4CDF-802C-18FE0C54E3FB}">
      <dsp:nvSpPr>
        <dsp:cNvPr id="0" name=""/>
        <dsp:cNvSpPr/>
      </dsp:nvSpPr>
      <dsp:spPr>
        <a:xfrm>
          <a:off x="0" y="41209"/>
          <a:ext cx="6111345" cy="7125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/>
            <a:t>Анализ документов</a:t>
          </a:r>
        </a:p>
      </dsp:txBody>
      <dsp:txXfrm>
        <a:off x="34783" y="75992"/>
        <a:ext cx="6041779" cy="642964"/>
      </dsp:txXfrm>
    </dsp:sp>
    <dsp:sp modelId="{F25A3280-7F34-4ED7-8AD8-016FB83CE303}">
      <dsp:nvSpPr>
        <dsp:cNvPr id="0" name=""/>
        <dsp:cNvSpPr/>
      </dsp:nvSpPr>
      <dsp:spPr>
        <a:xfrm>
          <a:off x="0" y="837259"/>
          <a:ext cx="6111345" cy="7125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/>
            <a:t>Социологический опрос</a:t>
          </a:r>
        </a:p>
      </dsp:txBody>
      <dsp:txXfrm>
        <a:off x="34783" y="872042"/>
        <a:ext cx="6041779" cy="642964"/>
      </dsp:txXfrm>
    </dsp:sp>
    <dsp:sp modelId="{C6D49A36-8388-43FA-9E23-709AA00DA549}">
      <dsp:nvSpPr>
        <dsp:cNvPr id="0" name=""/>
        <dsp:cNvSpPr/>
      </dsp:nvSpPr>
      <dsp:spPr>
        <a:xfrm>
          <a:off x="0" y="1633310"/>
          <a:ext cx="6111345" cy="7125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/>
            <a:t>Экспертные интервью</a:t>
          </a:r>
        </a:p>
      </dsp:txBody>
      <dsp:txXfrm>
        <a:off x="34783" y="1668093"/>
        <a:ext cx="6041779" cy="642964"/>
      </dsp:txXfrm>
    </dsp:sp>
    <dsp:sp modelId="{1C8B7D17-5F0C-469D-A25B-BC05CB8F4E03}">
      <dsp:nvSpPr>
        <dsp:cNvPr id="0" name=""/>
        <dsp:cNvSpPr/>
      </dsp:nvSpPr>
      <dsp:spPr>
        <a:xfrm>
          <a:off x="0" y="2429360"/>
          <a:ext cx="6111345" cy="7125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/>
            <a:t>Форсайт-сессия</a:t>
          </a:r>
        </a:p>
      </dsp:txBody>
      <dsp:txXfrm>
        <a:off x="34783" y="2464143"/>
        <a:ext cx="6041779" cy="642964"/>
      </dsp:txXfrm>
    </dsp:sp>
    <dsp:sp modelId="{95FA710A-9906-4E25-8ACA-CA4B2FE53382}">
      <dsp:nvSpPr>
        <dsp:cNvPr id="0" name=""/>
        <dsp:cNvSpPr/>
      </dsp:nvSpPr>
      <dsp:spPr>
        <a:xfrm>
          <a:off x="0" y="3225410"/>
          <a:ext cx="6111345" cy="7125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/>
            <a:t>Фокус-группа</a:t>
          </a:r>
        </a:p>
      </dsp:txBody>
      <dsp:txXfrm>
        <a:off x="34783" y="3260193"/>
        <a:ext cx="6041779" cy="642964"/>
      </dsp:txXfrm>
    </dsp:sp>
    <dsp:sp modelId="{9915D92F-7730-4D68-A939-C9BF866CD153}">
      <dsp:nvSpPr>
        <dsp:cNvPr id="0" name=""/>
        <dsp:cNvSpPr/>
      </dsp:nvSpPr>
      <dsp:spPr>
        <a:xfrm>
          <a:off x="0" y="4021460"/>
          <a:ext cx="6111345" cy="7125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/>
            <a:t>Анализ рисков</a:t>
          </a:r>
        </a:p>
      </dsp:txBody>
      <dsp:txXfrm>
        <a:off x="34783" y="4056243"/>
        <a:ext cx="6041779" cy="6429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8D8A0A-504D-4930-A5CE-A6663709F450}">
      <dsp:nvSpPr>
        <dsp:cNvPr id="0" name=""/>
        <dsp:cNvSpPr/>
      </dsp:nvSpPr>
      <dsp:spPr>
        <a:xfrm>
          <a:off x="0" y="32988"/>
          <a:ext cx="5157787" cy="277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Ключевым инструментом количественной оценки достижения целей являются </a:t>
          </a:r>
          <a:r>
            <a:rPr lang="ru-RU" sz="2700" b="1" i="0" kern="1200" dirty="0"/>
            <a:t>ключевые показатели эффективности (KPI)</a:t>
          </a:r>
          <a:r>
            <a:rPr lang="ru-RU" sz="2700" b="0" i="0" kern="1200" dirty="0"/>
            <a:t> и </a:t>
          </a:r>
          <a:r>
            <a:rPr lang="ru-RU" sz="2700" b="1" i="0" kern="1200" dirty="0"/>
            <a:t>целевые индикаторы</a:t>
          </a:r>
          <a:r>
            <a:rPr lang="ru-RU" sz="2700" kern="1200" dirty="0"/>
            <a:t>. </a:t>
          </a:r>
        </a:p>
      </dsp:txBody>
      <dsp:txXfrm>
        <a:off x="135705" y="168693"/>
        <a:ext cx="4886377" cy="2508510"/>
      </dsp:txXfrm>
    </dsp:sp>
    <dsp:sp modelId="{B3F65D51-EBFD-429B-9C70-6DDC115CAA61}">
      <dsp:nvSpPr>
        <dsp:cNvPr id="0" name=""/>
        <dsp:cNvSpPr/>
      </dsp:nvSpPr>
      <dsp:spPr>
        <a:xfrm>
          <a:off x="0" y="2890668"/>
          <a:ext cx="5157787" cy="2088609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KPI представляют собой </a:t>
          </a:r>
          <a:r>
            <a:rPr lang="ru-RU" sz="2700" b="1" kern="1200" dirty="0"/>
            <a:t>конкретные измеримые метрики</a:t>
          </a:r>
          <a:r>
            <a:rPr lang="ru-RU" sz="2700" kern="1200" dirty="0"/>
            <a:t>, привязанные к целям стратегии</a:t>
          </a:r>
        </a:p>
      </dsp:txBody>
      <dsp:txXfrm>
        <a:off x="101957" y="2992625"/>
        <a:ext cx="4953873" cy="188469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D5F4D6-C3CB-4661-B267-53E91C462F1C}">
      <dsp:nvSpPr>
        <dsp:cNvPr id="0" name=""/>
        <dsp:cNvSpPr/>
      </dsp:nvSpPr>
      <dsp:spPr>
        <a:xfrm>
          <a:off x="0" y="72159"/>
          <a:ext cx="5721879" cy="13670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Мониторинг строится вокруг </a:t>
          </a:r>
          <a:r>
            <a:rPr lang="ru-RU" sz="2300" b="1" kern="1200" dirty="0"/>
            <a:t>отслеживания динамики KPI</a:t>
          </a:r>
          <a:r>
            <a:rPr lang="ru-RU" sz="2300" kern="1200" dirty="0"/>
            <a:t>. </a:t>
          </a:r>
        </a:p>
      </dsp:txBody>
      <dsp:txXfrm>
        <a:off x="66732" y="138891"/>
        <a:ext cx="5588415" cy="1233553"/>
      </dsp:txXfrm>
    </dsp:sp>
    <dsp:sp modelId="{9E3AF293-D6B5-4D7E-942D-C87EF7D1B2C6}">
      <dsp:nvSpPr>
        <dsp:cNvPr id="0" name=""/>
        <dsp:cNvSpPr/>
      </dsp:nvSpPr>
      <dsp:spPr>
        <a:xfrm>
          <a:off x="0" y="1505417"/>
          <a:ext cx="5721879" cy="200143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Если </a:t>
          </a:r>
          <a:r>
            <a:rPr lang="ru-RU" sz="2300" b="1" kern="1200" dirty="0"/>
            <a:t>показатели улучшаются </a:t>
          </a:r>
          <a:r>
            <a:rPr lang="ru-RU" sz="2300" kern="1200" dirty="0"/>
            <a:t>в соответствии с планом, стратегия считается </a:t>
          </a:r>
          <a:r>
            <a:rPr lang="ru-RU" sz="2300" b="1" kern="1200" dirty="0"/>
            <a:t>успешно реализующейся</a:t>
          </a:r>
          <a:r>
            <a:rPr lang="ru-RU" sz="2300" kern="1200" dirty="0"/>
            <a:t>; если отстают – требуются дополнительные меры. </a:t>
          </a:r>
        </a:p>
      </dsp:txBody>
      <dsp:txXfrm>
        <a:off x="97702" y="1603119"/>
        <a:ext cx="5526475" cy="1806027"/>
      </dsp:txXfrm>
    </dsp:sp>
    <dsp:sp modelId="{50A074EE-97FF-44FE-931D-FCF4085EDA19}">
      <dsp:nvSpPr>
        <dsp:cNvPr id="0" name=""/>
        <dsp:cNvSpPr/>
      </dsp:nvSpPr>
      <dsp:spPr>
        <a:xfrm>
          <a:off x="0" y="3573088"/>
          <a:ext cx="5721879" cy="13670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Применение KPI позволяет руководителям и обществу </a:t>
          </a:r>
          <a:r>
            <a:rPr lang="ru-RU" sz="2300" b="1" kern="1200" dirty="0"/>
            <a:t>объективно судить о прогрессе</a:t>
          </a:r>
        </a:p>
      </dsp:txBody>
      <dsp:txXfrm>
        <a:off x="66732" y="3639820"/>
        <a:ext cx="5588415" cy="123355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35507F-C240-4529-AA89-CF0501EAB537}">
      <dsp:nvSpPr>
        <dsp:cNvPr id="0" name=""/>
        <dsp:cNvSpPr/>
      </dsp:nvSpPr>
      <dsp:spPr>
        <a:xfrm>
          <a:off x="7843" y="211218"/>
          <a:ext cx="5568543" cy="2597781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2E309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6456" tIns="40640" rIns="306456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 dirty="0"/>
            <a:t>Эффективность </a:t>
          </a:r>
          <a:r>
            <a:rPr lang="ru-RU" sz="3200" b="1" kern="1200" dirty="0">
              <a:solidFill>
                <a:srgbClr val="2E3092"/>
              </a:solidFill>
            </a:rPr>
            <a:t>целеполагания</a:t>
          </a:r>
          <a:endParaRPr lang="en-US" sz="3200" b="1" kern="1200" dirty="0">
            <a:solidFill>
              <a:srgbClr val="2E3092"/>
            </a:solidFill>
          </a:endParaRPr>
        </a:p>
      </dsp:txBody>
      <dsp:txXfrm>
        <a:off x="823337" y="591654"/>
        <a:ext cx="3937555" cy="1836909"/>
      </dsp:txXfrm>
    </dsp:sp>
    <dsp:sp modelId="{E0BE1493-F5ED-4EE1-84ED-E18B7351DE73}">
      <dsp:nvSpPr>
        <dsp:cNvPr id="0" name=""/>
        <dsp:cNvSpPr/>
      </dsp:nvSpPr>
      <dsp:spPr>
        <a:xfrm>
          <a:off x="4462678" y="215450"/>
          <a:ext cx="5568543" cy="2597781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6456" tIns="40640" rIns="306456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 dirty="0"/>
            <a:t>Эффективность </a:t>
          </a:r>
          <a:r>
            <a:rPr lang="ru-RU" sz="3200" b="1" kern="1200" dirty="0"/>
            <a:t>целедостижения</a:t>
          </a:r>
          <a:endParaRPr lang="en-US" sz="3200" b="1" kern="1200" dirty="0"/>
        </a:p>
      </dsp:txBody>
      <dsp:txXfrm>
        <a:off x="5278172" y="595886"/>
        <a:ext cx="3937555" cy="183690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2B521F-100B-4380-9BBC-6B6C4C9B1707}">
      <dsp:nvSpPr>
        <dsp:cNvPr id="0" name=""/>
        <dsp:cNvSpPr/>
      </dsp:nvSpPr>
      <dsp:spPr>
        <a:xfrm>
          <a:off x="0" y="19109"/>
          <a:ext cx="4553478" cy="9582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kern="1200"/>
            <a:t>Организационная</a:t>
          </a:r>
        </a:p>
      </dsp:txBody>
      <dsp:txXfrm>
        <a:off x="46777" y="65886"/>
        <a:ext cx="4459924" cy="864676"/>
      </dsp:txXfrm>
    </dsp:sp>
    <dsp:sp modelId="{4EDBEF0E-0B56-40AB-8AC3-5677E7F773D4}">
      <dsp:nvSpPr>
        <dsp:cNvPr id="0" name=""/>
        <dsp:cNvSpPr/>
      </dsp:nvSpPr>
      <dsp:spPr>
        <a:xfrm>
          <a:off x="0" y="1089659"/>
          <a:ext cx="4553478" cy="9582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kern="1200"/>
            <a:t>Экономическая</a:t>
          </a:r>
        </a:p>
      </dsp:txBody>
      <dsp:txXfrm>
        <a:off x="46777" y="1136436"/>
        <a:ext cx="4459924" cy="864676"/>
      </dsp:txXfrm>
    </dsp:sp>
    <dsp:sp modelId="{D30BB774-D3ED-4ABF-B653-2712FCF39084}">
      <dsp:nvSpPr>
        <dsp:cNvPr id="0" name=""/>
        <dsp:cNvSpPr/>
      </dsp:nvSpPr>
      <dsp:spPr>
        <a:xfrm>
          <a:off x="0" y="2160209"/>
          <a:ext cx="4553478" cy="9582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kern="1200"/>
            <a:t>Социальная</a:t>
          </a:r>
        </a:p>
      </dsp:txBody>
      <dsp:txXfrm>
        <a:off x="46777" y="2206986"/>
        <a:ext cx="4459924" cy="86467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8D7250-3CBB-4FD9-8D7E-24C14C59672D}">
      <dsp:nvSpPr>
        <dsp:cNvPr id="0" name=""/>
        <dsp:cNvSpPr/>
      </dsp:nvSpPr>
      <dsp:spPr>
        <a:xfrm>
          <a:off x="0" y="103219"/>
          <a:ext cx="6096000" cy="3861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1" kern="1200" dirty="0"/>
            <a:t>Оценка эффективности управленческих решений </a:t>
          </a:r>
          <a:r>
            <a:rPr lang="ru-RU" sz="3300" kern="1200" dirty="0"/>
            <a:t>— это отношение величины эффекта управленческой деятельности к какой-либо базовой или нормативной величине.</a:t>
          </a:r>
        </a:p>
      </dsp:txBody>
      <dsp:txXfrm>
        <a:off x="188478" y="291697"/>
        <a:ext cx="5719044" cy="348404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2BD36C-A1CD-451F-8334-45B4FA891F1B}">
      <dsp:nvSpPr>
        <dsp:cNvPr id="0" name=""/>
        <dsp:cNvSpPr/>
      </dsp:nvSpPr>
      <dsp:spPr>
        <a:xfrm>
          <a:off x="0" y="517626"/>
          <a:ext cx="5739685" cy="10974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kern="1200" dirty="0"/>
            <a:t>Федеральный закон от 28.06.2014 № 172-ФЗ «</a:t>
          </a:r>
          <a:r>
            <a:rPr lang="ru-RU" sz="1700" b="1" kern="1200" dirty="0"/>
            <a:t>О стратегическом планировании в Российской Федерации</a:t>
          </a:r>
          <a:r>
            <a:rPr lang="ru-RU" sz="1700" b="0" kern="1200" dirty="0"/>
            <a:t>»</a:t>
          </a:r>
          <a:endParaRPr lang="ru-RU" sz="1700" kern="1200" dirty="0"/>
        </a:p>
      </dsp:txBody>
      <dsp:txXfrm>
        <a:off x="53573" y="571199"/>
        <a:ext cx="5632539" cy="990303"/>
      </dsp:txXfrm>
    </dsp:sp>
    <dsp:sp modelId="{9648EA87-DAB5-460D-A324-E743EE4132BF}">
      <dsp:nvSpPr>
        <dsp:cNvPr id="0" name=""/>
        <dsp:cNvSpPr/>
      </dsp:nvSpPr>
      <dsp:spPr>
        <a:xfrm>
          <a:off x="0" y="1802275"/>
          <a:ext cx="5739685" cy="16067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Указ Президента Российской Федерации от 28.11.2024 г. № 1014 «</a:t>
          </a:r>
          <a:r>
            <a:rPr lang="ru-RU" sz="1700" b="1" kern="1200" dirty="0"/>
            <a:t>Об оценке эффективности деятельности высших должностных лиц субъектов Российской Федерации и деятельности исполнительных органов субъектов Российской Федерации</a:t>
          </a:r>
          <a:r>
            <a:rPr lang="ru-RU" sz="1700" kern="1200" dirty="0"/>
            <a:t>» </a:t>
          </a:r>
        </a:p>
      </dsp:txBody>
      <dsp:txXfrm>
        <a:off x="78436" y="1880711"/>
        <a:ext cx="5582813" cy="1449892"/>
      </dsp:txXfrm>
    </dsp:sp>
    <dsp:sp modelId="{19A1A9F8-748F-4B5B-B55D-9D394E2E0099}">
      <dsp:nvSpPr>
        <dsp:cNvPr id="0" name=""/>
        <dsp:cNvSpPr/>
      </dsp:nvSpPr>
      <dsp:spPr>
        <a:xfrm>
          <a:off x="0" y="3596240"/>
          <a:ext cx="5739685" cy="10974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Постановление Правительства РФ от 26.05.2021 № 786 «</a:t>
          </a:r>
          <a:r>
            <a:rPr lang="ru-RU" sz="1700" b="1" kern="1200" dirty="0"/>
            <a:t>О системе управления государственными программами Российской Федерации</a:t>
          </a:r>
          <a:r>
            <a:rPr lang="ru-RU" sz="1700" kern="1200" dirty="0"/>
            <a:t>»</a:t>
          </a:r>
        </a:p>
      </dsp:txBody>
      <dsp:txXfrm>
        <a:off x="53573" y="3649813"/>
        <a:ext cx="5632539" cy="99030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FD0229-EAFA-4291-9D32-C058B53C61A7}">
      <dsp:nvSpPr>
        <dsp:cNvPr id="0" name=""/>
        <dsp:cNvSpPr/>
      </dsp:nvSpPr>
      <dsp:spPr>
        <a:xfrm>
          <a:off x="0" y="447168"/>
          <a:ext cx="5696395" cy="1106192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Федеральный закон от 31.07.1998 № 145-ФЗ «</a:t>
          </a:r>
          <a:r>
            <a:rPr lang="ru-RU" sz="1700" b="1" kern="1200" dirty="0"/>
            <a:t>Бюджетный кодекс Российской Федерации</a:t>
          </a:r>
          <a:r>
            <a:rPr lang="ru-RU" sz="1700" kern="1200" dirty="0"/>
            <a:t>»</a:t>
          </a:r>
        </a:p>
      </dsp:txBody>
      <dsp:txXfrm>
        <a:off x="54000" y="501168"/>
        <a:ext cx="5588395" cy="998192"/>
      </dsp:txXfrm>
    </dsp:sp>
    <dsp:sp modelId="{DEF1D081-D3B3-4A47-94A3-E725B2D7ECBD}">
      <dsp:nvSpPr>
        <dsp:cNvPr id="0" name=""/>
        <dsp:cNvSpPr/>
      </dsp:nvSpPr>
      <dsp:spPr>
        <a:xfrm>
          <a:off x="0" y="1740561"/>
          <a:ext cx="5696395" cy="1619572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«</a:t>
          </a:r>
          <a:r>
            <a:rPr lang="ru-RU" sz="1700" b="1" kern="1200" dirty="0"/>
            <a:t>Налоговый кодекс Российской Федерации</a:t>
          </a:r>
          <a:r>
            <a:rPr lang="ru-RU" sz="1700" kern="1200" dirty="0"/>
            <a:t>»</a:t>
          </a:r>
          <a:r>
            <a:rPr lang="ru-RU" sz="1700" b="1" kern="1200" dirty="0"/>
            <a:t> </a:t>
          </a:r>
          <a:r>
            <a:rPr lang="ru-RU" sz="1700" kern="1200" dirty="0"/>
            <a:t>(часть первая - Федеральный закон от 31.07.1998 № 146-ФЗ и часть вторая - Федеральный закон от 05.08.2000 № 117-ФЗ)</a:t>
          </a:r>
        </a:p>
      </dsp:txBody>
      <dsp:txXfrm>
        <a:off x="79061" y="1819622"/>
        <a:ext cx="5538273" cy="1461450"/>
      </dsp:txXfrm>
    </dsp:sp>
    <dsp:sp modelId="{1CBD7256-67E4-4E47-B183-CA721B73943A}">
      <dsp:nvSpPr>
        <dsp:cNvPr id="0" name=""/>
        <dsp:cNvSpPr/>
      </dsp:nvSpPr>
      <dsp:spPr>
        <a:xfrm>
          <a:off x="0" y="3491139"/>
          <a:ext cx="5696395" cy="1216812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Федеральный закон от 11.12.2024 № 539-ФЗ «</a:t>
          </a:r>
          <a:r>
            <a:rPr lang="ru-RU" sz="1700" b="1" kern="1200" dirty="0"/>
            <a:t>О федеральном бюджете </a:t>
          </a:r>
          <a:r>
            <a:rPr lang="ru-RU" sz="1700" kern="1200" dirty="0"/>
            <a:t>на 2025 год и на плановый период 2026 и 2027 годов»</a:t>
          </a:r>
        </a:p>
      </dsp:txBody>
      <dsp:txXfrm>
        <a:off x="59400" y="3550539"/>
        <a:ext cx="5577595" cy="109801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117CDD-A199-47E1-90B0-457F7F2EB55D}">
      <dsp:nvSpPr>
        <dsp:cNvPr id="0" name=""/>
        <dsp:cNvSpPr/>
      </dsp:nvSpPr>
      <dsp:spPr>
        <a:xfrm>
          <a:off x="0" y="75415"/>
          <a:ext cx="11700933" cy="678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а) </a:t>
          </a:r>
          <a:r>
            <a:rPr lang="ru-RU" sz="1700" b="1" i="0" kern="1200" dirty="0"/>
            <a:t>сохранение населения</a:t>
          </a:r>
          <a:r>
            <a:rPr lang="ru-RU" sz="1700" b="0" i="0" kern="1200" dirty="0"/>
            <a:t>, укрепление здоровья и повышение благополучия людей, поддержка семьи;</a:t>
          </a:r>
          <a:endParaRPr lang="ru-RU" sz="1700" kern="1200" dirty="0"/>
        </a:p>
      </dsp:txBody>
      <dsp:txXfrm>
        <a:off x="33134" y="108549"/>
        <a:ext cx="11634665" cy="612478"/>
      </dsp:txXfrm>
    </dsp:sp>
    <dsp:sp modelId="{42DD18AB-CA97-4F64-B40A-918CA8721D94}">
      <dsp:nvSpPr>
        <dsp:cNvPr id="0" name=""/>
        <dsp:cNvSpPr/>
      </dsp:nvSpPr>
      <dsp:spPr>
        <a:xfrm>
          <a:off x="0" y="803121"/>
          <a:ext cx="11700933" cy="678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б) </a:t>
          </a:r>
          <a:r>
            <a:rPr lang="ru-RU" sz="1700" b="1" i="0" kern="1200" dirty="0"/>
            <a:t>реализация потенциала каждого человека</a:t>
          </a:r>
          <a:r>
            <a:rPr lang="ru-RU" sz="1700" b="0" i="0" kern="1200" dirty="0"/>
            <a:t>, развитие его талантов, воспитание патриотичной и социально ответственной личности;</a:t>
          </a:r>
          <a:endParaRPr lang="ru-RU" sz="1700" kern="1200" dirty="0"/>
        </a:p>
      </dsp:txBody>
      <dsp:txXfrm>
        <a:off x="33134" y="836255"/>
        <a:ext cx="11634665" cy="612478"/>
      </dsp:txXfrm>
    </dsp:sp>
    <dsp:sp modelId="{2FFD0ACD-F679-404C-91AF-E72FD766C461}">
      <dsp:nvSpPr>
        <dsp:cNvPr id="0" name=""/>
        <dsp:cNvSpPr/>
      </dsp:nvSpPr>
      <dsp:spPr>
        <a:xfrm>
          <a:off x="0" y="1530828"/>
          <a:ext cx="11700933" cy="678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в) комфортная и безопасная </a:t>
          </a:r>
          <a:r>
            <a:rPr lang="ru-RU" sz="1700" b="1" i="0" kern="1200" dirty="0"/>
            <a:t>среда для жизни</a:t>
          </a:r>
          <a:r>
            <a:rPr lang="ru-RU" sz="1700" b="0" i="0" kern="1200" dirty="0"/>
            <a:t>;</a:t>
          </a:r>
          <a:endParaRPr lang="ru-RU" sz="1700" kern="1200" dirty="0"/>
        </a:p>
      </dsp:txBody>
      <dsp:txXfrm>
        <a:off x="33134" y="1563962"/>
        <a:ext cx="11634665" cy="612478"/>
      </dsp:txXfrm>
    </dsp:sp>
    <dsp:sp modelId="{B200E4C1-AB3B-45E1-91F4-92CE992E16B7}">
      <dsp:nvSpPr>
        <dsp:cNvPr id="0" name=""/>
        <dsp:cNvSpPr/>
      </dsp:nvSpPr>
      <dsp:spPr>
        <a:xfrm>
          <a:off x="0" y="2258534"/>
          <a:ext cx="11700933" cy="678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г) </a:t>
          </a:r>
          <a:r>
            <a:rPr lang="ru-RU" sz="1700" b="1" i="0" kern="1200" dirty="0"/>
            <a:t>экологическое</a:t>
          </a:r>
          <a:r>
            <a:rPr lang="ru-RU" sz="1700" b="0" i="0" kern="1200" dirty="0"/>
            <a:t> благополучие;</a:t>
          </a:r>
          <a:endParaRPr lang="ru-RU" sz="1700" kern="1200" dirty="0"/>
        </a:p>
      </dsp:txBody>
      <dsp:txXfrm>
        <a:off x="33134" y="2291668"/>
        <a:ext cx="11634665" cy="612478"/>
      </dsp:txXfrm>
    </dsp:sp>
    <dsp:sp modelId="{07793F14-21C4-4650-A5D9-1406B0462E62}">
      <dsp:nvSpPr>
        <dsp:cNvPr id="0" name=""/>
        <dsp:cNvSpPr/>
      </dsp:nvSpPr>
      <dsp:spPr>
        <a:xfrm>
          <a:off x="0" y="2986240"/>
          <a:ext cx="11700933" cy="678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д) устойчивая и динамичная </a:t>
          </a:r>
          <a:r>
            <a:rPr lang="ru-RU" sz="1700" b="1" i="0" kern="1200" dirty="0"/>
            <a:t>экономика</a:t>
          </a:r>
          <a:r>
            <a:rPr lang="ru-RU" sz="1700" b="0" i="0" kern="1200" dirty="0"/>
            <a:t>;</a:t>
          </a:r>
          <a:endParaRPr lang="ru-RU" sz="1700" kern="1200" dirty="0"/>
        </a:p>
      </dsp:txBody>
      <dsp:txXfrm>
        <a:off x="33134" y="3019374"/>
        <a:ext cx="11634665" cy="612478"/>
      </dsp:txXfrm>
    </dsp:sp>
    <dsp:sp modelId="{B2A55777-54F0-44E6-8C50-79B006FEB6D8}">
      <dsp:nvSpPr>
        <dsp:cNvPr id="0" name=""/>
        <dsp:cNvSpPr/>
      </dsp:nvSpPr>
      <dsp:spPr>
        <a:xfrm>
          <a:off x="0" y="3713946"/>
          <a:ext cx="11700933" cy="678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е) </a:t>
          </a:r>
          <a:r>
            <a:rPr lang="ru-RU" sz="1700" b="1" i="0" kern="1200" dirty="0"/>
            <a:t>технологическое</a:t>
          </a:r>
          <a:r>
            <a:rPr lang="ru-RU" sz="1700" b="0" i="0" kern="1200" dirty="0"/>
            <a:t> лидерство;</a:t>
          </a:r>
          <a:endParaRPr lang="ru-RU" sz="1700" kern="1200" dirty="0"/>
        </a:p>
      </dsp:txBody>
      <dsp:txXfrm>
        <a:off x="33134" y="3747080"/>
        <a:ext cx="11634665" cy="612478"/>
      </dsp:txXfrm>
    </dsp:sp>
    <dsp:sp modelId="{D6CE3273-E446-4941-92E1-7AF9DA636E3B}">
      <dsp:nvSpPr>
        <dsp:cNvPr id="0" name=""/>
        <dsp:cNvSpPr/>
      </dsp:nvSpPr>
      <dsp:spPr>
        <a:xfrm>
          <a:off x="0" y="4441653"/>
          <a:ext cx="11700933" cy="678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ж) </a:t>
          </a:r>
          <a:r>
            <a:rPr lang="ru-RU" sz="1700" b="1" i="0" kern="1200" dirty="0"/>
            <a:t>цифровая трансформация </a:t>
          </a:r>
          <a:r>
            <a:rPr lang="ru-RU" sz="1700" b="0" i="0" kern="1200" dirty="0"/>
            <a:t>государственного и муниципального управления, экономики и социальной сферы.</a:t>
          </a:r>
          <a:endParaRPr lang="ru-RU" sz="1700" kern="1200" dirty="0"/>
        </a:p>
      </dsp:txBody>
      <dsp:txXfrm>
        <a:off x="33134" y="4474787"/>
        <a:ext cx="11634665" cy="61247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09DD76-776E-42BC-83D1-1F8F4715D918}">
      <dsp:nvSpPr>
        <dsp:cNvPr id="0" name=""/>
        <dsp:cNvSpPr/>
      </dsp:nvSpPr>
      <dsp:spPr>
        <a:xfrm>
          <a:off x="0" y="103476"/>
          <a:ext cx="11690984" cy="24355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На сегодняшний день </a:t>
          </a:r>
          <a:r>
            <a:rPr lang="ru-RU" sz="2800" b="1" kern="1200" dirty="0"/>
            <a:t>более 95%</a:t>
          </a:r>
          <a:r>
            <a:rPr lang="ru-RU" sz="2800" kern="1200" dirty="0"/>
            <a:t> </a:t>
          </a:r>
          <a:r>
            <a:rPr lang="ru-RU" sz="2800" b="1" kern="1200" dirty="0"/>
            <a:t>расходов</a:t>
          </a:r>
          <a:r>
            <a:rPr lang="ru-RU" sz="2800" kern="1200" dirty="0"/>
            <a:t> федерального бюджета привязаны к государственным программам и национальным проектам, что отражает реализацию </a:t>
          </a:r>
          <a:r>
            <a:rPr lang="ru-RU" sz="2800" b="1" kern="1200" dirty="0"/>
            <a:t>программно-целевого подхода в бюджетной сфере</a:t>
          </a:r>
          <a:r>
            <a:rPr lang="ru-RU" sz="2800" kern="1200" dirty="0"/>
            <a:t>. </a:t>
          </a:r>
        </a:p>
      </dsp:txBody>
      <dsp:txXfrm>
        <a:off x="118891" y="222367"/>
        <a:ext cx="11453202" cy="2197719"/>
      </dsp:txXfrm>
    </dsp:sp>
    <dsp:sp modelId="{634D24DB-FEE8-4100-9CB5-B5FFA333B7AA}">
      <dsp:nvSpPr>
        <dsp:cNvPr id="0" name=""/>
        <dsp:cNvSpPr/>
      </dsp:nvSpPr>
      <dsp:spPr>
        <a:xfrm>
          <a:off x="0" y="2619618"/>
          <a:ext cx="11690984" cy="243550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Программно-целевое планирование бюджета основывается на том, что для каждой государственной программы устанавливаются </a:t>
          </a:r>
          <a:r>
            <a:rPr lang="ru-RU" sz="2800" b="1" i="0" kern="1200" dirty="0"/>
            <a:t>цели</a:t>
          </a:r>
          <a:r>
            <a:rPr lang="ru-RU" sz="2800" i="1" kern="1200" dirty="0"/>
            <a:t>, </a:t>
          </a:r>
          <a:r>
            <a:rPr lang="ru-RU" sz="2800" b="1" i="0" kern="1200" dirty="0"/>
            <a:t>показатели результата </a:t>
          </a:r>
          <a:r>
            <a:rPr lang="ru-RU" sz="2800" b="0" i="0" kern="1200" dirty="0"/>
            <a:t>и</a:t>
          </a:r>
          <a:r>
            <a:rPr lang="ru-RU" sz="2800" b="1" i="0" kern="1200" dirty="0"/>
            <a:t> объёмы финансирования</a:t>
          </a:r>
          <a:r>
            <a:rPr lang="ru-RU" sz="2800" kern="1200" dirty="0"/>
            <a:t>, а при утверждении бюджета парламентом ассигнования утверждаются по </a:t>
          </a:r>
          <a:r>
            <a:rPr lang="ru-RU" sz="2800" b="1" i="0" kern="1200" dirty="0"/>
            <a:t>целевым статьям</a:t>
          </a:r>
          <a:r>
            <a:rPr lang="ru-RU" sz="2800" kern="1200" dirty="0"/>
            <a:t>, соответствующим программам.</a:t>
          </a:r>
        </a:p>
      </dsp:txBody>
      <dsp:txXfrm>
        <a:off x="118891" y="2738509"/>
        <a:ext cx="11453202" cy="219771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15F71F-8723-40A8-9BAD-0F5D39777A4B}">
      <dsp:nvSpPr>
        <dsp:cNvPr id="0" name=""/>
        <dsp:cNvSpPr/>
      </dsp:nvSpPr>
      <dsp:spPr>
        <a:xfrm>
          <a:off x="0" y="49370"/>
          <a:ext cx="1179466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baseline="0" dirty="0"/>
            <a:t>Составление проекта бюджета</a:t>
          </a:r>
          <a:r>
            <a:rPr lang="ru-RU" sz="1600" b="0" i="0" kern="1200" baseline="0" dirty="0"/>
            <a:t> – разработка проекта закона о бюджете уполномоченными органами исполнительной власти (правительством или финансовыми органами). На этом этапе определяются объём доходов и расходов бюджета, параметры налогово-бюджетной политики, прогнозируются источники финансирования дефицита и распределение расходов по приоритетам.</a:t>
          </a:r>
          <a:endParaRPr lang="ru-RU" sz="1600" kern="1200" dirty="0"/>
        </a:p>
      </dsp:txBody>
      <dsp:txXfrm>
        <a:off x="55744" y="105114"/>
        <a:ext cx="11683172" cy="1030432"/>
      </dsp:txXfrm>
    </dsp:sp>
    <dsp:sp modelId="{2886E54B-7E0B-4AA1-A280-04BC85C1887B}">
      <dsp:nvSpPr>
        <dsp:cNvPr id="0" name=""/>
        <dsp:cNvSpPr/>
      </dsp:nvSpPr>
      <dsp:spPr>
        <a:xfrm>
          <a:off x="0" y="1237370"/>
          <a:ext cx="1179466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baseline="0"/>
            <a:t>Рассмотрение и утверждение бюджета</a:t>
          </a:r>
          <a:r>
            <a:rPr lang="ru-RU" sz="1600" b="0" i="0" kern="1200" baseline="0"/>
            <a:t> – рассмотрение проекта бюджета законодательным органом (парламентом) и принятие закона о бюджете. Бюджет обсуждается, как правило, в нескольких чтениях, что позволяет согласовать спорные вопросы. Утверждённый бюджет обретает силу закона, обязательного к исполнению.</a:t>
          </a:r>
          <a:endParaRPr lang="ru-RU" sz="1600" kern="1200"/>
        </a:p>
      </dsp:txBody>
      <dsp:txXfrm>
        <a:off x="55744" y="1293114"/>
        <a:ext cx="11683172" cy="1030432"/>
      </dsp:txXfrm>
    </dsp:sp>
    <dsp:sp modelId="{FF08EEEA-316E-4728-A21A-F216F7219D4D}">
      <dsp:nvSpPr>
        <dsp:cNvPr id="0" name=""/>
        <dsp:cNvSpPr/>
      </dsp:nvSpPr>
      <dsp:spPr>
        <a:xfrm>
          <a:off x="0" y="2425370"/>
          <a:ext cx="1179466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baseline="0"/>
            <a:t>Исполнение бюджета</a:t>
          </a:r>
          <a:r>
            <a:rPr lang="ru-RU" sz="1600" b="0" i="0" kern="1200" baseline="0"/>
            <a:t> – практическое выполнение бюджета в ходе финансового года. Исполнительные органы собирают запланированные доходы и осуществляют финансирование расходов в соответствии с утверждёнными ассигнованиями. В процессе исполнения бюджета ведётся кассовое планирование, составляется бюджетная роспись (документ, распределяющий выделенные средства между распорядителями и получателями).</a:t>
          </a:r>
          <a:endParaRPr lang="ru-RU" sz="1600" kern="1200"/>
        </a:p>
      </dsp:txBody>
      <dsp:txXfrm>
        <a:off x="55744" y="2481114"/>
        <a:ext cx="11683172" cy="1030432"/>
      </dsp:txXfrm>
    </dsp:sp>
    <dsp:sp modelId="{E8116F19-D6B5-4C9A-8DD5-3C76BE380151}">
      <dsp:nvSpPr>
        <dsp:cNvPr id="0" name=""/>
        <dsp:cNvSpPr/>
      </dsp:nvSpPr>
      <dsp:spPr>
        <a:xfrm>
          <a:off x="0" y="3613371"/>
          <a:ext cx="1179466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baseline="0"/>
            <a:t>Составление и утверждение отчетности об исполнении бюджета</a:t>
          </a:r>
          <a:r>
            <a:rPr lang="ru-RU" sz="1600" b="0" i="0" kern="1200" baseline="0"/>
            <a:t> – по завершении финансового года формируется отчет об исполнении бюджета. Органы исполнительной власти готовят бюджетную отчетность (кассовый отчет, отчеты об исполнении по доходам и расходам), которая затем рассматривается и утверждается законодательным органом в форме закона об исполнении бюджета или соответствующего решения.</a:t>
          </a:r>
          <a:endParaRPr lang="ru-RU" sz="1600" kern="1200"/>
        </a:p>
      </dsp:txBody>
      <dsp:txXfrm>
        <a:off x="55744" y="3669115"/>
        <a:ext cx="11683172" cy="103043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32ACFE-5EFB-4CB9-8F4A-5659E25624E2}">
      <dsp:nvSpPr>
        <dsp:cNvPr id="0" name=""/>
        <dsp:cNvSpPr/>
      </dsp:nvSpPr>
      <dsp:spPr>
        <a:xfrm>
          <a:off x="0" y="125605"/>
          <a:ext cx="11610303" cy="11135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Это обобщающее понятие для любых денежных средств, которые </a:t>
          </a:r>
          <a:r>
            <a:rPr lang="ru-RU" sz="2100" b="1" kern="1200" dirty="0"/>
            <a:t>один бюджет бюджетной системы РФ передаёт другому бюджету</a:t>
          </a:r>
          <a:r>
            <a:rPr lang="ru-RU" sz="2100" kern="1200" dirty="0"/>
            <a:t>. </a:t>
          </a:r>
        </a:p>
      </dsp:txBody>
      <dsp:txXfrm>
        <a:off x="54361" y="179966"/>
        <a:ext cx="11501581" cy="1004865"/>
      </dsp:txXfrm>
    </dsp:sp>
    <dsp:sp modelId="{F1B6B5A6-2176-4F40-9AFA-54C77A5E4662}">
      <dsp:nvSpPr>
        <dsp:cNvPr id="0" name=""/>
        <dsp:cNvSpPr/>
      </dsp:nvSpPr>
      <dsp:spPr>
        <a:xfrm>
          <a:off x="0" y="1319832"/>
          <a:ext cx="11610303" cy="885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Межбюджетные трансферты – главный инструмент </a:t>
          </a:r>
          <a:r>
            <a:rPr lang="ru-RU" sz="2100" b="1" kern="1200" dirty="0"/>
            <a:t>выравнивания и поддержки нижестоящих бюджетов</a:t>
          </a:r>
          <a:r>
            <a:rPr lang="ru-RU" sz="2100" kern="1200" dirty="0"/>
            <a:t>. </a:t>
          </a:r>
        </a:p>
      </dsp:txBody>
      <dsp:txXfrm>
        <a:off x="43247" y="1363079"/>
        <a:ext cx="11523809" cy="799416"/>
      </dsp:txXfrm>
    </dsp:sp>
    <dsp:sp modelId="{C04B56B1-3A03-493D-A4E0-7CF018214FB5}">
      <dsp:nvSpPr>
        <dsp:cNvPr id="0" name=""/>
        <dsp:cNvSpPr/>
      </dsp:nvSpPr>
      <dsp:spPr>
        <a:xfrm>
          <a:off x="0" y="2354033"/>
          <a:ext cx="11610303" cy="11940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Бюджетный кодекс определяет межбюджетные трансферты как </a:t>
          </a:r>
          <a:r>
            <a:rPr lang="ru-RU" sz="2100" b="1" kern="1200" dirty="0"/>
            <a:t>средства, предоставляемые на безвозвратной и безвозмездной основе</a:t>
          </a:r>
          <a:r>
            <a:rPr lang="ru-RU" sz="2100" kern="1200" dirty="0"/>
            <a:t> </a:t>
          </a:r>
          <a:br>
            <a:rPr lang="ru-RU" sz="2100" kern="1200" dirty="0"/>
          </a:br>
          <a:r>
            <a:rPr lang="ru-RU" sz="2100" kern="1200" dirty="0"/>
            <a:t>(за исключением бюджетных кредитов) из одного бюджета другому</a:t>
          </a:r>
        </a:p>
      </dsp:txBody>
      <dsp:txXfrm>
        <a:off x="58291" y="2412324"/>
        <a:ext cx="11493721" cy="1077513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CE4CE-BF4D-4220-B9D5-60596FD433B0}">
      <dsp:nvSpPr>
        <dsp:cNvPr id="0" name=""/>
        <dsp:cNvSpPr/>
      </dsp:nvSpPr>
      <dsp:spPr>
        <a:xfrm>
          <a:off x="2816" y="17893"/>
          <a:ext cx="2750010" cy="11269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Дотации</a:t>
          </a:r>
        </a:p>
      </dsp:txBody>
      <dsp:txXfrm>
        <a:off x="2816" y="17893"/>
        <a:ext cx="2750010" cy="1126976"/>
      </dsp:txXfrm>
    </dsp:sp>
    <dsp:sp modelId="{3F48F851-9191-4314-98EB-4B0B4EEC6FF0}">
      <dsp:nvSpPr>
        <dsp:cNvPr id="0" name=""/>
        <dsp:cNvSpPr/>
      </dsp:nvSpPr>
      <dsp:spPr>
        <a:xfrm>
          <a:off x="2940655" y="17893"/>
          <a:ext cx="2750010" cy="11269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Субвенции</a:t>
          </a:r>
        </a:p>
      </dsp:txBody>
      <dsp:txXfrm>
        <a:off x="2940655" y="17893"/>
        <a:ext cx="2750010" cy="1126976"/>
      </dsp:txXfrm>
    </dsp:sp>
    <dsp:sp modelId="{B9B45E1D-9DA9-4DB4-AF9F-0346633DEC85}">
      <dsp:nvSpPr>
        <dsp:cNvPr id="0" name=""/>
        <dsp:cNvSpPr/>
      </dsp:nvSpPr>
      <dsp:spPr>
        <a:xfrm>
          <a:off x="5878495" y="17893"/>
          <a:ext cx="2750010" cy="11269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Субсидии</a:t>
          </a:r>
        </a:p>
      </dsp:txBody>
      <dsp:txXfrm>
        <a:off x="5878495" y="17893"/>
        <a:ext cx="2750010" cy="1126976"/>
      </dsp:txXfrm>
    </dsp:sp>
    <dsp:sp modelId="{D2852B6C-28C8-4926-B606-D0BC0FA31C13}">
      <dsp:nvSpPr>
        <dsp:cNvPr id="0" name=""/>
        <dsp:cNvSpPr/>
      </dsp:nvSpPr>
      <dsp:spPr>
        <a:xfrm>
          <a:off x="8816334" y="17893"/>
          <a:ext cx="2750010" cy="11269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Иные МБТ (бюджетные кредиты) </a:t>
          </a:r>
        </a:p>
      </dsp:txBody>
      <dsp:txXfrm>
        <a:off x="8816334" y="17893"/>
        <a:ext cx="2750010" cy="1126976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873CF4-8F34-4CFF-8B9C-32B274D0F9AD}">
      <dsp:nvSpPr>
        <dsp:cNvPr id="0" name=""/>
        <dsp:cNvSpPr/>
      </dsp:nvSpPr>
      <dsp:spPr>
        <a:xfrm>
          <a:off x="3673" y="94506"/>
          <a:ext cx="3581876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i="0" kern="1200" dirty="0">
              <a:solidFill>
                <a:schemeClr val="bg1"/>
              </a:solidFill>
              <a:effectLst/>
              <a:latin typeface="ui-sans-serif"/>
            </a:rPr>
            <a:t>Дотация</a:t>
          </a:r>
          <a:endParaRPr lang="ru-RU" sz="2200" b="1" kern="1200" dirty="0">
            <a:solidFill>
              <a:schemeClr val="bg1"/>
            </a:solidFill>
          </a:endParaRPr>
        </a:p>
      </dsp:txBody>
      <dsp:txXfrm>
        <a:off x="3673" y="94506"/>
        <a:ext cx="3581876" cy="633600"/>
      </dsp:txXfrm>
    </dsp:sp>
    <dsp:sp modelId="{BEA84598-D28D-49C2-92E4-FF8F82405FF0}">
      <dsp:nvSpPr>
        <dsp:cNvPr id="0" name=""/>
        <dsp:cNvSpPr/>
      </dsp:nvSpPr>
      <dsp:spPr>
        <a:xfrm>
          <a:off x="3673" y="728106"/>
          <a:ext cx="3581876" cy="4316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0" lvl="1" indent="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200" b="0" i="0" kern="1200" dirty="0">
              <a:solidFill>
                <a:srgbClr val="0D0D0D"/>
              </a:solidFill>
              <a:effectLst/>
              <a:latin typeface="ui-sans-serif"/>
            </a:rPr>
            <a:t>межбюджетный трансферт </a:t>
          </a:r>
          <a:r>
            <a:rPr lang="ru-RU" sz="2200" b="0" i="1" kern="1200" dirty="0">
              <a:solidFill>
                <a:srgbClr val="0D0D0D"/>
              </a:solidFill>
              <a:effectLst/>
              <a:latin typeface="ui-sans-serif"/>
            </a:rPr>
            <a:t>общего</a:t>
          </a:r>
          <a:r>
            <a:rPr lang="ru-RU" sz="2200" b="0" i="0" kern="1200" dirty="0">
              <a:solidFill>
                <a:srgbClr val="0D0D0D"/>
              </a:solidFill>
              <a:effectLst/>
              <a:latin typeface="ui-sans-serif"/>
            </a:rPr>
            <a:t> </a:t>
          </a:r>
          <a:r>
            <a:rPr lang="ru-RU" sz="2200" b="0" i="1" kern="1200" dirty="0">
              <a:solidFill>
                <a:srgbClr val="0D0D0D"/>
              </a:solidFill>
              <a:effectLst/>
              <a:latin typeface="ui-sans-serif"/>
            </a:rPr>
            <a:t>характера</a:t>
          </a:r>
          <a:r>
            <a:rPr lang="ru-RU" sz="2200" b="0" i="0" kern="1200" dirty="0">
              <a:solidFill>
                <a:srgbClr val="0D0D0D"/>
              </a:solidFill>
              <a:effectLst/>
              <a:latin typeface="ui-sans-serif"/>
            </a:rPr>
            <a:t>, предоставляемый нижестоящему бюджету на безвозмездной и безвозвратной основе </a:t>
          </a:r>
          <a:r>
            <a:rPr lang="ru-RU" sz="2200" b="1" i="0" kern="1200" dirty="0">
              <a:solidFill>
                <a:srgbClr val="0D0D0D"/>
              </a:solidFill>
              <a:effectLst/>
              <a:latin typeface="ui-sans-serif"/>
            </a:rPr>
            <a:t>без указания конкретного целевого назначения</a:t>
          </a:r>
          <a:r>
            <a:rPr lang="ru-RU" sz="2200" b="0" i="0" kern="1200" dirty="0">
              <a:solidFill>
                <a:srgbClr val="0D0D0D"/>
              </a:solidFill>
              <a:effectLst/>
              <a:latin typeface="ui-sans-serif"/>
            </a:rPr>
            <a:t> средств</a:t>
          </a:r>
          <a:endParaRPr lang="ru-RU" sz="2200" kern="1200" dirty="0"/>
        </a:p>
      </dsp:txBody>
      <dsp:txXfrm>
        <a:off x="3673" y="728106"/>
        <a:ext cx="3581876" cy="4316056"/>
      </dsp:txXfrm>
    </dsp:sp>
    <dsp:sp modelId="{A99B2707-23E6-497D-B085-47AC2232EC4B}">
      <dsp:nvSpPr>
        <dsp:cNvPr id="0" name=""/>
        <dsp:cNvSpPr/>
      </dsp:nvSpPr>
      <dsp:spPr>
        <a:xfrm>
          <a:off x="4087013" y="94506"/>
          <a:ext cx="3581876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i="0" kern="1200" dirty="0"/>
            <a:t>Субвенция</a:t>
          </a:r>
          <a:endParaRPr lang="ru-RU" sz="2200" kern="1200" dirty="0"/>
        </a:p>
      </dsp:txBody>
      <dsp:txXfrm>
        <a:off x="4087013" y="94506"/>
        <a:ext cx="3581876" cy="633600"/>
      </dsp:txXfrm>
    </dsp:sp>
    <dsp:sp modelId="{05D6B6F8-E2BD-4DCD-95D7-B2B1591A860C}">
      <dsp:nvSpPr>
        <dsp:cNvPr id="0" name=""/>
        <dsp:cNvSpPr/>
      </dsp:nvSpPr>
      <dsp:spPr>
        <a:xfrm>
          <a:off x="4087013" y="728106"/>
          <a:ext cx="3581876" cy="4316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0" lvl="1" indent="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200" b="0" i="1" kern="1200" dirty="0"/>
            <a:t>целевой</a:t>
          </a:r>
          <a:r>
            <a:rPr lang="ru-RU" sz="2200" b="0" i="0" kern="1200" dirty="0"/>
            <a:t> межбюджетный трансферт, предоставляемый бюджету другого уровня </a:t>
          </a:r>
          <a:r>
            <a:rPr lang="ru-RU" sz="2200" b="1" i="0" kern="1200" dirty="0"/>
            <a:t>на осуществление конкретных расходных полномочий, переданных от вышестоящего уровня</a:t>
          </a:r>
          <a:endParaRPr lang="ru-RU" sz="2200" kern="1200" dirty="0"/>
        </a:p>
      </dsp:txBody>
      <dsp:txXfrm>
        <a:off x="4087013" y="728106"/>
        <a:ext cx="3581876" cy="4316056"/>
      </dsp:txXfrm>
    </dsp:sp>
    <dsp:sp modelId="{21D1A125-3A9B-4771-A30C-133702663391}">
      <dsp:nvSpPr>
        <dsp:cNvPr id="0" name=""/>
        <dsp:cNvSpPr/>
      </dsp:nvSpPr>
      <dsp:spPr>
        <a:xfrm>
          <a:off x="8170353" y="94506"/>
          <a:ext cx="3581876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i="0" kern="1200" dirty="0"/>
            <a:t>Субсидия</a:t>
          </a:r>
          <a:endParaRPr lang="ru-RU" sz="2200" kern="1200" dirty="0"/>
        </a:p>
      </dsp:txBody>
      <dsp:txXfrm>
        <a:off x="8170353" y="94506"/>
        <a:ext cx="3581876" cy="633600"/>
      </dsp:txXfrm>
    </dsp:sp>
    <dsp:sp modelId="{BC1E4573-8AAB-45BE-9062-EADC332C6F36}">
      <dsp:nvSpPr>
        <dsp:cNvPr id="0" name=""/>
        <dsp:cNvSpPr/>
      </dsp:nvSpPr>
      <dsp:spPr>
        <a:xfrm>
          <a:off x="8170353" y="728106"/>
          <a:ext cx="3581876" cy="4316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0" lvl="1" indent="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200" b="0" i="0" kern="1200" dirty="0"/>
            <a:t>трансферты, предоставляемые нижестоящим бюджетам </a:t>
          </a:r>
          <a:r>
            <a:rPr lang="ru-RU" sz="2200" b="0" i="1" kern="1200" dirty="0"/>
            <a:t>на условиях долевого софинансирования конкретных мероприятий</a:t>
          </a:r>
          <a:r>
            <a:rPr lang="ru-RU" sz="2200" b="0" i="0" kern="1200" dirty="0"/>
            <a:t>. Предоставленные безвозмездно денежные средства из бюджетов</a:t>
          </a:r>
          <a:r>
            <a:rPr lang="ru-RU" sz="2200" b="1" i="0" kern="1200" dirty="0"/>
            <a:t> на строго определённые цели</a:t>
          </a:r>
        </a:p>
      </dsp:txBody>
      <dsp:txXfrm>
        <a:off x="8170353" y="728106"/>
        <a:ext cx="3581876" cy="431605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74176-6CE1-4F81-AC41-FB40E01130AD}">
      <dsp:nvSpPr>
        <dsp:cNvPr id="0" name=""/>
        <dsp:cNvSpPr/>
      </dsp:nvSpPr>
      <dsp:spPr>
        <a:xfrm>
          <a:off x="0" y="245067"/>
          <a:ext cx="11663607" cy="2141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1" kern="1200"/>
            <a:t>Расходное обязательство</a:t>
          </a:r>
          <a:r>
            <a:rPr lang="ru-RU" sz="3000" kern="1200"/>
            <a:t> – означает законодательную или иную установленную норму, в силу которой публично-правовое образование (государство, регион или муниципалитет) должно предоставить средства физическому или юридическому лицу</a:t>
          </a:r>
        </a:p>
      </dsp:txBody>
      <dsp:txXfrm>
        <a:off x="104520" y="349587"/>
        <a:ext cx="11454567" cy="1932060"/>
      </dsp:txXfrm>
    </dsp:sp>
    <dsp:sp modelId="{C3FF7607-233D-464B-8BBE-C2174132C262}">
      <dsp:nvSpPr>
        <dsp:cNvPr id="0" name=""/>
        <dsp:cNvSpPr/>
      </dsp:nvSpPr>
      <dsp:spPr>
        <a:xfrm>
          <a:off x="0" y="2472567"/>
          <a:ext cx="11663607" cy="2141100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1" kern="1200" dirty="0">
              <a:solidFill>
                <a:srgbClr val="002060"/>
              </a:solidFill>
            </a:rPr>
            <a:t>Бюджетные обязательства </a:t>
          </a:r>
          <a:r>
            <a:rPr lang="ru-RU" sz="3000" kern="1200" dirty="0"/>
            <a:t>– это </a:t>
          </a:r>
          <a:r>
            <a:rPr lang="ru-RU" sz="3000" u="sng" kern="1200" dirty="0"/>
            <a:t>часть расходных обязательств</a:t>
          </a:r>
          <a:r>
            <a:rPr lang="ru-RU" sz="3000" kern="1200" dirty="0"/>
            <a:t>, которая подлежит исполнению </a:t>
          </a:r>
          <a:r>
            <a:rPr lang="ru-RU" sz="3000" u="sng" kern="1200" dirty="0"/>
            <a:t>в данном финансовом году</a:t>
          </a:r>
          <a:r>
            <a:rPr lang="ru-RU" sz="3000" kern="1200" dirty="0"/>
            <a:t>, то есть обеспечена ассигнованиями бюджета текущего года</a:t>
          </a:r>
        </a:p>
      </dsp:txBody>
      <dsp:txXfrm>
        <a:off x="104520" y="2577087"/>
        <a:ext cx="11454567" cy="193206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706213-1A59-47DE-AB40-4C2BC18F8FB8}">
      <dsp:nvSpPr>
        <dsp:cNvPr id="0" name=""/>
        <dsp:cNvSpPr/>
      </dsp:nvSpPr>
      <dsp:spPr>
        <a:xfrm>
          <a:off x="0" y="83218"/>
          <a:ext cx="11855003" cy="14084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Статья 13 от 28.06.2014 N 172-ФЗ «</a:t>
          </a:r>
          <a:r>
            <a:rPr lang="ru-RU" sz="2400" i="1" kern="1200"/>
            <a:t>О стратегическом планировании в Российской Федерации</a:t>
          </a:r>
          <a:r>
            <a:rPr lang="ru-RU" sz="2400" kern="1200"/>
            <a:t>» прямо устанавливает, что </a:t>
          </a:r>
          <a:r>
            <a:rPr lang="ru-RU" sz="2400" b="1" kern="1200"/>
            <a:t>проекты документов стратегического планирования выносятся на общественное обсуждение</a:t>
          </a:r>
          <a:endParaRPr lang="ru-RU" sz="2400" kern="1200"/>
        </a:p>
      </dsp:txBody>
      <dsp:txXfrm>
        <a:off x="68756" y="151974"/>
        <a:ext cx="11717491" cy="1270960"/>
      </dsp:txXfrm>
    </dsp:sp>
    <dsp:sp modelId="{4463D57B-9546-4A01-A210-51C7CFAE80A6}">
      <dsp:nvSpPr>
        <dsp:cNvPr id="0" name=""/>
        <dsp:cNvSpPr/>
      </dsp:nvSpPr>
      <dsp:spPr>
        <a:xfrm>
          <a:off x="0" y="1560810"/>
          <a:ext cx="11855003" cy="2062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Форма и порядок такого обсуждения </a:t>
          </a:r>
          <a:r>
            <a:rPr lang="ru-RU" sz="2400" b="1" kern="1200"/>
            <a:t>определяются соответствующим органом власти</a:t>
          </a:r>
          <a:r>
            <a:rPr lang="ru-RU" sz="2400" kern="1200"/>
            <a:t> – на федеральном уровне проекты стратегий могут размещаться для общественной консультации, на региональном – проводятся общественные советы или интернет-обсуждения, на муниципальном – организуются публичные слушания с жителями</a:t>
          </a:r>
        </a:p>
      </dsp:txBody>
      <dsp:txXfrm>
        <a:off x="100665" y="1661475"/>
        <a:ext cx="11653673" cy="1860795"/>
      </dsp:txXfrm>
    </dsp:sp>
    <dsp:sp modelId="{FE399A37-834E-4508-BAAF-426952FE5F60}">
      <dsp:nvSpPr>
        <dsp:cNvPr id="0" name=""/>
        <dsp:cNvSpPr/>
      </dsp:nvSpPr>
      <dsp:spPr>
        <a:xfrm>
          <a:off x="0" y="3692056"/>
          <a:ext cx="11855003" cy="14084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/>
            <a:t>Замечания и предложения </a:t>
          </a:r>
          <a:r>
            <a:rPr lang="ru-RU" sz="2400" kern="1200" dirty="0"/>
            <a:t>граждан, поступившие в ходе обсуждения, </a:t>
          </a:r>
          <a:r>
            <a:rPr lang="ru-RU" sz="2400" b="1" kern="1200" dirty="0"/>
            <a:t>подлежат рассмотрению </a:t>
          </a:r>
          <a:r>
            <a:rPr lang="ru-RU" sz="2400" kern="1200" dirty="0"/>
            <a:t>разработчиками стратегии, однако </a:t>
          </a:r>
          <a:r>
            <a:rPr lang="ru-RU" sz="2400" b="1" kern="1200" dirty="0"/>
            <a:t>не являются обязательными для использования</a:t>
          </a:r>
          <a:endParaRPr lang="ru-RU" sz="2400" kern="1200" dirty="0"/>
        </a:p>
      </dsp:txBody>
      <dsp:txXfrm>
        <a:off x="68756" y="3760812"/>
        <a:ext cx="11717491" cy="127096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231FD-D444-4D4D-BD5C-41E9A46580B1}">
      <dsp:nvSpPr>
        <dsp:cNvPr id="0" name=""/>
        <dsp:cNvSpPr/>
      </dsp:nvSpPr>
      <dsp:spPr>
        <a:xfrm>
          <a:off x="0" y="59923"/>
          <a:ext cx="11158470" cy="95995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это форма </a:t>
          </a:r>
          <a:r>
            <a:rPr lang="ru-RU" sz="2400" b="1" kern="1200" dirty="0"/>
            <a:t>прямого участия жителей в распределении части бюджетных средств </a:t>
          </a:r>
          <a:r>
            <a:rPr lang="ru-RU" sz="2400" kern="1200" dirty="0"/>
            <a:t>на местном уровне</a:t>
          </a:r>
        </a:p>
      </dsp:txBody>
      <dsp:txXfrm>
        <a:off x="46861" y="106784"/>
        <a:ext cx="11064748" cy="866229"/>
      </dsp:txXfrm>
    </dsp:sp>
    <dsp:sp modelId="{FF23B27D-6D86-4CE7-8C7C-D4EA9E109EC1}">
      <dsp:nvSpPr>
        <dsp:cNvPr id="0" name=""/>
        <dsp:cNvSpPr/>
      </dsp:nvSpPr>
      <dsp:spPr>
        <a:xfrm>
          <a:off x="0" y="1088995"/>
          <a:ext cx="11158470" cy="17005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Группа активных граждан выдвигает </a:t>
          </a:r>
          <a:r>
            <a:rPr lang="ru-RU" sz="2400" b="1" kern="1200"/>
            <a:t>инициативный проект </a:t>
          </a:r>
          <a:r>
            <a:rPr lang="ru-RU" sz="2400" kern="1200"/>
            <a:t>– конкретное предложение (например, построить детскую площадку, отремонтировать дорогу, благоустроить парк) – и выносит его на рассмотрение местной власти и других жителей.</a:t>
          </a:r>
        </a:p>
      </dsp:txBody>
      <dsp:txXfrm>
        <a:off x="83016" y="1172011"/>
        <a:ext cx="10992438" cy="1534563"/>
      </dsp:txXfrm>
    </dsp:sp>
    <dsp:sp modelId="{792C0F2D-FDB0-44A0-9843-ABE21FAF6545}">
      <dsp:nvSpPr>
        <dsp:cNvPr id="0" name=""/>
        <dsp:cNvSpPr/>
      </dsp:nvSpPr>
      <dsp:spPr>
        <a:xfrm>
          <a:off x="0" y="2858710"/>
          <a:ext cx="11158470" cy="95995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Проект </a:t>
          </a:r>
          <a:r>
            <a:rPr lang="ru-RU" sz="2400" b="1" kern="1200"/>
            <a:t>обсуждается на сходе граждан или общественных слушаниях</a:t>
          </a:r>
          <a:r>
            <a:rPr lang="ru-RU" sz="2400" kern="1200"/>
            <a:t>, где ему выражается поддержка</a:t>
          </a:r>
        </a:p>
      </dsp:txBody>
      <dsp:txXfrm>
        <a:off x="46861" y="2905571"/>
        <a:ext cx="11064748" cy="866229"/>
      </dsp:txXfrm>
    </dsp:sp>
    <dsp:sp modelId="{27169669-CA31-40C3-B46E-E9F479AFEE71}">
      <dsp:nvSpPr>
        <dsp:cNvPr id="0" name=""/>
        <dsp:cNvSpPr/>
      </dsp:nvSpPr>
      <dsp:spPr>
        <a:xfrm>
          <a:off x="0" y="3887782"/>
          <a:ext cx="11158470" cy="1161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Затем проект </a:t>
          </a:r>
          <a:r>
            <a:rPr lang="ru-RU" sz="2400" b="1" kern="1200"/>
            <a:t>оценивается местной администрацией</a:t>
          </a:r>
          <a:r>
            <a:rPr lang="ru-RU" sz="2400" kern="1200"/>
            <a:t> – при одобрении он </a:t>
          </a:r>
          <a:r>
            <a:rPr lang="ru-RU" sz="2400" b="1" kern="1200"/>
            <a:t>включается в местный бюджет </a:t>
          </a:r>
          <a:r>
            <a:rPr lang="ru-RU" sz="2400" kern="1200"/>
            <a:t>и реализуется за счёт бюджетных средств</a:t>
          </a:r>
        </a:p>
      </dsp:txBody>
      <dsp:txXfrm>
        <a:off x="56702" y="3944484"/>
        <a:ext cx="11045066" cy="10481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08DC9-48E3-4ABC-BE58-6854D059098B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FA6E8-849D-47CC-BFE3-7A530CFB6D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43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nki.ru/wikibank/byudjetnyiy_protsess/#:~:text=%D0%91%D1%8E%D0%B4%D0%B6%D0%B5%D1%82%D0%BD%D1%8B%D0%B9%20%D0%BF%D1%80%D0%BE%D1%86%D0%B5%D1%81%D1%81%20%E2%80%93%20%D1%8D%D1%82%D0%BE%20%D1%80%D0%B5%D0%B3%D0%BB%D0%B0%D0%BC%D0%B5%D0%BD%D1%82%D0%B8%D1%80%D1%83%D0%B5%D0%BC%D0%B0%D1%8F,%D0%BF%D0%BE%D0%B4%D0%B3%D0%BE%D1%82%D0%BE%D0%B2%D0%BA%D1%83%20%D0%B8%20%D1%83%D1%82%D0%B2%D0%B5%D1%80%D0%B6%D0%B4%D0%B5%D0%BD%D0%B8%D0%B5%20%D0%B1%D1%8E%D0%B4%D0%B6%D0%B5%D1%82%D0%BD%D0%BE%D0%B9%20%D0%BE%D1%82%D1%87%D0%B5%D1%82%D0%BD%D0%BE%D1%81%D1%82%D0%B8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rg.ru/documents/2014/07/03/strategia-dok.html#:~:text=6%29%20%D0%BF%D0%BB%D0%B0%D0%BD%D0%B8%D1%80%D0%BE%D0%B2%D0%B0%D0%BD%D0%B8%D0%B5%20,%D0%BF%D0%BB%D0%B0%D0%BD%D0%B8%D1%80%D0%BE%D0%B2%D0%B0%D0%BD%D0%B8%D1%8F%2C%20%D1%80%D0%B0%D0%B7%D1%80%D0%B0%D0%B1%D0%B0%D1%82%D1%8B%D0%B2%D0%B0%D0%B5%D0%BC%D1%8B%D1%85%20%D0%B2%20%D1%80%D0%B0%D0%BC%D0%BA%D0%B0%D1%85%20%D1%86%D0%B5%D0%BB%D0%B5%D0%BF%D0%BE%D0%BB%D0%B0%D0%B3%D0%B0%D0%BD%D0%B8%D1%8F" TargetMode="External"/><Relationship Id="rId13" Type="http://schemas.openxmlformats.org/officeDocument/2006/relationships/hyperlink" Target="https://rg.ru/documents/2014/07/03/strategia-dok.html#:~:text=1,%D1%80%D0%B0%D0%BC%D0%BA%D0%B0%D1%85%20%D1%86%D0%B5%D0%BB%D0%B5%D0%BF%D0%BE%D0%BB%D0%B0%D0%B3%D0%B0%D0%BD%D0%B8%D1%8F%2C%20%D0%BA%20%D0%BA%D0%BE%D1%82%D0%BE%D1%80%D1%8B%D0%BC%20%D0%BE%D1%82%D0%BD%D0%BE%D1%81%D1%8F%D1%82%D1%81%D1%8F" TargetMode="External"/><Relationship Id="rId3" Type="http://schemas.openxmlformats.org/officeDocument/2006/relationships/hyperlink" Target="https://rg.ru/documents/2014/07/03/strategia-dok.html#:~:text=%D0%A4%D0%B5%D0%B4%D0%B5%D1%80%D0%B0%D0%BB%D1%8C%D0%BD%D1%8B%D0%B9%20%D0%B7%D0%B0%D0%BA%D0%BE%D0%BD%20%D0%BE%20%D1%81%D1%82%D1%80%D0%B0%D1%82%D0%B5%D0%B3%D0%B8%D1%87%D0%B5%D1%81%D0%BA%D0%BE%D0%BC%20%D0%BF%D0%BB%D0%B0%D0%BD%D0%B8%D1%80%D0%BE%D0%B2%D0%B0%D0%BD%D0%B8%D0%B8,%D0%B2%20%D0%A0%D0%A4" TargetMode="External"/><Relationship Id="rId7" Type="http://schemas.openxmlformats.org/officeDocument/2006/relationships/hyperlink" Target="https://rg.ru/documents/2014/07/03/strategia-dok.html#:~:text=5%29%20%D0%BF%D1%80%D0%BE%D0%B3%D0%BD%D0%BE%D0%B7%D0%B8%D1%80%D0%BE%D0%B2%D0%B0%D0%BD%D0%B8%D0%B5%20,%D0%A0%D0%BE%D1%81%D1%81%D0%B8%D0%B9%D1%81%D0%BA%D0%BE%D0%B9%20%D0%A4%D0%B5%D0%B4%D0%B5%D1%80%D0%B0%D1%86%D0%B8%D0%B8%20%D0%B8%20%D0%BC%D1%83%D0%BD%D0%B8%D1%86%D0%B8%D0%BF%D0%B0%D0%BB%D1%8C%D0%BD%D1%8B%D1%85%20%D0%BE%D0%B1%D1%80%D0%B0%D0%B7%D0%BE%D0%B2%D0%B0%D0%BD%D0%B8%D0%B9" TargetMode="External"/><Relationship Id="rId12" Type="http://schemas.openxmlformats.org/officeDocument/2006/relationships/hyperlink" Target="https://rg.ru/documents/2014/07/03/strategia-dok.html#:~:text=match%20at%20L866%204,%D0%B8%20%D0%BF%D1%80%D0%BE%D0%B3%D1%80%D0%B0%D0%BC%D0%BC%D0%B8%D1%80%D0%BE%D0%B2%D0%B0%D0%BD%D0%B8%D1%8F%2C%20%D0%BA%20%D0%BA%D0%BE%D1%82%D0%BE%D1%80%D1%8B%D0%BC%20%D0%BE%D1%82%D0%BD%D0%BE%D1%81%D1%8F%D1%82%D1%81%D1%8F" TargetMode="External"/><Relationship Id="rId2" Type="http://schemas.openxmlformats.org/officeDocument/2006/relationships/slide" Target="../slides/slide2.xml"/><Relationship Id="rId16" Type="http://schemas.openxmlformats.org/officeDocument/2006/relationships/hyperlink" Target="https://rg.ru/documents/2014/07/03/strategia-dok.html#:~:text=1,%D0%BD%D0%BE%D1%80%D0%BC%D0%B0%D1%82%D0%B8%D0%B2%D0%BD%D1%8B%D0%BC%D0%B8%20%D0%BF%D1%80%D0%B0%D0%B2%D0%BE%D0%B2%D1%8B%D0%BC%D0%B8%20%D0%B0%D0%BA%D1%82%D0%B0%D0%BC%D0%B8%2C%20%D1%83%D0%BA%D0%B0%D0%B7%D0%B0%D0%BD%D0%BD%D1%8B%D0%BC%D0%B8%20%D0%B2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g.ru/documents/2014/07/03/strategia-dok.html#:~:text=4%29%20%D1%86%D0%B5%D0%BB%D0%B5%D0%BF%D0%BE%D0%BB%D0%B0%D0%B3%D0%B0%D0%BD%D0%B8%D0%B5%20,%D0%BE%D0%B1%D0%B5%D1%81%D0%BF%D0%B5%D1%87%D0%B5%D0%BD%D0%B8%D1%8F%20%D0%BD%D0%B0%D1%86%D0%B8%D0%BE%D0%BD%D0%B0%D0%BB%D1%8C%D0%BD%D0%BE%D0%B9%20%D0%B1%D0%B5%D0%B7%D0%BE%D0%BF%D0%B0%D1%81%D0%BD%D0%BE%D1%81%D1%82%D0%B8%20%D0%A0%D0%BE%D1%81%D1%81%D0%B8%D0%B9%D1%81%D0%BA%D0%BE%D0%B9%20%D0%A4%D0%B5%D0%B4%D0%B5%D1%80%D0%B0%D1%86%D0%B8%D0%B8" TargetMode="External"/><Relationship Id="rId11" Type="http://schemas.openxmlformats.org/officeDocument/2006/relationships/hyperlink" Target="https://rg.ru/documents/2014/07/03/strategia-dok.html#:~:text=%D0%A1%D1%82%D0%B0%D1%82%D1%8C%D1%8F%2011" TargetMode="External"/><Relationship Id="rId5" Type="http://schemas.openxmlformats.org/officeDocument/2006/relationships/hyperlink" Target="https://rg.ru/documents/2014/07/03/strategia-dok.html#:~:text=1%29%20%D1%81%D1%82%D1%80%D0%B0%D1%82%D0%B5%D0%B3%D0%B8%D1%87%D0%B5%D1%81%D0%BA%D0%BE%D0%B5%20%D0%BF%D0%BB%D0%B0%D0%BD%D0%B8%D1%80%D0%BE%D0%B2%D0%B0%D0%BD%D0%B8%D0%B5%20,%D0%BE%D0%B1%D0%B5%D1%81%D0%BF%D0%B5%D1%87%D0%B5%D0%BD%D0%B8%D0%B5%20%D0%BD%D0%B0%D1%86%D0%B8%D0%BE%D0%BD%D0%B0%D0%BB%D1%8C%D0%BD%D0%BE%D0%B9%20%D0%B1%D0%B5%D0%B7%D0%BE%D0%BF%D0%B0%D1%81%D0%BD%D0%BE%D1%81%D1%82%D0%B8%20%D0%A0%D0%BE%D1%81%D1%81%D0%B8%D0%B9%D1%81%D0%BA%D0%BE%D0%B9%20%D0%A4%D0%B5%D0%B4%D0%B5%D1%80%D0%B0%D1%86%D0%B8%D0%B8" TargetMode="External"/><Relationship Id="rId15" Type="http://schemas.openxmlformats.org/officeDocument/2006/relationships/hyperlink" Target="https://rg.ru/documents/2014/07/03/strategia-dok.html#:~:text=1,%D0%B0%D0%BA%D1%82%D0%B0%D0%BC%D0%B8%2C%20%D1%83%D0%BA%D0%B0%D0%B7%D0%B0%D0%BD%D0%BD%D1%8B%D0%BC%D0%B8%20%D0%B2%20%D1%81%D1%82%D0%B0%D1%82%D1%8C%D0%B5%202" TargetMode="External"/><Relationship Id="rId10" Type="http://schemas.openxmlformats.org/officeDocument/2006/relationships/hyperlink" Target="https://rg.ru/documents/2014/07/03/strategia-dok.html#:~:text=8,%D0%BE%D0%B1%D0%B5%D1%81%D0%BF%D0%B5%D1%87%D0%B5%D0%BD%D0%B8%D1%8F%20%D0%BD%D0%B0%D1%86%D0%B8%D0%BE%D0%BD%D0%B0%D0%BB%D1%8C%D0%BD%D0%BE%D0%B9%20%D0%B1%D0%B5%D0%B7%D0%BE%D0%BF%D0%B0%D1%81%D0%BD%D0%BE%D1%81%D1%82%D0%B8%20%D0%A0%D0%BE%D1%81%D1%81%D0%B8%D0%B9%D1%81%D0%BA%D0%BE%D0%B9%20%D0%A4%D0%B5%D0%B4%D0%B5%D1%80%D0%B0%D1%86%D0%B8%D0%B8" TargetMode="External"/><Relationship Id="rId4" Type="http://schemas.openxmlformats.org/officeDocument/2006/relationships/hyperlink" Target="https://rg.ru/documents/2014/07/03/strategia-dok.html#:~:text=1,%D0%BE%D1%80%D0%B3%D0%B0%D0%BD%D0%B8%D0%B7%D0%B0%D1%86%D0%B8%D1%8F%D0%BC%D0%B8%20%D0%B2%20%D1%81%D1%84%D0%B5%D1%80%D0%B5%20%D1%81%D1%82%D1%80%D0%B0%D1%82%D0%B5%D0%B3%D0%B8%D1%87%D0%B5%D1%81%D0%BA%D0%BE%D0%B3%D0%BE%20%D0%BF%D0%BB%D0%B0%D0%BD%D0%B8%D1%80%D0%BE%D0%B2%D0%B0%D0%BD%D0%B8%D1%8F" TargetMode="External"/><Relationship Id="rId9" Type="http://schemas.openxmlformats.org/officeDocument/2006/relationships/hyperlink" Target="https://rg.ru/documents/2014/07/03/strategia-dok.html#:~:text=7%29%20%D0%BF%D1%80%D0%BE%D0%B3%D1%80%D0%B0%D0%BC%D0%BC%D0%B8%D1%80%D0%BE%D0%B2%D0%B0%D0%BD%D0%B8%D0%B5%20,%D0%BF%D0%BB%D0%B0%D0%BD%D0%B8%D1%80%D0%BE%D0%B2%D0%B0%D0%BD%D0%B8%D1%8F%2C%20%D1%80%D0%B0%D0%B7%D1%80%D0%B0%D0%B1%D0%B0%D1%82%D1%8B%D0%B2%D0%B0%D0%B5%D0%BC%D1%8B%D1%85%20%D0%B2%20%D1%80%D0%B0%D0%BC%D0%BA%D0%B0%D1%85%20%D1%86%D0%B5%D0%BB%D0%B5%D0%BF%D0%BE%D0%BB%D0%B0%D0%B3%D0%B0%D0%BD%D0%B8%D1%8F" TargetMode="External"/><Relationship Id="rId14" Type="http://schemas.openxmlformats.org/officeDocument/2006/relationships/hyperlink" Target="https://rg.ru/documents/2014/07/03/strategia-dok.html#:~:text=1,%D1%82%D1%80%D0%B5%D0%B1%D0%BE%D0%B2%D0%B0%D0%BD%D0%B8%D0%B9%20%D0%B7%D0%B0%D0%BA%D0%BE%D0%BD%D0%BE%D0%B4%D0%B0%D1%82%D0%B5%D0%BB%D1%8C%D1%81%D1%82%D0%B2%D0%B0%20%D0%A0%D0%BE%D1%81%D1%81%D0%B8%D0%B9%D1%81%D0%BA%D0%BE%D0%B9%20%D0%A4%D0%B5%D0%B4%D0%B5%D1%80%D0%B0%D1%86%D0%B8%D0%B8%20%D0%BE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Стратегическое управление в государственном секторе подразумевает целенаправленное руководство развитием, ориентированное на долгосрочные цели и приоритеты. В сфере государственного и муниципального управления стратегический подход помогает определить, каких социально-экономических результатов следует достичь в перспективе, и какими средствами их обеспечить. Важнейшим инструментом реализации стратегических планов выступает бюджет – центральный финансовый план государства. </a:t>
            </a:r>
            <a:r>
              <a:rPr lang="ru-RU" b="1" dirty="0"/>
              <a:t>Бюджетный процесс</a:t>
            </a:r>
            <a:r>
              <a:rPr lang="ru-RU" dirty="0"/>
              <a:t> – это регламентированная законодательством деятельность органов власти по составлению, рассмотрению, утверждению и исполнению бюджетов, контролю за их исполнением, а также подготовке и утверждению отчетности об исполнении бюджета</a:t>
            </a:r>
            <a:r>
              <a:rPr lang="ru-RU" dirty="0">
                <a:hlinkClick r:id="rId3"/>
              </a:rPr>
              <a:t>banki.ru</a:t>
            </a:r>
            <a:r>
              <a:rPr lang="ru-RU" dirty="0"/>
              <a:t>. Таким образом, эффективное стратегическое управление невозможно без надлежащего ресурсного обеспечения, которое достигается через бюджетный процесс. В данной лекции мы рассмотрим основы стратегического управления (стратегического планирования) в публичном секторе, содержание и стадии бюджетного процесса, а также их взаимосвязь.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2339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Стратегическое управление в публичной сфере реализуется прежде всего через систему стратегического планирования. В Российской Федерации создана нормативная база для стратегического планирования: ключевым актом является </a:t>
            </a:r>
            <a:r>
              <a:rPr lang="ru-RU" b="1" dirty="0"/>
              <a:t>Федеральный закон от 28 июня 2014 г. № 172-ФЗ «О стратегическом планировании в Российской </a:t>
            </a:r>
            <a:r>
              <a:rPr lang="ru-RU" b="1" dirty="0" err="1"/>
              <a:t>Федерации»</a:t>
            </a:r>
            <a:r>
              <a:rPr lang="ru-RU" dirty="0" err="1">
                <a:hlinkClick r:id="rId3"/>
              </a:rPr>
              <a:t>rg.ru</a:t>
            </a:r>
            <a:r>
              <a:rPr lang="ru-RU" dirty="0"/>
              <a:t>. Согласно этому закону, установлены правовые основы стратегического планирования, а также координация государственного и муниципального стратегического управления с бюджетной политикой</a:t>
            </a:r>
            <a:r>
              <a:rPr lang="ru-RU" dirty="0">
                <a:hlinkClick r:id="rId4"/>
              </a:rPr>
              <a:t>rg.ru</a:t>
            </a:r>
            <a:r>
              <a:rPr lang="ru-RU" dirty="0"/>
              <a:t>. Иными словами, законодатель определил, что долгосрочное целеполагание органов власти должно быть тесно увязано с формированием и исполнением бюджета.</a:t>
            </a:r>
          </a:p>
          <a:p>
            <a:r>
              <a:rPr lang="ru-RU" b="1" dirty="0"/>
              <a:t>Стратегическое планирование</a:t>
            </a:r>
            <a:r>
              <a:rPr lang="ru-RU" dirty="0"/>
              <a:t> законодательством определено как деятельность участников стратегического планирования по выработке целей (целеполагание), прогнозированию, планированию и программированию социально-экономического развития страны, регионов и муниципалитетов, обеспечению национальной безопасности, направленная на решение задач устойчивого развития и безопасности государства</a:t>
            </a:r>
            <a:r>
              <a:rPr lang="ru-RU" dirty="0">
                <a:hlinkClick r:id="rId5"/>
              </a:rPr>
              <a:t>rg.ru</a:t>
            </a:r>
            <a:r>
              <a:rPr lang="ru-RU" dirty="0"/>
              <a:t>. Проще говоря, стратегическое планирование – это комплекс действий, через который власть ставит долгосрочные цели развития и разрабатывает систему мер для их достижения. Законом закреплены основные элементы этого процесса:</a:t>
            </a:r>
          </a:p>
          <a:p>
            <a:r>
              <a:rPr lang="ru-RU" b="1" dirty="0"/>
              <a:t>Целеполагание</a:t>
            </a:r>
            <a:r>
              <a:rPr lang="ru-RU" dirty="0"/>
              <a:t> – определение приоритетных направлений, целей и задач развития</a:t>
            </a:r>
            <a:r>
              <a:rPr lang="ru-RU" dirty="0">
                <a:hlinkClick r:id="rId6"/>
              </a:rPr>
              <a:t>rg.ru</a:t>
            </a:r>
            <a:r>
              <a:rPr lang="ru-RU" dirty="0"/>
              <a:t>;</a:t>
            </a:r>
          </a:p>
          <a:p>
            <a:r>
              <a:rPr lang="ru-RU" b="1" dirty="0"/>
              <a:t>Прогнозирование</a:t>
            </a:r>
            <a:r>
              <a:rPr lang="ru-RU" dirty="0"/>
              <a:t> – разработка научно обоснованных прогнозов социально-экономического развития и оценка рисков</a:t>
            </a:r>
            <a:r>
              <a:rPr lang="ru-RU" dirty="0">
                <a:hlinkClick r:id="rId7"/>
              </a:rPr>
              <a:t>rg.ru</a:t>
            </a:r>
            <a:r>
              <a:rPr lang="ru-RU" dirty="0"/>
              <a:t>;</a:t>
            </a:r>
          </a:p>
          <a:p>
            <a:r>
              <a:rPr lang="ru-RU" b="1" dirty="0"/>
              <a:t>Планирование</a:t>
            </a:r>
            <a:r>
              <a:rPr lang="ru-RU" dirty="0"/>
              <a:t> – подготовка стратегических планов и основных направлений деятельности органов власти, направленных на достижение поставленных целей</a:t>
            </a:r>
            <a:r>
              <a:rPr lang="ru-RU" dirty="0">
                <a:hlinkClick r:id="rId8"/>
              </a:rPr>
              <a:t>rg.ru</a:t>
            </a:r>
            <a:r>
              <a:rPr lang="ru-RU" dirty="0"/>
              <a:t>;</a:t>
            </a:r>
          </a:p>
          <a:p>
            <a:r>
              <a:rPr lang="ru-RU" b="1" dirty="0"/>
              <a:t>Программирование</a:t>
            </a:r>
            <a:r>
              <a:rPr lang="ru-RU" dirty="0"/>
              <a:t> – разработка и реализация государственных и муниципальных программ для достижения стратегических целей</a:t>
            </a:r>
            <a:r>
              <a:rPr lang="ru-RU" dirty="0">
                <a:hlinkClick r:id="rId9"/>
              </a:rPr>
              <a:t>rg.ru</a:t>
            </a:r>
            <a:r>
              <a:rPr lang="ru-RU" dirty="0"/>
              <a:t>;</a:t>
            </a:r>
          </a:p>
          <a:p>
            <a:r>
              <a:rPr lang="ru-RU" b="1" dirty="0"/>
              <a:t>Мониторинг и контроль</a:t>
            </a:r>
            <a:r>
              <a:rPr lang="ru-RU" dirty="0"/>
              <a:t> – оценка хода реализации стратегических документов и контроль за достижением целей</a:t>
            </a:r>
            <a:r>
              <a:rPr lang="ru-RU" dirty="0">
                <a:hlinkClick r:id="rId10"/>
              </a:rPr>
              <a:t>rg.ru</a:t>
            </a:r>
            <a:r>
              <a:rPr lang="ru-RU" dirty="0"/>
              <a:t>.</a:t>
            </a:r>
          </a:p>
          <a:p>
            <a:r>
              <a:rPr lang="ru-RU" dirty="0"/>
              <a:t>Все эти стадии вместе образуют цикл стратегического управления. Стратегические документы разрабатываются на федеральном, региональном и муниципальном уровнях в единой системе. К документам стратегического планирования относятся, в частности, </a:t>
            </a:r>
            <a:r>
              <a:rPr lang="ru-RU" b="1" dirty="0"/>
              <a:t>Стратегия социально-экономического развития Российской Федерации</a:t>
            </a:r>
            <a:r>
              <a:rPr lang="ru-RU" dirty="0"/>
              <a:t>, отраслевые и региональные стратегии, </a:t>
            </a:r>
            <a:r>
              <a:rPr lang="ru-RU" b="1" dirty="0"/>
              <a:t>прогнозы</a:t>
            </a:r>
            <a:r>
              <a:rPr lang="ru-RU" dirty="0"/>
              <a:t> (например, прогноз социально-экономического развития на среднесрочный период), а также </a:t>
            </a:r>
            <a:r>
              <a:rPr lang="ru-RU" b="1" dirty="0"/>
              <a:t>государственные программы</a:t>
            </a:r>
            <a:r>
              <a:rPr lang="ru-RU" dirty="0"/>
              <a:t> и планы мероприятий по их реализации</a:t>
            </a:r>
            <a:r>
              <a:rPr lang="ru-RU" dirty="0">
                <a:hlinkClick r:id="rId11"/>
              </a:rPr>
              <a:t>rg.ru</a:t>
            </a:r>
            <a:r>
              <a:rPr lang="ru-RU" dirty="0">
                <a:hlinkClick r:id="rId12"/>
              </a:rPr>
              <a:t>rg.ru</a:t>
            </a:r>
            <a:r>
              <a:rPr lang="ru-RU" dirty="0"/>
              <a:t>. На высшем уровне целеполагания важную роль играет ежегодное </a:t>
            </a:r>
            <a:r>
              <a:rPr lang="ru-RU" b="1" dirty="0"/>
              <a:t>Послание Президента РФ Федеральному Собранию</a:t>
            </a:r>
            <a:r>
              <a:rPr lang="ru-RU" dirty="0"/>
              <a:t>, в котором формулируются приоритеты государственной политики</a:t>
            </a:r>
            <a:r>
              <a:rPr lang="ru-RU" dirty="0">
                <a:hlinkClick r:id="rId13"/>
              </a:rPr>
              <a:t>rg.ru</a:t>
            </a:r>
            <a:r>
              <a:rPr lang="ru-RU" dirty="0"/>
              <a:t> – этот документ законом отнесен к стратегическим и задает ориентиры для органов власти. Стратегические планы и программы подлежат официальному утверждению и публикации; для их учета ведется федеральный реестр документов стратегического планирования</a:t>
            </a:r>
            <a:r>
              <a:rPr lang="ru-RU" dirty="0">
                <a:hlinkClick r:id="rId14"/>
              </a:rPr>
              <a:t>rg.ru</a:t>
            </a:r>
            <a:r>
              <a:rPr lang="ru-RU" dirty="0"/>
              <a:t>.</a:t>
            </a:r>
          </a:p>
          <a:p>
            <a:r>
              <a:rPr lang="ru-RU" dirty="0"/>
              <a:t>Нормативно-правовая база четко распределяет полномочия субъектов стратегического управления. Президент Российской Федерации определяет общенациональные приоритеты и утверждает ключевые стратегии (например, Стратегию национальной безопасности). Правительство Российской Федерации организует разработку прогнозов и программ на федеральном уровне, утверждает государственные программы и основные направлений своей деятельности</a:t>
            </a:r>
            <a:r>
              <a:rPr lang="ru-RU" dirty="0">
                <a:hlinkClick r:id="rId15"/>
              </a:rPr>
              <a:t>rg.ru</a:t>
            </a:r>
            <a:r>
              <a:rPr lang="ru-RU" dirty="0">
                <a:hlinkClick r:id="rId11"/>
              </a:rPr>
              <a:t>rg.ru</a:t>
            </a:r>
            <a:r>
              <a:rPr lang="ru-RU" dirty="0"/>
              <a:t>. Органы исполнительной власти субъектов РФ и органы местного самоуправления разрабатывают стратегии развития своих регионов и муниципальных образований в русле общенациональных целей</a:t>
            </a:r>
            <a:r>
              <a:rPr lang="ru-RU" dirty="0">
                <a:hlinkClick r:id="rId16"/>
              </a:rPr>
              <a:t>rg.ru</a:t>
            </a:r>
            <a:r>
              <a:rPr lang="ru-RU" dirty="0"/>
              <a:t>. Такая многоуровневая система стратегического планирования позволяет согласовать цели развития на всех уровнях публичной власти и обеспечить их достижение при участии различных органов власти, научных организаций и общества</a:t>
            </a:r>
            <a:r>
              <a:rPr lang="ru-RU" dirty="0">
                <a:hlinkClick r:id="rId4"/>
              </a:rPr>
              <a:t>rg.ru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571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1969D-62B6-C2BD-1015-B46B8ADAE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767AAE4-E859-776C-CCD5-2F870F1C2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01D6DA-C5A7-A384-9710-459EF521E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91FF5D-30D4-58C4-7216-84F16A062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169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система стратегического планирования - механизм обеспечения согласованного взаимодействия участников стратегического планирования на основе принципов стратегического планирования при осуществлении разработки и реализации документов стратегического планирования, а также мониторинга и контроля реализации документов стратегического планирования в рамках целеполагания, прогнозирования, планирования и программирования с использованием нормативно-правового, информационного, научно-методического, финансового и иного ресурсного обеспечения;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00394-8CE5-4187-80C5-5B3765C9E7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60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e117f92279_2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e117f92279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82584-700A-4DF7-5BD7-DC7DD5FA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0C38339-090A-E7A3-467C-830938F84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903835D-6923-C3F3-E745-10C6B603C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Во-первых, государственная политика. Понятие «государственная политика» в российском праве закрепляется, как правило, через специальные акты «Основы государственной политики…» в конкретной сфере. Например, </a:t>
            </a:r>
            <a:r>
              <a:rPr lang="ru-RU" b="1" dirty="0"/>
              <a:t>Указ Президента РФ от 09.11.2022 № 809</a:t>
            </a:r>
            <a:r>
              <a:rPr lang="ru-RU" dirty="0"/>
              <a:t> прямо определяет, что государственная политика по сохранению и укреплению традиционных российских духовно-нравственных ценностей – это «совокупность скоординированных мер, осуществляемых Президентом Российской Федерации и иными органами публичной власти» в соответствующей сфере. В логике 172-ФЗ такие Основы выступают документом стратегического планирования, определяющим цели, задачи и инструменты реализации соответствующего стратегического национального приоритета. То есть государственная политика – это «надстроечное» понятие: совокупность целей, принципов и мер государства в данной сфере; её юридическую форму обычно принимают Основы государственной политики, стратегии, концепции, доктрины.</a:t>
            </a:r>
          </a:p>
          <a:p>
            <a:r>
              <a:rPr lang="ru-RU" dirty="0"/>
              <a:t>Во-вторых, концепция. В 172-ФЗ термин «концепция» напрямую не раскрывается, но прямо отнесён к документам стратегического планирования: статья 11 закона говорит, что к документам стратегического планирования на федеральном уровне относятся, помимо прочего, «основы государственной политики, доктрины и другие документы в сфере обеспечения национальной безопасности Российской Федерации», а в научной и ведомственной практике к таким «другим документам» относятся именно концепции развития, концепции государственной политики и т.п.. По своей природе концепция — это рамочный документ, в котором формулируются проблемы, цели, принципы и общие подходы, но без детальной «оцифровки» показателей и ресурсов. В иерархии она, как правило, предшествует или сопутствует стратегии и конкретным программным документам.</a:t>
            </a:r>
          </a:p>
          <a:p>
            <a:r>
              <a:rPr lang="ru-RU" dirty="0"/>
              <a:t>В-третьих, стратегия. В статье 11 172-ФЗ стратегии прямо названы специфическим видом документов стратегического планирования в блоке «целеполагание»: стратегия национальной безопасности, стратегия социально-экономического развития Российской Федерации, стратегия пространственного развития и др.. Для конкретного примера: в ряде правительственных распоряжений о стратегиях субъектов РФ прямо сказано, что стратегия «представляет собой документ стратегического планирования, разрабатываемый в рамках целеполагания по территориальному принципу». Стратегия, в отличие от концепции, всегда привязана к горизонту (средне- или долгосрочному), имеет систему целей, задач и, как правило, ключевые индикаторы. Она конкретизирует государственную политику в виде целостного долгосрочного плана.</a:t>
            </a:r>
          </a:p>
          <a:p>
            <a:r>
              <a:rPr lang="ru-RU" dirty="0"/>
              <a:t>В-четвёртых, государственная программа. Федеральный закон № 172-ФЗ включает государственные программы в перечень документов стратегического планирования, разрабатываемых в рамках «планирования и программирования». Бюджетный кодекс РФ (статья 179) определяет, что государственные программы Российской Федерации утверждаются Правительством РФ и подлежат приведению в соответствие с федеральным законом о федеральном бюджете. Комментарии к статье 179 подчёркивают, что госпрограмма — это увязанный с бюджетом комплекс мероприятий, ориентированных на достижение конкретных целей и показателей. Таким образом, государственная программа — основной «несущий» элемент программно-целевого подхода, в котором закрепляются цели, индикаторы, мероприятия и объём бюджетного финансирования.</a:t>
            </a:r>
          </a:p>
          <a:p>
            <a:r>
              <a:rPr lang="ru-RU" dirty="0"/>
              <a:t>В-пятых, национальный проект. После поправок к 172-ФЗ 2024 года национальные проекты прямо включены в перечень документов стратегического планирования в рамках планирования и программирования: статья 11 относит к этим документам «основные направления деятельности Правительства Российской Федерации, национальные проекты, государственные программы Российской Федерации…». Постановление Правительства РФ от 31.10.2018 № 1288 (с учётом изменений 2024–2025 гг.) даёт более точное определение: «национальный проект – проект, направленный на достижение национальных целей развития Российской Федерации, их целевых показателей, выполнение задач, определённых Указом Президента Российской Федерации от 7 мая 2024 г. № 309». В рамках того же постановления национальный проект рассматривается как комплекс федеральных проектов, ведомственных и региональных проектов, реализуемый в условиях ресурсных и временных ограничений. Следовательно, национальный проект — это «надпрограммный» комплексный инструмент реализации национальных целей, опирающийся на государственные программы и проекты.</a:t>
            </a:r>
          </a:p>
          <a:p>
            <a:r>
              <a:rPr lang="ru-RU" dirty="0"/>
              <a:t>В-шестых, федеральная целевая программа (ФЦП). Ещё до повсеместного перехода к системе госпрограмм основным программно-целевым инструментом выступали федеральные целевые программы. В нормативных актах (например, в старых правилах разработки ФЦП и материалах Минэкономразвития) ФЦП определяется как «увязанный по задачам, ресурсам и срокам осуществления комплекс научно-исследовательских, социально-экономических, организационно-хозяйственных и других мероприятий, обеспечивающих эффективное решение системных проблем в области государственного, экономического, экологического, социального и культурного развития Российской Федерации». Сейчас ФЦП в основном либо завершены, либо «встроены» в состав государственных программ, но методологически это классический пример целевой программы под стратегические приоритеты.</a:t>
            </a:r>
          </a:p>
          <a:p>
            <a:r>
              <a:rPr lang="ru-RU" dirty="0"/>
              <a:t>Наконец, в-седьмых, проектный уровень. Постановление № 1288 вводит связку «национальный проект – федеральный проект – ведомственный проект – региональный проект». Национальный проект – верхний уровень, обеспечивающий достижение национальных целей; федеральные проекты обеспечивают достижение целей и показателей национального проекта; ведомственные проекты подчинены целям соответствующего федерального органа; региональные проекты обеспечивают реализацию федеральных проектов на уровне субъекта РФ. Весь этот «проектный каскад» встроен в госпрограммы и бюджетный процесс.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20AF9F-B631-5C73-A13E-ED6C1429F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673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00394-8CE5-4187-80C5-5B3765C9E7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51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00394-8CE5-4187-80C5-5B3765C9E7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43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64440-2143-7781-307E-EA63ECA37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3912925-3AB3-40D7-8F9B-40A093D01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3A1C4F8-EF22-AF21-8D24-17B6CE6FF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66FB35-81B6-031D-DEA1-D5192CD5E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4BC71E-BD03-4F39-AFE3-9983ED8F052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12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00394-8CE5-4187-80C5-5B3765C9E7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15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00394-8CE5-4187-80C5-5B3765C9E7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10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00394-8CE5-4187-80C5-5B3765C9E7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82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8625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9700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7B6AA-D475-7D90-8E70-AFB70E70F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ECC9C91-9941-2765-E874-61B2BFD6A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FB61483-0B44-1FAD-8123-7082AC207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8D8300-D2C6-C67F-7F06-044ADA0F9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293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F945F512-94DE-7B5B-910E-68BE71FB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e117f92279_2_119:notes">
            <a:extLst>
              <a:ext uri="{FF2B5EF4-FFF2-40B4-BE49-F238E27FC236}">
                <a16:creationId xmlns:a16="http://schemas.microsoft.com/office/drawing/2014/main" id="{FD91D8EA-7F8B-78F7-1CD9-F17AA80C9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1" name="Google Shape;271;ge117f92279_2_119:notes">
            <a:extLst>
              <a:ext uri="{FF2B5EF4-FFF2-40B4-BE49-F238E27FC236}">
                <a16:creationId xmlns:a16="http://schemas.microsoft.com/office/drawing/2014/main" id="{4C141BB6-89A8-7436-EE03-59DADFF4F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81534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2509D9D2-A348-4C8A-C786-2F4E1AA07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e117f92279_2_119:notes">
            <a:extLst>
              <a:ext uri="{FF2B5EF4-FFF2-40B4-BE49-F238E27FC236}">
                <a16:creationId xmlns:a16="http://schemas.microsoft.com/office/drawing/2014/main" id="{854E64A4-CD62-A66D-E695-50CDC7D9AA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1" name="Google Shape;271;ge117f92279_2_119:notes">
            <a:extLst>
              <a:ext uri="{FF2B5EF4-FFF2-40B4-BE49-F238E27FC236}">
                <a16:creationId xmlns:a16="http://schemas.microsoft.com/office/drawing/2014/main" id="{1C8B6C54-5498-F71F-43F2-A0116D2D33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16043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3DAA9-9FA8-E8BF-2909-9C36EAD4A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3ADC4C3-C78B-D7D0-C8BA-90FE274E9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BD7BCEF-9AB4-44BE-BBED-A1C211B85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9C85A9-373A-8BF1-2C2C-31851F6D1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5672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F01C6-0CD6-C672-B55A-552826993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702C3AF-8E2F-D56A-F8CA-EE6FAD9A0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203E38-388E-11C0-3C14-CB4F5EF92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C24956-D8A3-8234-73C7-FD2C20216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FA6E8-849D-47CC-BFE3-7A530CFB6D95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672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E7F45-22C0-3755-4876-27C3A4FD9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98CB2-11BF-5143-5B99-39109A55C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E6FBF9-EAB2-A676-AB16-AA9310EC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93059-A4B1-4F89-9A5E-D6BA2A7223C0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47C384-706B-4752-1FD4-83A1FEB0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E5DF13-632D-DFC3-8275-1E8C73C2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84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98566-D971-33E9-8DF3-0036EA41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6FD9A0-D1FD-E6B4-6BD2-28B2D270F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41F12B-7E09-57FB-EB1E-385BA3319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47D49-FE97-4534-9399-61FA1DFE3A15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BBEF9A-026E-BB46-2736-B3A171F6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3A777A-395A-1F6A-4745-650CB219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87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0DB0B-38CB-B7B6-19DD-B6BDEF4C3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827E8A-645E-1582-FA5F-DC961A975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FCC63-71EA-0937-AFAF-565691384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3BE77-0092-407F-9C3A-DAE1798E31BD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0E5CD9-3E16-4518-5027-E3A0E240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DA5688-A25E-6FF8-0C6E-95A857B9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66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41FAE-8BEA-7920-602E-953C3DAA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3D5004-FE55-D18C-DBB3-09C34F9AA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2ED678-78EB-8806-D0F2-2729082B6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24ACA8-8C91-BEA4-F5BF-59AD0C026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4C5D4-DB31-479A-83AA-9B0D78097B6E}" type="datetime1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B578CD-1F47-45FC-67BC-510D1BFC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B34A73-08E3-64FB-8675-8FB11630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69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52592-FE17-3F4A-53F4-E741EE09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99846D-70C3-1BC8-1E5F-B0FB170EF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9C27FC-D4D5-453E-97DB-F5F458954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74B9D7-7DEF-806E-06DC-46D8AEFF3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F9A4598-F89F-129E-5695-03D42FF1F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A1F9239-0756-9A7C-E85F-ADE894209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D6A3B-929D-4387-89DA-6D3C4C08F32D}" type="datetime1">
              <a:rPr lang="ru-RU" smtClean="0"/>
              <a:t>04.12.2025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808823F-DFB2-C50E-820F-5059C663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C5CEF5-0D11-2D10-AE6C-64A890AB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79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2F36E-65F1-FEC9-0FF7-634EEE14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AB1B1C-B95E-329C-C548-5C467B9D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FE3B-DA61-414E-979B-332CE4636471}" type="datetime1">
              <a:rPr lang="ru-RU" smtClean="0"/>
              <a:t>04.12.2025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509588-C7A1-2BE6-561E-14A050B9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156672-23AF-C582-FE21-0F33C1B2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66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9D71F6-4BE9-7E1B-2903-499D02FE5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4D89-3FC7-49D3-B79F-205D84AB5CDF}" type="datetime1">
              <a:rPr lang="ru-RU" smtClean="0"/>
              <a:t>04.12.2025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987A46-8CDB-298D-1113-5B479AE4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0B1345-4B76-6412-CB2E-BA7B16F4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89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15DEA-388D-4977-E6B7-E598ACA3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5E70B0-5D25-6257-DFEC-07D64ABE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90997D-B080-181A-48C9-C927D8055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ECCC85-A963-0848-B0E9-FDABE9A3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32BB-88F6-4460-991F-1645A534CF4B}" type="datetime1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11ED01-45FE-F34D-5134-9F38C1F0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0FC121-51F9-83CD-FA70-51DE15B6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25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728D05-6A82-F6B8-6DAF-169F620DD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B6A8E66-8047-3546-1AA4-D05A556D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12A6AC-B33B-0820-2ADE-BF2B523A6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36B7B4-A4C8-49C1-02A7-26FA3B8C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564D-C6CA-4D7F-8D0B-86900A4693DC}" type="datetime1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F3F352-1F38-D066-0AD3-8A41637B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3AA7A0-82E9-9AE9-6FEB-27980E11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081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B9492-6ADA-8A50-410F-D0CDFFEE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68F4F3-2256-1B6E-25D1-623B77135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E1122D-A8F8-0D37-A51D-6D4A65492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2CAB7-1EBC-4BF7-830D-3BEBBCFEDEE8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72637C-0929-6EFC-17A2-A095DA12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7DB81C-B0BC-E666-920B-777529FC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81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E4B259-8597-372C-8F33-AB52C73DE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592995-794D-A29D-A96B-2C15C2682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8DA033-8ABD-5656-C140-0D703123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1A71-4F18-4FA3-94C7-F6E1F4AC2105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C36A27-1D8D-3463-3887-AC09B848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0BE79-CA70-6D5C-F7BB-58021106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731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15601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2"/>
          </p:nvPr>
        </p:nvSpPr>
        <p:spPr>
          <a:xfrm>
            <a:off x="6443201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70898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D0978-A11D-8D7D-C2F1-0B4CA24C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83307-6209-7D9D-2CAC-7DDFBF114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1AB120-01F3-5632-03FD-D7B43C8B2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F4285-8F88-4F6B-8DBD-84D36D194500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B4C7C4-E408-BADE-1F27-131C777DA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D58696-7E0C-E070-8156-B50F1F43D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60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13" Type="http://schemas.microsoft.com/office/2007/relationships/diagramDrawing" Target="../diagrams/drawing6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5.xml"/><Relationship Id="rId12" Type="http://schemas.openxmlformats.org/officeDocument/2006/relationships/diagramColors" Target="../diagrams/colors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5.xml"/><Relationship Id="rId11" Type="http://schemas.openxmlformats.org/officeDocument/2006/relationships/diagramQuickStyle" Target="../diagrams/quickStyle6.xml"/><Relationship Id="rId5" Type="http://schemas.openxmlformats.org/officeDocument/2006/relationships/diagramLayout" Target="../diagrams/layout5.xml"/><Relationship Id="rId10" Type="http://schemas.openxmlformats.org/officeDocument/2006/relationships/diagramLayout" Target="../diagrams/layout6.xml"/><Relationship Id="rId4" Type="http://schemas.openxmlformats.org/officeDocument/2006/relationships/diagramData" Target="../diagrams/data5.xml"/><Relationship Id="rId9" Type="http://schemas.openxmlformats.org/officeDocument/2006/relationships/diagramData" Target="../diagrams/data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diagramLayout" Target="../diagrams/layout8.xml"/><Relationship Id="rId7" Type="http://schemas.openxmlformats.org/officeDocument/2006/relationships/image" Target="../media/image1.png"/><Relationship Id="rId12" Type="http://schemas.microsoft.com/office/2007/relationships/diagramDrawing" Target="../diagrams/drawing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8.xml"/><Relationship Id="rId11" Type="http://schemas.openxmlformats.org/officeDocument/2006/relationships/diagramColors" Target="../diagrams/colors9.xml"/><Relationship Id="rId5" Type="http://schemas.openxmlformats.org/officeDocument/2006/relationships/diagramColors" Target="../diagrams/colors8.xml"/><Relationship Id="rId10" Type="http://schemas.openxmlformats.org/officeDocument/2006/relationships/diagramQuickStyle" Target="../diagrams/quickStyle9.xml"/><Relationship Id="rId4" Type="http://schemas.openxmlformats.org/officeDocument/2006/relationships/diagramQuickStyle" Target="../diagrams/quickStyle8.xml"/><Relationship Id="rId9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2.xml"/><Relationship Id="rId13" Type="http://schemas.openxmlformats.org/officeDocument/2006/relationships/image" Target="../media/image1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microsoft.com/office/2007/relationships/diagramDrawing" Target="../diagrams/drawing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1.xml"/><Relationship Id="rId11" Type="http://schemas.openxmlformats.org/officeDocument/2006/relationships/diagramColors" Target="../diagrams/colors12.xml"/><Relationship Id="rId5" Type="http://schemas.openxmlformats.org/officeDocument/2006/relationships/diagramQuickStyle" Target="../diagrams/quickStyle11.xml"/><Relationship Id="rId10" Type="http://schemas.openxmlformats.org/officeDocument/2006/relationships/diagramQuickStyle" Target="../diagrams/quickStyle12.xml"/><Relationship Id="rId4" Type="http://schemas.openxmlformats.org/officeDocument/2006/relationships/diagramLayout" Target="../diagrams/layout11.xml"/><Relationship Id="rId9" Type="http://schemas.openxmlformats.org/officeDocument/2006/relationships/diagramLayout" Target="../diagrams/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microsoft.com/office/2007/relationships/diagramDrawing" Target="../diagrams/drawing14.xml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12" Type="http://schemas.openxmlformats.org/officeDocument/2006/relationships/diagramColors" Target="../diagrams/colors1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3.xml"/><Relationship Id="rId11" Type="http://schemas.openxmlformats.org/officeDocument/2006/relationships/diagramQuickStyle" Target="../diagrams/quickStyle14.xml"/><Relationship Id="rId5" Type="http://schemas.openxmlformats.org/officeDocument/2006/relationships/diagramQuickStyle" Target="../diagrams/quickStyle13.xml"/><Relationship Id="rId10" Type="http://schemas.openxmlformats.org/officeDocument/2006/relationships/diagramLayout" Target="../diagrams/layout14.xml"/><Relationship Id="rId4" Type="http://schemas.openxmlformats.org/officeDocument/2006/relationships/diagramLayout" Target="../diagrams/layout13.xml"/><Relationship Id="rId9" Type="http://schemas.openxmlformats.org/officeDocument/2006/relationships/diagramData" Target="../diagrams/data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1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9.xml"/><Relationship Id="rId3" Type="http://schemas.openxmlformats.org/officeDocument/2006/relationships/diagramLayout" Target="../diagrams/layout18.xml"/><Relationship Id="rId7" Type="http://schemas.openxmlformats.org/officeDocument/2006/relationships/image" Target="../media/image1.png"/><Relationship Id="rId12" Type="http://schemas.microsoft.com/office/2007/relationships/diagramDrawing" Target="../diagrams/drawing19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11" Type="http://schemas.openxmlformats.org/officeDocument/2006/relationships/diagramColors" Target="../diagrams/colors19.xml"/><Relationship Id="rId5" Type="http://schemas.openxmlformats.org/officeDocument/2006/relationships/diagramColors" Target="../diagrams/colors18.xml"/><Relationship Id="rId10" Type="http://schemas.openxmlformats.org/officeDocument/2006/relationships/diagramQuickStyle" Target="../diagrams/quickStyle19.xml"/><Relationship Id="rId4" Type="http://schemas.openxmlformats.org/officeDocument/2006/relationships/diagramQuickStyle" Target="../diagrams/quickStyle18.xml"/><Relationship Id="rId9" Type="http://schemas.openxmlformats.org/officeDocument/2006/relationships/diagramLayout" Target="../diagrams/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openxmlformats.org/officeDocument/2006/relationships/image" Target="../media/image1.pn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1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7" Type="http://schemas.openxmlformats.org/officeDocument/2006/relationships/image" Target="../media/image1.pn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1.pn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362A3-1FBF-7863-AC84-C603EA0A3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11">
            <a:extLst>
              <a:ext uri="{FF2B5EF4-FFF2-40B4-BE49-F238E27FC236}">
                <a16:creationId xmlns:a16="http://schemas.microsoft.com/office/drawing/2014/main" id="{FB358D05-6D58-8514-7699-A2A6CAEDA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8000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700" b="1" dirty="0">
                <a:solidFill>
                  <a:schemeClr val="bg1"/>
                </a:solidFill>
              </a:rPr>
              <a:t>Стратегическое управление и бюджетный процесс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Программно-целевой подход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Стратегические документы, целевые программы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Налоги, уровни бюджета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Субсидии, субвенции, дотации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769403A0-F699-7EC0-DDB2-A3D1ABCAD2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C74DEA-3A4B-D06C-DF4E-EA2F452ED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</a:t>
            </a:fld>
            <a:endParaRPr lang="ru-RU" dirty="0"/>
          </a:p>
        </p:txBody>
      </p:sp>
      <p:pic>
        <p:nvPicPr>
          <p:cNvPr id="5" name="Рисунок 4" descr="Изображение выглядит как человек, ноутбук, компьютер, Персональный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CED612-6F95-1C6C-1FD9-5425EB648A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64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2CCFCF2-2847-FEA3-8BF3-2F26051E01E4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700" b="1" dirty="0"/>
              <a:t>Лекция 7</a:t>
            </a:r>
          </a:p>
        </p:txBody>
      </p:sp>
    </p:spTree>
    <p:extLst>
      <p:ext uri="{BB962C8B-B14F-4D97-AF65-F5344CB8AC3E}">
        <p14:creationId xmlns:p14="http://schemas.microsoft.com/office/powerpoint/2010/main" val="3499850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B07E06D-6FF1-D7BE-1D2D-B7E35EB7B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7" y="1497615"/>
            <a:ext cx="11794660" cy="52238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– это деятельность участников стратегического планирования по: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социально-экономического развития страны, регионов и муниципалитетов, обеспечению национальной безопасности, направленная на решение задач устойчивого развития и безопасности государства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A02079-6D33-6F77-48D8-03D36A89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</a:t>
            </a:fld>
            <a:endParaRPr lang="ru-RU"/>
          </a:p>
        </p:txBody>
      </p:sp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570ACE02-E333-CCEB-28D8-93477A805F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0219545"/>
              </p:ext>
            </p:extLst>
          </p:nvPr>
        </p:nvGraphicFramePr>
        <p:xfrm>
          <a:off x="236473" y="1931832"/>
          <a:ext cx="11719054" cy="3303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E04D6856-ECBE-792E-1F3F-2A2AD487081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Стратегическое планирование </a:t>
            </a:r>
          </a:p>
        </p:txBody>
      </p:sp>
      <p:pic>
        <p:nvPicPr>
          <p:cNvPr id="11" name="Рисунок 10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90CF5C6-3F75-0952-65FA-2BB768B0867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7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F584866-7952-0A63-AD9E-F76E99E3D9E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26B6543-A34A-5C99-DD3E-C092DBD99F1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Программно-целевой подход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0A30BA18-E32D-F925-FD7A-43DD2E2D94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8B95452-3CDB-FD66-B9EE-3AD019F99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5CD6344-69F2-4F2A-9E84-A8C1A071765E}" type="slidenum">
              <a:rPr lang="ru-RU" smtClean="0"/>
              <a:t>3</a:t>
            </a:fld>
            <a:endParaRPr lang="ru-RU" dirty="0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9587F7E5-1553-194B-25F1-56A68813DB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9117709"/>
              </p:ext>
            </p:extLst>
          </p:nvPr>
        </p:nvGraphicFramePr>
        <p:xfrm>
          <a:off x="563592" y="1731034"/>
          <a:ext cx="10955548" cy="4407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60861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890D1547-C3C9-03C5-0644-8236AD1A76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214144"/>
              </p:ext>
            </p:extLst>
          </p:nvPr>
        </p:nvGraphicFramePr>
        <p:xfrm>
          <a:off x="293297" y="1497614"/>
          <a:ext cx="11766431" cy="50124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F46DFD-92A7-72E1-AC69-6EE91B38D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DEAC093-81BC-F22B-DEEE-FDF52926D3F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стратегического планирования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B8A9038-5A27-F247-A326-9A2AB05167F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22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E7C3AA4B-78A6-70E2-39F8-9C0DBB0ED2E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11741285"/>
              </p:ext>
            </p:extLst>
          </p:nvPr>
        </p:nvGraphicFramePr>
        <p:xfrm>
          <a:off x="302654" y="1497615"/>
          <a:ext cx="11539470" cy="4692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2E481E-E9A1-7E43-8CCF-E0722B81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8D51-17E7-4372-B308-54BBC760B9A5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C5190-3F7C-7501-F6EE-1764EE9C7AF1}"/>
              </a:ext>
            </a:extLst>
          </p:cNvPr>
          <p:cNvSpPr txBox="1"/>
          <p:nvPr/>
        </p:nvSpPr>
        <p:spPr>
          <a:xfrm>
            <a:off x="0" y="618966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1" dirty="0"/>
              <a:t>Источник</a:t>
            </a:r>
            <a:r>
              <a:rPr lang="ru-RU" dirty="0"/>
              <a:t>: Федеральный закон от 28.06.2014 г. № 172-ФЗ "О стратегическом планировании в Российской Федерации"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0972250-F76A-AE81-5952-D0C2D7AB2511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стратегического планирования</a:t>
            </a:r>
          </a:p>
        </p:txBody>
      </p:sp>
      <p:pic>
        <p:nvPicPr>
          <p:cNvPr id="7" name="Рисунок 6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2CD50F3-AD09-06B1-871F-5F02A15DA26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0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EAD5996-D2CD-F718-A270-AE6979B8E93D}"/>
              </a:ext>
            </a:extLst>
          </p:cNvPr>
          <p:cNvSpPr/>
          <p:nvPr/>
        </p:nvSpPr>
        <p:spPr>
          <a:xfrm>
            <a:off x="1744215" y="1397212"/>
            <a:ext cx="10320150" cy="2519853"/>
          </a:xfrm>
          <a:prstGeom prst="rect">
            <a:avLst/>
          </a:prstGeom>
          <a:solidFill>
            <a:srgbClr val="002060">
              <a:alpha val="20000"/>
            </a:srgbClr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87153FB-7B91-529E-3C4F-A63F8BA1999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vert="horz" wrap="square" lIns="91425" tIns="91425" rIns="91425" bIns="91425" rtlCol="0" anchor="ctr" anchorCtr="0">
            <a:normAutofit fontScale="85000" lnSpcReduction="20000"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Стратегическое планирование </a:t>
            </a:r>
            <a:b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осуществляется на следующих уровнях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административно-территориального устройства 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834AAE0A-91F3-8A65-9FF5-EDC4539403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73" name="Google Shape;273;p31"/>
          <p:cNvSpPr txBox="1">
            <a:spLocks noGrp="1"/>
          </p:cNvSpPr>
          <p:nvPr>
            <p:ph type="body" idx="1"/>
          </p:nvPr>
        </p:nvSpPr>
        <p:spPr>
          <a:xfrm>
            <a:off x="-143939" y="2053908"/>
            <a:ext cx="1757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186258" indent="0">
              <a:buNone/>
            </a:pPr>
            <a:r>
              <a:rPr lang="ru" sz="1600" dirty="0">
                <a:latin typeface="Times New Roman"/>
                <a:ea typeface="Times New Roman"/>
                <a:cs typeface="Times New Roman"/>
                <a:sym typeface="Times New Roman"/>
              </a:rPr>
              <a:t>Субъекты РФ</a:t>
            </a:r>
            <a:endParaRPr dirty="0"/>
          </a:p>
        </p:txBody>
      </p:sp>
      <p:sp>
        <p:nvSpPr>
          <p:cNvPr id="274" name="Google Shape;274;p31"/>
          <p:cNvSpPr/>
          <p:nvPr/>
        </p:nvSpPr>
        <p:spPr>
          <a:xfrm>
            <a:off x="4833913" y="1409053"/>
            <a:ext cx="3262000" cy="319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Российская</a:t>
            </a:r>
            <a:r>
              <a:rPr lang="ru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Федерация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1"/>
          <p:cNvSpPr/>
          <p:nvPr/>
        </p:nvSpPr>
        <p:spPr>
          <a:xfrm>
            <a:off x="2492972" y="2029591"/>
            <a:ext cx="3262000" cy="612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Города федерального значения (3)</a:t>
            </a:r>
            <a:endParaRPr sz="2400"/>
          </a:p>
        </p:txBody>
      </p:sp>
      <p:sp>
        <p:nvSpPr>
          <p:cNvPr id="276" name="Google Shape;276;p31"/>
          <p:cNvSpPr/>
          <p:nvPr/>
        </p:nvSpPr>
        <p:spPr>
          <a:xfrm>
            <a:off x="7222628" y="2038283"/>
            <a:ext cx="3262000" cy="612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Области, края, республики (86)</a:t>
            </a:r>
            <a:endParaRPr sz="2400" dirty="0"/>
          </a:p>
        </p:txBody>
      </p:sp>
      <p:sp>
        <p:nvSpPr>
          <p:cNvPr id="277" name="Google Shape;277;p31"/>
          <p:cNvSpPr/>
          <p:nvPr/>
        </p:nvSpPr>
        <p:spPr>
          <a:xfrm>
            <a:off x="2123909" y="3106824"/>
            <a:ext cx="4000000" cy="586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Внутригородская территория города федерального значения (267)</a:t>
            </a:r>
            <a:endParaRPr sz="2400"/>
          </a:p>
        </p:txBody>
      </p:sp>
      <p:sp>
        <p:nvSpPr>
          <p:cNvPr id="278" name="Google Shape;278;p31"/>
          <p:cNvSpPr/>
          <p:nvPr/>
        </p:nvSpPr>
        <p:spPr>
          <a:xfrm>
            <a:off x="6549155" y="3082800"/>
            <a:ext cx="1647200" cy="612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Городские округа (582)</a:t>
            </a:r>
            <a:endParaRPr sz="2400" dirty="0"/>
          </a:p>
        </p:txBody>
      </p:sp>
      <p:sp>
        <p:nvSpPr>
          <p:cNvPr id="279" name="Google Shape;279;p31"/>
          <p:cNvSpPr/>
          <p:nvPr/>
        </p:nvSpPr>
        <p:spPr>
          <a:xfrm>
            <a:off x="8724929" y="3106824"/>
            <a:ext cx="3262000" cy="628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Муниципальные районы / округа (1 346 / 399)</a:t>
            </a:r>
            <a:endParaRPr sz="2400" dirty="0"/>
          </a:p>
        </p:txBody>
      </p:sp>
      <p:sp>
        <p:nvSpPr>
          <p:cNvPr id="280" name="Google Shape;280;p31"/>
          <p:cNvSpPr/>
          <p:nvPr/>
        </p:nvSpPr>
        <p:spPr>
          <a:xfrm>
            <a:off x="3465951" y="4129309"/>
            <a:ext cx="3116000" cy="96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Внутригородской район городского округа с</a:t>
            </a:r>
            <a:endParaRPr sz="2400"/>
          </a:p>
          <a:p>
            <a:pPr algn="ctr"/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внутригородским делением (19)</a:t>
            </a:r>
            <a:endParaRPr sz="2400"/>
          </a:p>
        </p:txBody>
      </p:sp>
      <p:sp>
        <p:nvSpPr>
          <p:cNvPr id="281" name="Google Shape;281;p31"/>
          <p:cNvSpPr/>
          <p:nvPr/>
        </p:nvSpPr>
        <p:spPr>
          <a:xfrm>
            <a:off x="10097911" y="4102649"/>
            <a:ext cx="1888800" cy="1040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Сельские поселения </a:t>
            </a:r>
            <a:b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(≈ 17 тыс.)</a:t>
            </a:r>
            <a:endParaRPr sz="2400" dirty="0"/>
          </a:p>
        </p:txBody>
      </p:sp>
      <p:sp>
        <p:nvSpPr>
          <p:cNvPr id="282" name="Google Shape;282;p31"/>
          <p:cNvSpPr/>
          <p:nvPr/>
        </p:nvSpPr>
        <p:spPr>
          <a:xfrm>
            <a:off x="6794273" y="4129309"/>
            <a:ext cx="1345600" cy="1018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Городские поселения (≈1,4 тыс.)</a:t>
            </a:r>
            <a:endParaRPr sz="2400" dirty="0"/>
          </a:p>
        </p:txBody>
      </p:sp>
      <p:sp>
        <p:nvSpPr>
          <p:cNvPr id="283" name="Google Shape;283;p31"/>
          <p:cNvSpPr/>
          <p:nvPr/>
        </p:nvSpPr>
        <p:spPr>
          <a:xfrm>
            <a:off x="8257844" y="4114402"/>
            <a:ext cx="1722400" cy="1028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Межселенная территория </a:t>
            </a:r>
            <a:b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(-)</a:t>
            </a:r>
            <a:endParaRPr sz="2400" dirty="0"/>
          </a:p>
        </p:txBody>
      </p:sp>
      <p:sp>
        <p:nvSpPr>
          <p:cNvPr id="284" name="Google Shape;284;p31"/>
          <p:cNvSpPr/>
          <p:nvPr/>
        </p:nvSpPr>
        <p:spPr>
          <a:xfrm>
            <a:off x="8387645" y="5513948"/>
            <a:ext cx="3599200" cy="105543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Сельские населённые пункты:</a:t>
            </a: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село, местечко, деревня, слобода, станица, хутор (≈134 тыс.)</a:t>
            </a:r>
            <a:endParaRPr sz="2400" dirty="0"/>
          </a:p>
        </p:txBody>
      </p:sp>
      <p:sp>
        <p:nvSpPr>
          <p:cNvPr id="285" name="Google Shape;285;p31"/>
          <p:cNvSpPr/>
          <p:nvPr/>
        </p:nvSpPr>
        <p:spPr>
          <a:xfrm>
            <a:off x="1471603" y="5521263"/>
            <a:ext cx="6724800" cy="104788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Городские населённые пункты: </a:t>
            </a:r>
            <a:b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город, посёлок (городского типа, рабочий, курортный, дачный, при станции), населённый пункт, ж/д станция (будка, казарма, разъезд), станция, разъезд (≈ 23 тыс.)</a:t>
            </a:r>
            <a:endParaRPr sz="2400" dirty="0"/>
          </a:p>
        </p:txBody>
      </p:sp>
      <p:cxnSp>
        <p:nvCxnSpPr>
          <p:cNvPr id="286" name="Google Shape;286;p31"/>
          <p:cNvCxnSpPr>
            <a:stCxn id="274" idx="2"/>
            <a:endCxn id="275" idx="0"/>
          </p:cNvCxnSpPr>
          <p:nvPr/>
        </p:nvCxnSpPr>
        <p:spPr>
          <a:xfrm flipH="1">
            <a:off x="4123972" y="1728253"/>
            <a:ext cx="2340941" cy="30133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7" name="Google Shape;287;p31"/>
          <p:cNvCxnSpPr>
            <a:stCxn id="274" idx="2"/>
            <a:endCxn id="276" idx="0"/>
          </p:cNvCxnSpPr>
          <p:nvPr/>
        </p:nvCxnSpPr>
        <p:spPr>
          <a:xfrm>
            <a:off x="6464913" y="1728253"/>
            <a:ext cx="2388715" cy="31003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8" name="Google Shape;288;p31"/>
          <p:cNvCxnSpPr>
            <a:cxnSpLocks/>
            <a:endCxn id="277" idx="0"/>
          </p:cNvCxnSpPr>
          <p:nvPr/>
        </p:nvCxnSpPr>
        <p:spPr>
          <a:xfrm>
            <a:off x="4123972" y="2700864"/>
            <a:ext cx="0" cy="406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9" name="Google Shape;289;p31"/>
          <p:cNvCxnSpPr>
            <a:cxnSpLocks/>
            <a:endCxn id="278" idx="0"/>
          </p:cNvCxnSpPr>
          <p:nvPr/>
        </p:nvCxnSpPr>
        <p:spPr>
          <a:xfrm flipH="1">
            <a:off x="7372828" y="2709556"/>
            <a:ext cx="1480800" cy="373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0" name="Google Shape;290;p31"/>
          <p:cNvCxnSpPr>
            <a:cxnSpLocks/>
            <a:endCxn id="279" idx="0"/>
          </p:cNvCxnSpPr>
          <p:nvPr/>
        </p:nvCxnSpPr>
        <p:spPr>
          <a:xfrm>
            <a:off x="8853628" y="2709556"/>
            <a:ext cx="1502400" cy="39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1" name="Google Shape;291;p31"/>
          <p:cNvCxnSpPr>
            <a:stCxn id="278" idx="2"/>
            <a:endCxn id="280" idx="0"/>
          </p:cNvCxnSpPr>
          <p:nvPr/>
        </p:nvCxnSpPr>
        <p:spPr>
          <a:xfrm flipH="1">
            <a:off x="5023951" y="3694800"/>
            <a:ext cx="2348804" cy="43450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2" name="Google Shape;292;p31"/>
          <p:cNvCxnSpPr>
            <a:stCxn id="278" idx="2"/>
            <a:endCxn id="282" idx="0"/>
          </p:cNvCxnSpPr>
          <p:nvPr/>
        </p:nvCxnSpPr>
        <p:spPr>
          <a:xfrm>
            <a:off x="7372755" y="3694800"/>
            <a:ext cx="94318" cy="43450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3" name="Google Shape;293;p31"/>
          <p:cNvCxnSpPr>
            <a:stCxn id="279" idx="2"/>
            <a:endCxn id="282" idx="0"/>
          </p:cNvCxnSpPr>
          <p:nvPr/>
        </p:nvCxnSpPr>
        <p:spPr>
          <a:xfrm flipH="1">
            <a:off x="7467073" y="3735624"/>
            <a:ext cx="2888856" cy="39368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4" name="Google Shape;294;p31"/>
          <p:cNvCxnSpPr>
            <a:stCxn id="279" idx="2"/>
            <a:endCxn id="281" idx="0"/>
          </p:cNvCxnSpPr>
          <p:nvPr/>
        </p:nvCxnSpPr>
        <p:spPr>
          <a:xfrm>
            <a:off x="10355929" y="3735624"/>
            <a:ext cx="686382" cy="36702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5" name="Google Shape;295;p31"/>
          <p:cNvCxnSpPr>
            <a:stCxn id="279" idx="2"/>
            <a:endCxn id="283" idx="0"/>
          </p:cNvCxnSpPr>
          <p:nvPr/>
        </p:nvCxnSpPr>
        <p:spPr>
          <a:xfrm flipH="1">
            <a:off x="9119044" y="3735624"/>
            <a:ext cx="1236885" cy="37877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6" name="Google Shape;296;p31"/>
          <p:cNvCxnSpPr>
            <a:cxnSpLocks/>
            <a:stCxn id="282" idx="2"/>
            <a:endCxn id="285" idx="0"/>
          </p:cNvCxnSpPr>
          <p:nvPr/>
        </p:nvCxnSpPr>
        <p:spPr>
          <a:xfrm flipH="1">
            <a:off x="4834003" y="5147309"/>
            <a:ext cx="2633070" cy="37395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7" name="Google Shape;297;p31"/>
          <p:cNvCxnSpPr/>
          <p:nvPr/>
        </p:nvCxnSpPr>
        <p:spPr>
          <a:xfrm>
            <a:off x="183565" y="1836360"/>
            <a:ext cx="11880800" cy="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8" name="Google Shape;298;p31"/>
          <p:cNvCxnSpPr/>
          <p:nvPr/>
        </p:nvCxnSpPr>
        <p:spPr>
          <a:xfrm>
            <a:off x="183565" y="2857270"/>
            <a:ext cx="11880800" cy="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9" name="Google Shape;299;p31"/>
          <p:cNvCxnSpPr/>
          <p:nvPr/>
        </p:nvCxnSpPr>
        <p:spPr>
          <a:xfrm>
            <a:off x="183565" y="5328786"/>
            <a:ext cx="11880800" cy="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00" name="Google Shape;300;p31"/>
          <p:cNvSpPr txBox="1"/>
          <p:nvPr/>
        </p:nvSpPr>
        <p:spPr>
          <a:xfrm>
            <a:off x="-274584" y="3337679"/>
            <a:ext cx="2018800" cy="1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186258" algn="ctr">
              <a:lnSpc>
                <a:spcPct val="115000"/>
              </a:lnSpc>
              <a:buClr>
                <a:schemeClr val="dk2"/>
              </a:buClr>
              <a:buSzPts val="1400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Муниципальные образования</a:t>
            </a:r>
            <a:endParaRPr sz="2400"/>
          </a:p>
          <a:p>
            <a:pPr marL="186258" algn="ctr">
              <a:lnSpc>
                <a:spcPct val="115000"/>
              </a:lnSpc>
              <a:buClr>
                <a:schemeClr val="dk2"/>
              </a:buClr>
              <a:buSzPts val="1400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и II 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уровней</a:t>
            </a:r>
            <a:endParaRPr sz="2400"/>
          </a:p>
        </p:txBody>
      </p:sp>
      <p:sp>
        <p:nvSpPr>
          <p:cNvPr id="301" name="Google Shape;301;p31"/>
          <p:cNvSpPr txBox="1"/>
          <p:nvPr/>
        </p:nvSpPr>
        <p:spPr>
          <a:xfrm>
            <a:off x="-143984" y="5640371"/>
            <a:ext cx="1757600" cy="9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186258" algn="ctr">
              <a:lnSpc>
                <a:spcPct val="115000"/>
              </a:lnSpc>
              <a:buClr>
                <a:schemeClr val="dk2"/>
              </a:buClr>
              <a:buSzPts val="1400"/>
            </a:pP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Населённые пункты</a:t>
            </a:r>
            <a:endParaRPr sz="2400" dirty="0"/>
          </a:p>
        </p:txBody>
      </p:sp>
      <p:cxnSp>
        <p:nvCxnSpPr>
          <p:cNvPr id="302" name="Google Shape;302;p31"/>
          <p:cNvCxnSpPr>
            <a:cxnSpLocks/>
            <a:stCxn id="281" idx="2"/>
            <a:endCxn id="284" idx="0"/>
          </p:cNvCxnSpPr>
          <p:nvPr/>
        </p:nvCxnSpPr>
        <p:spPr>
          <a:xfrm flipH="1">
            <a:off x="10187245" y="5143449"/>
            <a:ext cx="855066" cy="37049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3" name="Google Shape;303;p31"/>
          <p:cNvSpPr txBox="1"/>
          <p:nvPr/>
        </p:nvSpPr>
        <p:spPr>
          <a:xfrm>
            <a:off x="-285997" y="1337405"/>
            <a:ext cx="1757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186258" algn="ctr">
              <a:lnSpc>
                <a:spcPct val="115000"/>
              </a:lnSpc>
              <a:buClr>
                <a:schemeClr val="dk2"/>
              </a:buClr>
              <a:buSzPts val="1400"/>
            </a:pP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Страна</a:t>
            </a:r>
            <a:endParaRPr sz="24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3D235BF-0FE2-4E47-B1E5-6052E89C7E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" smtClean="0"/>
              <a:pPr/>
              <a:t>6</a:t>
            </a:fld>
            <a:endParaRPr lang="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CD5521-08A7-1EF3-E200-4CC2ED4C595A}"/>
              </a:ext>
            </a:extLst>
          </p:cNvPr>
          <p:cNvSpPr txBox="1"/>
          <p:nvPr/>
        </p:nvSpPr>
        <p:spPr>
          <a:xfrm>
            <a:off x="-41691" y="6569147"/>
            <a:ext cx="122753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i="1" dirty="0"/>
              <a:t>Источник</a:t>
            </a:r>
            <a:r>
              <a:rPr lang="ru-RU" sz="1100" dirty="0"/>
              <a:t>: Росстат. Количество муниципальных образований по субъектам Российской Федерации на 1 января 2024 года. </a:t>
            </a:r>
            <a:r>
              <a:rPr lang="fr-FR" sz="1100" dirty="0"/>
              <a:t>https://rosstat.gov.ru/storage/mediabank/1-adm_2024.xlsx</a:t>
            </a:r>
            <a:endParaRPr lang="ru-RU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869418D0-954A-E782-CA95-527C9565B8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2E3092"/>
                </a:solidFill>
              </a:rPr>
              <a:t>Основополагающие:</a:t>
            </a:r>
          </a:p>
          <a:p>
            <a:r>
              <a:rPr lang="ru-RU" dirty="0"/>
              <a:t>Президент РФ</a:t>
            </a:r>
          </a:p>
          <a:p>
            <a:r>
              <a:rPr lang="ru-RU" dirty="0"/>
              <a:t>Государственная дума РФ</a:t>
            </a:r>
          </a:p>
          <a:p>
            <a:r>
              <a:rPr lang="ru-RU" dirty="0"/>
              <a:t>Совет Федерации</a:t>
            </a:r>
          </a:p>
          <a:p>
            <a:pPr marL="0" indent="0">
              <a:buNone/>
            </a:pPr>
            <a:r>
              <a:rPr lang="ru-RU" b="1" dirty="0">
                <a:solidFill>
                  <a:srgbClr val="2E3092"/>
                </a:solidFill>
              </a:rPr>
              <a:t>Федеральные:</a:t>
            </a:r>
          </a:p>
          <a:p>
            <a:r>
              <a:rPr lang="ru-RU" dirty="0"/>
              <a:t>Правительство РФ</a:t>
            </a:r>
          </a:p>
          <a:p>
            <a:r>
              <a:rPr lang="ru-RU" dirty="0"/>
              <a:t>Отраслевые Министерства РФ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6436B8-19B7-C646-3605-7F13420DE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60929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2E3092"/>
                </a:solidFill>
              </a:rPr>
              <a:t>Региональные:</a:t>
            </a:r>
          </a:p>
          <a:p>
            <a:r>
              <a:rPr lang="ru-RU" dirty="0"/>
              <a:t>Глава субъекта РФ</a:t>
            </a:r>
          </a:p>
          <a:p>
            <a:r>
              <a:rPr lang="ru-RU" dirty="0"/>
              <a:t>Законодательный орган субъекта РФ</a:t>
            </a:r>
          </a:p>
          <a:p>
            <a:r>
              <a:rPr lang="ru-RU" dirty="0"/>
              <a:t>Высший исполнительный орган субъекта РФ (Правительство)</a:t>
            </a:r>
          </a:p>
          <a:p>
            <a:r>
              <a:rPr lang="ru-RU" dirty="0"/>
              <a:t>Отраслевые Министерства субъекта РФ</a:t>
            </a:r>
          </a:p>
          <a:p>
            <a:pPr marL="0" indent="0">
              <a:buNone/>
            </a:pPr>
            <a:r>
              <a:rPr lang="ru-RU" b="1" dirty="0">
                <a:solidFill>
                  <a:srgbClr val="2E3092"/>
                </a:solidFill>
              </a:rPr>
              <a:t>Муниципальные и местные:</a:t>
            </a:r>
          </a:p>
          <a:p>
            <a:r>
              <a:rPr lang="ru-RU" dirty="0"/>
              <a:t>Главы муниципальных образований</a:t>
            </a:r>
          </a:p>
          <a:p>
            <a:r>
              <a:rPr lang="ru-RU" dirty="0"/>
              <a:t>Представительный орган муниципального образования (Собрания депутатов)</a:t>
            </a:r>
          </a:p>
          <a:p>
            <a:r>
              <a:rPr lang="ru-RU" dirty="0"/>
              <a:t>Исполнительный орган муниципального образования (Администрация)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20F264-F0DB-4FCB-2128-DA78A071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8D51-17E7-4372-B308-54BBC760B9A5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F512A29-FFC1-7455-A0EA-EE0180706FC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Субъекты выработки управленческих решений</a:t>
            </a:r>
          </a:p>
        </p:txBody>
      </p:sp>
      <p:pic>
        <p:nvPicPr>
          <p:cNvPr id="7" name="Рисунок 6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62C5CE1-A600-9FA0-7B8E-3A387B00AF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412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F329FAE-187E-1928-0843-F7815C32E2A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1C133CF-13CC-4B2A-1843-EB7D1009F4A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Документы стратегического планирования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7F4F2FF6-F7ED-4FF6-D84D-71C2488945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727893-A00D-4058-EA95-CD9CCE9F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5CD6344-69F2-4F2A-9E84-A8C1A071765E}" type="slidenum">
              <a:rPr lang="ru-RU" smtClean="0"/>
              <a:t>8</a:t>
            </a:fld>
            <a:endParaRPr lang="ru-RU" dirty="0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3EA37FC7-BA8F-7C4D-F6BA-9F748DCA6E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1210623"/>
              </p:ext>
            </p:extLst>
          </p:nvPr>
        </p:nvGraphicFramePr>
        <p:xfrm>
          <a:off x="285662" y="5608451"/>
          <a:ext cx="11620676" cy="747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C8363C18-1C27-3A50-987A-1FFA9E74F9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583995"/>
              </p:ext>
            </p:extLst>
          </p:nvPr>
        </p:nvGraphicFramePr>
        <p:xfrm>
          <a:off x="268845" y="1497615"/>
          <a:ext cx="11620675" cy="3938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C6A6E31F-CF0A-EBED-A2F6-643FCAC85CC8}"/>
              </a:ext>
            </a:extLst>
          </p:cNvPr>
          <p:cNvGrpSpPr/>
          <p:nvPr/>
        </p:nvGrpSpPr>
        <p:grpSpPr>
          <a:xfrm rot="5400000">
            <a:off x="10848881" y="1638374"/>
            <a:ext cx="647171" cy="747899"/>
            <a:chOff x="3368180" y="0"/>
            <a:chExt cx="647171" cy="747899"/>
          </a:xfrm>
        </p:grpSpPr>
        <p:sp>
          <p:nvSpPr>
            <p:cNvPr id="15" name="Стрелка: вправо 14">
              <a:extLst>
                <a:ext uri="{FF2B5EF4-FFF2-40B4-BE49-F238E27FC236}">
                  <a16:creationId xmlns:a16="http://schemas.microsoft.com/office/drawing/2014/main" id="{E8A746FB-6B58-1BCA-4895-5D33294100BE}"/>
                </a:ext>
              </a:extLst>
            </p:cNvPr>
            <p:cNvSpPr/>
            <p:nvPr/>
          </p:nvSpPr>
          <p:spPr>
            <a:xfrm>
              <a:off x="3368180" y="0"/>
              <a:ext cx="647171" cy="747899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6" name="Стрелка: вправо 4">
              <a:extLst>
                <a:ext uri="{FF2B5EF4-FFF2-40B4-BE49-F238E27FC236}">
                  <a16:creationId xmlns:a16="http://schemas.microsoft.com/office/drawing/2014/main" id="{CF2A686C-AB11-2BEF-F07C-6310597BE328}"/>
                </a:ext>
              </a:extLst>
            </p:cNvPr>
            <p:cNvSpPr txBox="1"/>
            <p:nvPr/>
          </p:nvSpPr>
          <p:spPr>
            <a:xfrm>
              <a:off x="3368180" y="149580"/>
              <a:ext cx="453020" cy="4487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ru-RU" sz="1700" kern="1200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54E861A2-7E94-7F1F-1A47-7BD3763843D1}"/>
              </a:ext>
            </a:extLst>
          </p:cNvPr>
          <p:cNvGrpSpPr/>
          <p:nvPr/>
        </p:nvGrpSpPr>
        <p:grpSpPr>
          <a:xfrm rot="5400000">
            <a:off x="10204117" y="2267313"/>
            <a:ext cx="647171" cy="747899"/>
            <a:chOff x="3368180" y="0"/>
            <a:chExt cx="647171" cy="747899"/>
          </a:xfrm>
        </p:grpSpPr>
        <p:sp>
          <p:nvSpPr>
            <p:cNvPr id="18" name="Стрелка: вправо 17">
              <a:extLst>
                <a:ext uri="{FF2B5EF4-FFF2-40B4-BE49-F238E27FC236}">
                  <a16:creationId xmlns:a16="http://schemas.microsoft.com/office/drawing/2014/main" id="{4EFA444F-D8F6-5C13-56B5-4BC49E46C797}"/>
                </a:ext>
              </a:extLst>
            </p:cNvPr>
            <p:cNvSpPr/>
            <p:nvPr/>
          </p:nvSpPr>
          <p:spPr>
            <a:xfrm>
              <a:off x="3368180" y="0"/>
              <a:ext cx="647171" cy="747899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Стрелка: вправо 4">
              <a:extLst>
                <a:ext uri="{FF2B5EF4-FFF2-40B4-BE49-F238E27FC236}">
                  <a16:creationId xmlns:a16="http://schemas.microsoft.com/office/drawing/2014/main" id="{FF7EF8A5-368C-670C-ED6C-178EF339CE73}"/>
                </a:ext>
              </a:extLst>
            </p:cNvPr>
            <p:cNvSpPr txBox="1"/>
            <p:nvPr/>
          </p:nvSpPr>
          <p:spPr>
            <a:xfrm>
              <a:off x="3368180" y="149580"/>
              <a:ext cx="453020" cy="4487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ru-RU" sz="1700" kern="120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833C91FC-FEF9-FAD0-54DB-87C85EF28C57}"/>
              </a:ext>
            </a:extLst>
          </p:cNvPr>
          <p:cNvGrpSpPr/>
          <p:nvPr/>
        </p:nvGrpSpPr>
        <p:grpSpPr>
          <a:xfrm rot="5400000">
            <a:off x="9525830" y="2896252"/>
            <a:ext cx="647171" cy="747899"/>
            <a:chOff x="3368180" y="0"/>
            <a:chExt cx="647171" cy="747899"/>
          </a:xfrm>
        </p:grpSpPr>
        <p:sp>
          <p:nvSpPr>
            <p:cNvPr id="21" name="Стрелка: вправо 20">
              <a:extLst>
                <a:ext uri="{FF2B5EF4-FFF2-40B4-BE49-F238E27FC236}">
                  <a16:creationId xmlns:a16="http://schemas.microsoft.com/office/drawing/2014/main" id="{861630E9-41BA-775F-D06F-4F84ADD464EA}"/>
                </a:ext>
              </a:extLst>
            </p:cNvPr>
            <p:cNvSpPr/>
            <p:nvPr/>
          </p:nvSpPr>
          <p:spPr>
            <a:xfrm>
              <a:off x="3368180" y="0"/>
              <a:ext cx="647171" cy="747899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2" name="Стрелка: вправо 4">
              <a:extLst>
                <a:ext uri="{FF2B5EF4-FFF2-40B4-BE49-F238E27FC236}">
                  <a16:creationId xmlns:a16="http://schemas.microsoft.com/office/drawing/2014/main" id="{3D1464D0-202A-A0DF-E3A3-ABE55BFD4640}"/>
                </a:ext>
              </a:extLst>
            </p:cNvPr>
            <p:cNvSpPr txBox="1"/>
            <p:nvPr/>
          </p:nvSpPr>
          <p:spPr>
            <a:xfrm>
              <a:off x="3368180" y="149580"/>
              <a:ext cx="453020" cy="4487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ru-RU" sz="1700" kern="1200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1DA00C0B-046E-DCB4-6F77-4C78E98322E1}"/>
              </a:ext>
            </a:extLst>
          </p:cNvPr>
          <p:cNvGrpSpPr/>
          <p:nvPr/>
        </p:nvGrpSpPr>
        <p:grpSpPr>
          <a:xfrm rot="5400000">
            <a:off x="8822858" y="3454893"/>
            <a:ext cx="647171" cy="747899"/>
            <a:chOff x="3368180" y="0"/>
            <a:chExt cx="647171" cy="747899"/>
          </a:xfrm>
        </p:grpSpPr>
        <p:sp>
          <p:nvSpPr>
            <p:cNvPr id="24" name="Стрелка: вправо 23">
              <a:extLst>
                <a:ext uri="{FF2B5EF4-FFF2-40B4-BE49-F238E27FC236}">
                  <a16:creationId xmlns:a16="http://schemas.microsoft.com/office/drawing/2014/main" id="{897F32F5-79EF-207A-C9EF-58B50F66BB32}"/>
                </a:ext>
              </a:extLst>
            </p:cNvPr>
            <p:cNvSpPr/>
            <p:nvPr/>
          </p:nvSpPr>
          <p:spPr>
            <a:xfrm>
              <a:off x="3368180" y="0"/>
              <a:ext cx="647171" cy="747899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5" name="Стрелка: вправо 4">
              <a:extLst>
                <a:ext uri="{FF2B5EF4-FFF2-40B4-BE49-F238E27FC236}">
                  <a16:creationId xmlns:a16="http://schemas.microsoft.com/office/drawing/2014/main" id="{780A7A0E-E5CA-094A-9A4C-95578D1EE2DE}"/>
                </a:ext>
              </a:extLst>
            </p:cNvPr>
            <p:cNvSpPr txBox="1"/>
            <p:nvPr/>
          </p:nvSpPr>
          <p:spPr>
            <a:xfrm>
              <a:off x="3368180" y="149580"/>
              <a:ext cx="453020" cy="4487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ru-RU" sz="1700" kern="1200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812D2D2E-2F7F-DB9A-03DC-6A495D4C66AC}"/>
              </a:ext>
            </a:extLst>
          </p:cNvPr>
          <p:cNvGrpSpPr/>
          <p:nvPr/>
        </p:nvGrpSpPr>
        <p:grpSpPr>
          <a:xfrm rot="5400000">
            <a:off x="8002903" y="4006538"/>
            <a:ext cx="647171" cy="747899"/>
            <a:chOff x="3368180" y="0"/>
            <a:chExt cx="647171" cy="747899"/>
          </a:xfrm>
        </p:grpSpPr>
        <p:sp>
          <p:nvSpPr>
            <p:cNvPr id="27" name="Стрелка: вправо 26">
              <a:extLst>
                <a:ext uri="{FF2B5EF4-FFF2-40B4-BE49-F238E27FC236}">
                  <a16:creationId xmlns:a16="http://schemas.microsoft.com/office/drawing/2014/main" id="{081C67CD-C121-14B6-F10E-34518D00539D}"/>
                </a:ext>
              </a:extLst>
            </p:cNvPr>
            <p:cNvSpPr/>
            <p:nvPr/>
          </p:nvSpPr>
          <p:spPr>
            <a:xfrm>
              <a:off x="3368180" y="0"/>
              <a:ext cx="647171" cy="747899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Стрелка: вправо 4">
              <a:extLst>
                <a:ext uri="{FF2B5EF4-FFF2-40B4-BE49-F238E27FC236}">
                  <a16:creationId xmlns:a16="http://schemas.microsoft.com/office/drawing/2014/main" id="{36A4C3D6-C69D-FFE9-22D8-F47D66374823}"/>
                </a:ext>
              </a:extLst>
            </p:cNvPr>
            <p:cNvSpPr txBox="1"/>
            <p:nvPr/>
          </p:nvSpPr>
          <p:spPr>
            <a:xfrm>
              <a:off x="3368180" y="149580"/>
              <a:ext cx="453020" cy="4487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ru-RU" sz="1700" kern="1200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D4EA6E4E-DEE6-B39C-3A1F-06AADC6C16C9}"/>
              </a:ext>
            </a:extLst>
          </p:cNvPr>
          <p:cNvGrpSpPr/>
          <p:nvPr/>
        </p:nvGrpSpPr>
        <p:grpSpPr>
          <a:xfrm rot="5400000">
            <a:off x="7131432" y="4597840"/>
            <a:ext cx="647171" cy="747899"/>
            <a:chOff x="3368180" y="0"/>
            <a:chExt cx="647171" cy="747899"/>
          </a:xfrm>
        </p:grpSpPr>
        <p:sp>
          <p:nvSpPr>
            <p:cNvPr id="30" name="Стрелка: вправо 29">
              <a:extLst>
                <a:ext uri="{FF2B5EF4-FFF2-40B4-BE49-F238E27FC236}">
                  <a16:creationId xmlns:a16="http://schemas.microsoft.com/office/drawing/2014/main" id="{A08B0FBD-E22D-C455-6379-30D9BCE2C3D5}"/>
                </a:ext>
              </a:extLst>
            </p:cNvPr>
            <p:cNvSpPr/>
            <p:nvPr/>
          </p:nvSpPr>
          <p:spPr>
            <a:xfrm>
              <a:off x="3368180" y="0"/>
              <a:ext cx="647171" cy="747899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1" name="Стрелка: вправо 4">
              <a:extLst>
                <a:ext uri="{FF2B5EF4-FFF2-40B4-BE49-F238E27FC236}">
                  <a16:creationId xmlns:a16="http://schemas.microsoft.com/office/drawing/2014/main" id="{60EA73CE-13F9-E479-3CD2-BE3713A00CF1}"/>
                </a:ext>
              </a:extLst>
            </p:cNvPr>
            <p:cNvSpPr txBox="1"/>
            <p:nvPr/>
          </p:nvSpPr>
          <p:spPr>
            <a:xfrm>
              <a:off x="3368180" y="149580"/>
              <a:ext cx="453020" cy="4487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ru-RU" sz="17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208169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>
            <a:extLst>
              <a:ext uri="{FF2B5EF4-FFF2-40B4-BE49-F238E27FC236}">
                <a16:creationId xmlns:a16="http://schemas.microsoft.com/office/drawing/2014/main" id="{224E6FAF-5075-35E0-AAAA-9F1DF2E7B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497615"/>
            <a:ext cx="10512424" cy="50461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3500" b="1" dirty="0">
                <a:solidFill>
                  <a:srgbClr val="2E3092"/>
                </a:solidFill>
              </a:rPr>
              <a:t>Подходы к разработке:</a:t>
            </a:r>
            <a:endParaRPr lang="ru-RU" sz="3500" b="1" dirty="0"/>
          </a:p>
          <a:p>
            <a:r>
              <a:rPr lang="ru-RU" dirty="0"/>
              <a:t>Снизу вверх / Сверху вниз</a:t>
            </a:r>
          </a:p>
          <a:p>
            <a:r>
              <a:rPr lang="ru-RU" dirty="0"/>
              <a:t>От целей / от средств</a:t>
            </a:r>
          </a:p>
          <a:p>
            <a:r>
              <a:rPr lang="ru-RU" dirty="0"/>
              <a:t>Завершение по сроку / по достижению целей</a:t>
            </a:r>
          </a:p>
          <a:p>
            <a:r>
              <a:rPr lang="ru-RU" dirty="0"/>
              <a:t>Декларативно / с обсуждением / с привлечением</a:t>
            </a:r>
          </a:p>
          <a:p>
            <a:pPr marL="0" indent="0">
              <a:buNone/>
            </a:pPr>
            <a:r>
              <a:rPr lang="ru-RU" sz="3500" b="1" dirty="0">
                <a:solidFill>
                  <a:srgbClr val="2E3092"/>
                </a:solidFill>
              </a:rPr>
              <a:t>Подходы к оценке эффективности:</a:t>
            </a:r>
          </a:p>
          <a:p>
            <a:r>
              <a:rPr lang="ru-RU" dirty="0"/>
              <a:t>Достижение стратегической цели / целевых показателей</a:t>
            </a:r>
          </a:p>
          <a:p>
            <a:r>
              <a:rPr lang="ru-RU" dirty="0"/>
              <a:t>Оценка каждого мероприятия / всей стратегии</a:t>
            </a:r>
          </a:p>
          <a:p>
            <a:r>
              <a:rPr lang="ru-RU" dirty="0"/>
              <a:t>Количество достигнутых показателей / доля достижения показателей</a:t>
            </a:r>
          </a:p>
          <a:p>
            <a:r>
              <a:rPr lang="ru-RU" dirty="0"/>
              <a:t>Оценка эффективности целеполагания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2E481E-E9A1-7E43-8CCF-E0722B81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8D51-17E7-4372-B308-54BBC760B9A5}" type="slidenum">
              <a:rPr lang="en-US" smtClean="0"/>
              <a:t>9</a:t>
            </a:fld>
            <a:endParaRPr lang="en-US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4BE0788F-AA9C-CC2C-E638-784666783EDB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Подходы к разработке и оценке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управленческих решений</a:t>
            </a:r>
          </a:p>
        </p:txBody>
      </p:sp>
      <p:pic>
        <p:nvPicPr>
          <p:cNvPr id="7" name="Рисунок 6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8D8C1DC-824B-B3C3-30B2-86A7E4221F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587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8387DA80-43E1-1EEB-8E6A-123B4B24C30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84954858"/>
              </p:ext>
            </p:extLst>
          </p:nvPr>
        </p:nvGraphicFramePr>
        <p:xfrm>
          <a:off x="839788" y="1684867"/>
          <a:ext cx="6111345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2E481E-E9A1-7E43-8CCF-E0722B81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8D51-17E7-4372-B308-54BBC760B9A5}" type="slidenum">
              <a:rPr lang="en-US" smtClean="0"/>
              <a:t>10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E9F57BD-66CC-B1B0-6BED-54DCAB0B1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897" y="1903298"/>
            <a:ext cx="4325635" cy="432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C377649-C0E2-C1CA-207C-C82E69AE38C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Механизмы определения приоритетов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долгосрочного развития</a:t>
            </a:r>
          </a:p>
        </p:txBody>
      </p:sp>
      <p:pic>
        <p:nvPicPr>
          <p:cNvPr id="7" name="Рисунок 6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1E6ACF6-627D-3BB2-A7ED-F41F7A5D0FA1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540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F9F7EC20-35EE-0C88-8ED1-CA77885197D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99708946"/>
              </p:ext>
            </p:extLst>
          </p:nvPr>
        </p:nvGraphicFramePr>
        <p:xfrm>
          <a:off x="509588" y="1515534"/>
          <a:ext cx="5157787" cy="5012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76F585-81B8-433D-CFEA-2B474CBA4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11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84DD1F0-23BB-B869-A2D4-9999EAD4AEFB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индикаторы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E0900F39-47E1-BCA4-8096-FD20F4C2D40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14" name="Схема 13">
            <a:extLst>
              <a:ext uri="{FF2B5EF4-FFF2-40B4-BE49-F238E27FC236}">
                <a16:creationId xmlns:a16="http://schemas.microsoft.com/office/drawing/2014/main" id="{B4306E61-7B91-DD88-AF6D-2DF92D21AF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0525060"/>
              </p:ext>
            </p:extLst>
          </p:nvPr>
        </p:nvGraphicFramePr>
        <p:xfrm>
          <a:off x="5960532" y="1497615"/>
          <a:ext cx="5721879" cy="5012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189472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ED24E-AAEE-98F1-2381-B809B8D8D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79678B83-2F17-B8F1-5E3D-B1635AC75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795097"/>
              </p:ext>
            </p:extLst>
          </p:nvPr>
        </p:nvGraphicFramePr>
        <p:xfrm>
          <a:off x="232832" y="1497615"/>
          <a:ext cx="11527368" cy="5041794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5763684">
                  <a:extLst>
                    <a:ext uri="{9D8B030D-6E8A-4147-A177-3AD203B41FA5}">
                      <a16:colId xmlns:a16="http://schemas.microsoft.com/office/drawing/2014/main" val="3641368755"/>
                    </a:ext>
                  </a:extLst>
                </a:gridCol>
                <a:gridCol w="5763684">
                  <a:extLst>
                    <a:ext uri="{9D8B030D-6E8A-4147-A177-3AD203B41FA5}">
                      <a16:colId xmlns:a16="http://schemas.microsoft.com/office/drawing/2014/main" val="4009826167"/>
                    </a:ext>
                  </a:extLst>
                </a:gridCol>
              </a:tblGrid>
              <a:tr h="469794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Указ Президента РФ от 28 ноября 2024 года № 1014</a:t>
                      </a:r>
                      <a:endParaRPr lang="ru-RU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3" marR="48443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endParaRPr lang="ru-RU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3" marR="48443" marT="0" marB="0"/>
                </a:tc>
                <a:extLst>
                  <a:ext uri="{0D108BD9-81ED-4DB2-BD59-A6C34878D82A}">
                    <a16:rowId xmlns:a16="http://schemas.microsoft.com/office/drawing/2014/main" val="3484575259"/>
                  </a:ext>
                </a:extLst>
              </a:tr>
              <a:tr h="342725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</a:rPr>
                        <a:t>1. Доверие к власти.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</a:rPr>
                        <a:t>2. Численность населения субъекта РФ.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</a:rPr>
                        <a:t>3. Суммарный коэффициент рождаемости.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</a:rPr>
                        <a:t>4. Ожидаемая продолжительность жизни при рождении.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</a:rPr>
                        <a:t>5. Уровень бедности.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</a:rPr>
                        <a:t>6. Удовлетворенность граждан условиями для занятий физической культурой и спортом.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</a:rPr>
                        <a:t>7. Удовлетворенность участников специальной военной операции условиями для медицинской реабилитации, переобучения и трудоустройства.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</a:rPr>
                        <a:t>8. Уровень образования.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</a:rPr>
                        <a:t>9. Эффективность системы выявления, поддержки и развития способностей и талантов у детей и молодежи.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</a:rPr>
                        <a:t>10. Доля людей, вовлеченных в добровольческую деятельность.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</a:rPr>
                        <a:t>11. Условия для воспитания гармонично развитой, патриотичной и социально ответственной личности.</a:t>
                      </a:r>
                    </a:p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 Количество семей, улучшивших жилищные условия.</a:t>
                      </a:r>
                    </a:p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 Объем ввода в эксплуатацию жилой и нежилой недвижимости.</a:t>
                      </a:r>
                    </a:p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 Качество среды для жизни в опорных населенных пунктах.</a:t>
                      </a:r>
                    </a:p>
                  </a:txBody>
                  <a:tcPr marL="48443" marR="48443" marT="0" marB="0"/>
                </a:tc>
                <a:tc>
                  <a:txBody>
                    <a:bodyPr/>
                    <a:lstStyle/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 Доля автомобильных дорог крупнейших городских агломераций и автомобильных дорог регионального значения (включая дороги, отнесенные к опорной сети автомобильных дорог), соответствующих нормативам.</a:t>
                      </a:r>
                    </a:p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 Доля парка общественного транспорта, имеющего срок эксплуатации не старше нормативного, в агломерациях и городах.</a:t>
                      </a:r>
                    </a:p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 Качество окружающей среды.</a:t>
                      </a:r>
                    </a:p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 Темп роста (индекс роста) реального среднедушевого денежного дохода населения.</a:t>
                      </a:r>
                    </a:p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 Темп роста (индекс роста) физического объема инвестиций в основной капитал, за исключением инвестиций инфраструктурных монополий (федеральные проекты) и бюджетных ассигнований федерального бюджета.</a:t>
                      </a:r>
                    </a:p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 Темп роста дохода в расчете на одного работника субъекта малого и среднего предпринимательства.</a:t>
                      </a:r>
                    </a:p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 "Цифровая зрелость" государственного и муниципального управления, ключевых отраслей экономики и социальной сферы, в том числе здравоохранения и образования.</a:t>
                      </a:r>
                    </a:p>
                  </a:txBody>
                  <a:tcPr marL="48443" marR="48443" marT="0" marB="0"/>
                </a:tc>
                <a:extLst>
                  <a:ext uri="{0D108BD9-81ED-4DB2-BD59-A6C34878D82A}">
                    <a16:rowId xmlns:a16="http://schemas.microsoft.com/office/drawing/2014/main" val="126886232"/>
                  </a:ext>
                </a:extLst>
              </a:tr>
            </a:tbl>
          </a:graphicData>
        </a:graphic>
      </p:graphicFrame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BC51A1-EDB1-E4CD-46E7-ABE82309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C7262-DC0B-4E9C-A21C-EFE28A7E0542}" type="slidenum">
              <a:rPr lang="ru-RU" smtClean="0">
                <a:solidFill>
                  <a:schemeClr val="tx1"/>
                </a:solidFill>
              </a:rPr>
              <a:t>12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3B8015C-22B8-A755-4F58-ECF4FF34CD95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Перечень показателей для оценки эффективности деятельности </a:t>
            </a:r>
            <a:b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высших должностных лиц и ОИВ субъектов РФ</a:t>
            </a:r>
          </a:p>
        </p:txBody>
      </p:sp>
      <p:pic>
        <p:nvPicPr>
          <p:cNvPr id="7" name="Рисунок 6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05459F8C-EEBC-0DA7-04FD-F417D73D1A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70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010CC4D-4CE3-29BD-80ED-91AAD9B4274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управленческих решений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7DC96DAA-BF13-A4DE-F04F-2E14970E61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A5E55029-5232-3479-677C-576138FDB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4722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— это соотношение результата и потраченных на него ресурсов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E89DB4-D400-C9FD-27AF-37E91EF23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8D51-17E7-4372-B308-54BBC760B9A5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4CA7EED8-305D-0C72-0E2E-C3D7E6475D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2254090"/>
              </p:ext>
            </p:extLst>
          </p:nvPr>
        </p:nvGraphicFramePr>
        <p:xfrm>
          <a:off x="838200" y="2872854"/>
          <a:ext cx="10039065" cy="2994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10724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7477E808-1343-2513-9B4F-EB12BE497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8988" y="1622160"/>
            <a:ext cx="5157787" cy="929891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rgbClr val="2E3092"/>
                </a:solidFill>
              </a:rPr>
              <a:t>Виды эффективности управленческих решений</a:t>
            </a:r>
            <a:r>
              <a:rPr lang="ru-RU" sz="2800" dirty="0"/>
              <a:t>:</a:t>
            </a:r>
            <a:endParaRPr lang="en-US" sz="2800" dirty="0"/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A57BB038-9742-6324-4588-C0957629A22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81025151"/>
              </p:ext>
            </p:extLst>
          </p:nvPr>
        </p:nvGraphicFramePr>
        <p:xfrm>
          <a:off x="788989" y="2552050"/>
          <a:ext cx="4553478" cy="3137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2E481E-E9A1-7E43-8CCF-E0722B81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8D51-17E7-4372-B308-54BBC760B9A5}" type="slidenum">
              <a:rPr lang="en-US" smtClean="0"/>
              <a:t>14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EA4AED-E6A9-0DFD-2D58-808C0263A6DD}"/>
              </a:ext>
            </a:extLst>
          </p:cNvPr>
          <p:cNvSpPr txBox="1"/>
          <p:nvPr/>
        </p:nvSpPr>
        <p:spPr>
          <a:xfrm>
            <a:off x="0" y="6236639"/>
            <a:ext cx="11087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1" dirty="0"/>
              <a:t>Источник</a:t>
            </a:r>
            <a:r>
              <a:rPr lang="ru-RU" dirty="0"/>
              <a:t>: </a:t>
            </a:r>
            <a:r>
              <a:rPr lang="ru-RU" dirty="0" err="1"/>
              <a:t>Афоничкин</a:t>
            </a:r>
            <a:r>
              <a:rPr lang="ru-RU" dirty="0"/>
              <a:t> А.И. Управленческие решения в экономических системах – СПб: Питер. 2009. – 480 с.</a:t>
            </a:r>
            <a:endParaRPr lang="en-US" dirty="0"/>
          </a:p>
        </p:txBody>
      </p:sp>
      <p:graphicFrame>
        <p:nvGraphicFramePr>
          <p:cNvPr id="11" name="Схема 10">
            <a:extLst>
              <a:ext uri="{FF2B5EF4-FFF2-40B4-BE49-F238E27FC236}">
                <a16:creationId xmlns:a16="http://schemas.microsoft.com/office/drawing/2014/main" id="{85784721-D4B6-894D-D0FC-15C828DC31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6140648"/>
              </p:ext>
            </p:extLst>
          </p:nvPr>
        </p:nvGraphicFramePr>
        <p:xfrm>
          <a:off x="5859527" y="1622160"/>
          <a:ext cx="6096000" cy="4067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347A86D-655F-0969-BCC0-6CBB51FBF24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эффективности управленческих решений </a:t>
            </a:r>
          </a:p>
        </p:txBody>
      </p:sp>
      <p:pic>
        <p:nvPicPr>
          <p:cNvPr id="7" name="Рисунок 6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70D4A149-B421-1F2A-E289-D2FFE9C3F75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64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3AA314D-AAF8-8339-5015-027FC300917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прогнозирования развития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77E808-1343-2513-9B4F-EB12BE497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52566"/>
            <a:ext cx="4812867" cy="82391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2E3092"/>
                </a:solidFill>
              </a:rPr>
              <a:t>Статистические методы прогнозирования:</a:t>
            </a:r>
            <a:endParaRPr lang="en-US" dirty="0">
              <a:solidFill>
                <a:srgbClr val="2E3092"/>
              </a:solidFill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24E6FAF-5075-35E0-AAAA-9F1DF2E7B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276478"/>
            <a:ext cx="4702030" cy="368458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Экстраполяция</a:t>
            </a:r>
          </a:p>
          <a:p>
            <a:pPr marL="539750" indent="-179388">
              <a:buFont typeface="Courier New" panose="02070309020205020404" pitchFamily="49" charset="0"/>
              <a:buChar char="o"/>
            </a:pPr>
            <a:r>
              <a:rPr lang="ru-RU" dirty="0"/>
              <a:t>Простая регрессия</a:t>
            </a:r>
          </a:p>
          <a:p>
            <a:pPr marL="539750" indent="-179388">
              <a:buFont typeface="Courier New" panose="02070309020205020404" pitchFamily="49" charset="0"/>
              <a:buChar char="o"/>
            </a:pPr>
            <a:r>
              <a:rPr lang="ru-RU" dirty="0"/>
              <a:t>Графическая экстраполяция</a:t>
            </a:r>
          </a:p>
          <a:p>
            <a:r>
              <a:rPr lang="ru-RU" dirty="0"/>
              <a:t>Аппроксимация</a:t>
            </a:r>
          </a:p>
          <a:p>
            <a:pPr marL="539750">
              <a:buFont typeface="Courier New" panose="02070309020205020404" pitchFamily="49" charset="0"/>
              <a:buChar char="o"/>
            </a:pPr>
            <a:r>
              <a:rPr lang="ru-RU" dirty="0"/>
              <a:t>С помощью арифметической и геометрический прогрессий</a:t>
            </a:r>
          </a:p>
          <a:p>
            <a:pPr marL="539750">
              <a:buFont typeface="Courier New" panose="02070309020205020404" pitchFamily="49" charset="0"/>
              <a:buChar char="o"/>
            </a:pPr>
            <a:r>
              <a:rPr lang="ru-RU" dirty="0"/>
              <a:t>С помощью математических функций (полиномы различных порядков, показательная функция)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2E481E-E9A1-7E43-8CCF-E0722B81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8D51-17E7-4372-B308-54BBC760B9A5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B8541-3B69-18D6-9823-0D7BCAA924FD}"/>
              </a:ext>
            </a:extLst>
          </p:cNvPr>
          <p:cNvSpPr txBox="1"/>
          <p:nvPr/>
        </p:nvSpPr>
        <p:spPr>
          <a:xfrm>
            <a:off x="0" y="6323598"/>
            <a:ext cx="1219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1" dirty="0"/>
              <a:t>Источник</a:t>
            </a:r>
            <a:r>
              <a:rPr lang="ru-RU" sz="1600" dirty="0"/>
              <a:t>: Носова М.Г., Фёдоров А.В. Методы демографического анализа и прогноза // </a:t>
            </a:r>
            <a:r>
              <a:rPr lang="ru-RU" sz="1600" dirty="0" err="1"/>
              <a:t>Colloquium-journal</a:t>
            </a:r>
            <a:r>
              <a:rPr lang="ru-RU" sz="1600" dirty="0"/>
              <a:t>. 2021. №15 (102). 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ECAED156-FEC4-7595-6C1D-DC6851B0A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49479" y="2276477"/>
            <a:ext cx="6203086" cy="3987801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Детерминированные модели</a:t>
            </a:r>
          </a:p>
          <a:p>
            <a:pPr marL="539750">
              <a:buFont typeface="Courier New" panose="02070309020205020404" pitchFamily="49" charset="0"/>
              <a:buChar char="o"/>
            </a:pPr>
            <a:r>
              <a:rPr lang="ru-RU" dirty="0"/>
              <a:t>Непрерывные модели: Мальтуса, Фибоначчи, логистического роста, гиперболического роста, линейного и экспоненциального роста.</a:t>
            </a:r>
          </a:p>
          <a:p>
            <a:pPr marL="539750">
              <a:buFont typeface="Courier New" panose="02070309020205020404" pitchFamily="49" charset="0"/>
              <a:buChar char="o"/>
            </a:pPr>
            <a:r>
              <a:rPr lang="ru-RU" dirty="0"/>
              <a:t>Дискретные модели: стабильного населения. стационарного населения, передвижки возрастов.</a:t>
            </a:r>
          </a:p>
          <a:p>
            <a:r>
              <a:rPr lang="ru-RU" dirty="0"/>
              <a:t>Стохастические модели</a:t>
            </a:r>
          </a:p>
          <a:p>
            <a:pPr marL="539750">
              <a:buFont typeface="Courier New" panose="02070309020205020404" pitchFamily="49" charset="0"/>
              <a:buChar char="o"/>
            </a:pPr>
            <a:r>
              <a:rPr lang="ru-RU" dirty="0"/>
              <a:t>Стохастический вариант метода передвижки по возрастам</a:t>
            </a:r>
          </a:p>
          <a:p>
            <a:pPr marL="539750">
              <a:buFont typeface="Courier New" panose="02070309020205020404" pitchFamily="49" charset="0"/>
              <a:buChar char="o"/>
            </a:pPr>
            <a:r>
              <a:rPr lang="ru-RU" dirty="0"/>
              <a:t>Непрерывные модели: многомерные Марковские процессы, системы массового обслуживания.</a:t>
            </a:r>
          </a:p>
          <a:p>
            <a:pPr marL="539750">
              <a:buFont typeface="Courier New" panose="02070309020205020404" pitchFamily="49" charset="0"/>
              <a:buChar char="o"/>
            </a:pPr>
            <a:r>
              <a:rPr lang="ru-RU" dirty="0"/>
              <a:t>Дискретные модели: цепи Маркова, ветвящиеся процессы.</a:t>
            </a:r>
          </a:p>
          <a:p>
            <a:endParaRPr lang="en-US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340FBA54-3101-DC42-5AF0-C6208FF0B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52655" y="1452566"/>
            <a:ext cx="5702733" cy="82391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2E3092"/>
                </a:solidFill>
              </a:rPr>
              <a:t>Методы математического моделирования: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1FA9545-078F-F62C-713A-E47984030C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23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48A41FD0-010A-1FCD-0571-F6CC12F72441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Цифровая система прогнозирования развития</a:t>
            </a:r>
          </a:p>
        </p:txBody>
      </p:sp>
      <p:pic>
        <p:nvPicPr>
          <p:cNvPr id="5" name="Рисунок 4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3BE69E2-74F5-EA04-5AFE-41D09437D6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BA09B17-4093-1CAE-F61D-AB42E27154A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793" b="-1"/>
          <a:stretch/>
        </p:blipFill>
        <p:spPr>
          <a:xfrm>
            <a:off x="4545107" y="1461871"/>
            <a:ext cx="6975194" cy="452690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2E481E-E9A1-7E43-8CCF-E0722B81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8D51-17E7-4372-B308-54BBC760B9A5}" type="slidenum">
              <a:rPr lang="en-US" smtClean="0"/>
              <a:t>16</a:t>
            </a:fld>
            <a:endParaRPr lang="en-US"/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71379DC0-68F5-B63D-6DA7-5F4AEADDA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565563"/>
            <a:ext cx="3060266" cy="4423208"/>
          </a:xfrm>
          <a:ln w="19050">
            <a:solidFill>
              <a:schemeClr val="tx1"/>
            </a:solidFill>
            <a:prstDash val="dash"/>
          </a:ln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45A566-B724-F7CB-BF2A-7B3C3BACC7E0}"/>
              </a:ext>
            </a:extLst>
          </p:cNvPr>
          <p:cNvSpPr txBox="1"/>
          <p:nvPr/>
        </p:nvSpPr>
        <p:spPr>
          <a:xfrm>
            <a:off x="0" y="6198255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i="1" dirty="0"/>
              <a:t>Источник</a:t>
            </a:r>
            <a:r>
              <a:rPr lang="ru-RU" sz="1400" dirty="0"/>
              <a:t>: </a:t>
            </a:r>
            <a:r>
              <a:rPr lang="ru-RU" sz="1400" dirty="0" err="1"/>
              <a:t>Алгулиев</a:t>
            </a:r>
            <a:r>
              <a:rPr lang="ru-RU" sz="1400" dirty="0"/>
              <a:t> Р.М.О., </a:t>
            </a:r>
            <a:r>
              <a:rPr lang="ru-RU" sz="1400" dirty="0" err="1"/>
              <a:t>Алыгулиев</a:t>
            </a:r>
            <a:r>
              <a:rPr lang="ru-RU" sz="1400" dirty="0"/>
              <a:t> Р.М.О., Юсифов Ф.ФО., Алекперова И.Я.Г. Формирование электронной демографии как эффективного инструмента социальных исследований и мониторинга данных о населении // Вопросы государственного и муниципального управления. 2019. №4. 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B5BA5AF-2A16-8DD8-0306-13C4592F2AC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15" t="5817" r="41667" b="26557"/>
          <a:stretch/>
        </p:blipFill>
        <p:spPr>
          <a:xfrm>
            <a:off x="969368" y="1750983"/>
            <a:ext cx="2860989" cy="116539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88489D9-9D26-A49B-CF4F-B10895A0DD6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2676" t="8515" r="4585" b="23858"/>
          <a:stretch/>
        </p:blipFill>
        <p:spPr>
          <a:xfrm>
            <a:off x="1835333" y="3917061"/>
            <a:ext cx="1055077" cy="1852734"/>
          </a:xfrm>
          <a:prstGeom prst="rect">
            <a:avLst/>
          </a:prstGeom>
        </p:spPr>
      </p:pic>
      <p:sp>
        <p:nvSpPr>
          <p:cNvPr id="22" name="Стрелка: влево 21">
            <a:extLst>
              <a:ext uri="{FF2B5EF4-FFF2-40B4-BE49-F238E27FC236}">
                <a16:creationId xmlns:a16="http://schemas.microsoft.com/office/drawing/2014/main" id="{3023B1B9-96B6-25C9-85A5-9FF152C16776}"/>
              </a:ext>
            </a:extLst>
          </p:cNvPr>
          <p:cNvSpPr/>
          <p:nvPr/>
        </p:nvSpPr>
        <p:spPr>
          <a:xfrm rot="18567598">
            <a:off x="2533656" y="3142655"/>
            <a:ext cx="713509" cy="375690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Стрелка: влево 22">
            <a:extLst>
              <a:ext uri="{FF2B5EF4-FFF2-40B4-BE49-F238E27FC236}">
                <a16:creationId xmlns:a16="http://schemas.microsoft.com/office/drawing/2014/main" id="{44538261-8251-2C62-7CAF-771675DC58D6}"/>
              </a:ext>
            </a:extLst>
          </p:cNvPr>
          <p:cNvSpPr/>
          <p:nvPr/>
        </p:nvSpPr>
        <p:spPr>
          <a:xfrm rot="10800000">
            <a:off x="4024572" y="3635232"/>
            <a:ext cx="713509" cy="635975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26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615EE33-7895-79FB-2EA3-88A2DBBE973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CAD09943-E7F9-8ED1-3F65-C93DDC520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1930034"/>
              </p:ext>
            </p:extLst>
          </p:nvPr>
        </p:nvGraphicFramePr>
        <p:xfrm>
          <a:off x="193184" y="1474632"/>
          <a:ext cx="5739686" cy="5211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351CF11-188D-1414-0D40-70102E72E25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Нормативная-правовая основа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B21F69C-4CA5-A39D-185B-E3268814FBC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32FAA3C-8D2B-F2FD-19CB-B1DA6228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5CD6344-69F2-4F2A-9E84-A8C1A071765E}" type="slidenum">
              <a:rPr lang="ru-RU" smtClean="0"/>
              <a:t>17</a:t>
            </a:fld>
            <a:endParaRPr lang="ru-RU" dirty="0"/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E0640EEE-48BC-AAFF-908E-8F74AA34FE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9326762"/>
              </p:ext>
            </p:extLst>
          </p:nvPr>
        </p:nvGraphicFramePr>
        <p:xfrm>
          <a:off x="6259132" y="1510159"/>
          <a:ext cx="5696395" cy="5211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E0193A0-A314-8F70-BB69-242C0A378997}"/>
              </a:ext>
            </a:extLst>
          </p:cNvPr>
          <p:cNvSpPr txBox="1"/>
          <p:nvPr/>
        </p:nvSpPr>
        <p:spPr>
          <a:xfrm>
            <a:off x="236473" y="1474632"/>
            <a:ext cx="61947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2E3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Стратегического планирования:</a:t>
            </a:r>
            <a:endParaRPr lang="ru-RU" sz="2400" b="1" dirty="0">
              <a:solidFill>
                <a:srgbClr val="2E309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63838B-5B65-73E0-C255-6C9A8B76EB97}"/>
              </a:ext>
            </a:extLst>
          </p:cNvPr>
          <p:cNvSpPr txBox="1"/>
          <p:nvPr/>
        </p:nvSpPr>
        <p:spPr bwMode="auto">
          <a:xfrm>
            <a:off x="6259132" y="1414704"/>
            <a:ext cx="61947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2E3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Бюджетного процесса:</a:t>
            </a:r>
            <a:endParaRPr lang="ru-RU" sz="2400" b="1" dirty="0">
              <a:solidFill>
                <a:srgbClr val="2E30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326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F5211-B374-5AAE-20EE-074577362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C5E153-16BE-8F6F-7796-D0E430F9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5043-D5F9-4E0D-88BA-5E3EE5A69A8B}" type="slidenum">
              <a:rPr lang="ru-RU" smtClean="0"/>
              <a:t>18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BF2B3B-7ED7-093E-4A82-A9C15AEFB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09" y="1497616"/>
            <a:ext cx="11732654" cy="5360384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Ежегодное </a:t>
            </a:r>
            <a:r>
              <a:rPr lang="ru-RU" b="1" dirty="0"/>
              <a:t>послание Президента РФ Федеральному Собранию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Указ Президента РФ от 02.07.2021 г. № 400 </a:t>
            </a:r>
            <a:br>
              <a:rPr lang="ru-RU" dirty="0"/>
            </a:br>
            <a:r>
              <a:rPr lang="ru-RU" dirty="0"/>
              <a:t>«</a:t>
            </a:r>
            <a:r>
              <a:rPr lang="ru-RU" b="1" dirty="0"/>
              <a:t>О Стратегии национальной безопасности Российской Федерации</a:t>
            </a:r>
            <a:r>
              <a:rPr lang="ru-RU" dirty="0"/>
              <a:t>»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Указ Президента РФ от 07.05.2024 г. № 309 </a:t>
            </a:r>
            <a:br>
              <a:rPr lang="ru-RU" dirty="0"/>
            </a:br>
            <a:r>
              <a:rPr lang="ru-RU" dirty="0"/>
              <a:t>«</a:t>
            </a:r>
            <a:r>
              <a:rPr lang="ru-RU" b="1" dirty="0"/>
              <a:t>О национальных целях развития Российской Федерации на период до 2030 года и на перспективу до 2036 года</a:t>
            </a:r>
            <a:r>
              <a:rPr lang="ru-RU" dirty="0"/>
              <a:t>»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Указ Президента РФ от 01.12.2016 г. № 642 </a:t>
            </a:r>
            <a:br>
              <a:rPr lang="ru-RU" dirty="0"/>
            </a:br>
            <a:r>
              <a:rPr lang="ru-RU" dirty="0"/>
              <a:t>«</a:t>
            </a:r>
            <a:r>
              <a:rPr lang="ru-RU" b="1" dirty="0"/>
              <a:t>О Стратегии научно-технологического развития Российской Федерации</a:t>
            </a:r>
            <a:r>
              <a:rPr lang="ru-RU" dirty="0"/>
              <a:t>»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Распоряжение Правительства РФ от 28.12.2024 N 4146-р </a:t>
            </a:r>
            <a:br>
              <a:rPr lang="ru-RU" dirty="0"/>
            </a:br>
            <a:r>
              <a:rPr lang="ru-RU" dirty="0"/>
              <a:t>«</a:t>
            </a:r>
            <a:r>
              <a:rPr lang="ru-RU" b="1" dirty="0"/>
              <a:t>Об утверждении Стратегии пространственного развития Российской Федерации на период до 2030 года с прогнозом до 2036 года</a:t>
            </a:r>
            <a:r>
              <a:rPr lang="ru-RU" dirty="0"/>
              <a:t>»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Указ Президента РФ от 13.05.2017 № 208 «</a:t>
            </a:r>
            <a:r>
              <a:rPr lang="ru-RU" b="1" dirty="0"/>
              <a:t>О Стратегии экономической безопасности Российской Федерации на период до 2030 года</a:t>
            </a:r>
            <a:r>
              <a:rPr lang="ru-RU" dirty="0"/>
              <a:t>»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Распоряжение Правительства РФ от 15.03.2025 г. №615-р «</a:t>
            </a:r>
            <a:r>
              <a:rPr lang="ru-RU" b="1" dirty="0"/>
              <a:t>Об утверждении Стратегии действий по реализации семейной и демографической политики, поддержке многодетности в Российской Федерации до 2036 года</a:t>
            </a:r>
            <a:r>
              <a:rPr lang="ru-RU" dirty="0"/>
              <a:t>»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Паспорта «</a:t>
            </a:r>
            <a:r>
              <a:rPr lang="ru-RU" b="1" dirty="0"/>
              <a:t>Национальных проектов»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790FE1-0A11-0569-816A-7D5C73DB733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документы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стратегического планирования</a:t>
            </a:r>
          </a:p>
        </p:txBody>
      </p:sp>
      <p:pic>
        <p:nvPicPr>
          <p:cNvPr id="5" name="Рисунок 4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196C746F-CB66-CA12-2712-49AF7C5B6F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577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56E4F82-E04D-AA3D-E216-950B7330CFA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F40809A5-FF9D-5102-38AC-75B8221118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234640"/>
              </p:ext>
            </p:extLst>
          </p:nvPr>
        </p:nvGraphicFramePr>
        <p:xfrm>
          <a:off x="186267" y="1490133"/>
          <a:ext cx="11700933" cy="5195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5DC0174-671B-A202-2E6B-18E009E6F30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Указ Президента РФ от 7 мая 2024 г. № 309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«О национальных целях развития РФ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период до 2030 г. и на перспективу до 2036 г.»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7D7A8DE-2928-391C-5327-3721FAB4870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5EC2F79-A8D0-E032-FB1B-BC58B4DBA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5CD6344-69F2-4F2A-9E84-A8C1A071765E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9358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1051D3-E2B4-5520-6921-A11336D7BE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328"/>
          <a:stretch>
            <a:fillRect/>
          </a:stretch>
        </p:blipFill>
        <p:spPr>
          <a:xfrm>
            <a:off x="0" y="1153511"/>
            <a:ext cx="12192000" cy="570449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FA682C-2930-BE66-8AF3-5F4F9B76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20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8D102D6-AB05-7B10-E0C3-EA426308F52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Национальные проекты России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A8BEA1D8-F361-D032-35BD-75770536BE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40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775F9A60-9CFC-4D9A-1521-51C9D4229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0302032"/>
              </p:ext>
            </p:extLst>
          </p:nvPr>
        </p:nvGraphicFramePr>
        <p:xfrm>
          <a:off x="264543" y="1449238"/>
          <a:ext cx="11690984" cy="51585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D5A373-1BD5-2372-FE50-500D377C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21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D84160B-D628-6BE8-B4F9-83DC2C76DE0B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Программно-целевое бюджетирование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7D637A04-BF76-877E-7326-894DF4940E8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77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54713-0010-E4EC-F55A-B6DCE106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465C6FB6-8405-C61C-74A0-F53E9C1337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6662605"/>
              </p:ext>
            </p:extLst>
          </p:nvPr>
        </p:nvGraphicFramePr>
        <p:xfrm>
          <a:off x="160868" y="1803042"/>
          <a:ext cx="11794660" cy="4804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Объект 2">
            <a:extLst>
              <a:ext uri="{FF2B5EF4-FFF2-40B4-BE49-F238E27FC236}">
                <a16:creationId xmlns:a16="http://schemas.microsoft.com/office/drawing/2014/main" id="{CDBF10C4-04BD-8E46-8652-B8F77BF60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7" y="1360032"/>
            <a:ext cx="11794660" cy="4996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– это деятельность органов государственной власти и местного самоуправления по: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2FAE0D-54A9-5DC9-4805-08E68619C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22</a:t>
            </a:fld>
            <a:endParaRPr lang="ru-RU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48B8296-EC9A-8A0A-76AD-2257872B960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Бюджетный процесс</a:t>
            </a:r>
          </a:p>
        </p:txBody>
      </p:sp>
      <p:pic>
        <p:nvPicPr>
          <p:cNvPr id="11" name="Рисунок 10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5A9FCE7-9BA8-BA53-7A77-8FD42871AEF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25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308CB0CB-0F34-EB9B-5017-ECDBF2846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E56BBD5-7410-FFD5-128F-D93E1632789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vert="horz" wrap="square" lIns="91425" tIns="91425" rIns="91425" bIns="91425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Бюджетная система России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01E820F5-BF93-94C2-FA41-15D95E667F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73" name="Google Shape;273;p31">
            <a:extLst>
              <a:ext uri="{FF2B5EF4-FFF2-40B4-BE49-F238E27FC236}">
                <a16:creationId xmlns:a16="http://schemas.microsoft.com/office/drawing/2014/main" id="{C5688C48-25B4-7729-61FE-6BBF528B13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10170" y="2473391"/>
            <a:ext cx="1757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186258" indent="0">
              <a:buNone/>
            </a:pPr>
            <a:r>
              <a:rPr lang="ru" sz="1600" dirty="0">
                <a:latin typeface="Times New Roman"/>
                <a:ea typeface="Times New Roman"/>
                <a:cs typeface="Times New Roman"/>
                <a:sym typeface="Times New Roman"/>
              </a:rPr>
              <a:t>Субъекты РФ</a:t>
            </a:r>
            <a:endParaRPr dirty="0"/>
          </a:p>
        </p:txBody>
      </p:sp>
      <p:sp>
        <p:nvSpPr>
          <p:cNvPr id="274" name="Google Shape;274;p31">
            <a:extLst>
              <a:ext uri="{FF2B5EF4-FFF2-40B4-BE49-F238E27FC236}">
                <a16:creationId xmlns:a16="http://schemas.microsoft.com/office/drawing/2014/main" id="{6C2D54F8-F52B-EFEE-6F5B-F436B39935E2}"/>
              </a:ext>
            </a:extLst>
          </p:cNvPr>
          <p:cNvSpPr/>
          <p:nvPr/>
        </p:nvSpPr>
        <p:spPr>
          <a:xfrm>
            <a:off x="4729787" y="1388973"/>
            <a:ext cx="3262000" cy="762299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Федеральный бюджет РФ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31">
            <a:extLst>
              <a:ext uri="{FF2B5EF4-FFF2-40B4-BE49-F238E27FC236}">
                <a16:creationId xmlns:a16="http://schemas.microsoft.com/office/drawing/2014/main" id="{A1761922-3898-CE50-BC90-3B346C92CF0D}"/>
              </a:ext>
            </a:extLst>
          </p:cNvPr>
          <p:cNvSpPr/>
          <p:nvPr/>
        </p:nvSpPr>
        <p:spPr>
          <a:xfrm>
            <a:off x="4713389" y="2387381"/>
            <a:ext cx="3294796" cy="81654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Бюджеты субъектов РФ</a:t>
            </a:r>
            <a:endParaRPr sz="3200" dirty="0"/>
          </a:p>
        </p:txBody>
      </p:sp>
      <p:sp>
        <p:nvSpPr>
          <p:cNvPr id="279" name="Google Shape;279;p31">
            <a:extLst>
              <a:ext uri="{FF2B5EF4-FFF2-40B4-BE49-F238E27FC236}">
                <a16:creationId xmlns:a16="http://schemas.microsoft.com/office/drawing/2014/main" id="{D8A43739-D5B8-88D1-804A-C119E95C5783}"/>
              </a:ext>
            </a:extLst>
          </p:cNvPr>
          <p:cNvSpPr/>
          <p:nvPr/>
        </p:nvSpPr>
        <p:spPr>
          <a:xfrm>
            <a:off x="6096000" y="3584643"/>
            <a:ext cx="3986479" cy="88995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Местные бюджеты </a:t>
            </a:r>
            <a:b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(городских округов, муниципальных районов / округов)</a:t>
            </a:r>
            <a:endParaRPr sz="2400" dirty="0"/>
          </a:p>
        </p:txBody>
      </p:sp>
      <p:sp>
        <p:nvSpPr>
          <p:cNvPr id="280" name="Google Shape;280;p31">
            <a:extLst>
              <a:ext uri="{FF2B5EF4-FFF2-40B4-BE49-F238E27FC236}">
                <a16:creationId xmlns:a16="http://schemas.microsoft.com/office/drawing/2014/main" id="{E9DD77E4-30A7-A4E2-7C89-F1AD23770D9B}"/>
              </a:ext>
            </a:extLst>
          </p:cNvPr>
          <p:cNvSpPr/>
          <p:nvPr/>
        </p:nvSpPr>
        <p:spPr>
          <a:xfrm>
            <a:off x="6096000" y="4981002"/>
            <a:ext cx="3986479" cy="96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Местные бюджеты</a:t>
            </a:r>
            <a:b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(городских и сельских поселений)</a:t>
            </a:r>
            <a:endParaRPr sz="2400" dirty="0"/>
          </a:p>
        </p:txBody>
      </p:sp>
      <p:cxnSp>
        <p:nvCxnSpPr>
          <p:cNvPr id="297" name="Google Shape;297;p31">
            <a:extLst>
              <a:ext uri="{FF2B5EF4-FFF2-40B4-BE49-F238E27FC236}">
                <a16:creationId xmlns:a16="http://schemas.microsoft.com/office/drawing/2014/main" id="{3594C8DE-D03F-88EB-C654-B25855BC2EE7}"/>
              </a:ext>
            </a:extLst>
          </p:cNvPr>
          <p:cNvCxnSpPr>
            <a:cxnSpLocks/>
          </p:cNvCxnSpPr>
          <p:nvPr/>
        </p:nvCxnSpPr>
        <p:spPr>
          <a:xfrm>
            <a:off x="2927230" y="2296440"/>
            <a:ext cx="9137135" cy="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00" name="Google Shape;300;p31">
            <a:extLst>
              <a:ext uri="{FF2B5EF4-FFF2-40B4-BE49-F238E27FC236}">
                <a16:creationId xmlns:a16="http://schemas.microsoft.com/office/drawing/2014/main" id="{453BE0EE-3704-0FFD-84DC-42432594A59C}"/>
              </a:ext>
            </a:extLst>
          </p:cNvPr>
          <p:cNvSpPr txBox="1"/>
          <p:nvPr/>
        </p:nvSpPr>
        <p:spPr>
          <a:xfrm>
            <a:off x="2579570" y="4125999"/>
            <a:ext cx="2018800" cy="1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186258" algn="ctr">
              <a:lnSpc>
                <a:spcPct val="115000"/>
              </a:lnSpc>
              <a:buClr>
                <a:schemeClr val="dk2"/>
              </a:buClr>
              <a:buSzPts val="1400"/>
            </a:pP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Муниципальные образования</a:t>
            </a:r>
            <a:endParaRPr sz="2400" dirty="0"/>
          </a:p>
          <a:p>
            <a:pPr marL="186258" algn="ctr">
              <a:lnSpc>
                <a:spcPct val="115000"/>
              </a:lnSpc>
              <a:buClr>
                <a:schemeClr val="dk2"/>
              </a:buClr>
              <a:buSzPts val="1400"/>
            </a:pP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и II </a:t>
            </a:r>
            <a:b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уровней</a:t>
            </a:r>
            <a:endParaRPr sz="2400" dirty="0"/>
          </a:p>
        </p:txBody>
      </p:sp>
      <p:sp>
        <p:nvSpPr>
          <p:cNvPr id="303" name="Google Shape;303;p31">
            <a:extLst>
              <a:ext uri="{FF2B5EF4-FFF2-40B4-BE49-F238E27FC236}">
                <a16:creationId xmlns:a16="http://schemas.microsoft.com/office/drawing/2014/main" id="{144B45E5-AA9A-78B0-898C-D86D3FC27D19}"/>
              </a:ext>
            </a:extLst>
          </p:cNvPr>
          <p:cNvSpPr txBox="1"/>
          <p:nvPr/>
        </p:nvSpPr>
        <p:spPr>
          <a:xfrm>
            <a:off x="2579570" y="1526395"/>
            <a:ext cx="1757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186258" algn="ctr">
              <a:lnSpc>
                <a:spcPct val="115000"/>
              </a:lnSpc>
              <a:buClr>
                <a:schemeClr val="dk2"/>
              </a:buClr>
              <a:buSzPts val="1400"/>
            </a:pP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Страна</a:t>
            </a:r>
            <a:endParaRPr sz="2400" dirty="0"/>
          </a:p>
        </p:txBody>
      </p:sp>
      <p:sp>
        <p:nvSpPr>
          <p:cNvPr id="6" name="Google Shape;274;p31">
            <a:extLst>
              <a:ext uri="{FF2B5EF4-FFF2-40B4-BE49-F238E27FC236}">
                <a16:creationId xmlns:a16="http://schemas.microsoft.com/office/drawing/2014/main" id="{95501406-6328-7108-8512-E50F5176D3E3}"/>
              </a:ext>
            </a:extLst>
          </p:cNvPr>
          <p:cNvSpPr/>
          <p:nvPr/>
        </p:nvSpPr>
        <p:spPr>
          <a:xfrm>
            <a:off x="8378480" y="1394998"/>
            <a:ext cx="3569048" cy="762299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-RU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Бюджеты федеральных внебюджетных фондов</a:t>
            </a:r>
          </a:p>
        </p:txBody>
      </p:sp>
      <p:sp>
        <p:nvSpPr>
          <p:cNvPr id="9" name="Google Shape;274;p31">
            <a:extLst>
              <a:ext uri="{FF2B5EF4-FFF2-40B4-BE49-F238E27FC236}">
                <a16:creationId xmlns:a16="http://schemas.microsoft.com/office/drawing/2014/main" id="{D7D56246-6125-7EC7-EF52-8812EBF19A4E}"/>
              </a:ext>
            </a:extLst>
          </p:cNvPr>
          <p:cNvSpPr/>
          <p:nvPr/>
        </p:nvSpPr>
        <p:spPr>
          <a:xfrm>
            <a:off x="8386479" y="2407952"/>
            <a:ext cx="3569048" cy="762299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Бюджеты территориальных внебюджетных фондов</a:t>
            </a:r>
          </a:p>
        </p:txBody>
      </p:sp>
      <p:cxnSp>
        <p:nvCxnSpPr>
          <p:cNvPr id="10" name="Google Shape;297;p31">
            <a:extLst>
              <a:ext uri="{FF2B5EF4-FFF2-40B4-BE49-F238E27FC236}">
                <a16:creationId xmlns:a16="http://schemas.microsoft.com/office/drawing/2014/main" id="{03686918-E615-C8C2-2542-F841E20F22F6}"/>
              </a:ext>
            </a:extLst>
          </p:cNvPr>
          <p:cNvCxnSpPr>
            <a:cxnSpLocks/>
          </p:cNvCxnSpPr>
          <p:nvPr/>
        </p:nvCxnSpPr>
        <p:spPr>
          <a:xfrm>
            <a:off x="2840966" y="3273357"/>
            <a:ext cx="9195434" cy="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0" name="Левая фигурная скобка 19">
            <a:extLst>
              <a:ext uri="{FF2B5EF4-FFF2-40B4-BE49-F238E27FC236}">
                <a16:creationId xmlns:a16="http://schemas.microsoft.com/office/drawing/2014/main" id="{4DEA6208-631D-2C48-3AE1-A547014E124B}"/>
              </a:ext>
            </a:extLst>
          </p:cNvPr>
          <p:cNvSpPr/>
          <p:nvPr/>
        </p:nvSpPr>
        <p:spPr>
          <a:xfrm>
            <a:off x="510411" y="1618298"/>
            <a:ext cx="1143058" cy="4822646"/>
          </a:xfrm>
          <a:prstGeom prst="leftBrac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Google Shape;274;p31">
            <a:extLst>
              <a:ext uri="{FF2B5EF4-FFF2-40B4-BE49-F238E27FC236}">
                <a16:creationId xmlns:a16="http://schemas.microsoft.com/office/drawing/2014/main" id="{BCBD023C-0CA9-D6DE-AE08-CD44083B5FC6}"/>
              </a:ext>
            </a:extLst>
          </p:cNvPr>
          <p:cNvSpPr/>
          <p:nvPr/>
        </p:nvSpPr>
        <p:spPr>
          <a:xfrm rot="16200000">
            <a:off x="-2478672" y="3804234"/>
            <a:ext cx="5532439" cy="575093"/>
          </a:xfrm>
          <a:prstGeom prst="rect">
            <a:avLst/>
          </a:prstGeom>
          <a:solidFill>
            <a:schemeClr val="lt1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Консолидированный бюджет РФ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Левая фигурная скобка 21">
            <a:extLst>
              <a:ext uri="{FF2B5EF4-FFF2-40B4-BE49-F238E27FC236}">
                <a16:creationId xmlns:a16="http://schemas.microsoft.com/office/drawing/2014/main" id="{14C185EB-770B-C490-4357-2BC417AD59A1}"/>
              </a:ext>
            </a:extLst>
          </p:cNvPr>
          <p:cNvSpPr/>
          <p:nvPr/>
        </p:nvSpPr>
        <p:spPr>
          <a:xfrm>
            <a:off x="1920595" y="2296440"/>
            <a:ext cx="1143058" cy="4065715"/>
          </a:xfrm>
          <a:prstGeom prst="leftBrac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Google Shape;274;p31">
            <a:extLst>
              <a:ext uri="{FF2B5EF4-FFF2-40B4-BE49-F238E27FC236}">
                <a16:creationId xmlns:a16="http://schemas.microsoft.com/office/drawing/2014/main" id="{422B3B5A-5333-A091-CD53-D370EB263764}"/>
              </a:ext>
            </a:extLst>
          </p:cNvPr>
          <p:cNvSpPr/>
          <p:nvPr/>
        </p:nvSpPr>
        <p:spPr>
          <a:xfrm rot="16200000">
            <a:off x="308340" y="4114800"/>
            <a:ext cx="2892725" cy="575093"/>
          </a:xfrm>
          <a:prstGeom prst="rect">
            <a:avLst/>
          </a:prstGeom>
          <a:solidFill>
            <a:schemeClr val="lt1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Консолидированный бюджет субъекта РФ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Номер слайда 3">
            <a:extLst>
              <a:ext uri="{FF2B5EF4-FFF2-40B4-BE49-F238E27FC236}">
                <a16:creationId xmlns:a16="http://schemas.microsoft.com/office/drawing/2014/main" id="{C40B40C1-3C11-16AA-FA58-9DFEF2E0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 fontScale="92500" lnSpcReduction="10000"/>
          </a:bodyPr>
          <a:lstStyle/>
          <a:p>
            <a:fld id="{A5CD6344-69F2-4F2A-9E84-A8C1A071765E}" type="slidenum">
              <a:rPr lang="ru-RU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6477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FA001AF3-1CDE-4A6D-4381-102F888B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D98DF94-CE3D-C660-B3B4-4DD58EFB208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vert="horz" wrap="square" lIns="91425" tIns="91425" rIns="91425" bIns="91425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Федеральные внебюджетные фонды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1953AE9-ACE3-91D4-5D44-5DD74BDF30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A2C8F5-6CBD-8A75-F6EF-DC147C5E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 fontScale="92500" lnSpcReduction="10000"/>
          </a:bodyPr>
          <a:lstStyle/>
          <a:p>
            <a:fld id="{A5CD6344-69F2-4F2A-9E84-A8C1A071765E}" type="slidenum">
              <a:rPr lang="ru-RU" smtClean="0"/>
              <a:t>24</a:t>
            </a:fld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EEA539D2-08E6-1B0F-1664-F20BFFE44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349" y="2025258"/>
            <a:ext cx="3820733" cy="286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 descr="Изображение выглядит как текст, Шрифт, снимок экрана, визитная карто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CEC9E6-5812-D2B7-789C-F09EC1A7F6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823"/>
          <a:stretch>
            <a:fillRect/>
          </a:stretch>
        </p:blipFill>
        <p:spPr>
          <a:xfrm>
            <a:off x="5810518" y="2522447"/>
            <a:ext cx="6103887" cy="23393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858103A-FE9E-3E0F-F2F9-8EABBAC21F06}"/>
              </a:ext>
            </a:extLst>
          </p:cNvPr>
          <p:cNvSpPr txBox="1"/>
          <p:nvPr/>
        </p:nvSpPr>
        <p:spPr>
          <a:xfrm>
            <a:off x="1223761" y="4668599"/>
            <a:ext cx="46659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(Фонд пенсионного и социального страхования Российской Федерации)</a:t>
            </a:r>
          </a:p>
        </p:txBody>
      </p:sp>
    </p:spTree>
    <p:extLst>
      <p:ext uri="{BB962C8B-B14F-4D97-AF65-F5344CB8AC3E}">
        <p14:creationId xmlns:p14="http://schemas.microsoft.com/office/powerpoint/2010/main" val="1751882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D596C-CA70-9E72-0300-573DB583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7DDD64-355C-D84B-7946-315C69655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25</a:t>
            </a:fld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78433AD-E446-4A74-F7C4-ABFD2721901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собранных налоговых доходов 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между федеральным бюджетом и консолидированными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бюджетами субъектов РФ в 2024 году, %</a:t>
            </a:r>
          </a:p>
        </p:txBody>
      </p:sp>
      <p:pic>
        <p:nvPicPr>
          <p:cNvPr id="11" name="Рисунок 10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FFE0B12D-35BD-C22C-CD7E-625204E0E1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3238712-F313-BA11-4DE0-17DCB74C41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079" b="4768"/>
          <a:stretch>
            <a:fillRect/>
          </a:stretch>
        </p:blipFill>
        <p:spPr>
          <a:xfrm>
            <a:off x="6035899" y="1807640"/>
            <a:ext cx="6207617" cy="387702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1AD10A8-8313-7305-1296-EC77C2EF7D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952"/>
          <a:stretch>
            <a:fillRect/>
          </a:stretch>
        </p:blipFill>
        <p:spPr>
          <a:xfrm>
            <a:off x="51516" y="1504950"/>
            <a:ext cx="6207617" cy="448240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B4B00FB-DBBE-DCD2-C65B-54C9FAA7CF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5842"/>
          <a:stretch>
            <a:fillRect/>
          </a:stretch>
        </p:blipFill>
        <p:spPr>
          <a:xfrm>
            <a:off x="3548130" y="1322387"/>
            <a:ext cx="6207617" cy="3651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6881620-6A5B-C56A-CB1C-DB4492A60467}"/>
              </a:ext>
            </a:extLst>
          </p:cNvPr>
          <p:cNvSpPr txBox="1"/>
          <p:nvPr/>
        </p:nvSpPr>
        <p:spPr>
          <a:xfrm>
            <a:off x="51516" y="6303589"/>
            <a:ext cx="107812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Оперативный доклад о ходе исполнения консолидированных бюджетов субъектов Российской Федерации январь – декабрь 2024 года / Счётная палата Российской Федерации, 2025. </a:t>
            </a:r>
            <a:r>
              <a:rPr lang="en-US" sz="1200" dirty="0"/>
              <a:t>URL: https://ach.gov.ru/upload/iblock/1da/jvb8h6wl8r2ycmnepry019p0mlssa6q7.pdf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595443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907A790-8C32-C3B5-AE48-9A8B002D2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8952280"/>
              </p:ext>
            </p:extLst>
          </p:nvPr>
        </p:nvGraphicFramePr>
        <p:xfrm>
          <a:off x="290848" y="1497615"/>
          <a:ext cx="11610304" cy="3696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FD4BDD-7130-D49F-A13C-8DDEAD23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26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ED9A562-F1C8-8B1B-FDBA-72E1D208617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vert="horz" wrap="square" lIns="91425" tIns="91425" rIns="91425" bIns="91425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Межбюджетные трансферты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8E91DF32-9B60-62AE-AB3B-81D3B624047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9AE9C348-31CC-A634-5579-A3EF1B0B77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6953173"/>
              </p:ext>
            </p:extLst>
          </p:nvPr>
        </p:nvGraphicFramePr>
        <p:xfrm>
          <a:off x="386366" y="5190031"/>
          <a:ext cx="11569161" cy="1162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0420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194B4-160A-97AC-DD3E-CA7C38911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Схема 10">
            <a:extLst>
              <a:ext uri="{FF2B5EF4-FFF2-40B4-BE49-F238E27FC236}">
                <a16:creationId xmlns:a16="http://schemas.microsoft.com/office/drawing/2014/main" id="{9327019E-23B4-6C3D-033B-AB626CBAFB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7802645"/>
              </p:ext>
            </p:extLst>
          </p:nvPr>
        </p:nvGraphicFramePr>
        <p:xfrm>
          <a:off x="199623" y="1455313"/>
          <a:ext cx="11755904" cy="5138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7C9D06-8AD9-870B-E205-882C8D5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27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19D1076-EF7A-2B7C-37BE-307819599BC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vert="horz" wrap="square" lIns="91425" tIns="91425" rIns="91425" bIns="91425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Межбюджетные трансферты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E43149A-095B-B3F4-5CD7-78C2C1A2DCC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90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30BE5-25E8-C3C0-9C02-F4BB8204A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E5C192-37D6-8B81-78FA-CAD492B65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28</a:t>
            </a:fld>
            <a:endParaRPr lang="ru-RU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A5F7C0F5-5AF4-DDFB-1665-8169B70225E1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перечисления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межбюджетных </a:t>
            </a:r>
            <a:br>
              <a:rPr lang="en-US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трансфертов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из федерального бюджета в 2024 г</a:t>
            </a:r>
            <a: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%</a:t>
            </a:r>
          </a:p>
        </p:txBody>
      </p:sp>
      <p:pic>
        <p:nvPicPr>
          <p:cNvPr id="11" name="Рисунок 10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DF6ABDF-6960-BE2D-EC72-341DB1E77D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F5DF094-EFBA-3ED4-9743-9CA2B96DE7A2}"/>
              </a:ext>
            </a:extLst>
          </p:cNvPr>
          <p:cNvSpPr txBox="1"/>
          <p:nvPr/>
        </p:nvSpPr>
        <p:spPr>
          <a:xfrm>
            <a:off x="51516" y="6303589"/>
            <a:ext cx="107812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Оперативный доклад о ходе исполнения консолидированных бюджетов субъектов Российской Федерации январь – декабрь 2024 года / Счётная палата Российской Федерации, 2025. </a:t>
            </a:r>
            <a:r>
              <a:rPr lang="en-US" sz="1200" dirty="0"/>
              <a:t>URL: https://ach.gov.ru/upload/iblock/1da/jvb8h6wl8r2ycmnepry019p0mlssa6q7.pdf</a:t>
            </a:r>
            <a:endParaRPr lang="ru-RU" sz="12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BE16F3-A5A4-07CA-40D7-2BDC447192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798"/>
          <a:stretch>
            <a:fillRect/>
          </a:stretch>
        </p:blipFill>
        <p:spPr>
          <a:xfrm>
            <a:off x="0" y="1378324"/>
            <a:ext cx="6738991" cy="482830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8E54B9-DF05-CFCB-6670-FA8DD97D1C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148" r="22592" b="3650"/>
          <a:stretch>
            <a:fillRect/>
          </a:stretch>
        </p:blipFill>
        <p:spPr>
          <a:xfrm>
            <a:off x="6738992" y="1431084"/>
            <a:ext cx="5216536" cy="482830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53ECB6-CCDE-6E6F-CB54-672CBBB1CF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36" t="97308" r="73022" b="249"/>
          <a:stretch>
            <a:fillRect/>
          </a:stretch>
        </p:blipFill>
        <p:spPr>
          <a:xfrm>
            <a:off x="5453010" y="5009881"/>
            <a:ext cx="1242812" cy="24469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B17CBDA-0904-7310-70A3-4E2B69BF2C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316" t="97179" r="53242" b="378"/>
          <a:stretch>
            <a:fillRect/>
          </a:stretch>
        </p:blipFill>
        <p:spPr>
          <a:xfrm>
            <a:off x="5453010" y="5254579"/>
            <a:ext cx="1242812" cy="24469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AE36AD-86DD-8978-79C8-FBF3592F73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600" t="97179" r="30907" b="378"/>
          <a:stretch>
            <a:fillRect/>
          </a:stretch>
        </p:blipFill>
        <p:spPr>
          <a:xfrm>
            <a:off x="5465887" y="5533563"/>
            <a:ext cx="1313645" cy="24469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2BEC007-AF45-2DAE-00E7-2A8D6CE770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960" t="97244" r="8547" b="313"/>
          <a:stretch>
            <a:fillRect/>
          </a:stretch>
        </p:blipFill>
        <p:spPr>
          <a:xfrm>
            <a:off x="5446692" y="5812547"/>
            <a:ext cx="1313645" cy="24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9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1">
            <a:extLst>
              <a:ext uri="{FF2B5EF4-FFF2-40B4-BE49-F238E27FC236}">
                <a16:creationId xmlns:a16="http://schemas.microsoft.com/office/drawing/2014/main" id="{A8ECFAB4-611E-9061-1B29-D962672DA0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8810837"/>
              </p:ext>
            </p:extLst>
          </p:nvPr>
        </p:nvGraphicFramePr>
        <p:xfrm>
          <a:off x="236471" y="1497614"/>
          <a:ext cx="11663607" cy="4858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78AE4D-F039-169B-563F-D12B83C2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29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12772A1-7DB7-CB4D-FFF1-BB21B58AFC0C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Бюджетные обязательства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расходные обязательства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42A01D9-7C2C-5D6E-2545-308741D8966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78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967C4-F09B-2982-00E2-0E5CCB2E3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338E24-6DF9-5A1E-F916-BF6FB7DE3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30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C0D4E07-869C-F07B-B968-058C4FF6E53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Главные распорядители бюджетных средств (ГРБС)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B933B9D-4C15-ED7F-B70B-69C3B08B0E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Объект 7">
            <a:extLst>
              <a:ext uri="{FF2B5EF4-FFF2-40B4-BE49-F238E27FC236}">
                <a16:creationId xmlns:a16="http://schemas.microsoft.com/office/drawing/2014/main" id="{66748595-30DE-C835-F286-B34620742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759" y="1658601"/>
            <a:ext cx="11158470" cy="4639168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ГРБС</a:t>
            </a:r>
            <a:r>
              <a:rPr lang="ru-RU" dirty="0"/>
              <a:t> – это </a:t>
            </a:r>
            <a:r>
              <a:rPr lang="ru-RU" i="1" dirty="0"/>
              <a:t>орган власти или учреждение</a:t>
            </a:r>
            <a:r>
              <a:rPr lang="ru-RU" dirty="0"/>
              <a:t>, имеющее право распределять бюджетные ассигнования и лимиты бюджетных обязательств между подведомственными распорядителями и получателями.</a:t>
            </a:r>
          </a:p>
          <a:p>
            <a:r>
              <a:rPr lang="ru-RU" dirty="0"/>
              <a:t>Проще, </a:t>
            </a:r>
            <a:r>
              <a:rPr lang="ru-RU" b="1" dirty="0"/>
              <a:t>ГРБС</a:t>
            </a:r>
            <a:r>
              <a:rPr lang="ru-RU" dirty="0"/>
              <a:t> – это «</a:t>
            </a:r>
            <a:r>
              <a:rPr lang="ru-RU" i="1" dirty="0"/>
              <a:t>главный менеджер</a:t>
            </a:r>
            <a:r>
              <a:rPr lang="ru-RU" dirty="0"/>
              <a:t>» бюджетных средств по определённому направлению.</a:t>
            </a:r>
          </a:p>
          <a:p>
            <a:r>
              <a:rPr lang="ru-RU" dirty="0"/>
              <a:t>Например, </a:t>
            </a:r>
            <a:r>
              <a:rPr lang="ru-RU" i="1" dirty="0"/>
              <a:t>Минздрав России</a:t>
            </a:r>
            <a:r>
              <a:rPr lang="ru-RU" dirty="0"/>
              <a:t> – </a:t>
            </a:r>
            <a:r>
              <a:rPr lang="ru-RU" b="1" dirty="0"/>
              <a:t>ГРБС</a:t>
            </a:r>
            <a:r>
              <a:rPr lang="ru-RU" dirty="0"/>
              <a:t> по расходам на здравоохранение, </a:t>
            </a:r>
            <a:r>
              <a:rPr lang="ru-RU" i="1" dirty="0"/>
              <a:t>Минобороны России</a:t>
            </a:r>
            <a:r>
              <a:rPr lang="ru-RU" dirty="0"/>
              <a:t> – по расходам на оборону и т. д. </a:t>
            </a:r>
          </a:p>
          <a:p>
            <a:r>
              <a:rPr lang="ru-RU" b="1" dirty="0"/>
              <a:t>ГРБС</a:t>
            </a:r>
            <a:r>
              <a:rPr lang="ru-RU" dirty="0"/>
              <a:t> </a:t>
            </a:r>
            <a:r>
              <a:rPr lang="ru-RU" i="1" dirty="0"/>
              <a:t>далее распределяет средства</a:t>
            </a:r>
            <a:r>
              <a:rPr lang="ru-RU" dirty="0"/>
              <a:t>: часть – своим подведомственным учреждениям (больницам, школам и т. п., которые являются </a:t>
            </a:r>
            <a:r>
              <a:rPr lang="ru-RU" b="1" dirty="0"/>
              <a:t>получателями бюджетных средств</a:t>
            </a:r>
            <a:r>
              <a:rPr lang="ru-RU" dirty="0"/>
              <a:t>), часть – нижестоящим </a:t>
            </a:r>
            <a:r>
              <a:rPr lang="ru-RU" b="1" dirty="0"/>
              <a:t>распорядителям средств.</a:t>
            </a:r>
          </a:p>
        </p:txBody>
      </p:sp>
    </p:spTree>
    <p:extLst>
      <p:ext uri="{BB962C8B-B14F-4D97-AF65-F5344CB8AC3E}">
        <p14:creationId xmlns:p14="http://schemas.microsoft.com/office/powerpoint/2010/main" val="37883545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4F98D-AFFE-1EF4-27D9-939963C45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76D414F-9538-F5F0-61A2-DB915E18D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76" y="1582290"/>
            <a:ext cx="11083831" cy="477406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61B3A7-D4A7-75F2-0EB6-FBD8F3EB7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31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1EAE35C-6B01-66A5-9A0E-5BA7B275BE5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Схема распорядителей бюджетных средств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EF1822E0-95EB-4026-1FEB-1EAF1586D4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0618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E5634-8971-4255-E90C-336839385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8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51A775-8BBE-BBB7-B49B-2D7716157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462"/>
          <a:stretch>
            <a:fillRect/>
          </a:stretch>
        </p:blipFill>
        <p:spPr>
          <a:xfrm>
            <a:off x="464421" y="1393339"/>
            <a:ext cx="11263158" cy="5292609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B9C6E3-6895-7430-6AF4-E84908E1E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596" y="6262778"/>
            <a:ext cx="472983" cy="458698"/>
          </a:xfrm>
          <a:solidFill>
            <a:schemeClr val="bg1"/>
          </a:solidFill>
        </p:spPr>
        <p:txBody>
          <a:bodyPr/>
          <a:lstStyle/>
          <a:p>
            <a:fld id="{A5CD6344-69F2-4F2A-9E84-A8C1A071765E}" type="slidenum">
              <a:rPr lang="ru-RU" smtClean="0"/>
              <a:t>32</a:t>
            </a:fld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777898A-ADBD-3569-FB16-FCFDFCB2D916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федерального бюджета на 2024-2028 гг.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150CD142-34F8-DCF9-A498-5D2FA191532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413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E6C44-DD11-41FB-A01B-B9413172B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4FA6B6-AD4E-E0A0-E9D8-A7131E2EB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796"/>
          <a:stretch>
            <a:fillRect/>
          </a:stretch>
        </p:blipFill>
        <p:spPr>
          <a:xfrm>
            <a:off x="753374" y="1451769"/>
            <a:ext cx="10558732" cy="5416877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FF8298-153B-7D15-6290-AA978F9C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9123" y="6399302"/>
            <a:ext cx="472983" cy="458698"/>
          </a:xfrm>
          <a:solidFill>
            <a:schemeClr val="bg1"/>
          </a:solidFill>
        </p:spPr>
        <p:txBody>
          <a:bodyPr/>
          <a:lstStyle/>
          <a:p>
            <a:fld id="{A5CD6344-69F2-4F2A-9E84-A8C1A071765E}" type="slidenum">
              <a:rPr lang="ru-RU" smtClean="0"/>
              <a:t>33</a:t>
            </a:fld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956FFFF-9FEA-401D-785B-9C4FB912F05B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доходов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федерального бюджета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2026-2028 гг.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79D00583-1388-DD72-B996-F340017C388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1589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042FB-833C-D088-DE91-72EC75BDE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8" descr="Изображение выглядит как текст, снимок экрана, Прямоугольн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6B17F41-3943-5F06-7F63-AF09EF168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135"/>
          <a:stretch>
            <a:fillRect/>
          </a:stretch>
        </p:blipFill>
        <p:spPr>
          <a:xfrm>
            <a:off x="625067" y="1314030"/>
            <a:ext cx="10728732" cy="554397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84AE25-82F2-A2AB-AB85-66D602065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9123" y="6399302"/>
            <a:ext cx="472983" cy="458698"/>
          </a:xfrm>
          <a:solidFill>
            <a:schemeClr val="bg1"/>
          </a:solidFill>
        </p:spPr>
        <p:txBody>
          <a:bodyPr/>
          <a:lstStyle/>
          <a:p>
            <a:fld id="{A5CD6344-69F2-4F2A-9E84-A8C1A071765E}" type="slidenum">
              <a:rPr lang="ru-RU" smtClean="0"/>
              <a:t>34</a:t>
            </a:fld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9DB9C35-5551-34D8-85CF-342C1F510F05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нефтегазовых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доходов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федерального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бюджета на 2026-2028 гг.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3AFCA48D-D938-B09F-72EA-9BC9AA55E03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110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8E7FB-3986-2C71-08C0-B125F4AB1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 descr="Изображение выглядит как текст, снимок экрана, Прямоугольник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DB4D21-2EAE-7703-C457-06BFB6268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532"/>
          <a:stretch>
            <a:fillRect/>
          </a:stretch>
        </p:blipFill>
        <p:spPr>
          <a:xfrm>
            <a:off x="833887" y="1479499"/>
            <a:ext cx="10340195" cy="5320137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6C3C03-EC7C-B6B2-D186-1620AA77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4617" y="6399302"/>
            <a:ext cx="472983" cy="458698"/>
          </a:xfrm>
          <a:solidFill>
            <a:schemeClr val="bg1"/>
          </a:solidFill>
        </p:spPr>
        <p:txBody>
          <a:bodyPr/>
          <a:lstStyle/>
          <a:p>
            <a:fld id="{A5CD6344-69F2-4F2A-9E84-A8C1A071765E}" type="slidenum">
              <a:rPr lang="ru-RU" smtClean="0"/>
              <a:t>35</a:t>
            </a:fld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4F6D65D-CDE9-B43C-8F09-DE417917B87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ненефтегазовых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доходов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федерального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бюджета на 2026-2028 гг.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2DA0B90-2411-64BF-3B50-B1E524824AF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453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C9372-7531-3814-DC3A-B539F8068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012665-01B8-22BA-3F3B-C5B6803A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4617" y="6399302"/>
            <a:ext cx="472983" cy="458698"/>
          </a:xfrm>
          <a:solidFill>
            <a:schemeClr val="bg1"/>
          </a:solidFill>
        </p:spPr>
        <p:txBody>
          <a:bodyPr/>
          <a:lstStyle/>
          <a:p>
            <a:fld id="{A5CD6344-69F2-4F2A-9E84-A8C1A071765E}" type="slidenum">
              <a:rPr lang="ru-RU" smtClean="0"/>
              <a:t>36</a:t>
            </a:fld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D9E87E9-6282-0520-6E63-9216F405230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Расходы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федерального бюджета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2026 г. по разделам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8ABBF3E-32EB-D4B4-0183-20C86D18E4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2455785-81F4-8417-F1B3-D3B2843EF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145" y="1325563"/>
            <a:ext cx="8763709" cy="541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3619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 descr="Изображение выглядит как текст, снимок экрана, диаграмм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7381011-D55C-DAEE-22EC-11695C75E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400"/>
          <a:stretch>
            <a:fillRect/>
          </a:stretch>
        </p:blipFill>
        <p:spPr>
          <a:xfrm>
            <a:off x="687874" y="1323614"/>
            <a:ext cx="10612730" cy="5468249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FC2D3C-DA13-91F6-F549-F68B70B5D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3788" y="6356350"/>
            <a:ext cx="450011" cy="365125"/>
          </a:xfrm>
          <a:solidFill>
            <a:schemeClr val="bg1"/>
          </a:solidFill>
        </p:spPr>
        <p:txBody>
          <a:bodyPr/>
          <a:lstStyle/>
          <a:p>
            <a:fld id="{A5CD6344-69F2-4F2A-9E84-A8C1A071765E}" type="slidenum">
              <a:rPr lang="ru-RU" smtClean="0"/>
              <a:t>37</a:t>
            </a:fld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C37D790-A325-3567-F0E9-9692A38D07B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Бюджет на национальные проекты 2025-2028 гг.</a:t>
            </a:r>
          </a:p>
        </p:txBody>
      </p:sp>
      <p:pic>
        <p:nvPicPr>
          <p:cNvPr id="8" name="Рисунок 7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C75B9E35-30B1-AEC0-2209-05DD827312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286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717E1-75D9-D2D6-9911-10557A56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92648723-6A4C-CD50-00A2-2AD6070AAD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383106"/>
              </p:ext>
            </p:extLst>
          </p:nvPr>
        </p:nvGraphicFramePr>
        <p:xfrm>
          <a:off x="206061" y="1435994"/>
          <a:ext cx="11855003" cy="5183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1D073B-A31D-46D5-DEA6-A885934B7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38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F971ABB-17D0-C4E7-A95B-EAAECDD84B3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Общественные обсуждения и слушания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210D860-D80F-DD6C-7A2B-C686F850710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928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297A0-0EBB-9350-E123-4124BA73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A9C0AAC0-2ED9-AC93-2BA5-BBD0C560A6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3036631"/>
              </p:ext>
            </p:extLst>
          </p:nvPr>
        </p:nvGraphicFramePr>
        <p:xfrm>
          <a:off x="406759" y="1497616"/>
          <a:ext cx="11158470" cy="5109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102407-7E9F-7AF9-5E3D-043DDA80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39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596DAF17-15D6-FEB8-8C95-791839443FD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Инициативное бюджетирование </a:t>
            </a:r>
            <a:b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7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партиципаторный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бюджет)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F9BCBE4D-06E6-80F8-1F39-041E822940D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 bwMode="auto"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469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2060"/>
      </a:accent1>
      <a:accent2>
        <a:srgbClr val="629DD1"/>
      </a:accent2>
      <a:accent3>
        <a:srgbClr val="0D7E04"/>
      </a:accent3>
      <a:accent4>
        <a:srgbClr val="7F8FA9"/>
      </a:accent4>
      <a:accent5>
        <a:srgbClr val="00B050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5097</TotalTime>
  <Words>4106</Words>
  <Application>Microsoft Office PowerPoint</Application>
  <PresentationFormat>Широкоэкранный</PresentationFormat>
  <Paragraphs>341</Paragraphs>
  <Slides>39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8" baseType="lpstr">
      <vt:lpstr>Aptos</vt:lpstr>
      <vt:lpstr>Aptos Display</vt:lpstr>
      <vt:lpstr>Arial</vt:lpstr>
      <vt:lpstr>Calibri</vt:lpstr>
      <vt:lpstr>Courier New</vt:lpstr>
      <vt:lpstr>Times New Roman</vt:lpstr>
      <vt:lpstr>ui-sans-serif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Арсений Ситковский</dc:creator>
  <cp:lastModifiedBy>Арсений Ситковский</cp:lastModifiedBy>
  <cp:revision>180</cp:revision>
  <dcterms:created xsi:type="dcterms:W3CDTF">2024-05-16T08:01:39Z</dcterms:created>
  <dcterms:modified xsi:type="dcterms:W3CDTF">2025-12-04T15:32:01Z</dcterms:modified>
</cp:coreProperties>
</file>